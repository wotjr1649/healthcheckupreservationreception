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4770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안내  ·  용어 정의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420624" y="6382512"/>
            <a:ext cx="1134770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문서는 하나의 세트이며 정책 ID · 프로세스 ID · 기능 ID로 서로를 참조한다.</a:t>
            </a:r>
            <a:endParaRPr lang="ko-KR" sz="900" dirty="0"/>
          </a:p>
        </p:txBody>
      </p:sp>
      <p:sp>
        <p:nvSpPr>
          <p:cNvPr id="4" name="Shape 2"/>
          <p:cNvSpPr/>
          <p:nvPr/>
        </p:nvSpPr>
        <p:spPr>
          <a:xfrm>
            <a:off x="420624" y="1005840"/>
            <a:ext cx="11347704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05840"/>
            <a:ext cx="1116482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동반 문서</a:t>
            </a:r>
            <a:endParaRPr lang="ko-KR" sz="1000" dirty="0"/>
          </a:p>
        </p:txBody>
      </p:sp>
      <p:sp>
        <p:nvSpPr>
          <p:cNvPr id="6" name="Shape 4"/>
          <p:cNvSpPr/>
          <p:nvPr/>
        </p:nvSpPr>
        <p:spPr>
          <a:xfrm>
            <a:off x="420624" y="1261872"/>
            <a:ext cx="3017520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" y="1261872"/>
            <a:ext cx="292608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</a:t>
            </a:r>
            <a:endParaRPr lang="ko-KR" sz="950" dirty="0"/>
          </a:p>
        </p:txBody>
      </p:sp>
      <p:sp>
        <p:nvSpPr>
          <p:cNvPr id="8" name="Shape 6"/>
          <p:cNvSpPr/>
          <p:nvPr/>
        </p:nvSpPr>
        <p:spPr>
          <a:xfrm>
            <a:off x="3438144" y="1261872"/>
            <a:ext cx="8330184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83864" y="1261872"/>
            <a:ext cx="82387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담는 내용</a:t>
            </a:r>
            <a:endParaRPr lang="ko-KR" sz="950" dirty="0"/>
          </a:p>
        </p:txBody>
      </p:sp>
      <p:sp>
        <p:nvSpPr>
          <p:cNvPr id="10" name="Shape 8"/>
          <p:cNvSpPr/>
          <p:nvPr/>
        </p:nvSpPr>
        <p:spPr>
          <a:xfrm>
            <a:off x="420624" y="1517904"/>
            <a:ext cx="301752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1563624"/>
            <a:ext cx="29260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00_검진_예약접수_업무정책</a:t>
            </a:r>
            <a:endParaRPr lang="ko-KR" sz="950" dirty="0"/>
          </a:p>
        </p:txBody>
      </p:sp>
      <p:sp>
        <p:nvSpPr>
          <p:cNvPr id="12" name="Shape 10"/>
          <p:cNvSpPr/>
          <p:nvPr/>
        </p:nvSpPr>
        <p:spPr>
          <a:xfrm>
            <a:off x="3438144" y="1517904"/>
            <a:ext cx="8330184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3864" y="1563624"/>
            <a:ext cx="823874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 · EP · RP · RCP 정책과 TGT · NEX · AEX · HOL Rule의 개별 내용. 각 장 하단 캡션이 인용하는 정책 ID의 뜻은 이 문서에 있다.</a:t>
            </a:r>
            <a:endParaRPr lang="ko-KR" sz="950" dirty="0"/>
          </a:p>
        </p:txBody>
      </p:sp>
      <p:sp>
        <p:nvSpPr>
          <p:cNvPr id="14" name="Shape 12"/>
          <p:cNvSpPr/>
          <p:nvPr/>
        </p:nvSpPr>
        <p:spPr>
          <a:xfrm>
            <a:off x="420624" y="1792224"/>
            <a:ext cx="301752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" y="1837944"/>
            <a:ext cx="29260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01_검진_예약접수_업무프로세스</a:t>
            </a:r>
            <a:endParaRPr lang="ko-KR" sz="950" dirty="0"/>
          </a:p>
        </p:txBody>
      </p:sp>
      <p:sp>
        <p:nvSpPr>
          <p:cNvPr id="16" name="Shape 14"/>
          <p:cNvSpPr/>
          <p:nvPr/>
        </p:nvSpPr>
        <p:spPr>
          <a:xfrm>
            <a:off x="3438144" y="1792224"/>
            <a:ext cx="8330184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83864" y="1837944"/>
            <a:ext cx="823874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문서. P01 ~ P03 프로세스의 단계 · 분기 · 종료점 · 상태전이와 프로세스 ↔ 정책 추적표.</a:t>
            </a:r>
            <a:endParaRPr lang="ko-KR" sz="950" dirty="0"/>
          </a:p>
        </p:txBody>
      </p:sp>
      <p:sp>
        <p:nvSpPr>
          <p:cNvPr id="18" name="Shape 16"/>
          <p:cNvSpPr/>
          <p:nvPr/>
        </p:nvSpPr>
        <p:spPr>
          <a:xfrm>
            <a:off x="420624" y="2066544"/>
            <a:ext cx="301752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" y="2112264"/>
            <a:ext cx="29260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02_검진_예약접수_기능정의</a:t>
            </a:r>
            <a:endParaRPr lang="ko-KR" sz="950" dirty="0"/>
          </a:p>
        </p:txBody>
      </p:sp>
      <p:sp>
        <p:nvSpPr>
          <p:cNvPr id="20" name="Shape 18"/>
          <p:cNvSpPr/>
          <p:nvPr/>
        </p:nvSpPr>
        <p:spPr>
          <a:xfrm>
            <a:off x="3438144" y="2066544"/>
            <a:ext cx="8330184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83864" y="2112264"/>
            <a:ext cx="823874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ID 16개 / 기능행 36개의 기능 계약, 업무 Rule, 개발 범위, DB 추적.</a:t>
            </a:r>
            <a:endParaRPr lang="ko-KR" sz="950" dirty="0"/>
          </a:p>
        </p:txBody>
      </p:sp>
      <p:sp>
        <p:nvSpPr>
          <p:cNvPr id="22" name="Shape 20"/>
          <p:cNvSpPr/>
          <p:nvPr/>
        </p:nvSpPr>
        <p:spPr>
          <a:xfrm>
            <a:off x="420624" y="2340864"/>
            <a:ext cx="301752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" y="2386584"/>
            <a:ext cx="29260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03_검진_예약접수_화면설계서</a:t>
            </a:r>
            <a:endParaRPr lang="ko-KR" sz="950" dirty="0"/>
          </a:p>
        </p:txBody>
      </p:sp>
      <p:sp>
        <p:nvSpPr>
          <p:cNvPr id="24" name="Shape 22"/>
          <p:cNvSpPr/>
          <p:nvPr/>
        </p:nvSpPr>
        <p:spPr>
          <a:xfrm>
            <a:off x="3438144" y="2340864"/>
            <a:ext cx="8330184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83864" y="2386584"/>
            <a:ext cx="823874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13개의 구성 · 필드 · 검증 · Ribbon Action · 화면 전이.</a:t>
            </a:r>
            <a:endParaRPr lang="ko-KR" sz="950" dirty="0"/>
          </a:p>
        </p:txBody>
      </p:sp>
      <p:sp>
        <p:nvSpPr>
          <p:cNvPr id="26" name="Shape 24"/>
          <p:cNvSpPr/>
          <p:nvPr/>
        </p:nvSpPr>
        <p:spPr>
          <a:xfrm>
            <a:off x="420624" y="2852928"/>
            <a:ext cx="11347704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2852928"/>
            <a:ext cx="1116482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정의   ·   같은 상태코드를 쓰지만 시점 기준이 다른 두 개념을 구분한다</a:t>
            </a:r>
            <a:endParaRPr lang="ko-KR" sz="1000" dirty="0"/>
          </a:p>
        </p:txBody>
      </p:sp>
      <p:sp>
        <p:nvSpPr>
          <p:cNvPr id="28" name="Shape 26"/>
          <p:cNvSpPr/>
          <p:nvPr/>
        </p:nvSpPr>
        <p:spPr>
          <a:xfrm>
            <a:off x="420624" y="3108960"/>
            <a:ext cx="2194560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" y="3108960"/>
            <a:ext cx="21031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</a:t>
            </a:r>
            <a:endParaRPr lang="ko-KR" sz="950" dirty="0"/>
          </a:p>
        </p:txBody>
      </p:sp>
      <p:sp>
        <p:nvSpPr>
          <p:cNvPr id="30" name="Shape 28"/>
          <p:cNvSpPr/>
          <p:nvPr/>
        </p:nvSpPr>
        <p:spPr>
          <a:xfrm>
            <a:off x="2615184" y="3108960"/>
            <a:ext cx="9153144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60904" y="3108960"/>
            <a:ext cx="90617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endParaRPr lang="ko-KR" sz="950" dirty="0"/>
          </a:p>
        </p:txBody>
      </p:sp>
      <p:sp>
        <p:nvSpPr>
          <p:cNvPr id="32" name="Shape 30"/>
          <p:cNvSpPr/>
          <p:nvPr/>
        </p:nvSpPr>
        <p:spPr>
          <a:xfrm>
            <a:off x="420624" y="3364992"/>
            <a:ext cx="2194560" cy="412393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" y="3410712"/>
            <a:ext cx="2103120" cy="3209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업무</a:t>
            </a:r>
            <a:endParaRPr lang="ko-KR" sz="950" dirty="0"/>
          </a:p>
        </p:txBody>
      </p:sp>
      <p:sp>
        <p:nvSpPr>
          <p:cNvPr id="34" name="Shape 32"/>
          <p:cNvSpPr/>
          <p:nvPr/>
        </p:nvSpPr>
        <p:spPr>
          <a:xfrm>
            <a:off x="2615184" y="3364992"/>
            <a:ext cx="9153144" cy="412393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60904" y="3410712"/>
            <a:ext cx="9061704" cy="3209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상태가 예약(RSV) 또는 접수완료(RCP)인 해당 수검자의 모든 업무. 예약일의 과거 · 현재 · 미래를 구분하지 않는다. P01-05의 주민등록번호 변경 차단 판정에 쓰며, 차</a:t>
            </a:r>
            <a:endParaRPr lang="ko-KR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트번호 변경에는 적용하지 않는다.</a:t>
            </a:r>
            <a:endParaRPr lang="ko-KR" sz="950" dirty="0"/>
          </a:p>
        </p:txBody>
      </p:sp>
      <p:sp>
        <p:nvSpPr>
          <p:cNvPr id="36" name="Shape 34"/>
          <p:cNvSpPr/>
          <p:nvPr/>
        </p:nvSpPr>
        <p:spPr>
          <a:xfrm>
            <a:off x="420624" y="3777385"/>
            <a:ext cx="2194560" cy="412393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" y="3823105"/>
            <a:ext cx="2103120" cy="3209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중복판단 유효예약</a:t>
            </a:r>
            <a:endParaRPr lang="ko-KR" sz="950" dirty="0"/>
          </a:p>
        </p:txBody>
      </p:sp>
      <p:sp>
        <p:nvSpPr>
          <p:cNvPr id="38" name="Shape 36"/>
          <p:cNvSpPr/>
          <p:nvPr/>
        </p:nvSpPr>
        <p:spPr>
          <a:xfrm>
            <a:off x="2615184" y="3777385"/>
            <a:ext cx="9153144" cy="412393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60904" y="3823105"/>
            <a:ext cx="9061704" cy="3209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 &gt;= DB 현재일이고 상태가 RSV 또는 RCP인 업무. P02-01의 중복예약 판정에 쓴다. 활성 업무와 달리 과거 업무를 제외하며, 예약변경에서는 변경 대상 WorkId</a:t>
            </a:r>
            <a:endParaRPr lang="ko-KR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자체를 제외한다.</a:t>
            </a:r>
            <a:endParaRPr lang="ko-KR" sz="950" dirty="0"/>
          </a:p>
        </p:txBody>
      </p:sp>
      <p:sp>
        <p:nvSpPr>
          <p:cNvPr id="40" name="Shape 38"/>
          <p:cNvSpPr/>
          <p:nvPr/>
        </p:nvSpPr>
        <p:spPr>
          <a:xfrm>
            <a:off x="420624" y="4189778"/>
            <a:ext cx="219456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" y="4235498"/>
            <a:ext cx="2103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 / WalkIn</a:t>
            </a:r>
            <a:endParaRPr lang="ko-KR" sz="950" dirty="0"/>
          </a:p>
        </p:txBody>
      </p:sp>
      <p:sp>
        <p:nvSpPr>
          <p:cNvPr id="42" name="Shape 40"/>
          <p:cNvSpPr/>
          <p:nvPr/>
        </p:nvSpPr>
        <p:spPr>
          <a:xfrm>
            <a:off x="2615184" y="4189778"/>
            <a:ext cx="9153144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60904" y="4235498"/>
            <a:ext cx="906170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신규예약 진입 Context. Normal은 예약일을 선택하고, WalkIn(현장 당일예약)은 예약일을 DB 현재일로 고정한다.</a:t>
            </a:r>
            <a:endParaRPr lang="ko-KR" sz="950" dirty="0"/>
          </a:p>
        </p:txBody>
      </p:sp>
      <p:sp>
        <p:nvSpPr>
          <p:cNvPr id="44" name="Shape 42"/>
          <p:cNvSpPr/>
          <p:nvPr/>
        </p:nvSpPr>
        <p:spPr>
          <a:xfrm>
            <a:off x="420624" y="4464098"/>
            <a:ext cx="219456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" y="4509818"/>
            <a:ext cx="2103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PatientId / WorkId</a:t>
            </a:r>
            <a:endParaRPr lang="ko-KR" sz="950" dirty="0"/>
          </a:p>
        </p:txBody>
      </p:sp>
      <p:sp>
        <p:nvSpPr>
          <p:cNvPr id="46" name="Shape 44"/>
          <p:cNvSpPr/>
          <p:nvPr/>
        </p:nvSpPr>
        <p:spPr>
          <a:xfrm>
            <a:off x="2615184" y="4464098"/>
            <a:ext cx="9153144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60904" y="4509818"/>
            <a:ext cx="906170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PatientId는 수검자 Master 식별키, WorkId는 예약 · 접수 업무 1건의 식별키다. 프로세스 · 화면 간 전달키로 쓴다.</a:t>
            </a:r>
            <a:endParaRPr lang="ko-KR" sz="950" dirty="0"/>
          </a:p>
        </p:txBody>
      </p:sp>
      <p:sp>
        <p:nvSpPr>
          <p:cNvPr id="48" name="Shape 46"/>
          <p:cNvSpPr/>
          <p:nvPr/>
        </p:nvSpPr>
        <p:spPr>
          <a:xfrm>
            <a:off x="420624" y="4738418"/>
            <a:ext cx="219456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" y="4784138"/>
            <a:ext cx="2103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RSV / RCP / CNR / CNC</a:t>
            </a:r>
            <a:endParaRPr lang="ko-KR" sz="950" dirty="0"/>
          </a:p>
        </p:txBody>
      </p:sp>
      <p:sp>
        <p:nvSpPr>
          <p:cNvPr id="50" name="Shape 48"/>
          <p:cNvSpPr/>
          <p:nvPr/>
        </p:nvSpPr>
        <p:spPr>
          <a:xfrm>
            <a:off x="2615184" y="4738418"/>
            <a:ext cx="9153144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60904" y="4784138"/>
            <a:ext cx="906170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/ 접수완료 / 예약취소 / 접수취소 상태 코드. 취소는 물리 삭제하지 않고 같은 업무 행의 상태만 바꾸며 복원하지 않는다.</a:t>
            </a:r>
            <a:endParaRPr lang="ko-KR" sz="950" dirty="0"/>
          </a:p>
        </p:txBody>
      </p:sp>
      <p:sp>
        <p:nvSpPr>
          <p:cNvPr id="52" name="Shape 50"/>
          <p:cNvSpPr/>
          <p:nvPr/>
        </p:nvSpPr>
        <p:spPr>
          <a:xfrm>
            <a:off x="420624" y="5012738"/>
            <a:ext cx="219456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" y="5058458"/>
            <a:ext cx="2103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 / PM</a:t>
            </a:r>
            <a:endParaRPr lang="ko-KR" sz="950" dirty="0"/>
          </a:p>
        </p:txBody>
      </p:sp>
      <p:sp>
        <p:nvSpPr>
          <p:cNvPr id="54" name="Shape 52"/>
          <p:cNvSpPr/>
          <p:nvPr/>
        </p:nvSpPr>
        <p:spPr>
          <a:xfrm>
            <a:off x="2615184" y="5012738"/>
            <a:ext cx="9153144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60904" y="5058458"/>
            <a:ext cx="906170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/ 오후 시간대 코드. 평일은 오전과 오후, 토요일은 오전만 운영한다.</a:t>
            </a:r>
            <a:endParaRPr lang="ko-KR" sz="950" dirty="0"/>
          </a:p>
        </p:txBody>
      </p:sp>
      <p:sp>
        <p:nvSpPr>
          <p:cNvPr id="56" name="Shape 54"/>
          <p:cNvSpPr/>
          <p:nvPr/>
        </p:nvSpPr>
        <p:spPr>
          <a:xfrm>
            <a:off x="420624" y="5287058"/>
            <a:ext cx="219456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" y="5332778"/>
            <a:ext cx="2103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SP</a:t>
            </a:r>
            <a:endParaRPr lang="ko-KR" sz="950" dirty="0"/>
          </a:p>
        </p:txBody>
      </p:sp>
      <p:sp>
        <p:nvSpPr>
          <p:cNvPr id="58" name="Shape 56"/>
          <p:cNvSpPr/>
          <p:nvPr/>
        </p:nvSpPr>
        <p:spPr>
          <a:xfrm>
            <a:off x="2615184" y="5287058"/>
            <a:ext cx="9153144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60904" y="5332778"/>
            <a:ext cx="906170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변경을 수행하는 Stored Procedure. UI의 Enabled/Disabled는 사전 안내이며, 저장 · 상태전이 시점에 DB가 현재 조건을 다시 검증한다.</a:t>
            </a:r>
            <a:endParaRPr lang="ko-KR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4770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업무 흐름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420624" y="6382512"/>
            <a:ext cx="1134770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정책: P01~P03 공통 CP-01~04 · HOL / P01 EP / P02 RP · TGT · NEX · AEX / P03 RCP — 프로세스별 대응은 「프로세스 ↔ 정책 추적표」 장 참조</a:t>
            </a:r>
            <a:endParaRPr lang="ko-KR" sz="900" dirty="0"/>
          </a:p>
        </p:txBody>
      </p:sp>
      <p:sp>
        <p:nvSpPr>
          <p:cNvPr id="4" name="Shape 2"/>
          <p:cNvSpPr/>
          <p:nvPr/>
        </p:nvSpPr>
        <p:spPr>
          <a:xfrm>
            <a:off x="420624" y="969264"/>
            <a:ext cx="11347704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969264"/>
            <a:ext cx="1116482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정상업무 연계   —   수검자 확정에서 접수까지의 정상 경로</a:t>
            </a:r>
            <a:endParaRPr lang="ko-KR" sz="1000" dirty="0"/>
          </a:p>
        </p:txBody>
      </p:sp>
      <p:sp>
        <p:nvSpPr>
          <p:cNvPr id="6" name="Shape 4"/>
          <p:cNvSpPr/>
          <p:nvPr/>
        </p:nvSpPr>
        <p:spPr>
          <a:xfrm>
            <a:off x="420624" y="1298448"/>
            <a:ext cx="1371600" cy="219456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298448"/>
            <a:ext cx="1371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 수검자 관리</a:t>
            </a:r>
            <a:endParaRPr lang="ko-KR" sz="900" dirty="0"/>
          </a:p>
        </p:txBody>
      </p:sp>
      <p:sp>
        <p:nvSpPr>
          <p:cNvPr id="8" name="Shape 6"/>
          <p:cNvSpPr/>
          <p:nvPr/>
        </p:nvSpPr>
        <p:spPr>
          <a:xfrm>
            <a:off x="2083003" y="1298448"/>
            <a:ext cx="4696358" cy="219456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3003" y="1298448"/>
            <a:ext cx="46963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 예약 관리</a:t>
            </a:r>
            <a:endParaRPr lang="ko-KR" sz="900" dirty="0"/>
          </a:p>
        </p:txBody>
      </p:sp>
      <p:sp>
        <p:nvSpPr>
          <p:cNvPr id="10" name="Shape 8"/>
          <p:cNvSpPr/>
          <p:nvPr/>
        </p:nvSpPr>
        <p:spPr>
          <a:xfrm>
            <a:off x="7070141" y="1298448"/>
            <a:ext cx="4696358" cy="219456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70141" y="1298448"/>
            <a:ext cx="46963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 접수 관리</a:t>
            </a:r>
            <a:endParaRPr lang="ko-KR" sz="900" dirty="0"/>
          </a:p>
        </p:txBody>
      </p:sp>
      <p:sp>
        <p:nvSpPr>
          <p:cNvPr id="12" name="Shape 10"/>
          <p:cNvSpPr/>
          <p:nvPr/>
        </p:nvSpPr>
        <p:spPr>
          <a:xfrm>
            <a:off x="420624" y="1591056"/>
            <a:ext cx="1371600" cy="60350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591056"/>
            <a:ext cx="1371600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확인 또는</a:t>
            </a:r>
            <a:endParaRPr lang="ko-KR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신규등록</a:t>
            </a:r>
            <a:endParaRPr lang="ko-KR" sz="900" dirty="0"/>
          </a:p>
        </p:txBody>
      </p:sp>
      <p:sp>
        <p:nvSpPr>
          <p:cNvPr id="14" name="Shape 12"/>
          <p:cNvSpPr/>
          <p:nvPr/>
        </p:nvSpPr>
        <p:spPr>
          <a:xfrm>
            <a:off x="2083003" y="1591056"/>
            <a:ext cx="1371600" cy="60350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83003" y="1591056"/>
            <a:ext cx="1371600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예약일·시간대 확정</a:t>
            </a:r>
            <a:endParaRPr lang="ko-KR" sz="900" dirty="0"/>
          </a:p>
        </p:txBody>
      </p:sp>
      <p:sp>
        <p:nvSpPr>
          <p:cNvPr id="16" name="Shape 14"/>
          <p:cNvSpPr/>
          <p:nvPr/>
        </p:nvSpPr>
        <p:spPr>
          <a:xfrm>
            <a:off x="1810512" y="1892808"/>
            <a:ext cx="245059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745382" y="1591056"/>
            <a:ext cx="1371600" cy="60350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5382" y="1591056"/>
            <a:ext cx="1371600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대상판정 및 검사구성</a:t>
            </a:r>
            <a:endParaRPr lang="ko-KR" sz="900" dirty="0"/>
          </a:p>
        </p:txBody>
      </p:sp>
      <p:sp>
        <p:nvSpPr>
          <p:cNvPr id="19" name="Shape 17"/>
          <p:cNvSpPr/>
          <p:nvPr/>
        </p:nvSpPr>
        <p:spPr>
          <a:xfrm>
            <a:off x="3472891" y="1892808"/>
            <a:ext cx="245059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07762" y="1591056"/>
            <a:ext cx="1371600" cy="60350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07762" y="1591056"/>
            <a:ext cx="1371600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저장</a:t>
            </a:r>
            <a:endParaRPr lang="ko-KR" sz="900" dirty="0"/>
          </a:p>
        </p:txBody>
      </p:sp>
      <p:sp>
        <p:nvSpPr>
          <p:cNvPr id="22" name="Shape 20"/>
          <p:cNvSpPr/>
          <p:nvPr/>
        </p:nvSpPr>
        <p:spPr>
          <a:xfrm>
            <a:off x="5135270" y="1892808"/>
            <a:ext cx="245059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070141" y="1591056"/>
            <a:ext cx="1371600" cy="60350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70141" y="1591056"/>
            <a:ext cx="1371600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내원</a:t>
            </a:r>
            <a:endParaRPr lang="ko-KR" sz="900" dirty="0"/>
          </a:p>
        </p:txBody>
      </p:sp>
      <p:sp>
        <p:nvSpPr>
          <p:cNvPr id="25" name="Shape 23"/>
          <p:cNvSpPr/>
          <p:nvPr/>
        </p:nvSpPr>
        <p:spPr>
          <a:xfrm>
            <a:off x="6797650" y="1892808"/>
            <a:ext cx="245059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732520" y="1591056"/>
            <a:ext cx="1371600" cy="60350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32520" y="1591056"/>
            <a:ext cx="1371600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예약·예정검사 확인</a:t>
            </a:r>
            <a:endParaRPr lang="ko-KR" sz="900" dirty="0"/>
          </a:p>
        </p:txBody>
      </p:sp>
      <p:sp>
        <p:nvSpPr>
          <p:cNvPr id="28" name="Shape 26"/>
          <p:cNvSpPr/>
          <p:nvPr/>
        </p:nvSpPr>
        <p:spPr>
          <a:xfrm>
            <a:off x="8460029" y="1892808"/>
            <a:ext cx="245059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394899" y="1591056"/>
            <a:ext cx="1371600" cy="60350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94899" y="1591056"/>
            <a:ext cx="1371600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</a:t>
            </a:r>
            <a:endParaRPr lang="ko-KR" sz="900" dirty="0"/>
          </a:p>
        </p:txBody>
      </p:sp>
      <p:sp>
        <p:nvSpPr>
          <p:cNvPr id="31" name="Shape 29"/>
          <p:cNvSpPr/>
          <p:nvPr/>
        </p:nvSpPr>
        <p:spPr>
          <a:xfrm>
            <a:off x="10122408" y="1892808"/>
            <a:ext cx="245059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106424" y="2194560"/>
            <a:ext cx="0" cy="274320"/>
          </a:xfrm>
          <a:prstGeom prst="line">
            <a:avLst/>
          </a:prstGeom>
          <a:noFill/>
          <a:ln w="12700">
            <a:solidFill>
              <a:srgbClr val="8C9BB5"/>
            </a:solidFill>
            <a:prstDash val="dash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4431182" y="2194560"/>
            <a:ext cx="0" cy="274320"/>
          </a:xfrm>
          <a:prstGeom prst="line">
            <a:avLst/>
          </a:prstGeom>
          <a:noFill/>
          <a:ln w="12700">
            <a:solidFill>
              <a:srgbClr val="8C9BB5"/>
            </a:solidFill>
            <a:prstDash val="dash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418320" y="2194560"/>
            <a:ext cx="0" cy="274320"/>
          </a:xfrm>
          <a:prstGeom prst="line">
            <a:avLst/>
          </a:prstGeom>
          <a:noFill/>
          <a:ln w="12700">
            <a:solidFill>
              <a:srgbClr val="8C9BB5"/>
            </a:solidFill>
            <a:prstDash val="dash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1106424" y="2468880"/>
            <a:ext cx="9336024" cy="0"/>
          </a:xfrm>
          <a:prstGeom prst="line">
            <a:avLst/>
          </a:prstGeom>
          <a:noFill/>
          <a:ln w="12700">
            <a:solidFill>
              <a:srgbClr val="8C9BB5"/>
            </a:solidFill>
            <a:prstDash val="dash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746504" y="2468880"/>
            <a:ext cx="0" cy="265176"/>
          </a:xfrm>
          <a:prstGeom prst="line">
            <a:avLst/>
          </a:prstGeom>
          <a:noFill/>
          <a:ln w="12700">
            <a:solidFill>
              <a:srgbClr val="8C9BB5"/>
            </a:solidFill>
            <a:prstDash val="dash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20624" y="2761488"/>
            <a:ext cx="2651760" cy="402336"/>
          </a:xfrm>
          <a:prstGeom prst="rect">
            <a:avLst/>
          </a:prstGeom>
          <a:ln w="12700">
            <a:solidFill>
              <a:srgbClr val="8C9BB5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20624" y="2761488"/>
            <a:ext cx="265176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정보수정</a:t>
            </a:r>
            <a:endParaRPr lang="ko-KR" sz="900" dirty="0"/>
          </a:p>
        </p:txBody>
      </p:sp>
      <p:sp>
        <p:nvSpPr>
          <p:cNvPr id="39" name="Shape 37"/>
          <p:cNvSpPr/>
          <p:nvPr/>
        </p:nvSpPr>
        <p:spPr>
          <a:xfrm>
            <a:off x="4645152" y="2468880"/>
            <a:ext cx="0" cy="265176"/>
          </a:xfrm>
          <a:prstGeom prst="line">
            <a:avLst/>
          </a:prstGeom>
          <a:noFill/>
          <a:ln w="12700">
            <a:solidFill>
              <a:srgbClr val="8C9BB5"/>
            </a:solidFill>
            <a:prstDash val="dash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319272" y="2761488"/>
            <a:ext cx="2651760" cy="402336"/>
          </a:xfrm>
          <a:prstGeom prst="rect">
            <a:avLst/>
          </a:prstGeom>
          <a:ln w="12700">
            <a:solidFill>
              <a:srgbClr val="8C9BB5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3319272" y="2761488"/>
            <a:ext cx="265176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예약변경 / 예약취소</a:t>
            </a:r>
            <a:endParaRPr lang="ko-KR" sz="900" dirty="0"/>
          </a:p>
        </p:txBody>
      </p:sp>
      <p:sp>
        <p:nvSpPr>
          <p:cNvPr id="42" name="Shape 40"/>
          <p:cNvSpPr/>
          <p:nvPr/>
        </p:nvSpPr>
        <p:spPr>
          <a:xfrm>
            <a:off x="7543800" y="2468880"/>
            <a:ext cx="0" cy="265176"/>
          </a:xfrm>
          <a:prstGeom prst="line">
            <a:avLst/>
          </a:prstGeom>
          <a:noFill/>
          <a:ln w="12700">
            <a:solidFill>
              <a:srgbClr val="8C9BB5"/>
            </a:solidFill>
            <a:prstDash val="dash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217920" y="2761488"/>
            <a:ext cx="2651760" cy="402336"/>
          </a:xfrm>
          <a:prstGeom prst="rect">
            <a:avLst/>
          </a:prstGeom>
          <a:ln w="12700">
            <a:solidFill>
              <a:srgbClr val="8C9BB5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6217920" y="2761488"/>
            <a:ext cx="265176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예약·접수 내역조회</a:t>
            </a:r>
            <a:endParaRPr lang="ko-KR" sz="900" dirty="0"/>
          </a:p>
        </p:txBody>
      </p:sp>
      <p:sp>
        <p:nvSpPr>
          <p:cNvPr id="45" name="Shape 43"/>
          <p:cNvSpPr/>
          <p:nvPr/>
        </p:nvSpPr>
        <p:spPr>
          <a:xfrm>
            <a:off x="10442448" y="2468880"/>
            <a:ext cx="0" cy="265176"/>
          </a:xfrm>
          <a:prstGeom prst="line">
            <a:avLst/>
          </a:prstGeom>
          <a:noFill/>
          <a:ln w="12700">
            <a:solidFill>
              <a:srgbClr val="8C9BB5"/>
            </a:solidFill>
            <a:prstDash val="dash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116568" y="2761488"/>
            <a:ext cx="2651760" cy="402336"/>
          </a:xfrm>
          <a:prstGeom prst="rect">
            <a:avLst/>
          </a:prstGeom>
          <a:ln w="12700">
            <a:solidFill>
              <a:srgbClr val="8C9BB5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9116568" y="2761488"/>
            <a:ext cx="265176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접수완료 AEX 변경 / 접수취소</a:t>
            </a:r>
            <a:endParaRPr lang="ko-KR" sz="900" dirty="0"/>
          </a:p>
        </p:txBody>
      </p:sp>
      <p:sp>
        <p:nvSpPr>
          <p:cNvPr id="48" name="Text 46"/>
          <p:cNvSpPr/>
          <p:nvPr/>
        </p:nvSpPr>
        <p:spPr>
          <a:xfrm>
            <a:off x="420624" y="2249424"/>
            <a:ext cx="14630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보조업무</a:t>
            </a:r>
            <a:endParaRPr lang="ko-KR" sz="800" dirty="0"/>
          </a:p>
        </p:txBody>
      </p:sp>
      <p:sp>
        <p:nvSpPr>
          <p:cNvPr id="49" name="Shape 47"/>
          <p:cNvSpPr/>
          <p:nvPr/>
        </p:nvSpPr>
        <p:spPr>
          <a:xfrm>
            <a:off x="420624" y="3346704"/>
            <a:ext cx="11347704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" y="3346704"/>
            <a:ext cx="1116482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문서가 확정한 업무 규칙</a:t>
            </a:r>
            <a:endParaRPr lang="ko-KR" sz="1000" dirty="0"/>
          </a:p>
        </p:txBody>
      </p:sp>
      <p:sp>
        <p:nvSpPr>
          <p:cNvPr id="51" name="Text 49"/>
          <p:cNvSpPr/>
          <p:nvPr/>
        </p:nvSpPr>
        <p:spPr>
          <a:xfrm>
            <a:off x="420624" y="3712464"/>
            <a:ext cx="274320" cy="152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</a:t>
            </a:r>
            <a:endParaRPr lang="ko-KR" sz="900" dirty="0"/>
          </a:p>
        </p:txBody>
      </p:sp>
      <p:sp>
        <p:nvSpPr>
          <p:cNvPr id="52" name="Text 50"/>
          <p:cNvSpPr/>
          <p:nvPr/>
        </p:nvSpPr>
        <p:spPr>
          <a:xfrm>
            <a:off x="694944" y="3712464"/>
            <a:ext cx="5303520" cy="152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P00은 수검자 관리·예약 관리·접수 관리의 최상위 구조다.</a:t>
            </a:r>
            <a:endParaRPr lang="ko-KR" sz="900" dirty="0"/>
          </a:p>
        </p:txBody>
      </p:sp>
      <p:sp>
        <p:nvSpPr>
          <p:cNvPr id="53" name="Text 51"/>
          <p:cNvSpPr/>
          <p:nvPr/>
        </p:nvSpPr>
        <p:spPr>
          <a:xfrm>
            <a:off x="420624" y="4096512"/>
            <a:ext cx="274320" cy="152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</a:t>
            </a:r>
            <a:endParaRPr lang="ko-KR" sz="900" dirty="0"/>
          </a:p>
        </p:txBody>
      </p:sp>
      <p:sp>
        <p:nvSpPr>
          <p:cNvPr id="54" name="Text 52"/>
          <p:cNvSpPr/>
          <p:nvPr/>
        </p:nvSpPr>
        <p:spPr>
          <a:xfrm>
            <a:off x="694944" y="4096512"/>
            <a:ext cx="5303520" cy="152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P01은 조회/확정, 신규등록, 중복검증, 정보수정, 식별정보 변경검증의 5개 프로세스다.</a:t>
            </a:r>
            <a:endParaRPr lang="ko-KR" sz="900" dirty="0"/>
          </a:p>
        </p:txBody>
      </p:sp>
      <p:sp>
        <p:nvSpPr>
          <p:cNvPr id="55" name="Text 53"/>
          <p:cNvSpPr/>
          <p:nvPr/>
        </p:nvSpPr>
        <p:spPr>
          <a:xfrm>
            <a:off x="420624" y="4480560"/>
            <a:ext cx="274320" cy="152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</a:t>
            </a:r>
            <a:endParaRPr lang="ko-KR" sz="900" dirty="0"/>
          </a:p>
        </p:txBody>
      </p:sp>
      <p:sp>
        <p:nvSpPr>
          <p:cNvPr id="56" name="Text 54"/>
          <p:cNvSpPr/>
          <p:nvPr/>
        </p:nvSpPr>
        <p:spPr>
          <a:xfrm>
            <a:off x="694944" y="4480560"/>
            <a:ext cx="5303520" cy="152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 신규예약은 일정 확정 → 일정검증 → TGT → NEX → AEX → 저장 순서다.</a:t>
            </a:r>
            <a:endParaRPr lang="ko-KR" sz="900" dirty="0"/>
          </a:p>
        </p:txBody>
      </p:sp>
      <p:sp>
        <p:nvSpPr>
          <p:cNvPr id="57" name="Text 55"/>
          <p:cNvSpPr/>
          <p:nvPr/>
        </p:nvSpPr>
        <p:spPr>
          <a:xfrm>
            <a:off x="420624" y="4864608"/>
            <a:ext cx="274320" cy="152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</a:t>
            </a:r>
            <a:endParaRPr lang="ko-KR" sz="900" dirty="0"/>
          </a:p>
        </p:txBody>
      </p:sp>
      <p:sp>
        <p:nvSpPr>
          <p:cNvPr id="58" name="Text 56"/>
          <p:cNvSpPr/>
          <p:nvPr/>
        </p:nvSpPr>
        <p:spPr>
          <a:xfrm>
            <a:off x="694944" y="4864608"/>
            <a:ext cx="5303520" cy="152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유효예약이 있으면 신규예약을 생성하지 않고 기존 Work를 연다.</a:t>
            </a:r>
            <a:endParaRPr lang="ko-KR" sz="900" dirty="0"/>
          </a:p>
        </p:txBody>
      </p:sp>
      <p:sp>
        <p:nvSpPr>
          <p:cNvPr id="59" name="Text 57"/>
          <p:cNvSpPr/>
          <p:nvPr/>
        </p:nvSpPr>
        <p:spPr>
          <a:xfrm>
            <a:off x="420624" y="5248656"/>
            <a:ext cx="274320" cy="152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</a:t>
            </a:r>
            <a:endParaRPr lang="ko-KR" sz="900" dirty="0"/>
          </a:p>
        </p:txBody>
      </p:sp>
      <p:sp>
        <p:nvSpPr>
          <p:cNvPr id="60" name="Text 58"/>
          <p:cNvSpPr/>
          <p:nvPr/>
        </p:nvSpPr>
        <p:spPr>
          <a:xfrm>
            <a:off x="694944" y="5248656"/>
            <a:ext cx="5303520" cy="152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예약변경의 중복판정에서는 변경 대상 Work 자체를 제외한다.</a:t>
            </a:r>
            <a:endParaRPr lang="ko-KR" sz="900" dirty="0"/>
          </a:p>
        </p:txBody>
      </p:sp>
      <p:sp>
        <p:nvSpPr>
          <p:cNvPr id="61" name="Text 59"/>
          <p:cNvSpPr/>
          <p:nvPr/>
        </p:nvSpPr>
        <p:spPr>
          <a:xfrm>
            <a:off x="420624" y="5632704"/>
            <a:ext cx="274320" cy="152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</a:t>
            </a:r>
            <a:endParaRPr lang="ko-KR" sz="900" dirty="0"/>
          </a:p>
        </p:txBody>
      </p:sp>
      <p:sp>
        <p:nvSpPr>
          <p:cNvPr id="62" name="Text 60"/>
          <p:cNvSpPr/>
          <p:nvPr/>
        </p:nvSpPr>
        <p:spPr>
          <a:xfrm>
            <a:off x="694944" y="5632704"/>
            <a:ext cx="5303520" cy="152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 변경은 TGT/NEX/AEX를 영향 재검증하고 시간대만 변경하면 일정 Rule만 검증한다.</a:t>
            </a:r>
            <a:endParaRPr lang="ko-KR" sz="900" dirty="0"/>
          </a:p>
        </p:txBody>
      </p:sp>
      <p:sp>
        <p:nvSpPr>
          <p:cNvPr id="63" name="Text 61"/>
          <p:cNvSpPr/>
          <p:nvPr/>
        </p:nvSpPr>
        <p:spPr>
          <a:xfrm>
            <a:off x="6190488" y="3712464"/>
            <a:ext cx="274320" cy="152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</a:t>
            </a:r>
            <a:endParaRPr lang="ko-KR" sz="900" dirty="0"/>
          </a:p>
        </p:txBody>
      </p:sp>
      <p:sp>
        <p:nvSpPr>
          <p:cNvPr id="64" name="Text 62"/>
          <p:cNvSpPr/>
          <p:nvPr/>
        </p:nvSpPr>
        <p:spPr>
          <a:xfrm>
            <a:off x="6464808" y="3712464"/>
            <a:ext cx="5303520" cy="152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P03은 예약 기반 접수만 허용하며 현장 내원도 WalkIn 당일예약 후 접수한다.</a:t>
            </a:r>
            <a:endParaRPr lang="ko-KR" sz="900" dirty="0"/>
          </a:p>
        </p:txBody>
      </p:sp>
      <p:sp>
        <p:nvSpPr>
          <p:cNvPr id="65" name="Text 63"/>
          <p:cNvSpPr/>
          <p:nvPr/>
        </p:nvSpPr>
        <p:spPr>
          <a:xfrm>
            <a:off x="6190488" y="4096512"/>
            <a:ext cx="274320" cy="152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</a:t>
            </a:r>
            <a:endParaRPr lang="ko-KR" sz="900" dirty="0"/>
          </a:p>
        </p:txBody>
      </p:sp>
      <p:sp>
        <p:nvSpPr>
          <p:cNvPr id="66" name="Text 64"/>
          <p:cNvSpPr/>
          <p:nvPr/>
        </p:nvSpPr>
        <p:spPr>
          <a:xfrm>
            <a:off x="6464808" y="4096512"/>
            <a:ext cx="5303520" cy="152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단계에서는 예약정보와 검사구성을 확인하며 직접 편집하지 않는다.</a:t>
            </a:r>
            <a:endParaRPr lang="ko-KR" sz="900" dirty="0"/>
          </a:p>
        </p:txBody>
      </p:sp>
      <p:sp>
        <p:nvSpPr>
          <p:cNvPr id="67" name="Text 65"/>
          <p:cNvSpPr/>
          <p:nvPr/>
        </p:nvSpPr>
        <p:spPr>
          <a:xfrm>
            <a:off x="6190488" y="4480560"/>
            <a:ext cx="274320" cy="152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</a:t>
            </a:r>
            <a:endParaRPr lang="ko-KR" sz="900" dirty="0"/>
          </a:p>
        </p:txBody>
      </p:sp>
      <p:sp>
        <p:nvSpPr>
          <p:cNvPr id="68" name="Text 66"/>
          <p:cNvSpPr/>
          <p:nvPr/>
        </p:nvSpPr>
        <p:spPr>
          <a:xfrm>
            <a:off x="6464808" y="4480560"/>
            <a:ext cx="5303520" cy="152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예약과 접수는 동일 업무 행의 RSV/RCP/CNR/CNC 상태전이다.</a:t>
            </a:r>
            <a:endParaRPr lang="ko-KR" sz="900" dirty="0"/>
          </a:p>
        </p:txBody>
      </p:sp>
      <p:sp>
        <p:nvSpPr>
          <p:cNvPr id="69" name="Text 67"/>
          <p:cNvSpPr/>
          <p:nvPr/>
        </p:nvSpPr>
        <p:spPr>
          <a:xfrm>
            <a:off x="6190488" y="4864608"/>
            <a:ext cx="274320" cy="152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</a:t>
            </a:r>
            <a:endParaRPr lang="ko-KR" sz="900" dirty="0"/>
          </a:p>
        </p:txBody>
      </p:sp>
      <p:sp>
        <p:nvSpPr>
          <p:cNvPr id="70" name="Text 68"/>
          <p:cNvSpPr/>
          <p:nvPr/>
        </p:nvSpPr>
        <p:spPr>
          <a:xfrm>
            <a:off x="6464808" y="4864608"/>
            <a:ext cx="5303520" cy="152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취소는 보존하되 복원하지 않는다.</a:t>
            </a:r>
            <a:endParaRPr lang="ko-KR" sz="900" dirty="0"/>
          </a:p>
        </p:txBody>
      </p:sp>
      <p:sp>
        <p:nvSpPr>
          <p:cNvPr id="71" name="Text 69"/>
          <p:cNvSpPr/>
          <p:nvPr/>
        </p:nvSpPr>
        <p:spPr>
          <a:xfrm>
            <a:off x="6190488" y="5248656"/>
            <a:ext cx="274320" cy="152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</a:t>
            </a:r>
            <a:endParaRPr lang="ko-KR" sz="900" dirty="0"/>
          </a:p>
        </p:txBody>
      </p:sp>
      <p:sp>
        <p:nvSpPr>
          <p:cNvPr id="72" name="Text 70"/>
          <p:cNvSpPr/>
          <p:nvPr/>
        </p:nvSpPr>
        <p:spPr>
          <a:xfrm>
            <a:off x="6464808" y="5248656"/>
            <a:ext cx="5303520" cy="152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Write는 DB에서 현재상태·정원·중복·Rule·동시성을 최종 검증한다.</a:t>
            </a:r>
            <a:endParaRPr lang="ko-KR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4770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  수검자 확인 / 관리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420624" y="6382512"/>
            <a:ext cx="1134770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정책: P01-01 EP-01, EP-02 / P01-02 EP-03, EP-04, EP-09 / P01-04 EP-04, EP-08, CP-06 / P01-05 EP-03, EP-05, EP-08</a:t>
            </a:r>
            <a:endParaRPr lang="ko-KR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73736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52144"/>
            <a:ext cx="17373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확인 / 관리 시작</a:t>
            </a:r>
            <a:endParaRPr lang="ko-KR" sz="800" dirty="0"/>
          </a:p>
        </p:txBody>
      </p:sp>
      <p:sp>
        <p:nvSpPr>
          <p:cNvPr id="6" name="Shape 4"/>
          <p:cNvSpPr/>
          <p:nvPr/>
        </p:nvSpPr>
        <p:spPr>
          <a:xfrm>
            <a:off x="580644" y="1184148"/>
            <a:ext cx="1673352" cy="32004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13432" y="1344168"/>
            <a:ext cx="17373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14600" y="1152144"/>
            <a:ext cx="1097280" cy="384048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152144"/>
            <a:ext cx="10972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구분?</a:t>
            </a:r>
            <a:endParaRPr lang="ko-KR" sz="800" dirty="0"/>
          </a:p>
        </p:txBody>
      </p:sp>
      <p:sp>
        <p:nvSpPr>
          <p:cNvPr id="10" name="Shape 8"/>
          <p:cNvSpPr/>
          <p:nvPr/>
        </p:nvSpPr>
        <p:spPr>
          <a:xfrm>
            <a:off x="3611880" y="1344168"/>
            <a:ext cx="18288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794760" y="1106424"/>
            <a:ext cx="0" cy="475488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794760" y="1106424"/>
            <a:ext cx="20116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23360" y="1005840"/>
            <a:ext cx="3291840" cy="2011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1005840"/>
            <a:ext cx="32918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/ 확인   →   P01-01 수검자 조회 및 확정</a:t>
            </a:r>
            <a:endParaRPr lang="ko-KR" sz="800" dirty="0"/>
          </a:p>
        </p:txBody>
      </p:sp>
      <p:sp>
        <p:nvSpPr>
          <p:cNvPr id="15" name="Shape 13"/>
          <p:cNvSpPr/>
          <p:nvPr/>
        </p:nvSpPr>
        <p:spPr>
          <a:xfrm>
            <a:off x="4078224" y="1005840"/>
            <a:ext cx="0" cy="201168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260336" y="1005840"/>
            <a:ext cx="0" cy="201168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794760" y="1344168"/>
            <a:ext cx="20116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023360" y="1243584"/>
            <a:ext cx="3291840" cy="2011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1243584"/>
            <a:ext cx="32918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등록   →   P01-02 신규 수검자 등록</a:t>
            </a:r>
            <a:endParaRPr lang="ko-KR" sz="800" dirty="0"/>
          </a:p>
        </p:txBody>
      </p:sp>
      <p:sp>
        <p:nvSpPr>
          <p:cNvPr id="20" name="Shape 18"/>
          <p:cNvSpPr/>
          <p:nvPr/>
        </p:nvSpPr>
        <p:spPr>
          <a:xfrm>
            <a:off x="4078224" y="1243584"/>
            <a:ext cx="0" cy="201168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260336" y="1243584"/>
            <a:ext cx="0" cy="201168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3794760" y="1581912"/>
            <a:ext cx="20116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023360" y="1481328"/>
            <a:ext cx="3291840" cy="2011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1481328"/>
            <a:ext cx="32918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수정   →   P01-04 수검자 정보 수정</a:t>
            </a:r>
            <a:endParaRPr lang="ko-KR" sz="800" dirty="0"/>
          </a:p>
        </p:txBody>
      </p:sp>
      <p:sp>
        <p:nvSpPr>
          <p:cNvPr id="25" name="Shape 23"/>
          <p:cNvSpPr/>
          <p:nvPr/>
        </p:nvSpPr>
        <p:spPr>
          <a:xfrm>
            <a:off x="4078224" y="1481328"/>
            <a:ext cx="0" cy="201168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7260336" y="1481328"/>
            <a:ext cx="0" cy="201168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7315200" y="1106424"/>
            <a:ext cx="13716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7452360" y="1106424"/>
            <a:ext cx="0" cy="23774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7452360" y="1344168"/>
            <a:ext cx="10972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315200" y="1344168"/>
            <a:ext cx="24688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315200" y="1581912"/>
            <a:ext cx="13716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 flipV="1">
            <a:off x="7452360" y="1344168"/>
            <a:ext cx="0" cy="23774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7452360" y="1344168"/>
            <a:ext cx="10972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589520" y="1152144"/>
            <a:ext cx="192024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1152144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확인 / 관리 종료</a:t>
            </a:r>
            <a:endParaRPr lang="ko-KR" sz="800" dirty="0"/>
          </a:p>
        </p:txBody>
      </p:sp>
      <p:sp>
        <p:nvSpPr>
          <p:cNvPr id="36" name="Shape 34"/>
          <p:cNvSpPr/>
          <p:nvPr/>
        </p:nvSpPr>
        <p:spPr>
          <a:xfrm>
            <a:off x="7621524" y="1184148"/>
            <a:ext cx="1856232" cy="32004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92640" y="1005840"/>
            <a:ext cx="2075688" cy="551718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02368" y="1078992"/>
            <a:ext cx="1856232" cy="405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Master 삭제 프로세스는 정의하</a:t>
            </a:r>
            <a:endParaRPr lang="ko-KR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 않는다.</a:t>
            </a:r>
            <a:endParaRPr lang="ko-KR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오류는 P01-04로 수정한다. (EP-10)</a:t>
            </a:r>
            <a:endParaRPr lang="ko-KR" sz="800" dirty="0"/>
          </a:p>
        </p:txBody>
      </p:sp>
      <p:sp>
        <p:nvSpPr>
          <p:cNvPr id="39" name="Shape 37"/>
          <p:cNvSpPr/>
          <p:nvPr/>
        </p:nvSpPr>
        <p:spPr>
          <a:xfrm>
            <a:off x="420624" y="1755648"/>
            <a:ext cx="5513832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" y="1755648"/>
            <a:ext cx="533095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P01-01  수검자 조회 및 확정</a:t>
            </a:r>
            <a:endParaRPr lang="ko-KR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2066544"/>
            <a:ext cx="1243584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2066544"/>
            <a:ext cx="1243584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확인 시작</a:t>
            </a:r>
            <a:endParaRPr lang="ko-KR" sz="800" dirty="0"/>
          </a:p>
        </p:txBody>
      </p:sp>
      <p:sp>
        <p:nvSpPr>
          <p:cNvPr id="43" name="Shape 41"/>
          <p:cNvSpPr/>
          <p:nvPr/>
        </p:nvSpPr>
        <p:spPr>
          <a:xfrm>
            <a:off x="580644" y="2098548"/>
            <a:ext cx="1179576" cy="338328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29384" y="2066544"/>
            <a:ext cx="1243584" cy="40233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29384" y="2066544"/>
            <a:ext cx="1243584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조회조건 입력</a:t>
            </a:r>
            <a:endParaRPr lang="ko-KR" sz="800" dirty="0"/>
          </a:p>
        </p:txBody>
      </p:sp>
      <p:sp>
        <p:nvSpPr>
          <p:cNvPr id="46" name="Shape 44"/>
          <p:cNvSpPr/>
          <p:nvPr/>
        </p:nvSpPr>
        <p:spPr>
          <a:xfrm>
            <a:off x="3310128" y="2066544"/>
            <a:ext cx="1243584" cy="40233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0128" y="2066544"/>
            <a:ext cx="1243584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Master 조회</a:t>
            </a:r>
            <a:endParaRPr lang="ko-KR" sz="800" dirty="0"/>
          </a:p>
        </p:txBody>
      </p:sp>
      <p:sp>
        <p:nvSpPr>
          <p:cNvPr id="48" name="Shape 46"/>
          <p:cNvSpPr/>
          <p:nvPr/>
        </p:nvSpPr>
        <p:spPr>
          <a:xfrm>
            <a:off x="4690872" y="2066544"/>
            <a:ext cx="1243584" cy="402336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90872" y="2066544"/>
            <a:ext cx="1243584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수검자 존재?</a:t>
            </a:r>
            <a:endParaRPr lang="ko-KR" sz="800" dirty="0"/>
          </a:p>
        </p:txBody>
      </p:sp>
      <p:sp>
        <p:nvSpPr>
          <p:cNvPr id="50" name="Shape 48"/>
          <p:cNvSpPr/>
          <p:nvPr/>
        </p:nvSpPr>
        <p:spPr>
          <a:xfrm>
            <a:off x="1929384" y="2688336"/>
            <a:ext cx="1243584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29384" y="2688336"/>
            <a:ext cx="1243584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PatientId 확정</a:t>
            </a:r>
            <a:endParaRPr lang="ko-KR" sz="800" dirty="0"/>
          </a:p>
        </p:txBody>
      </p:sp>
      <p:sp>
        <p:nvSpPr>
          <p:cNvPr id="52" name="Shape 50"/>
          <p:cNvSpPr/>
          <p:nvPr/>
        </p:nvSpPr>
        <p:spPr>
          <a:xfrm>
            <a:off x="1961388" y="2720340"/>
            <a:ext cx="1179576" cy="338328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10128" y="2688336"/>
            <a:ext cx="1243584" cy="40233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10128" y="2688336"/>
            <a:ext cx="1243584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수검자 선택</a:t>
            </a:r>
            <a:endParaRPr lang="ko-KR" sz="800" dirty="0"/>
          </a:p>
        </p:txBody>
      </p:sp>
      <p:sp>
        <p:nvSpPr>
          <p:cNvPr id="55" name="Shape 53"/>
          <p:cNvSpPr/>
          <p:nvPr/>
        </p:nvSpPr>
        <p:spPr>
          <a:xfrm>
            <a:off x="1929384" y="3310128"/>
            <a:ext cx="1243584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929384" y="3310128"/>
            <a:ext cx="1243584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확인 중단</a:t>
            </a:r>
            <a:endParaRPr lang="ko-KR" sz="800" dirty="0"/>
          </a:p>
        </p:txBody>
      </p:sp>
      <p:sp>
        <p:nvSpPr>
          <p:cNvPr id="57" name="Shape 55"/>
          <p:cNvSpPr/>
          <p:nvPr/>
        </p:nvSpPr>
        <p:spPr>
          <a:xfrm>
            <a:off x="1961388" y="3342132"/>
            <a:ext cx="1179576" cy="338328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10128" y="3310128"/>
            <a:ext cx="1243584" cy="402336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10128" y="3310128"/>
            <a:ext cx="1243584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신규등록 또는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수검자 확정?</a:t>
            </a:r>
            <a:endParaRPr lang="ko-KR" sz="800" dirty="0"/>
          </a:p>
        </p:txBody>
      </p:sp>
      <p:sp>
        <p:nvSpPr>
          <p:cNvPr id="60" name="Shape 58"/>
          <p:cNvSpPr/>
          <p:nvPr/>
        </p:nvSpPr>
        <p:spPr>
          <a:xfrm>
            <a:off x="4690872" y="3310128"/>
            <a:ext cx="1243584" cy="40233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90872" y="3310128"/>
            <a:ext cx="1243584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P01-02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수검자 등록</a:t>
            </a:r>
            <a:endParaRPr lang="ko-KR" sz="800" dirty="0"/>
          </a:p>
        </p:txBody>
      </p:sp>
      <p:sp>
        <p:nvSpPr>
          <p:cNvPr id="62" name="Shape 60"/>
          <p:cNvSpPr/>
          <p:nvPr/>
        </p:nvSpPr>
        <p:spPr>
          <a:xfrm>
            <a:off x="4745736" y="3310128"/>
            <a:ext cx="0" cy="402336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5879592" y="3310128"/>
            <a:ext cx="0" cy="402336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1792224" y="2267712"/>
            <a:ext cx="10972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3172968" y="2267712"/>
            <a:ext cx="10972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4553712" y="2267712"/>
            <a:ext cx="10972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5029200" y="2468880"/>
            <a:ext cx="0" cy="128016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68" name="Shape 66"/>
          <p:cNvSpPr/>
          <p:nvPr/>
        </p:nvSpPr>
        <p:spPr>
          <a:xfrm flipH="1">
            <a:off x="3931920" y="2596896"/>
            <a:ext cx="109728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3931920" y="2596896"/>
            <a:ext cx="0" cy="64008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5088548" y="2520183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88548" y="2520183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72" name="Shape 70"/>
          <p:cNvSpPr/>
          <p:nvPr/>
        </p:nvSpPr>
        <p:spPr>
          <a:xfrm flipH="1">
            <a:off x="3200400" y="2889504"/>
            <a:ext cx="10972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5596128" y="2468880"/>
            <a:ext cx="0" cy="813816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5481104" y="2849367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81104" y="2849367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76" name="Shape 74"/>
          <p:cNvSpPr/>
          <p:nvPr/>
        </p:nvSpPr>
        <p:spPr>
          <a:xfrm flipH="1">
            <a:off x="4581144" y="3511296"/>
            <a:ext cx="10972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 flipH="1">
            <a:off x="3200400" y="3511296"/>
            <a:ext cx="10972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8" name="Text 76"/>
          <p:cNvSpPr/>
          <p:nvPr/>
        </p:nvSpPr>
        <p:spPr>
          <a:xfrm>
            <a:off x="3126524" y="3297423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79" name="Shape 77"/>
          <p:cNvSpPr/>
          <p:nvPr/>
        </p:nvSpPr>
        <p:spPr>
          <a:xfrm flipV="1">
            <a:off x="3931920" y="3200400"/>
            <a:ext cx="0" cy="109728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80" name="Shape 78"/>
          <p:cNvSpPr/>
          <p:nvPr/>
        </p:nvSpPr>
        <p:spPr>
          <a:xfrm flipH="1">
            <a:off x="2551176" y="3200400"/>
            <a:ext cx="1380744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81" name="Shape 79"/>
          <p:cNvSpPr/>
          <p:nvPr/>
        </p:nvSpPr>
        <p:spPr>
          <a:xfrm flipV="1">
            <a:off x="2551176" y="3118104"/>
            <a:ext cx="0" cy="82296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3497492" y="3123687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497492" y="3123687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84" name="Shape 82"/>
          <p:cNvSpPr/>
          <p:nvPr/>
        </p:nvSpPr>
        <p:spPr>
          <a:xfrm>
            <a:off x="420624" y="4059936"/>
            <a:ext cx="5513832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12064" y="4059936"/>
            <a:ext cx="533095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P01-04  수검자 정보 수정   ·   P01-05  식별정보 변경 검증</a:t>
            </a:r>
            <a:endParaRPr lang="ko-KR" sz="1000" dirty="0"/>
          </a:p>
        </p:txBody>
      </p:sp>
      <p:sp>
        <p:nvSpPr>
          <p:cNvPr id="86" name="Shape 84"/>
          <p:cNvSpPr/>
          <p:nvPr/>
        </p:nvSpPr>
        <p:spPr>
          <a:xfrm>
            <a:off x="548640" y="4370832"/>
            <a:ext cx="12435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48640" y="4370832"/>
            <a:ext cx="12435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수정 시작</a:t>
            </a:r>
            <a:endParaRPr lang="ko-KR" sz="800" dirty="0"/>
          </a:p>
        </p:txBody>
      </p:sp>
      <p:sp>
        <p:nvSpPr>
          <p:cNvPr id="88" name="Shape 86"/>
          <p:cNvSpPr/>
          <p:nvPr/>
        </p:nvSpPr>
        <p:spPr>
          <a:xfrm>
            <a:off x="580644" y="4402836"/>
            <a:ext cx="1179576" cy="265176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929384" y="4370832"/>
            <a:ext cx="1243584" cy="32918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929384" y="4370832"/>
            <a:ext cx="12435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수검자 선택 /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상세 조회</a:t>
            </a:r>
            <a:endParaRPr lang="ko-KR" sz="800" dirty="0"/>
          </a:p>
        </p:txBody>
      </p:sp>
      <p:sp>
        <p:nvSpPr>
          <p:cNvPr id="91" name="Shape 89"/>
          <p:cNvSpPr/>
          <p:nvPr/>
        </p:nvSpPr>
        <p:spPr>
          <a:xfrm>
            <a:off x="3310128" y="4370832"/>
            <a:ext cx="1243584" cy="329184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310128" y="4370832"/>
            <a:ext cx="12435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존재?</a:t>
            </a:r>
            <a:endParaRPr lang="ko-KR" sz="800" dirty="0"/>
          </a:p>
        </p:txBody>
      </p:sp>
      <p:sp>
        <p:nvSpPr>
          <p:cNvPr id="93" name="Shape 91"/>
          <p:cNvSpPr/>
          <p:nvPr/>
        </p:nvSpPr>
        <p:spPr>
          <a:xfrm>
            <a:off x="4690872" y="4370832"/>
            <a:ext cx="12435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690872" y="4370832"/>
            <a:ext cx="12435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대상 없음</a:t>
            </a:r>
            <a:endParaRPr lang="ko-KR" sz="800" dirty="0"/>
          </a:p>
        </p:txBody>
      </p:sp>
      <p:sp>
        <p:nvSpPr>
          <p:cNvPr id="95" name="Shape 93"/>
          <p:cNvSpPr/>
          <p:nvPr/>
        </p:nvSpPr>
        <p:spPr>
          <a:xfrm>
            <a:off x="4722876" y="4402836"/>
            <a:ext cx="1179576" cy="265176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48640" y="4832604"/>
            <a:ext cx="1243584" cy="329184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48640" y="4832604"/>
            <a:ext cx="12435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가능?</a:t>
            </a:r>
            <a:endParaRPr lang="ko-KR" sz="800" dirty="0"/>
          </a:p>
        </p:txBody>
      </p:sp>
      <p:sp>
        <p:nvSpPr>
          <p:cNvPr id="98" name="Shape 96"/>
          <p:cNvSpPr/>
          <p:nvPr/>
        </p:nvSpPr>
        <p:spPr>
          <a:xfrm>
            <a:off x="1929384" y="4832604"/>
            <a:ext cx="1243584" cy="32918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929384" y="4832604"/>
            <a:ext cx="12435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P01-05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식별정보 변경 검증</a:t>
            </a:r>
            <a:endParaRPr lang="ko-KR" sz="800" dirty="0"/>
          </a:p>
        </p:txBody>
      </p:sp>
      <p:sp>
        <p:nvSpPr>
          <p:cNvPr id="100" name="Shape 98"/>
          <p:cNvSpPr/>
          <p:nvPr/>
        </p:nvSpPr>
        <p:spPr>
          <a:xfrm>
            <a:off x="1984248" y="4832604"/>
            <a:ext cx="0" cy="329184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101" name="Shape 99"/>
          <p:cNvSpPr/>
          <p:nvPr/>
        </p:nvSpPr>
        <p:spPr>
          <a:xfrm>
            <a:off x="3118104" y="4832604"/>
            <a:ext cx="0" cy="329184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102" name="Shape 100"/>
          <p:cNvSpPr/>
          <p:nvPr/>
        </p:nvSpPr>
        <p:spPr>
          <a:xfrm>
            <a:off x="3310128" y="4832604"/>
            <a:ext cx="1243584" cy="329184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10128" y="4832604"/>
            <a:ext cx="12435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주민등록번호 또는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 변경?</a:t>
            </a:r>
            <a:endParaRPr lang="ko-KR" sz="800" dirty="0"/>
          </a:p>
        </p:txBody>
      </p:sp>
      <p:sp>
        <p:nvSpPr>
          <p:cNvPr id="104" name="Shape 102"/>
          <p:cNvSpPr/>
          <p:nvPr/>
        </p:nvSpPr>
        <p:spPr>
          <a:xfrm>
            <a:off x="4690872" y="4832604"/>
            <a:ext cx="1243584" cy="32918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690872" y="4832604"/>
            <a:ext cx="12435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수정값 입력</a:t>
            </a:r>
            <a:endParaRPr lang="ko-KR" sz="800" dirty="0"/>
          </a:p>
        </p:txBody>
      </p:sp>
      <p:sp>
        <p:nvSpPr>
          <p:cNvPr id="106" name="Shape 104"/>
          <p:cNvSpPr/>
          <p:nvPr/>
        </p:nvSpPr>
        <p:spPr>
          <a:xfrm>
            <a:off x="548640" y="5294376"/>
            <a:ext cx="1243584" cy="32918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48640" y="5294376"/>
            <a:ext cx="12435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필수값·형식·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동시성 검증</a:t>
            </a:r>
            <a:endParaRPr lang="ko-KR" sz="800" dirty="0"/>
          </a:p>
        </p:txBody>
      </p:sp>
      <p:sp>
        <p:nvSpPr>
          <p:cNvPr id="108" name="Shape 106"/>
          <p:cNvSpPr/>
          <p:nvPr/>
        </p:nvSpPr>
        <p:spPr>
          <a:xfrm>
            <a:off x="1929384" y="5294376"/>
            <a:ext cx="1243584" cy="329184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929384" y="5294376"/>
            <a:ext cx="12435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가능?</a:t>
            </a:r>
            <a:endParaRPr lang="ko-KR" sz="800" dirty="0"/>
          </a:p>
        </p:txBody>
      </p:sp>
      <p:sp>
        <p:nvSpPr>
          <p:cNvPr id="110" name="Shape 108"/>
          <p:cNvSpPr/>
          <p:nvPr/>
        </p:nvSpPr>
        <p:spPr>
          <a:xfrm>
            <a:off x="3310128" y="5294376"/>
            <a:ext cx="1243584" cy="32918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310128" y="5294376"/>
            <a:ext cx="12435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정보 수정</a:t>
            </a:r>
            <a:endParaRPr lang="ko-KR" sz="800" dirty="0"/>
          </a:p>
        </p:txBody>
      </p:sp>
      <p:sp>
        <p:nvSpPr>
          <p:cNvPr id="112" name="Shape 110"/>
          <p:cNvSpPr/>
          <p:nvPr/>
        </p:nvSpPr>
        <p:spPr>
          <a:xfrm>
            <a:off x="4690872" y="5294376"/>
            <a:ext cx="12435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690872" y="5294376"/>
            <a:ext cx="12435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수정 완료</a:t>
            </a:r>
            <a:endParaRPr lang="ko-KR" sz="800" dirty="0"/>
          </a:p>
        </p:txBody>
      </p:sp>
      <p:sp>
        <p:nvSpPr>
          <p:cNvPr id="114" name="Shape 112"/>
          <p:cNvSpPr/>
          <p:nvPr/>
        </p:nvSpPr>
        <p:spPr>
          <a:xfrm>
            <a:off x="4722876" y="5326380"/>
            <a:ext cx="1179576" cy="265176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929384" y="5756148"/>
            <a:ext cx="12435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929384" y="5756148"/>
            <a:ext cx="12435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불가 /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기존값 유지</a:t>
            </a:r>
            <a:endParaRPr lang="ko-KR" sz="800" dirty="0"/>
          </a:p>
        </p:txBody>
      </p:sp>
      <p:sp>
        <p:nvSpPr>
          <p:cNvPr id="117" name="Shape 115"/>
          <p:cNvSpPr/>
          <p:nvPr/>
        </p:nvSpPr>
        <p:spPr>
          <a:xfrm>
            <a:off x="1961388" y="5788152"/>
            <a:ext cx="1179576" cy="265176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310128" y="5650992"/>
            <a:ext cx="2816352" cy="52638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419856" y="5724144"/>
            <a:ext cx="2596896" cy="380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P01-05 = 차트번호·주민번호 고유성 검증</a:t>
            </a:r>
            <a:endParaRPr lang="ko-KR" sz="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7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주민번호 변경 시 활성 업무 존재 → 변경 불가</a:t>
            </a:r>
            <a:endParaRPr lang="ko-KR" sz="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7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업무 = 상태 RSV·RCP인 모든 업무 (예약일 시점 무관)</a:t>
            </a:r>
            <a:endParaRPr lang="ko-KR" sz="750" dirty="0"/>
          </a:p>
        </p:txBody>
      </p:sp>
      <p:sp>
        <p:nvSpPr>
          <p:cNvPr id="120" name="Shape 118"/>
          <p:cNvSpPr/>
          <p:nvPr/>
        </p:nvSpPr>
        <p:spPr>
          <a:xfrm>
            <a:off x="1792224" y="4535424"/>
            <a:ext cx="10972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21" name="Shape 119"/>
          <p:cNvSpPr/>
          <p:nvPr/>
        </p:nvSpPr>
        <p:spPr>
          <a:xfrm>
            <a:off x="3172968" y="4535424"/>
            <a:ext cx="10972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22" name="Shape 120"/>
          <p:cNvSpPr/>
          <p:nvPr/>
        </p:nvSpPr>
        <p:spPr>
          <a:xfrm>
            <a:off x="4553712" y="4535424"/>
            <a:ext cx="10972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23" name="Text 121"/>
          <p:cNvSpPr/>
          <p:nvPr/>
        </p:nvSpPr>
        <p:spPr>
          <a:xfrm>
            <a:off x="4507268" y="4321551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124" name="Shape 122"/>
          <p:cNvSpPr/>
          <p:nvPr/>
        </p:nvSpPr>
        <p:spPr>
          <a:xfrm>
            <a:off x="3931920" y="4700016"/>
            <a:ext cx="0" cy="64008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25" name="Shape 123"/>
          <p:cNvSpPr/>
          <p:nvPr/>
        </p:nvSpPr>
        <p:spPr>
          <a:xfrm>
            <a:off x="3931920" y="4764024"/>
            <a:ext cx="1380744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26" name="Shape 124"/>
          <p:cNvSpPr/>
          <p:nvPr/>
        </p:nvSpPr>
        <p:spPr>
          <a:xfrm>
            <a:off x="5312664" y="4764024"/>
            <a:ext cx="0" cy="41148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27" name="Shape 125"/>
          <p:cNvSpPr/>
          <p:nvPr/>
        </p:nvSpPr>
        <p:spPr>
          <a:xfrm>
            <a:off x="4064420" y="4687311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064420" y="4687311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129" name="Shape 127"/>
          <p:cNvSpPr/>
          <p:nvPr/>
        </p:nvSpPr>
        <p:spPr>
          <a:xfrm flipH="1">
            <a:off x="4581144" y="4997196"/>
            <a:ext cx="10972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30" name="Shape 128"/>
          <p:cNvSpPr/>
          <p:nvPr/>
        </p:nvSpPr>
        <p:spPr>
          <a:xfrm flipH="1">
            <a:off x="3200400" y="4997196"/>
            <a:ext cx="10972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31" name="Text 129"/>
          <p:cNvSpPr/>
          <p:nvPr/>
        </p:nvSpPr>
        <p:spPr>
          <a:xfrm>
            <a:off x="3118016" y="4783323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132" name="Shape 130"/>
          <p:cNvSpPr/>
          <p:nvPr/>
        </p:nvSpPr>
        <p:spPr>
          <a:xfrm flipH="1">
            <a:off x="1819656" y="4997196"/>
            <a:ext cx="10972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33" name="Shape 131"/>
          <p:cNvSpPr/>
          <p:nvPr/>
        </p:nvSpPr>
        <p:spPr>
          <a:xfrm>
            <a:off x="3931920" y="5161788"/>
            <a:ext cx="0" cy="65837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34" name="Shape 132"/>
          <p:cNvSpPr/>
          <p:nvPr/>
        </p:nvSpPr>
        <p:spPr>
          <a:xfrm flipH="1">
            <a:off x="1444752" y="5227625"/>
            <a:ext cx="248716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35" name="Shape 133"/>
          <p:cNvSpPr/>
          <p:nvPr/>
        </p:nvSpPr>
        <p:spPr>
          <a:xfrm>
            <a:off x="1444752" y="5227625"/>
            <a:ext cx="0" cy="39319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36" name="Shape 134"/>
          <p:cNvSpPr/>
          <p:nvPr/>
        </p:nvSpPr>
        <p:spPr>
          <a:xfrm>
            <a:off x="3542576" y="5150912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3542576" y="5150912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138" name="Shape 136"/>
          <p:cNvSpPr/>
          <p:nvPr/>
        </p:nvSpPr>
        <p:spPr>
          <a:xfrm>
            <a:off x="896112" y="5161788"/>
            <a:ext cx="0" cy="105156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39" name="Shape 137"/>
          <p:cNvSpPr/>
          <p:nvPr/>
        </p:nvSpPr>
        <p:spPr>
          <a:xfrm>
            <a:off x="772580" y="5150912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772580" y="5150912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141" name="Shape 139"/>
          <p:cNvSpPr/>
          <p:nvPr/>
        </p:nvSpPr>
        <p:spPr>
          <a:xfrm flipH="1">
            <a:off x="457200" y="4997196"/>
            <a:ext cx="9144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42" name="Shape 140"/>
          <p:cNvSpPr/>
          <p:nvPr/>
        </p:nvSpPr>
        <p:spPr>
          <a:xfrm>
            <a:off x="457200" y="4997196"/>
            <a:ext cx="0" cy="92354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43" name="Shape 141"/>
          <p:cNvSpPr/>
          <p:nvPr/>
        </p:nvSpPr>
        <p:spPr>
          <a:xfrm>
            <a:off x="457200" y="5920740"/>
            <a:ext cx="144475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44" name="Shape 142"/>
          <p:cNvSpPr/>
          <p:nvPr/>
        </p:nvSpPr>
        <p:spPr>
          <a:xfrm>
            <a:off x="342176" y="5194803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342176" y="5194803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146" name="Shape 144"/>
          <p:cNvSpPr/>
          <p:nvPr/>
        </p:nvSpPr>
        <p:spPr>
          <a:xfrm>
            <a:off x="1792224" y="5458968"/>
            <a:ext cx="10972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47" name="Shape 145"/>
          <p:cNvSpPr/>
          <p:nvPr/>
        </p:nvSpPr>
        <p:spPr>
          <a:xfrm>
            <a:off x="3172968" y="5458968"/>
            <a:ext cx="10972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48" name="Text 146"/>
          <p:cNvSpPr/>
          <p:nvPr/>
        </p:nvSpPr>
        <p:spPr>
          <a:xfrm>
            <a:off x="3118016" y="5245095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149" name="Shape 147"/>
          <p:cNvSpPr/>
          <p:nvPr/>
        </p:nvSpPr>
        <p:spPr>
          <a:xfrm>
            <a:off x="4553712" y="5458968"/>
            <a:ext cx="10972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50" name="Shape 148"/>
          <p:cNvSpPr/>
          <p:nvPr/>
        </p:nvSpPr>
        <p:spPr>
          <a:xfrm>
            <a:off x="2551176" y="5623560"/>
            <a:ext cx="0" cy="105156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51" name="Shape 149"/>
          <p:cNvSpPr/>
          <p:nvPr/>
        </p:nvSpPr>
        <p:spPr>
          <a:xfrm>
            <a:off x="2637320" y="5613141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2637320" y="5613141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153" name="Shape 151"/>
          <p:cNvSpPr/>
          <p:nvPr/>
        </p:nvSpPr>
        <p:spPr>
          <a:xfrm>
            <a:off x="6126480" y="1755648"/>
            <a:ext cx="5632704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217920" y="1755648"/>
            <a:ext cx="544982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P01-02  신규 수검자 등록</a:t>
            </a:r>
            <a:endParaRPr lang="ko-KR" sz="1000" dirty="0"/>
          </a:p>
        </p:txBody>
      </p:sp>
      <p:sp>
        <p:nvSpPr>
          <p:cNvPr id="155" name="Shape 153"/>
          <p:cNvSpPr/>
          <p:nvPr/>
        </p:nvSpPr>
        <p:spPr>
          <a:xfrm>
            <a:off x="6126480" y="2066544"/>
            <a:ext cx="1298448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6126480" y="2066544"/>
            <a:ext cx="12984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수검자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시작</a:t>
            </a:r>
            <a:endParaRPr lang="ko-KR" sz="800" dirty="0"/>
          </a:p>
        </p:txBody>
      </p:sp>
      <p:sp>
        <p:nvSpPr>
          <p:cNvPr id="157" name="Shape 155"/>
          <p:cNvSpPr/>
          <p:nvPr/>
        </p:nvSpPr>
        <p:spPr>
          <a:xfrm>
            <a:off x="6158484" y="2098548"/>
            <a:ext cx="1234440" cy="41148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571232" y="2066544"/>
            <a:ext cx="1298448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7571232" y="2066544"/>
            <a:ext cx="12984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/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주민등록번호 입력</a:t>
            </a:r>
            <a:endParaRPr lang="ko-KR" sz="800" dirty="0"/>
          </a:p>
        </p:txBody>
      </p:sp>
      <p:sp>
        <p:nvSpPr>
          <p:cNvPr id="160" name="Shape 158"/>
          <p:cNvSpPr/>
          <p:nvPr/>
        </p:nvSpPr>
        <p:spPr>
          <a:xfrm>
            <a:off x="9015984" y="2066544"/>
            <a:ext cx="1298448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015984" y="2066544"/>
            <a:ext cx="12984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필수값·형식 유효?</a:t>
            </a:r>
            <a:endParaRPr lang="ko-KR" sz="800" dirty="0"/>
          </a:p>
        </p:txBody>
      </p:sp>
      <p:sp>
        <p:nvSpPr>
          <p:cNvPr id="162" name="Shape 160"/>
          <p:cNvSpPr/>
          <p:nvPr/>
        </p:nvSpPr>
        <p:spPr>
          <a:xfrm>
            <a:off x="10460736" y="2066544"/>
            <a:ext cx="1298448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10460736" y="2066544"/>
            <a:ext cx="12984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Birthday / Gender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자동산출</a:t>
            </a:r>
            <a:endParaRPr lang="ko-KR" sz="800" dirty="0"/>
          </a:p>
        </p:txBody>
      </p:sp>
      <p:sp>
        <p:nvSpPr>
          <p:cNvPr id="164" name="Shape 162"/>
          <p:cNvSpPr/>
          <p:nvPr/>
        </p:nvSpPr>
        <p:spPr>
          <a:xfrm>
            <a:off x="9015984" y="2889504"/>
            <a:ext cx="1298448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9015984" y="2889504"/>
            <a:ext cx="12984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입력값 보완</a:t>
            </a:r>
            <a:endParaRPr lang="ko-KR" sz="800" dirty="0"/>
          </a:p>
        </p:txBody>
      </p:sp>
      <p:sp>
        <p:nvSpPr>
          <p:cNvPr id="166" name="Shape 164"/>
          <p:cNvSpPr/>
          <p:nvPr/>
        </p:nvSpPr>
        <p:spPr>
          <a:xfrm>
            <a:off x="10460736" y="2889504"/>
            <a:ext cx="1298448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0460736" y="2889504"/>
            <a:ext cx="12984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P01-03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중복 검증</a:t>
            </a:r>
            <a:endParaRPr lang="ko-KR" sz="800" dirty="0"/>
          </a:p>
        </p:txBody>
      </p:sp>
      <p:sp>
        <p:nvSpPr>
          <p:cNvPr id="168" name="Shape 166"/>
          <p:cNvSpPr/>
          <p:nvPr/>
        </p:nvSpPr>
        <p:spPr>
          <a:xfrm>
            <a:off x="10515600" y="2889504"/>
            <a:ext cx="0" cy="475488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169" name="Shape 167"/>
          <p:cNvSpPr/>
          <p:nvPr/>
        </p:nvSpPr>
        <p:spPr>
          <a:xfrm>
            <a:off x="11704320" y="2889504"/>
            <a:ext cx="0" cy="475488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170" name="Shape 168"/>
          <p:cNvSpPr/>
          <p:nvPr/>
        </p:nvSpPr>
        <p:spPr>
          <a:xfrm>
            <a:off x="7571232" y="3712464"/>
            <a:ext cx="1298448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7571232" y="3712464"/>
            <a:ext cx="12984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수검자 확정 /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PatientId 반환</a:t>
            </a:r>
            <a:endParaRPr lang="ko-KR" sz="800" dirty="0"/>
          </a:p>
        </p:txBody>
      </p:sp>
      <p:sp>
        <p:nvSpPr>
          <p:cNvPr id="172" name="Shape 170"/>
          <p:cNvSpPr/>
          <p:nvPr/>
        </p:nvSpPr>
        <p:spPr>
          <a:xfrm>
            <a:off x="7603236" y="3744468"/>
            <a:ext cx="1234440" cy="41148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9015984" y="3712464"/>
            <a:ext cx="1298448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9015984" y="3712464"/>
            <a:ext cx="12984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수검자 확인</a:t>
            </a:r>
            <a:endParaRPr lang="ko-KR" sz="800" dirty="0"/>
          </a:p>
        </p:txBody>
      </p:sp>
      <p:sp>
        <p:nvSpPr>
          <p:cNvPr id="175" name="Shape 173"/>
          <p:cNvSpPr/>
          <p:nvPr/>
        </p:nvSpPr>
        <p:spPr>
          <a:xfrm>
            <a:off x="10460736" y="3712464"/>
            <a:ext cx="1298448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10460736" y="3712464"/>
            <a:ext cx="12984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검증 결과</a:t>
            </a:r>
            <a:endParaRPr lang="ko-KR" sz="800" dirty="0"/>
          </a:p>
        </p:txBody>
      </p:sp>
      <p:sp>
        <p:nvSpPr>
          <p:cNvPr id="177" name="Shape 175"/>
          <p:cNvSpPr/>
          <p:nvPr/>
        </p:nvSpPr>
        <p:spPr>
          <a:xfrm>
            <a:off x="6126480" y="4535424"/>
            <a:ext cx="1298448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6126480" y="4535424"/>
            <a:ext cx="12984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요청</a:t>
            </a:r>
            <a:endParaRPr lang="ko-KR" sz="800" dirty="0"/>
          </a:p>
        </p:txBody>
      </p:sp>
      <p:sp>
        <p:nvSpPr>
          <p:cNvPr id="179" name="Shape 177"/>
          <p:cNvSpPr/>
          <p:nvPr/>
        </p:nvSpPr>
        <p:spPr>
          <a:xfrm>
            <a:off x="7571232" y="4535424"/>
            <a:ext cx="1298448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7571232" y="4535424"/>
            <a:ext cx="12984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차트번호 입력</a:t>
            </a:r>
            <a:endParaRPr lang="ko-KR" sz="800" dirty="0"/>
          </a:p>
        </p:txBody>
      </p:sp>
      <p:sp>
        <p:nvSpPr>
          <p:cNvPr id="181" name="Shape 179"/>
          <p:cNvSpPr/>
          <p:nvPr/>
        </p:nvSpPr>
        <p:spPr>
          <a:xfrm>
            <a:off x="9015984" y="4535424"/>
            <a:ext cx="1298448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9015984" y="4535424"/>
            <a:ext cx="12984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자동발급?</a:t>
            </a:r>
            <a:endParaRPr lang="ko-KR" sz="800" dirty="0"/>
          </a:p>
        </p:txBody>
      </p:sp>
      <p:sp>
        <p:nvSpPr>
          <p:cNvPr id="183" name="Shape 181"/>
          <p:cNvSpPr/>
          <p:nvPr/>
        </p:nvSpPr>
        <p:spPr>
          <a:xfrm>
            <a:off x="10460736" y="4535424"/>
            <a:ext cx="1298448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10460736" y="4535424"/>
            <a:ext cx="12984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 방식 선택</a:t>
            </a:r>
            <a:endParaRPr lang="ko-KR" sz="800" dirty="0"/>
          </a:p>
        </p:txBody>
      </p:sp>
      <p:sp>
        <p:nvSpPr>
          <p:cNvPr id="185" name="Shape 183"/>
          <p:cNvSpPr/>
          <p:nvPr/>
        </p:nvSpPr>
        <p:spPr>
          <a:xfrm>
            <a:off x="6126480" y="5358384"/>
            <a:ext cx="1298448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0" y="5358384"/>
            <a:ext cx="12984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고유성·현재조건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최종검증</a:t>
            </a:r>
            <a:endParaRPr lang="ko-KR" sz="800" dirty="0"/>
          </a:p>
        </p:txBody>
      </p:sp>
      <p:sp>
        <p:nvSpPr>
          <p:cNvPr id="187" name="Shape 185"/>
          <p:cNvSpPr/>
          <p:nvPr/>
        </p:nvSpPr>
        <p:spPr>
          <a:xfrm>
            <a:off x="7571232" y="5358384"/>
            <a:ext cx="1298448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7571232" y="5358384"/>
            <a:ext cx="12984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가능?</a:t>
            </a:r>
            <a:endParaRPr lang="ko-KR" sz="800" dirty="0"/>
          </a:p>
        </p:txBody>
      </p:sp>
      <p:sp>
        <p:nvSpPr>
          <p:cNvPr id="189" name="Shape 187"/>
          <p:cNvSpPr/>
          <p:nvPr/>
        </p:nvSpPr>
        <p:spPr>
          <a:xfrm>
            <a:off x="9015984" y="5358384"/>
            <a:ext cx="1298448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9015984" y="5358384"/>
            <a:ext cx="12984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 Master 저장</a:t>
            </a:r>
            <a:endParaRPr lang="ko-KR" sz="800" dirty="0"/>
          </a:p>
        </p:txBody>
      </p:sp>
      <p:sp>
        <p:nvSpPr>
          <p:cNvPr id="191" name="Shape 189"/>
          <p:cNvSpPr/>
          <p:nvPr/>
        </p:nvSpPr>
        <p:spPr>
          <a:xfrm>
            <a:off x="10460736" y="5358384"/>
            <a:ext cx="1298448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10460736" y="5358384"/>
            <a:ext cx="12984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신규등록 완료 /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PatientId·ChartNo 반환</a:t>
            </a:r>
            <a:endParaRPr lang="ko-KR" sz="800" dirty="0"/>
          </a:p>
        </p:txBody>
      </p:sp>
      <p:sp>
        <p:nvSpPr>
          <p:cNvPr id="193" name="Shape 191"/>
          <p:cNvSpPr/>
          <p:nvPr/>
        </p:nvSpPr>
        <p:spPr>
          <a:xfrm>
            <a:off x="10492740" y="5390388"/>
            <a:ext cx="1234440" cy="41148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571232" y="5888736"/>
            <a:ext cx="1298448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7571232" y="5888736"/>
            <a:ext cx="129844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중단 또는 실패</a:t>
            </a:r>
            <a:endParaRPr lang="ko-KR" sz="800" dirty="0"/>
          </a:p>
        </p:txBody>
      </p:sp>
      <p:sp>
        <p:nvSpPr>
          <p:cNvPr id="196" name="Shape 194"/>
          <p:cNvSpPr/>
          <p:nvPr/>
        </p:nvSpPr>
        <p:spPr>
          <a:xfrm>
            <a:off x="7603236" y="5920740"/>
            <a:ext cx="1234440" cy="265176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424928" y="2304288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98" name="Shape 196"/>
          <p:cNvSpPr/>
          <p:nvPr/>
        </p:nvSpPr>
        <p:spPr>
          <a:xfrm>
            <a:off x="8869680" y="2304288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99" name="Shape 197"/>
          <p:cNvSpPr/>
          <p:nvPr/>
        </p:nvSpPr>
        <p:spPr>
          <a:xfrm>
            <a:off x="10314432" y="2304288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00" name="Text 198"/>
          <p:cNvSpPr/>
          <p:nvPr/>
        </p:nvSpPr>
        <p:spPr>
          <a:xfrm>
            <a:off x="10264052" y="2062983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201" name="Shape 199"/>
          <p:cNvSpPr/>
          <p:nvPr/>
        </p:nvSpPr>
        <p:spPr>
          <a:xfrm>
            <a:off x="9665208" y="2542032"/>
            <a:ext cx="0" cy="32004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02" name="Shape 200"/>
          <p:cNvSpPr/>
          <p:nvPr/>
        </p:nvSpPr>
        <p:spPr>
          <a:xfrm>
            <a:off x="9769640" y="2639055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9769640" y="2639055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204" name="Shape 202"/>
          <p:cNvSpPr/>
          <p:nvPr/>
        </p:nvSpPr>
        <p:spPr>
          <a:xfrm flipH="1">
            <a:off x="8220456" y="3127248"/>
            <a:ext cx="79552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205" name="Shape 203"/>
          <p:cNvSpPr/>
          <p:nvPr/>
        </p:nvSpPr>
        <p:spPr>
          <a:xfrm flipV="1">
            <a:off x="8220456" y="2569464"/>
            <a:ext cx="0" cy="55778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06" name="Shape 204"/>
          <p:cNvSpPr/>
          <p:nvPr/>
        </p:nvSpPr>
        <p:spPr>
          <a:xfrm>
            <a:off x="11109960" y="2542032"/>
            <a:ext cx="0" cy="32004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07" name="Shape 205"/>
          <p:cNvSpPr/>
          <p:nvPr/>
        </p:nvSpPr>
        <p:spPr>
          <a:xfrm>
            <a:off x="11109960" y="3364992"/>
            <a:ext cx="0" cy="32004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08" name="Shape 206"/>
          <p:cNvSpPr/>
          <p:nvPr/>
        </p:nvSpPr>
        <p:spPr>
          <a:xfrm flipH="1">
            <a:off x="10341864" y="3950208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09" name="Text 207"/>
          <p:cNvSpPr/>
          <p:nvPr/>
        </p:nvSpPr>
        <p:spPr>
          <a:xfrm>
            <a:off x="10019205" y="3507735"/>
            <a:ext cx="73675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주민번호</a:t>
            </a:r>
            <a:endParaRPr lang="ko-KR" sz="800" dirty="0"/>
          </a:p>
        </p:txBody>
      </p:sp>
      <p:sp>
        <p:nvSpPr>
          <p:cNvPr id="210" name="Shape 208"/>
          <p:cNvSpPr/>
          <p:nvPr/>
        </p:nvSpPr>
        <p:spPr>
          <a:xfrm flipH="1">
            <a:off x="8897112" y="3950208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11" name="Shape 209"/>
          <p:cNvSpPr/>
          <p:nvPr/>
        </p:nvSpPr>
        <p:spPr>
          <a:xfrm>
            <a:off x="11109960" y="4187952"/>
            <a:ext cx="0" cy="32004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12" name="Shape 210"/>
          <p:cNvSpPr/>
          <p:nvPr/>
        </p:nvSpPr>
        <p:spPr>
          <a:xfrm>
            <a:off x="10741581" y="4284975"/>
            <a:ext cx="73675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10741581" y="4284975"/>
            <a:ext cx="73675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신규등록 가능</a:t>
            </a:r>
            <a:endParaRPr lang="ko-KR" sz="800" dirty="0"/>
          </a:p>
        </p:txBody>
      </p:sp>
      <p:sp>
        <p:nvSpPr>
          <p:cNvPr id="214" name="Shape 212"/>
          <p:cNvSpPr/>
          <p:nvPr/>
        </p:nvSpPr>
        <p:spPr>
          <a:xfrm flipH="1">
            <a:off x="10341864" y="4773168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15" name="Shape 213"/>
          <p:cNvSpPr/>
          <p:nvPr/>
        </p:nvSpPr>
        <p:spPr>
          <a:xfrm flipH="1">
            <a:off x="8897112" y="4773168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16" name="Text 214"/>
          <p:cNvSpPr/>
          <p:nvPr/>
        </p:nvSpPr>
        <p:spPr>
          <a:xfrm>
            <a:off x="8827808" y="4531863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217" name="Shape 215"/>
          <p:cNvSpPr/>
          <p:nvPr/>
        </p:nvSpPr>
        <p:spPr>
          <a:xfrm flipH="1">
            <a:off x="7452360" y="4773168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18" name="Shape 216"/>
          <p:cNvSpPr/>
          <p:nvPr/>
        </p:nvSpPr>
        <p:spPr>
          <a:xfrm flipV="1">
            <a:off x="9665208" y="4361688"/>
            <a:ext cx="0" cy="173736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219" name="Shape 217"/>
          <p:cNvSpPr/>
          <p:nvPr/>
        </p:nvSpPr>
        <p:spPr>
          <a:xfrm flipH="1">
            <a:off x="6775704" y="4361688"/>
            <a:ext cx="2889504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220" name="Shape 218"/>
          <p:cNvSpPr/>
          <p:nvPr/>
        </p:nvSpPr>
        <p:spPr>
          <a:xfrm>
            <a:off x="6775704" y="4361688"/>
            <a:ext cx="0" cy="14630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21" name="Shape 219"/>
          <p:cNvSpPr/>
          <p:nvPr/>
        </p:nvSpPr>
        <p:spPr>
          <a:xfrm>
            <a:off x="9249068" y="4284975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9249068" y="4284975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223" name="Shape 221"/>
          <p:cNvSpPr/>
          <p:nvPr/>
        </p:nvSpPr>
        <p:spPr>
          <a:xfrm>
            <a:off x="6775704" y="5010912"/>
            <a:ext cx="0" cy="32004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24" name="Shape 222"/>
          <p:cNvSpPr/>
          <p:nvPr/>
        </p:nvSpPr>
        <p:spPr>
          <a:xfrm>
            <a:off x="7424928" y="5596128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25" name="Shape 223"/>
          <p:cNvSpPr/>
          <p:nvPr/>
        </p:nvSpPr>
        <p:spPr>
          <a:xfrm>
            <a:off x="8869680" y="5596128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26" name="Text 224"/>
          <p:cNvSpPr/>
          <p:nvPr/>
        </p:nvSpPr>
        <p:spPr>
          <a:xfrm>
            <a:off x="8819300" y="5354823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227" name="Shape 225"/>
          <p:cNvSpPr/>
          <p:nvPr/>
        </p:nvSpPr>
        <p:spPr>
          <a:xfrm>
            <a:off x="10314432" y="5596128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28" name="Shape 226"/>
          <p:cNvSpPr/>
          <p:nvPr/>
        </p:nvSpPr>
        <p:spPr>
          <a:xfrm>
            <a:off x="8220456" y="5833872"/>
            <a:ext cx="0" cy="2743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29" name="Shape 227"/>
          <p:cNvSpPr/>
          <p:nvPr/>
        </p:nvSpPr>
        <p:spPr>
          <a:xfrm>
            <a:off x="8306600" y="5784591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8306600" y="5784591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4770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P01-03  등록 중복 검증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420624" y="6382512"/>
            <a:ext cx="1134770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정책: P01-03 EP-05~07</a:t>
            </a:r>
            <a:endParaRPr lang="ko-KR" sz="900" dirty="0"/>
          </a:p>
        </p:txBody>
      </p:sp>
      <p:sp>
        <p:nvSpPr>
          <p:cNvPr id="4" name="Shape 2"/>
          <p:cNvSpPr/>
          <p:nvPr/>
        </p:nvSpPr>
        <p:spPr>
          <a:xfrm>
            <a:off x="2651760" y="1051560"/>
            <a:ext cx="155448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51760" y="1051560"/>
            <a:ext cx="155448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검증 시작</a:t>
            </a:r>
            <a:endParaRPr lang="ko-KR" sz="900" dirty="0"/>
          </a:p>
        </p:txBody>
      </p:sp>
      <p:sp>
        <p:nvSpPr>
          <p:cNvPr id="6" name="Shape 4"/>
          <p:cNvSpPr/>
          <p:nvPr/>
        </p:nvSpPr>
        <p:spPr>
          <a:xfrm>
            <a:off x="2683764" y="1083564"/>
            <a:ext cx="1490472" cy="41148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1911096"/>
            <a:ext cx="1554480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911096"/>
            <a:ext cx="155448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주민등록번호 존재?</a:t>
            </a:r>
            <a:endParaRPr lang="ko-KR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2770632"/>
            <a:ext cx="1554480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70632"/>
            <a:ext cx="155448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이름과</a:t>
            </a:r>
            <a:endParaRPr lang="ko-KR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이름 동일?</a:t>
            </a:r>
            <a:endParaRPr lang="ko-KR" sz="900" dirty="0"/>
          </a:p>
        </p:txBody>
      </p:sp>
      <p:sp>
        <p:nvSpPr>
          <p:cNvPr id="11" name="Shape 9"/>
          <p:cNvSpPr/>
          <p:nvPr/>
        </p:nvSpPr>
        <p:spPr>
          <a:xfrm>
            <a:off x="4480560" y="2770632"/>
            <a:ext cx="1554480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770632"/>
            <a:ext cx="155448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이름+생년월일</a:t>
            </a:r>
            <a:endParaRPr lang="ko-KR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후보 존재?</a:t>
            </a:r>
            <a:endParaRPr lang="ko-KR" sz="900" dirty="0"/>
          </a:p>
        </p:txBody>
      </p:sp>
      <p:sp>
        <p:nvSpPr>
          <p:cNvPr id="13" name="Shape 11"/>
          <p:cNvSpPr/>
          <p:nvPr/>
        </p:nvSpPr>
        <p:spPr>
          <a:xfrm>
            <a:off x="822960" y="3630168"/>
            <a:ext cx="1554480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30168"/>
            <a:ext cx="155448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수검자 확정</a:t>
            </a:r>
            <a:endParaRPr lang="ko-KR" sz="900" dirty="0"/>
          </a:p>
        </p:txBody>
      </p:sp>
      <p:sp>
        <p:nvSpPr>
          <p:cNvPr id="15" name="Shape 13"/>
          <p:cNvSpPr/>
          <p:nvPr/>
        </p:nvSpPr>
        <p:spPr>
          <a:xfrm>
            <a:off x="2651760" y="3630168"/>
            <a:ext cx="1554480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3630168"/>
            <a:ext cx="155448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불일치 확인 안내</a:t>
            </a:r>
            <a:endParaRPr lang="ko-KR" sz="900" dirty="0"/>
          </a:p>
        </p:txBody>
      </p:sp>
      <p:sp>
        <p:nvSpPr>
          <p:cNvPr id="17" name="Shape 15"/>
          <p:cNvSpPr/>
          <p:nvPr/>
        </p:nvSpPr>
        <p:spPr>
          <a:xfrm>
            <a:off x="4480560" y="3630168"/>
            <a:ext cx="1554480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630168"/>
            <a:ext cx="155448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후보 목록 표시</a:t>
            </a:r>
            <a:endParaRPr lang="ko-KR" sz="900" dirty="0"/>
          </a:p>
        </p:txBody>
      </p:sp>
      <p:sp>
        <p:nvSpPr>
          <p:cNvPr id="19" name="Shape 17"/>
          <p:cNvSpPr/>
          <p:nvPr/>
        </p:nvSpPr>
        <p:spPr>
          <a:xfrm>
            <a:off x="822960" y="4489704"/>
            <a:ext cx="155448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489704"/>
            <a:ext cx="155448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수검자</a:t>
            </a:r>
            <a:endParaRPr lang="ko-KR" sz="900" dirty="0"/>
          </a:p>
        </p:txBody>
      </p:sp>
      <p:sp>
        <p:nvSpPr>
          <p:cNvPr id="21" name="Shape 19"/>
          <p:cNvSpPr/>
          <p:nvPr/>
        </p:nvSpPr>
        <p:spPr>
          <a:xfrm>
            <a:off x="854964" y="4521708"/>
            <a:ext cx="1490472" cy="41148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4489704"/>
            <a:ext cx="1554480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4489704"/>
            <a:ext cx="155448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확인</a:t>
            </a:r>
            <a:endParaRPr lang="ko-KR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4489704"/>
            <a:ext cx="155448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4489704"/>
            <a:ext cx="155448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신규등록 가능</a:t>
            </a:r>
            <a:endParaRPr lang="ko-KR" sz="900" dirty="0"/>
          </a:p>
        </p:txBody>
      </p:sp>
      <p:sp>
        <p:nvSpPr>
          <p:cNvPr id="26" name="Shape 24"/>
          <p:cNvSpPr/>
          <p:nvPr/>
        </p:nvSpPr>
        <p:spPr>
          <a:xfrm>
            <a:off x="6341364" y="4521708"/>
            <a:ext cx="1490472" cy="41148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51760" y="5349240"/>
            <a:ext cx="1554480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5349240"/>
            <a:ext cx="155448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입력값 수정</a:t>
            </a:r>
            <a:endParaRPr lang="ko-KR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5349240"/>
            <a:ext cx="155448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5349240"/>
            <a:ext cx="155448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중단</a:t>
            </a:r>
            <a:endParaRPr lang="ko-KR" sz="900" dirty="0"/>
          </a:p>
        </p:txBody>
      </p:sp>
      <p:sp>
        <p:nvSpPr>
          <p:cNvPr id="31" name="Shape 29"/>
          <p:cNvSpPr/>
          <p:nvPr/>
        </p:nvSpPr>
        <p:spPr>
          <a:xfrm>
            <a:off x="6341364" y="5381244"/>
            <a:ext cx="1490472" cy="41148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29000" y="1527048"/>
            <a:ext cx="0" cy="356616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154680" y="2386584"/>
            <a:ext cx="0" cy="19202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 flipH="1">
            <a:off x="1600200" y="2578608"/>
            <a:ext cx="155448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1600200" y="2578608"/>
            <a:ext cx="0" cy="16459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738540" y="2501895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38540" y="2501895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38" name="Shape 36"/>
          <p:cNvSpPr/>
          <p:nvPr/>
        </p:nvSpPr>
        <p:spPr>
          <a:xfrm>
            <a:off x="3703320" y="2386584"/>
            <a:ext cx="0" cy="19202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3703320" y="2578608"/>
            <a:ext cx="155448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5257800" y="2578608"/>
            <a:ext cx="0" cy="16459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880904" y="2501895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80904" y="2501895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43" name="Shape 41"/>
          <p:cNvSpPr/>
          <p:nvPr/>
        </p:nvSpPr>
        <p:spPr>
          <a:xfrm>
            <a:off x="1600200" y="3246120"/>
            <a:ext cx="0" cy="356616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677836" y="3361431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77836" y="3361431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46" name="Shape 44"/>
          <p:cNvSpPr/>
          <p:nvPr/>
        </p:nvSpPr>
        <p:spPr>
          <a:xfrm>
            <a:off x="1984248" y="3246120"/>
            <a:ext cx="0" cy="19202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1984248" y="3438144"/>
            <a:ext cx="144475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3429000" y="3438144"/>
            <a:ext cx="0" cy="16459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161832" y="3361431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61832" y="3361431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51" name="Shape 49"/>
          <p:cNvSpPr/>
          <p:nvPr/>
        </p:nvSpPr>
        <p:spPr>
          <a:xfrm>
            <a:off x="1600200" y="4105656"/>
            <a:ext cx="0" cy="356616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3429000" y="4105656"/>
            <a:ext cx="0" cy="19202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53" name="Shape 51"/>
          <p:cNvSpPr/>
          <p:nvPr/>
        </p:nvSpPr>
        <p:spPr>
          <a:xfrm flipH="1">
            <a:off x="1984248" y="4297680"/>
            <a:ext cx="144475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1984248" y="4297680"/>
            <a:ext cx="0" cy="16459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257800" y="3246120"/>
            <a:ext cx="0" cy="356616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5335436" y="3361431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35436" y="3361431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58" name="Shape 56"/>
          <p:cNvSpPr/>
          <p:nvPr/>
        </p:nvSpPr>
        <p:spPr>
          <a:xfrm>
            <a:off x="6035040" y="3008376"/>
            <a:ext cx="105156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7086600" y="3008376"/>
            <a:ext cx="0" cy="1453896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6971576" y="2785359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71576" y="2785359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62" name="Shape 60"/>
          <p:cNvSpPr/>
          <p:nvPr/>
        </p:nvSpPr>
        <p:spPr>
          <a:xfrm>
            <a:off x="5257800" y="4105656"/>
            <a:ext cx="0" cy="356616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6035040" y="4727448"/>
            <a:ext cx="24688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5735161" y="4266687"/>
            <a:ext cx="874078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별도 수검자</a:t>
            </a:r>
            <a:endParaRPr lang="ko-KR" sz="800" dirty="0"/>
          </a:p>
        </p:txBody>
      </p:sp>
      <p:sp>
        <p:nvSpPr>
          <p:cNvPr id="65" name="Shape 63"/>
          <p:cNvSpPr/>
          <p:nvPr/>
        </p:nvSpPr>
        <p:spPr>
          <a:xfrm>
            <a:off x="5257800" y="4965192"/>
            <a:ext cx="0" cy="19202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5257800" y="5157216"/>
            <a:ext cx="182880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7086600" y="5157216"/>
            <a:ext cx="0" cy="16459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6664960" y="5080503"/>
            <a:ext cx="294640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64960" y="5080503"/>
            <a:ext cx="294640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ko-KR" sz="800" dirty="0"/>
          </a:p>
        </p:txBody>
      </p:sp>
      <p:sp>
        <p:nvSpPr>
          <p:cNvPr id="70" name="Shape 68"/>
          <p:cNvSpPr/>
          <p:nvPr/>
        </p:nvSpPr>
        <p:spPr>
          <a:xfrm>
            <a:off x="4873752" y="4965192"/>
            <a:ext cx="0" cy="19202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71" name="Shape 69"/>
          <p:cNvSpPr/>
          <p:nvPr/>
        </p:nvSpPr>
        <p:spPr>
          <a:xfrm flipH="1">
            <a:off x="3429000" y="5157216"/>
            <a:ext cx="144475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3429000" y="5157216"/>
            <a:ext cx="0" cy="16459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4052237" y="5080503"/>
            <a:ext cx="83835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052237" y="5080503"/>
            <a:ext cx="83835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주민번호 오입력</a:t>
            </a:r>
            <a:endParaRPr lang="ko-KR" sz="800" dirty="0"/>
          </a:p>
        </p:txBody>
      </p:sp>
      <p:sp>
        <p:nvSpPr>
          <p:cNvPr id="75" name="Shape 73"/>
          <p:cNvSpPr/>
          <p:nvPr/>
        </p:nvSpPr>
        <p:spPr>
          <a:xfrm flipH="1">
            <a:off x="566928" y="5586984"/>
            <a:ext cx="20848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76" name="Shape 74"/>
          <p:cNvSpPr/>
          <p:nvPr/>
        </p:nvSpPr>
        <p:spPr>
          <a:xfrm flipV="1">
            <a:off x="566928" y="1289304"/>
            <a:ext cx="0" cy="429768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566928" y="1289304"/>
            <a:ext cx="205740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8138160" y="1051560"/>
            <a:ext cx="3630168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29600" y="1051560"/>
            <a:ext cx="344728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규칙</a:t>
            </a:r>
            <a:endParaRPr lang="ko-KR" sz="1000" dirty="0"/>
          </a:p>
        </p:txBody>
      </p:sp>
      <p:sp>
        <p:nvSpPr>
          <p:cNvPr id="80" name="Shape 78"/>
          <p:cNvSpPr/>
          <p:nvPr/>
        </p:nvSpPr>
        <p:spPr>
          <a:xfrm>
            <a:off x="8138160" y="1344168"/>
            <a:ext cx="3630168" cy="1362547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247888" y="1417320"/>
            <a:ext cx="3410712" cy="1216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최종 고유성 기준은 주민등록번호다.</a:t>
            </a:r>
            <a:endParaRPr lang="ko-KR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동일 주민등록번호는 이름이 달라도 신규등록하지 않는다.</a:t>
            </a:r>
            <a:endParaRPr lang="ko-KR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이름+생년월일 후보는 경고·확인 대상이지 자동 동일인 확정조건</a:t>
            </a:r>
            <a:endParaRPr lang="ko-KR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아니다.</a:t>
            </a:r>
            <a:endParaRPr lang="ko-KR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별도 수검자로 계속하기 확인은 현재 이름·생년월일·주민등록번호</a:t>
            </a:r>
            <a:endParaRPr lang="ko-KR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조합에만 유효하다. 값이 바뀌면 다시 검증한다.</a:t>
            </a:r>
            <a:endParaRPr lang="ko-KR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UI 확인 이후에도 저장 Transaction에서 주민등록번호와 차트번호</a:t>
            </a:r>
            <a:endParaRPr lang="ko-KR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고유성을 다시 검증한다.</a:t>
            </a:r>
            <a:endParaRPr lang="ko-KR" sz="900" dirty="0"/>
          </a:p>
        </p:txBody>
      </p:sp>
      <p:sp>
        <p:nvSpPr>
          <p:cNvPr id="82" name="Shape 80"/>
          <p:cNvSpPr/>
          <p:nvPr/>
        </p:nvSpPr>
        <p:spPr>
          <a:xfrm>
            <a:off x="8138160" y="2962747"/>
            <a:ext cx="3630168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229600" y="2962747"/>
            <a:ext cx="344728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종료점</a:t>
            </a:r>
            <a:endParaRPr lang="ko-KR" sz="1000" dirty="0"/>
          </a:p>
        </p:txBody>
      </p:sp>
      <p:sp>
        <p:nvSpPr>
          <p:cNvPr id="84" name="Shape 82"/>
          <p:cNvSpPr/>
          <p:nvPr/>
        </p:nvSpPr>
        <p:spPr>
          <a:xfrm>
            <a:off x="8138160" y="3255355"/>
            <a:ext cx="3630168" cy="906456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247888" y="3328507"/>
            <a:ext cx="3410712" cy="7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수검자   —   동일 주민등록번호를 확인하고 기존 PatientId</a:t>
            </a:r>
            <a:endParaRPr lang="ko-KR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확정한다.</a:t>
            </a:r>
            <a:endParaRPr lang="ko-KR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신규등록 가능   —   후보가 없거나 별도 수검자로 확인되어 신규</a:t>
            </a:r>
            <a:endParaRPr lang="ko-KR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행을 만든다.</a:t>
            </a:r>
            <a:endParaRPr lang="ko-KR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중단   —   사용자가 취소하여 신규행을 만들지 않는다.</a:t>
            </a:r>
            <a:endParaRPr lang="ko-KR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4770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  예약 관리 개요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420624" y="6382512"/>
            <a:ext cx="1134770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정책: P02-01 RP-01, RP-06 / P02-02 RP-07, RP-08, TGT, NEX, AEX / P02-03 RP-02, RP-04, RP-05</a:t>
            </a:r>
            <a:endParaRPr lang="ko-KR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46304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07008"/>
            <a:ext cx="14630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관리 시작</a:t>
            </a:r>
            <a:endParaRPr lang="ko-KR" sz="800" dirty="0"/>
          </a:p>
        </p:txBody>
      </p:sp>
      <p:sp>
        <p:nvSpPr>
          <p:cNvPr id="6" name="Shape 4"/>
          <p:cNvSpPr/>
          <p:nvPr/>
        </p:nvSpPr>
        <p:spPr>
          <a:xfrm>
            <a:off x="580644" y="1239012"/>
            <a:ext cx="1399032" cy="32004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39112" y="1399032"/>
            <a:ext cx="12801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94560" y="1207008"/>
            <a:ext cx="1051560" cy="384048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207008"/>
            <a:ext cx="10515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구분?</a:t>
            </a:r>
            <a:endParaRPr lang="ko-KR" sz="800" dirty="0"/>
          </a:p>
        </p:txBody>
      </p:sp>
      <p:sp>
        <p:nvSpPr>
          <p:cNvPr id="10" name="Shape 8"/>
          <p:cNvSpPr/>
          <p:nvPr/>
        </p:nvSpPr>
        <p:spPr>
          <a:xfrm>
            <a:off x="3246120" y="1399032"/>
            <a:ext cx="18288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29000" y="1060704"/>
            <a:ext cx="0" cy="658368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429000" y="1060704"/>
            <a:ext cx="20116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57600" y="969264"/>
            <a:ext cx="2880360" cy="182880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969264"/>
            <a:ext cx="28803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예약   →   P02-01 신규 예약 등록</a:t>
            </a:r>
            <a:endParaRPr lang="ko-KR" sz="800" dirty="0"/>
          </a:p>
        </p:txBody>
      </p:sp>
      <p:sp>
        <p:nvSpPr>
          <p:cNvPr id="15" name="Shape 13"/>
          <p:cNvSpPr/>
          <p:nvPr/>
        </p:nvSpPr>
        <p:spPr>
          <a:xfrm>
            <a:off x="3712464" y="969264"/>
            <a:ext cx="0" cy="182880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483096" y="969264"/>
            <a:ext cx="0" cy="182880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6537960" y="1060704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656832" y="1060704"/>
            <a:ext cx="0" cy="338328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656832" y="1399032"/>
            <a:ext cx="12801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429000" y="1280160"/>
            <a:ext cx="20116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57600" y="1188720"/>
            <a:ext cx="2880360" cy="182880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1188720"/>
            <a:ext cx="28803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  →   P02-05 예약 조회</a:t>
            </a:r>
            <a:endParaRPr lang="ko-KR" sz="800" dirty="0"/>
          </a:p>
        </p:txBody>
      </p:sp>
      <p:sp>
        <p:nvSpPr>
          <p:cNvPr id="23" name="Shape 21"/>
          <p:cNvSpPr/>
          <p:nvPr/>
        </p:nvSpPr>
        <p:spPr>
          <a:xfrm>
            <a:off x="3712464" y="1188720"/>
            <a:ext cx="0" cy="182880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6483096" y="1188720"/>
            <a:ext cx="0" cy="182880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6537960" y="1280160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6656832" y="1280160"/>
            <a:ext cx="0" cy="11887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6656832" y="1399032"/>
            <a:ext cx="12801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429000" y="1499616"/>
            <a:ext cx="20116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657600" y="1408176"/>
            <a:ext cx="2880360" cy="182880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1408176"/>
            <a:ext cx="28803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  →   P02-06 예약 변경</a:t>
            </a:r>
            <a:endParaRPr lang="ko-KR" sz="800" dirty="0"/>
          </a:p>
        </p:txBody>
      </p:sp>
      <p:sp>
        <p:nvSpPr>
          <p:cNvPr id="31" name="Shape 29"/>
          <p:cNvSpPr/>
          <p:nvPr/>
        </p:nvSpPr>
        <p:spPr>
          <a:xfrm>
            <a:off x="3712464" y="1408176"/>
            <a:ext cx="0" cy="182880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6483096" y="1408176"/>
            <a:ext cx="0" cy="182880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537960" y="1499616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 flipV="1">
            <a:off x="6656832" y="1399032"/>
            <a:ext cx="0" cy="10058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6656832" y="1399032"/>
            <a:ext cx="12801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429000" y="1719072"/>
            <a:ext cx="20116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657600" y="1627632"/>
            <a:ext cx="2880360" cy="182880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0" y="1627632"/>
            <a:ext cx="28803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  →   P02-07 예약 취소</a:t>
            </a:r>
            <a:endParaRPr lang="ko-KR" sz="800" dirty="0"/>
          </a:p>
        </p:txBody>
      </p:sp>
      <p:sp>
        <p:nvSpPr>
          <p:cNvPr id="39" name="Shape 37"/>
          <p:cNvSpPr/>
          <p:nvPr/>
        </p:nvSpPr>
        <p:spPr>
          <a:xfrm>
            <a:off x="3712464" y="1627632"/>
            <a:ext cx="0" cy="182880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6483096" y="1627632"/>
            <a:ext cx="0" cy="182880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6537960" y="1719072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42" name="Shape 40"/>
          <p:cNvSpPr/>
          <p:nvPr/>
        </p:nvSpPr>
        <p:spPr>
          <a:xfrm flipV="1">
            <a:off x="6656832" y="1399032"/>
            <a:ext cx="0" cy="32004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6656832" y="1399032"/>
            <a:ext cx="12801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812280" y="1207008"/>
            <a:ext cx="160020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12280" y="1207008"/>
            <a:ext cx="160020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관리 종료</a:t>
            </a:r>
            <a:endParaRPr lang="ko-KR" sz="800" dirty="0"/>
          </a:p>
        </p:txBody>
      </p:sp>
      <p:sp>
        <p:nvSpPr>
          <p:cNvPr id="46" name="Shape 44"/>
          <p:cNvSpPr/>
          <p:nvPr/>
        </p:nvSpPr>
        <p:spPr>
          <a:xfrm>
            <a:off x="6844284" y="1239012"/>
            <a:ext cx="1536192" cy="32004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41080" y="969264"/>
            <a:ext cx="3127248" cy="821995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50808" y="1042416"/>
            <a:ext cx="2907792" cy="67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 간 호출 관계</a:t>
            </a:r>
            <a:endParaRPr lang="ko-KR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P02-01  →  P01-01 · P02-02</a:t>
            </a:r>
            <a:endParaRPr lang="ko-KR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P02-02  →  P02-03 · P02-04 · TGT · NEX · AEX</a:t>
            </a:r>
            <a:endParaRPr lang="ko-KR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P02-06  →  P02-05 · P02-03·04 · TGT · AEX</a:t>
            </a:r>
            <a:endParaRPr lang="ko-KR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P02-07  →  P02-05</a:t>
            </a:r>
            <a:endParaRPr lang="ko-KR" sz="800" dirty="0"/>
          </a:p>
        </p:txBody>
      </p:sp>
      <p:sp>
        <p:nvSpPr>
          <p:cNvPr id="49" name="Shape 47"/>
          <p:cNvSpPr/>
          <p:nvPr/>
        </p:nvSpPr>
        <p:spPr>
          <a:xfrm>
            <a:off x="420624" y="1883664"/>
            <a:ext cx="11347704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" y="1883664"/>
            <a:ext cx="1116482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P02-01  신규 예약 등록</a:t>
            </a:r>
            <a:endParaRPr lang="ko-KR" sz="1000" dirty="0"/>
          </a:p>
        </p:txBody>
      </p:sp>
      <p:sp>
        <p:nvSpPr>
          <p:cNvPr id="51" name="Shape 49"/>
          <p:cNvSpPr/>
          <p:nvPr/>
        </p:nvSpPr>
        <p:spPr>
          <a:xfrm>
            <a:off x="420624" y="2176272"/>
            <a:ext cx="1472184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0624" y="2176272"/>
            <a:ext cx="1472184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예약 시작</a:t>
            </a:r>
            <a:endParaRPr lang="ko-KR" sz="800" dirty="0"/>
          </a:p>
        </p:txBody>
      </p:sp>
      <p:sp>
        <p:nvSpPr>
          <p:cNvPr id="53" name="Shape 51"/>
          <p:cNvSpPr/>
          <p:nvPr/>
        </p:nvSpPr>
        <p:spPr>
          <a:xfrm>
            <a:off x="452628" y="2208276"/>
            <a:ext cx="1408176" cy="429768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061972" y="2176272"/>
            <a:ext cx="1472184" cy="493776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61972" y="2176272"/>
            <a:ext cx="1472184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PatientId 전달됨?</a:t>
            </a:r>
            <a:endParaRPr lang="ko-KR" sz="800" dirty="0"/>
          </a:p>
        </p:txBody>
      </p:sp>
      <p:sp>
        <p:nvSpPr>
          <p:cNvPr id="56" name="Shape 54"/>
          <p:cNvSpPr/>
          <p:nvPr/>
        </p:nvSpPr>
        <p:spPr>
          <a:xfrm>
            <a:off x="3703320" y="2176272"/>
            <a:ext cx="1472184" cy="49377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03320" y="2176272"/>
            <a:ext cx="1472184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P01-01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조회 및 확정</a:t>
            </a:r>
            <a:endParaRPr lang="ko-KR" sz="800" dirty="0"/>
          </a:p>
        </p:txBody>
      </p:sp>
      <p:sp>
        <p:nvSpPr>
          <p:cNvPr id="58" name="Shape 56"/>
          <p:cNvSpPr/>
          <p:nvPr/>
        </p:nvSpPr>
        <p:spPr>
          <a:xfrm>
            <a:off x="3758184" y="2176272"/>
            <a:ext cx="0" cy="493776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5120640" y="2176272"/>
            <a:ext cx="0" cy="493776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5344668" y="2176272"/>
            <a:ext cx="1472184" cy="493776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44668" y="2176272"/>
            <a:ext cx="1472184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확정?</a:t>
            </a:r>
            <a:endParaRPr lang="ko-KR" sz="800" dirty="0"/>
          </a:p>
        </p:txBody>
      </p:sp>
      <p:sp>
        <p:nvSpPr>
          <p:cNvPr id="62" name="Shape 60"/>
          <p:cNvSpPr/>
          <p:nvPr/>
        </p:nvSpPr>
        <p:spPr>
          <a:xfrm>
            <a:off x="6986016" y="2176272"/>
            <a:ext cx="1472184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86016" y="2176272"/>
            <a:ext cx="1472184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중단 또는 실패</a:t>
            </a:r>
            <a:endParaRPr lang="ko-KR" sz="800" dirty="0"/>
          </a:p>
        </p:txBody>
      </p:sp>
      <p:sp>
        <p:nvSpPr>
          <p:cNvPr id="64" name="Shape 62"/>
          <p:cNvSpPr/>
          <p:nvPr/>
        </p:nvSpPr>
        <p:spPr>
          <a:xfrm>
            <a:off x="7018020" y="2208276"/>
            <a:ext cx="1408176" cy="429768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27364" y="2176272"/>
            <a:ext cx="1472184" cy="49377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27364" y="2176272"/>
            <a:ext cx="1472184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P02-05 기존 예약 조회 /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WorkId 선택</a:t>
            </a:r>
            <a:endParaRPr lang="ko-KR" sz="800" dirty="0"/>
          </a:p>
        </p:txBody>
      </p:sp>
      <p:sp>
        <p:nvSpPr>
          <p:cNvPr id="67" name="Shape 65"/>
          <p:cNvSpPr/>
          <p:nvPr/>
        </p:nvSpPr>
        <p:spPr>
          <a:xfrm>
            <a:off x="8682228" y="2176272"/>
            <a:ext cx="0" cy="493776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10044684" y="2176272"/>
            <a:ext cx="0" cy="493776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10268712" y="2176272"/>
            <a:ext cx="1472184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268712" y="2176272"/>
            <a:ext cx="1472184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예약 연결 후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신규예약 종료</a:t>
            </a:r>
            <a:endParaRPr lang="ko-KR" sz="800" dirty="0"/>
          </a:p>
        </p:txBody>
      </p:sp>
      <p:sp>
        <p:nvSpPr>
          <p:cNvPr id="71" name="Shape 69"/>
          <p:cNvSpPr/>
          <p:nvPr/>
        </p:nvSpPr>
        <p:spPr>
          <a:xfrm>
            <a:off x="10300716" y="2208276"/>
            <a:ext cx="1408176" cy="429768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0624" y="3383280"/>
            <a:ext cx="1472184" cy="493776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0624" y="3383280"/>
            <a:ext cx="1472184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중복판단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유효예약 존재?</a:t>
            </a:r>
            <a:endParaRPr lang="ko-KR" sz="800" dirty="0"/>
          </a:p>
        </p:txBody>
      </p:sp>
      <p:sp>
        <p:nvSpPr>
          <p:cNvPr id="74" name="Shape 72"/>
          <p:cNvSpPr/>
          <p:nvPr/>
        </p:nvSpPr>
        <p:spPr>
          <a:xfrm>
            <a:off x="2061972" y="3383280"/>
            <a:ext cx="1472184" cy="49377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061972" y="3383280"/>
            <a:ext cx="1472184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P02-02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내용 구성</a:t>
            </a:r>
            <a:endParaRPr lang="ko-KR" sz="800" dirty="0"/>
          </a:p>
        </p:txBody>
      </p:sp>
      <p:sp>
        <p:nvSpPr>
          <p:cNvPr id="76" name="Shape 74"/>
          <p:cNvSpPr/>
          <p:nvPr/>
        </p:nvSpPr>
        <p:spPr>
          <a:xfrm>
            <a:off x="2116836" y="3383280"/>
            <a:ext cx="0" cy="493776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3479292" y="3383280"/>
            <a:ext cx="0" cy="493776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78" name="Shape 76"/>
          <p:cNvSpPr/>
          <p:nvPr/>
        </p:nvSpPr>
        <p:spPr>
          <a:xfrm>
            <a:off x="3703320" y="3383280"/>
            <a:ext cx="1472184" cy="493776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03320" y="3383280"/>
            <a:ext cx="1472184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내용 확정?</a:t>
            </a:r>
            <a:endParaRPr lang="ko-KR" sz="800" dirty="0"/>
          </a:p>
        </p:txBody>
      </p:sp>
      <p:sp>
        <p:nvSpPr>
          <p:cNvPr id="80" name="Shape 78"/>
          <p:cNvSpPr/>
          <p:nvPr/>
        </p:nvSpPr>
        <p:spPr>
          <a:xfrm>
            <a:off x="5344668" y="3383280"/>
            <a:ext cx="1472184" cy="49377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344668" y="3383280"/>
            <a:ext cx="1472184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저장시점 전체 Rule·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동시성 최종검증</a:t>
            </a:r>
            <a:endParaRPr lang="ko-KR" sz="800" dirty="0"/>
          </a:p>
        </p:txBody>
      </p:sp>
      <p:sp>
        <p:nvSpPr>
          <p:cNvPr id="82" name="Shape 80"/>
          <p:cNvSpPr/>
          <p:nvPr/>
        </p:nvSpPr>
        <p:spPr>
          <a:xfrm>
            <a:off x="6986016" y="3383280"/>
            <a:ext cx="1472184" cy="493776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986016" y="3383280"/>
            <a:ext cx="1472184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가능?</a:t>
            </a:r>
            <a:endParaRPr lang="ko-KR" sz="800" dirty="0"/>
          </a:p>
        </p:txBody>
      </p:sp>
      <p:sp>
        <p:nvSpPr>
          <p:cNvPr id="84" name="Shape 82"/>
          <p:cNvSpPr/>
          <p:nvPr/>
        </p:nvSpPr>
        <p:spPr>
          <a:xfrm>
            <a:off x="8627364" y="3383280"/>
            <a:ext cx="1472184" cy="49377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627364" y="3383280"/>
            <a:ext cx="1472184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Work+Exam 원자적 저장 /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상태=RSV</a:t>
            </a:r>
            <a:endParaRPr lang="ko-KR" sz="800" dirty="0"/>
          </a:p>
        </p:txBody>
      </p:sp>
      <p:sp>
        <p:nvSpPr>
          <p:cNvPr id="86" name="Shape 84"/>
          <p:cNvSpPr/>
          <p:nvPr/>
        </p:nvSpPr>
        <p:spPr>
          <a:xfrm>
            <a:off x="10268712" y="3383280"/>
            <a:ext cx="1472184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268712" y="3383280"/>
            <a:ext cx="1472184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완료 /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WorkId 반환</a:t>
            </a:r>
            <a:endParaRPr lang="ko-KR" sz="800" dirty="0"/>
          </a:p>
        </p:txBody>
      </p:sp>
      <p:sp>
        <p:nvSpPr>
          <p:cNvPr id="88" name="Shape 86"/>
          <p:cNvSpPr/>
          <p:nvPr/>
        </p:nvSpPr>
        <p:spPr>
          <a:xfrm>
            <a:off x="10300716" y="3415284"/>
            <a:ext cx="1408176" cy="429768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892808" y="2423160"/>
            <a:ext cx="1417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3534156" y="2423160"/>
            <a:ext cx="1417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91" name="Text 89"/>
          <p:cNvSpPr/>
          <p:nvPr/>
        </p:nvSpPr>
        <p:spPr>
          <a:xfrm>
            <a:off x="3503714" y="2172711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92" name="Shape 90"/>
          <p:cNvSpPr/>
          <p:nvPr/>
        </p:nvSpPr>
        <p:spPr>
          <a:xfrm>
            <a:off x="5175504" y="2423160"/>
            <a:ext cx="1417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6816852" y="2423160"/>
            <a:ext cx="1417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94" name="Text 92"/>
          <p:cNvSpPr/>
          <p:nvPr/>
        </p:nvSpPr>
        <p:spPr>
          <a:xfrm>
            <a:off x="6786410" y="2172711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95" name="Shape 93"/>
          <p:cNvSpPr/>
          <p:nvPr/>
        </p:nvSpPr>
        <p:spPr>
          <a:xfrm>
            <a:off x="2798064" y="2670048"/>
            <a:ext cx="0" cy="201168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96" name="Shape 94"/>
          <p:cNvSpPr/>
          <p:nvPr/>
        </p:nvSpPr>
        <p:spPr>
          <a:xfrm flipH="1">
            <a:off x="836676" y="2871216"/>
            <a:ext cx="196138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97" name="Shape 95"/>
          <p:cNvSpPr/>
          <p:nvPr/>
        </p:nvSpPr>
        <p:spPr>
          <a:xfrm>
            <a:off x="836676" y="2871216"/>
            <a:ext cx="0" cy="48463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>
            <a:off x="2263052" y="2794503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263052" y="2794503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100" name="Shape 98"/>
          <p:cNvSpPr/>
          <p:nvPr/>
        </p:nvSpPr>
        <p:spPr>
          <a:xfrm>
            <a:off x="6080760" y="2670048"/>
            <a:ext cx="0" cy="34747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01" name="Shape 99"/>
          <p:cNvSpPr/>
          <p:nvPr/>
        </p:nvSpPr>
        <p:spPr>
          <a:xfrm flipH="1">
            <a:off x="1156716" y="3017520"/>
            <a:ext cx="4924044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02" name="Shape 100"/>
          <p:cNvSpPr/>
          <p:nvPr/>
        </p:nvSpPr>
        <p:spPr>
          <a:xfrm>
            <a:off x="1156716" y="3017520"/>
            <a:ext cx="0" cy="338328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5591468" y="2940807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591468" y="2940807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105" name="Shape 103"/>
          <p:cNvSpPr/>
          <p:nvPr/>
        </p:nvSpPr>
        <p:spPr>
          <a:xfrm flipV="1">
            <a:off x="1476756" y="3072384"/>
            <a:ext cx="0" cy="310896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06" name="Shape 104"/>
          <p:cNvSpPr/>
          <p:nvPr/>
        </p:nvSpPr>
        <p:spPr>
          <a:xfrm>
            <a:off x="1476756" y="3072384"/>
            <a:ext cx="788670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07" name="Shape 105"/>
          <p:cNvSpPr/>
          <p:nvPr/>
        </p:nvSpPr>
        <p:spPr>
          <a:xfrm flipV="1">
            <a:off x="9363456" y="2697480"/>
            <a:ext cx="0" cy="37490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8737004" y="2995671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737004" y="2995671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110" name="Shape 108"/>
          <p:cNvSpPr/>
          <p:nvPr/>
        </p:nvSpPr>
        <p:spPr>
          <a:xfrm>
            <a:off x="10099548" y="2423160"/>
            <a:ext cx="1417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1892808" y="3630168"/>
            <a:ext cx="1417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12" name="Text 110"/>
          <p:cNvSpPr/>
          <p:nvPr/>
        </p:nvSpPr>
        <p:spPr>
          <a:xfrm>
            <a:off x="1862366" y="3379719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113" name="Shape 111"/>
          <p:cNvSpPr/>
          <p:nvPr/>
        </p:nvSpPr>
        <p:spPr>
          <a:xfrm>
            <a:off x="3534156" y="3630168"/>
            <a:ext cx="1417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14" name="Shape 112"/>
          <p:cNvSpPr/>
          <p:nvPr/>
        </p:nvSpPr>
        <p:spPr>
          <a:xfrm>
            <a:off x="5175504" y="3630168"/>
            <a:ext cx="1417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15" name="Text 113"/>
          <p:cNvSpPr/>
          <p:nvPr/>
        </p:nvSpPr>
        <p:spPr>
          <a:xfrm>
            <a:off x="5136554" y="3379719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116" name="Shape 114"/>
          <p:cNvSpPr/>
          <p:nvPr/>
        </p:nvSpPr>
        <p:spPr>
          <a:xfrm>
            <a:off x="6816852" y="3630168"/>
            <a:ext cx="1417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17" name="Shape 115"/>
          <p:cNvSpPr/>
          <p:nvPr/>
        </p:nvSpPr>
        <p:spPr>
          <a:xfrm>
            <a:off x="8458200" y="3630168"/>
            <a:ext cx="1417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18" name="Text 116"/>
          <p:cNvSpPr/>
          <p:nvPr/>
        </p:nvSpPr>
        <p:spPr>
          <a:xfrm>
            <a:off x="8419250" y="3379719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119" name="Shape 117"/>
          <p:cNvSpPr/>
          <p:nvPr/>
        </p:nvSpPr>
        <p:spPr>
          <a:xfrm>
            <a:off x="10099548" y="3630168"/>
            <a:ext cx="1417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 flipV="1">
            <a:off x="4439412" y="3273552"/>
            <a:ext cx="0" cy="109728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21" name="Shape 119"/>
          <p:cNvSpPr/>
          <p:nvPr/>
        </p:nvSpPr>
        <p:spPr>
          <a:xfrm>
            <a:off x="4439412" y="3273552"/>
            <a:ext cx="296265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22" name="Shape 120"/>
          <p:cNvSpPr/>
          <p:nvPr/>
        </p:nvSpPr>
        <p:spPr>
          <a:xfrm flipV="1">
            <a:off x="7402068" y="2697480"/>
            <a:ext cx="0" cy="57607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23" name="Shape 121"/>
          <p:cNvSpPr/>
          <p:nvPr/>
        </p:nvSpPr>
        <p:spPr>
          <a:xfrm>
            <a:off x="4635284" y="3196839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635284" y="3196839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125" name="Shape 123"/>
          <p:cNvSpPr/>
          <p:nvPr/>
        </p:nvSpPr>
        <p:spPr>
          <a:xfrm flipV="1">
            <a:off x="8042148" y="3273552"/>
            <a:ext cx="0" cy="109728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26" name="Shape 124"/>
          <p:cNvSpPr/>
          <p:nvPr/>
        </p:nvSpPr>
        <p:spPr>
          <a:xfrm flipH="1">
            <a:off x="7429500" y="3273552"/>
            <a:ext cx="61264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27" name="Shape 125"/>
          <p:cNvSpPr/>
          <p:nvPr/>
        </p:nvSpPr>
        <p:spPr>
          <a:xfrm>
            <a:off x="7927124" y="3251703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927124" y="3251703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129" name="Shape 127"/>
          <p:cNvSpPr/>
          <p:nvPr/>
        </p:nvSpPr>
        <p:spPr>
          <a:xfrm>
            <a:off x="420624" y="3986784"/>
            <a:ext cx="6528816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12064" y="3986784"/>
            <a:ext cx="634593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P02-02  예약 내용 구성</a:t>
            </a:r>
            <a:endParaRPr lang="ko-KR" sz="1000" dirty="0"/>
          </a:p>
        </p:txBody>
      </p:sp>
      <p:sp>
        <p:nvSpPr>
          <p:cNvPr id="131" name="Shape 129"/>
          <p:cNvSpPr/>
          <p:nvPr/>
        </p:nvSpPr>
        <p:spPr>
          <a:xfrm>
            <a:off x="420624" y="4279392"/>
            <a:ext cx="118872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20624" y="4279392"/>
            <a:ext cx="118872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내용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시작</a:t>
            </a:r>
            <a:endParaRPr lang="ko-KR" sz="800" dirty="0"/>
          </a:p>
        </p:txBody>
      </p:sp>
      <p:sp>
        <p:nvSpPr>
          <p:cNvPr id="133" name="Shape 131"/>
          <p:cNvSpPr/>
          <p:nvPr/>
        </p:nvSpPr>
        <p:spPr>
          <a:xfrm>
            <a:off x="452628" y="4311396"/>
            <a:ext cx="1124712" cy="356616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755648" y="4279392"/>
            <a:ext cx="1188720" cy="42062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755648" y="4279392"/>
            <a:ext cx="118872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P02-03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일정 설정</a:t>
            </a:r>
            <a:endParaRPr lang="ko-KR" sz="800" dirty="0"/>
          </a:p>
        </p:txBody>
      </p:sp>
      <p:sp>
        <p:nvSpPr>
          <p:cNvPr id="136" name="Shape 134"/>
          <p:cNvSpPr/>
          <p:nvPr/>
        </p:nvSpPr>
        <p:spPr>
          <a:xfrm>
            <a:off x="1810512" y="4279392"/>
            <a:ext cx="0" cy="420624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137" name="Shape 135"/>
          <p:cNvSpPr/>
          <p:nvPr/>
        </p:nvSpPr>
        <p:spPr>
          <a:xfrm>
            <a:off x="2889504" y="4279392"/>
            <a:ext cx="0" cy="420624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138" name="Shape 136"/>
          <p:cNvSpPr/>
          <p:nvPr/>
        </p:nvSpPr>
        <p:spPr>
          <a:xfrm>
            <a:off x="3090672" y="4279392"/>
            <a:ext cx="1188720" cy="42062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090672" y="4279392"/>
            <a:ext cx="118872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P02-04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일정 검증</a:t>
            </a:r>
            <a:endParaRPr lang="ko-KR" sz="800" dirty="0"/>
          </a:p>
        </p:txBody>
      </p:sp>
      <p:sp>
        <p:nvSpPr>
          <p:cNvPr id="140" name="Shape 138"/>
          <p:cNvSpPr/>
          <p:nvPr/>
        </p:nvSpPr>
        <p:spPr>
          <a:xfrm>
            <a:off x="3145536" y="4279392"/>
            <a:ext cx="0" cy="420624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141" name="Shape 139"/>
          <p:cNvSpPr/>
          <p:nvPr/>
        </p:nvSpPr>
        <p:spPr>
          <a:xfrm>
            <a:off x="4224528" y="4279392"/>
            <a:ext cx="0" cy="420624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142" name="Shape 140"/>
          <p:cNvSpPr/>
          <p:nvPr/>
        </p:nvSpPr>
        <p:spPr>
          <a:xfrm>
            <a:off x="4425696" y="4279392"/>
            <a:ext cx="1188720" cy="420624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425696" y="4279392"/>
            <a:ext cx="118872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유효?</a:t>
            </a:r>
            <a:endParaRPr lang="ko-KR" sz="800" dirty="0"/>
          </a:p>
        </p:txBody>
      </p:sp>
      <p:sp>
        <p:nvSpPr>
          <p:cNvPr id="144" name="Shape 142"/>
          <p:cNvSpPr/>
          <p:nvPr/>
        </p:nvSpPr>
        <p:spPr>
          <a:xfrm>
            <a:off x="5760720" y="4279392"/>
            <a:ext cx="118872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760720" y="4279392"/>
            <a:ext cx="118872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내용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중단</a:t>
            </a:r>
            <a:endParaRPr lang="ko-KR" sz="800" dirty="0"/>
          </a:p>
        </p:txBody>
      </p:sp>
      <p:sp>
        <p:nvSpPr>
          <p:cNvPr id="146" name="Shape 144"/>
          <p:cNvSpPr/>
          <p:nvPr/>
        </p:nvSpPr>
        <p:spPr>
          <a:xfrm>
            <a:off x="5792724" y="4311396"/>
            <a:ext cx="1124712" cy="356616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20624" y="4919472"/>
            <a:ext cx="1188720" cy="42062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420624" y="4919472"/>
            <a:ext cx="118872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TGT 대상판정</a:t>
            </a:r>
            <a:endParaRPr lang="ko-KR" sz="800" dirty="0"/>
          </a:p>
        </p:txBody>
      </p:sp>
      <p:sp>
        <p:nvSpPr>
          <p:cNvPr id="149" name="Shape 147"/>
          <p:cNvSpPr/>
          <p:nvPr/>
        </p:nvSpPr>
        <p:spPr>
          <a:xfrm>
            <a:off x="1755648" y="4919472"/>
            <a:ext cx="1188720" cy="420624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755648" y="4919472"/>
            <a:ext cx="118872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일반건강검진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대상?</a:t>
            </a:r>
            <a:endParaRPr lang="ko-KR" sz="800" dirty="0"/>
          </a:p>
        </p:txBody>
      </p:sp>
      <p:sp>
        <p:nvSpPr>
          <p:cNvPr id="151" name="Shape 149"/>
          <p:cNvSpPr/>
          <p:nvPr/>
        </p:nvSpPr>
        <p:spPr>
          <a:xfrm>
            <a:off x="3090672" y="4919472"/>
            <a:ext cx="118872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3090672" y="4919472"/>
            <a:ext cx="118872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진행 불가</a:t>
            </a:r>
            <a:endParaRPr lang="ko-KR" sz="800" dirty="0"/>
          </a:p>
        </p:txBody>
      </p:sp>
      <p:sp>
        <p:nvSpPr>
          <p:cNvPr id="153" name="Shape 151"/>
          <p:cNvSpPr/>
          <p:nvPr/>
        </p:nvSpPr>
        <p:spPr>
          <a:xfrm>
            <a:off x="3122676" y="4951476"/>
            <a:ext cx="1124712" cy="356616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425696" y="4919472"/>
            <a:ext cx="1188720" cy="42062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425696" y="4919472"/>
            <a:ext cx="118872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 자동구성</a:t>
            </a:r>
            <a:endParaRPr lang="ko-KR" sz="800" dirty="0"/>
          </a:p>
        </p:txBody>
      </p:sp>
      <p:sp>
        <p:nvSpPr>
          <p:cNvPr id="156" name="Shape 154"/>
          <p:cNvSpPr/>
          <p:nvPr/>
        </p:nvSpPr>
        <p:spPr>
          <a:xfrm>
            <a:off x="5760720" y="4919472"/>
            <a:ext cx="1188720" cy="42062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5760720" y="4919472"/>
            <a:ext cx="118872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AEX 선택</a:t>
            </a:r>
            <a:endParaRPr lang="ko-KR" sz="800" dirty="0"/>
          </a:p>
        </p:txBody>
      </p:sp>
      <p:sp>
        <p:nvSpPr>
          <p:cNvPr id="158" name="Shape 156"/>
          <p:cNvSpPr/>
          <p:nvPr/>
        </p:nvSpPr>
        <p:spPr>
          <a:xfrm>
            <a:off x="3090672" y="5559552"/>
            <a:ext cx="118872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3090672" y="5559552"/>
            <a:ext cx="118872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내용 확정</a:t>
            </a:r>
            <a:endParaRPr lang="ko-KR" sz="800" dirty="0"/>
          </a:p>
        </p:txBody>
      </p:sp>
      <p:sp>
        <p:nvSpPr>
          <p:cNvPr id="160" name="Shape 158"/>
          <p:cNvSpPr/>
          <p:nvPr/>
        </p:nvSpPr>
        <p:spPr>
          <a:xfrm>
            <a:off x="3122676" y="5591556"/>
            <a:ext cx="1124712" cy="356616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4425696" y="5559552"/>
            <a:ext cx="1188720" cy="420624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4425696" y="5559552"/>
            <a:ext cx="118872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검사구성 유효?</a:t>
            </a:r>
            <a:endParaRPr lang="ko-KR" sz="800" dirty="0"/>
          </a:p>
        </p:txBody>
      </p:sp>
      <p:sp>
        <p:nvSpPr>
          <p:cNvPr id="163" name="Shape 161"/>
          <p:cNvSpPr/>
          <p:nvPr/>
        </p:nvSpPr>
        <p:spPr>
          <a:xfrm>
            <a:off x="5760720" y="5559552"/>
            <a:ext cx="1188720" cy="42062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760720" y="5559552"/>
            <a:ext cx="118872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AEX 검증</a:t>
            </a:r>
            <a:endParaRPr lang="ko-KR" sz="800" dirty="0"/>
          </a:p>
        </p:txBody>
      </p:sp>
      <p:sp>
        <p:nvSpPr>
          <p:cNvPr id="165" name="Shape 163"/>
          <p:cNvSpPr/>
          <p:nvPr/>
        </p:nvSpPr>
        <p:spPr>
          <a:xfrm>
            <a:off x="420624" y="5559552"/>
            <a:ext cx="2615184" cy="653072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530352" y="5632704"/>
            <a:ext cx="2395728" cy="506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P02-02 적용 규칙</a:t>
            </a:r>
            <a:endParaRPr lang="ko-KR" sz="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7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AEX는 0개 이상 선택할 수 있다.</a:t>
            </a:r>
            <a:endParaRPr lang="ko-KR" sz="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7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NEX와 같은 ExamItemCode 또는 성별조건 불충족 AEX</a:t>
            </a:r>
            <a:endParaRPr lang="ko-KR" sz="7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7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선택 불가</a:t>
            </a:r>
            <a:endParaRPr lang="ko-KR" sz="750" dirty="0"/>
          </a:p>
        </p:txBody>
      </p:sp>
      <p:sp>
        <p:nvSpPr>
          <p:cNvPr id="167" name="Shape 165"/>
          <p:cNvSpPr/>
          <p:nvPr/>
        </p:nvSpPr>
        <p:spPr>
          <a:xfrm>
            <a:off x="1609344" y="4489704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68" name="Shape 166"/>
          <p:cNvSpPr/>
          <p:nvPr/>
        </p:nvSpPr>
        <p:spPr>
          <a:xfrm>
            <a:off x="2944368" y="4489704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69" name="Shape 167"/>
          <p:cNvSpPr/>
          <p:nvPr/>
        </p:nvSpPr>
        <p:spPr>
          <a:xfrm>
            <a:off x="4279392" y="4489704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70" name="Shape 168"/>
          <p:cNvSpPr/>
          <p:nvPr/>
        </p:nvSpPr>
        <p:spPr>
          <a:xfrm>
            <a:off x="5614416" y="4489704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71" name="Text 169"/>
          <p:cNvSpPr/>
          <p:nvPr/>
        </p:nvSpPr>
        <p:spPr>
          <a:xfrm>
            <a:off x="5572544" y="4257543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172" name="Shape 170"/>
          <p:cNvSpPr/>
          <p:nvPr/>
        </p:nvSpPr>
        <p:spPr>
          <a:xfrm>
            <a:off x="5020056" y="4700016"/>
            <a:ext cx="0" cy="5486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73" name="Shape 171"/>
          <p:cNvSpPr/>
          <p:nvPr/>
        </p:nvSpPr>
        <p:spPr>
          <a:xfrm flipH="1">
            <a:off x="1014984" y="4754880"/>
            <a:ext cx="40050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74" name="Shape 172"/>
          <p:cNvSpPr/>
          <p:nvPr/>
        </p:nvSpPr>
        <p:spPr>
          <a:xfrm>
            <a:off x="1014984" y="4754880"/>
            <a:ext cx="0" cy="13716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75" name="Shape 173"/>
          <p:cNvSpPr/>
          <p:nvPr/>
        </p:nvSpPr>
        <p:spPr>
          <a:xfrm>
            <a:off x="4567340" y="4678167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4567340" y="4678167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177" name="Shape 175"/>
          <p:cNvSpPr/>
          <p:nvPr/>
        </p:nvSpPr>
        <p:spPr>
          <a:xfrm>
            <a:off x="1609344" y="5129784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>
            <a:off x="2944368" y="5129784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79" name="Text 177"/>
          <p:cNvSpPr/>
          <p:nvPr/>
        </p:nvSpPr>
        <p:spPr>
          <a:xfrm>
            <a:off x="2902496" y="4897623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180" name="Shape 178"/>
          <p:cNvSpPr/>
          <p:nvPr/>
        </p:nvSpPr>
        <p:spPr>
          <a:xfrm>
            <a:off x="2350008" y="5340096"/>
            <a:ext cx="0" cy="109728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81" name="Shape 179"/>
          <p:cNvSpPr/>
          <p:nvPr/>
        </p:nvSpPr>
        <p:spPr>
          <a:xfrm>
            <a:off x="2350008" y="5449824"/>
            <a:ext cx="267004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82" name="Shape 180"/>
          <p:cNvSpPr/>
          <p:nvPr/>
        </p:nvSpPr>
        <p:spPr>
          <a:xfrm flipV="1">
            <a:off x="5020056" y="5367528"/>
            <a:ext cx="0" cy="82296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83" name="Shape 181"/>
          <p:cNvSpPr/>
          <p:nvPr/>
        </p:nvSpPr>
        <p:spPr>
          <a:xfrm>
            <a:off x="2555660" y="5373111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555660" y="5373111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185" name="Shape 183"/>
          <p:cNvSpPr/>
          <p:nvPr/>
        </p:nvSpPr>
        <p:spPr>
          <a:xfrm>
            <a:off x="5614416" y="5129784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86" name="Shape 184"/>
          <p:cNvSpPr/>
          <p:nvPr/>
        </p:nvSpPr>
        <p:spPr>
          <a:xfrm>
            <a:off x="6355080" y="5340096"/>
            <a:ext cx="0" cy="19202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87" name="Shape 185"/>
          <p:cNvSpPr/>
          <p:nvPr/>
        </p:nvSpPr>
        <p:spPr>
          <a:xfrm flipH="1">
            <a:off x="5641848" y="5769864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88" name="Shape 186"/>
          <p:cNvSpPr/>
          <p:nvPr/>
        </p:nvSpPr>
        <p:spPr>
          <a:xfrm flipH="1">
            <a:off x="4306824" y="5769864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89" name="Text 187"/>
          <p:cNvSpPr/>
          <p:nvPr/>
        </p:nvSpPr>
        <p:spPr>
          <a:xfrm>
            <a:off x="4229012" y="5537703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190" name="Shape 188"/>
          <p:cNvSpPr/>
          <p:nvPr/>
        </p:nvSpPr>
        <p:spPr>
          <a:xfrm>
            <a:off x="5020056" y="5980176"/>
            <a:ext cx="0" cy="109728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91" name="Shape 189"/>
          <p:cNvSpPr/>
          <p:nvPr/>
        </p:nvSpPr>
        <p:spPr>
          <a:xfrm>
            <a:off x="5020056" y="6089904"/>
            <a:ext cx="205740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92" name="Shape 190"/>
          <p:cNvSpPr/>
          <p:nvPr/>
        </p:nvSpPr>
        <p:spPr>
          <a:xfrm flipV="1">
            <a:off x="7077456" y="5129784"/>
            <a:ext cx="0" cy="96012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93" name="Shape 191"/>
          <p:cNvSpPr/>
          <p:nvPr/>
        </p:nvSpPr>
        <p:spPr>
          <a:xfrm flipH="1">
            <a:off x="6976872" y="5129784"/>
            <a:ext cx="100584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94" name="Shape 192"/>
          <p:cNvSpPr/>
          <p:nvPr/>
        </p:nvSpPr>
        <p:spPr>
          <a:xfrm>
            <a:off x="5215928" y="6013191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5215928" y="6013191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196" name="Shape 194"/>
          <p:cNvSpPr/>
          <p:nvPr/>
        </p:nvSpPr>
        <p:spPr>
          <a:xfrm>
            <a:off x="7223760" y="3986784"/>
            <a:ext cx="4544568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7315200" y="3986784"/>
            <a:ext cx="436168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P02-03  예약 일정 설정   ·   평일 AM/PM, 토요일 AM만</a:t>
            </a:r>
            <a:endParaRPr lang="ko-KR" sz="1000" dirty="0"/>
          </a:p>
        </p:txBody>
      </p:sp>
      <p:sp>
        <p:nvSpPr>
          <p:cNvPr id="198" name="Shape 196"/>
          <p:cNvSpPr/>
          <p:nvPr/>
        </p:nvSpPr>
        <p:spPr>
          <a:xfrm>
            <a:off x="7223760" y="4279392"/>
            <a:ext cx="1389888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7223760" y="4279392"/>
            <a:ext cx="1389888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설정 시작</a:t>
            </a:r>
            <a:endParaRPr lang="ko-KR" sz="800" dirty="0"/>
          </a:p>
        </p:txBody>
      </p:sp>
      <p:sp>
        <p:nvSpPr>
          <p:cNvPr id="200" name="Shape 198"/>
          <p:cNvSpPr/>
          <p:nvPr/>
        </p:nvSpPr>
        <p:spPr>
          <a:xfrm>
            <a:off x="7255764" y="4311396"/>
            <a:ext cx="1325880" cy="356616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801100" y="4279392"/>
            <a:ext cx="1389888" cy="420624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8801100" y="4279392"/>
            <a:ext cx="1389888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</a:t>
            </a:r>
            <a:endParaRPr lang="ko-KR" sz="800" dirty="0"/>
          </a:p>
        </p:txBody>
      </p:sp>
      <p:sp>
        <p:nvSpPr>
          <p:cNvPr id="203" name="Shape 201"/>
          <p:cNvSpPr/>
          <p:nvPr/>
        </p:nvSpPr>
        <p:spPr>
          <a:xfrm>
            <a:off x="10378440" y="4279392"/>
            <a:ext cx="1389888" cy="42062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10378440" y="4279392"/>
            <a:ext cx="1389888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Normal: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 선택</a:t>
            </a:r>
            <a:endParaRPr lang="ko-KR" sz="800" dirty="0"/>
          </a:p>
        </p:txBody>
      </p:sp>
      <p:sp>
        <p:nvSpPr>
          <p:cNvPr id="205" name="Shape 203"/>
          <p:cNvSpPr/>
          <p:nvPr/>
        </p:nvSpPr>
        <p:spPr>
          <a:xfrm>
            <a:off x="8801100" y="4919472"/>
            <a:ext cx="1389888" cy="42062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8801100" y="4919472"/>
            <a:ext cx="1389888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WalkIn: 예약일=DB 오늘 /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ReadOnly</a:t>
            </a:r>
            <a:endParaRPr lang="ko-KR" sz="800" dirty="0"/>
          </a:p>
        </p:txBody>
      </p:sp>
      <p:sp>
        <p:nvSpPr>
          <p:cNvPr id="207" name="Shape 205"/>
          <p:cNvSpPr/>
          <p:nvPr/>
        </p:nvSpPr>
        <p:spPr>
          <a:xfrm>
            <a:off x="10378440" y="4919472"/>
            <a:ext cx="1389888" cy="42062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10378440" y="4919472"/>
            <a:ext cx="1389888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 시간대 및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정원 조회</a:t>
            </a:r>
            <a:endParaRPr lang="ko-KR" sz="800" dirty="0"/>
          </a:p>
        </p:txBody>
      </p:sp>
      <p:sp>
        <p:nvSpPr>
          <p:cNvPr id="209" name="Shape 207"/>
          <p:cNvSpPr/>
          <p:nvPr/>
        </p:nvSpPr>
        <p:spPr>
          <a:xfrm>
            <a:off x="7223760" y="5559552"/>
            <a:ext cx="1389888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223760" y="5559552"/>
            <a:ext cx="1389888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설정 중단</a:t>
            </a:r>
            <a:endParaRPr lang="ko-KR" sz="800" dirty="0"/>
          </a:p>
        </p:txBody>
      </p:sp>
      <p:sp>
        <p:nvSpPr>
          <p:cNvPr id="211" name="Shape 209"/>
          <p:cNvSpPr/>
          <p:nvPr/>
        </p:nvSpPr>
        <p:spPr>
          <a:xfrm>
            <a:off x="7255764" y="5591556"/>
            <a:ext cx="1325880" cy="356616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801100" y="5559552"/>
            <a:ext cx="1389888" cy="420624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8801100" y="5559552"/>
            <a:ext cx="1389888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 선택?</a:t>
            </a:r>
            <a:endParaRPr lang="ko-KR" sz="800" dirty="0"/>
          </a:p>
        </p:txBody>
      </p:sp>
      <p:sp>
        <p:nvSpPr>
          <p:cNvPr id="214" name="Shape 212"/>
          <p:cNvSpPr/>
          <p:nvPr/>
        </p:nvSpPr>
        <p:spPr>
          <a:xfrm>
            <a:off x="10378440" y="5559552"/>
            <a:ext cx="1389888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10378440" y="5559552"/>
            <a:ext cx="1389888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입력 완료</a:t>
            </a:r>
            <a:endParaRPr lang="ko-KR" sz="800" dirty="0"/>
          </a:p>
        </p:txBody>
      </p:sp>
      <p:sp>
        <p:nvSpPr>
          <p:cNvPr id="216" name="Shape 214"/>
          <p:cNvSpPr/>
          <p:nvPr/>
        </p:nvSpPr>
        <p:spPr>
          <a:xfrm>
            <a:off x="10410444" y="5591556"/>
            <a:ext cx="1325880" cy="356616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613648" y="4489704"/>
            <a:ext cx="16002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18" name="Shape 216"/>
          <p:cNvSpPr/>
          <p:nvPr/>
        </p:nvSpPr>
        <p:spPr>
          <a:xfrm>
            <a:off x="10190988" y="4489704"/>
            <a:ext cx="16002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19" name="Text 217"/>
          <p:cNvSpPr/>
          <p:nvPr/>
        </p:nvSpPr>
        <p:spPr>
          <a:xfrm>
            <a:off x="10068115" y="4257543"/>
            <a:ext cx="43319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ko-KR" sz="800" dirty="0"/>
          </a:p>
        </p:txBody>
      </p:sp>
      <p:sp>
        <p:nvSpPr>
          <p:cNvPr id="220" name="Shape 218"/>
          <p:cNvSpPr/>
          <p:nvPr/>
        </p:nvSpPr>
        <p:spPr>
          <a:xfrm>
            <a:off x="9496044" y="4700016"/>
            <a:ext cx="0" cy="19202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21" name="Shape 219"/>
          <p:cNvSpPr/>
          <p:nvPr/>
        </p:nvSpPr>
        <p:spPr>
          <a:xfrm>
            <a:off x="9605074" y="4733031"/>
            <a:ext cx="403731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9605074" y="4733031"/>
            <a:ext cx="403731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WalkIn</a:t>
            </a:r>
            <a:endParaRPr lang="ko-KR" sz="800" dirty="0"/>
          </a:p>
        </p:txBody>
      </p:sp>
      <p:sp>
        <p:nvSpPr>
          <p:cNvPr id="223" name="Shape 221"/>
          <p:cNvSpPr/>
          <p:nvPr/>
        </p:nvSpPr>
        <p:spPr>
          <a:xfrm>
            <a:off x="11073384" y="4700016"/>
            <a:ext cx="0" cy="19202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24" name="Shape 222"/>
          <p:cNvSpPr/>
          <p:nvPr/>
        </p:nvSpPr>
        <p:spPr>
          <a:xfrm>
            <a:off x="10190988" y="5129784"/>
            <a:ext cx="16002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25" name="Shape 223"/>
          <p:cNvSpPr/>
          <p:nvPr/>
        </p:nvSpPr>
        <p:spPr>
          <a:xfrm>
            <a:off x="11073384" y="5340096"/>
            <a:ext cx="0" cy="9144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226" name="Shape 224"/>
          <p:cNvSpPr/>
          <p:nvPr/>
        </p:nvSpPr>
        <p:spPr>
          <a:xfrm flipH="1">
            <a:off x="9496044" y="5431536"/>
            <a:ext cx="157734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227" name="Shape 225"/>
          <p:cNvSpPr/>
          <p:nvPr/>
        </p:nvSpPr>
        <p:spPr>
          <a:xfrm>
            <a:off x="9496044" y="5431536"/>
            <a:ext cx="0" cy="10058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28" name="Shape 226"/>
          <p:cNvSpPr/>
          <p:nvPr/>
        </p:nvSpPr>
        <p:spPr>
          <a:xfrm flipH="1">
            <a:off x="8641080" y="5769864"/>
            <a:ext cx="16002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29" name="Text 227"/>
          <p:cNvSpPr/>
          <p:nvPr/>
        </p:nvSpPr>
        <p:spPr>
          <a:xfrm>
            <a:off x="8592350" y="5537703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230" name="Shape 228"/>
          <p:cNvSpPr/>
          <p:nvPr/>
        </p:nvSpPr>
        <p:spPr>
          <a:xfrm>
            <a:off x="10190988" y="5769864"/>
            <a:ext cx="16002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31" name="Text 229"/>
          <p:cNvSpPr/>
          <p:nvPr/>
        </p:nvSpPr>
        <p:spPr>
          <a:xfrm>
            <a:off x="10161182" y="5537703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4770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P02-04  예약 일정 검증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420624" y="6382512"/>
            <a:ext cx="1134770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정책: P02-04 CP-01~04, HOL, RP-02~06, RP-09, 마감시간 정책</a:t>
            </a:r>
            <a:endParaRPr lang="ko-KR" sz="900" dirty="0"/>
          </a:p>
        </p:txBody>
      </p:sp>
      <p:sp>
        <p:nvSpPr>
          <p:cNvPr id="4" name="Shape 2"/>
          <p:cNvSpPr/>
          <p:nvPr/>
        </p:nvSpPr>
        <p:spPr>
          <a:xfrm>
            <a:off x="420624" y="969264"/>
            <a:ext cx="11347704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969264"/>
            <a:ext cx="1116482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검증 게이트   —   앞 게이트를 통과해야 다음 게이트를 본다. 하나라도 불충족이면 즉시 일정 불가다.</a:t>
            </a:r>
            <a:endParaRPr lang="ko-KR" sz="1000" dirty="0"/>
          </a:p>
        </p:txBody>
      </p:sp>
      <p:sp>
        <p:nvSpPr>
          <p:cNvPr id="6" name="Shape 4"/>
          <p:cNvSpPr/>
          <p:nvPr/>
        </p:nvSpPr>
        <p:spPr>
          <a:xfrm>
            <a:off x="448056" y="1828800"/>
            <a:ext cx="1124712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828800"/>
            <a:ext cx="1124712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검증 시작</a:t>
            </a:r>
            <a:endParaRPr lang="ko-KR" sz="800" dirty="0"/>
          </a:p>
        </p:txBody>
      </p:sp>
      <p:sp>
        <p:nvSpPr>
          <p:cNvPr id="8" name="Shape 6"/>
          <p:cNvSpPr/>
          <p:nvPr/>
        </p:nvSpPr>
        <p:spPr>
          <a:xfrm>
            <a:off x="480060" y="1860804"/>
            <a:ext cx="1060704" cy="576072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19072" y="1828800"/>
            <a:ext cx="1124712" cy="640080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19072" y="1828800"/>
            <a:ext cx="1124712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예약일이 과거?</a:t>
            </a:r>
            <a:endParaRPr lang="ko-KR" sz="800" dirty="0"/>
          </a:p>
        </p:txBody>
      </p:sp>
      <p:sp>
        <p:nvSpPr>
          <p:cNvPr id="11" name="Text 9"/>
          <p:cNvSpPr/>
          <p:nvPr/>
        </p:nvSpPr>
        <p:spPr>
          <a:xfrm>
            <a:off x="1719072" y="1444752"/>
            <a:ext cx="11247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1</a:t>
            </a:r>
            <a:endParaRPr lang="ko-KR" sz="800" dirty="0"/>
          </a:p>
        </p:txBody>
      </p:sp>
      <p:sp>
        <p:nvSpPr>
          <p:cNvPr id="12" name="Shape 10"/>
          <p:cNvSpPr/>
          <p:nvPr/>
        </p:nvSpPr>
        <p:spPr>
          <a:xfrm>
            <a:off x="2990088" y="1828800"/>
            <a:ext cx="1124712" cy="640080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0088" y="1828800"/>
            <a:ext cx="1124712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가능일?</a:t>
            </a:r>
            <a:endParaRPr lang="ko-KR" sz="800" dirty="0"/>
          </a:p>
        </p:txBody>
      </p:sp>
      <p:sp>
        <p:nvSpPr>
          <p:cNvPr id="14" name="Text 12"/>
          <p:cNvSpPr/>
          <p:nvPr/>
        </p:nvSpPr>
        <p:spPr>
          <a:xfrm>
            <a:off x="2990088" y="1444752"/>
            <a:ext cx="11247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2</a:t>
            </a:r>
            <a:endParaRPr lang="ko-KR" sz="800" dirty="0"/>
          </a:p>
        </p:txBody>
      </p:sp>
      <p:sp>
        <p:nvSpPr>
          <p:cNvPr id="15" name="Shape 13"/>
          <p:cNvSpPr/>
          <p:nvPr/>
        </p:nvSpPr>
        <p:spPr>
          <a:xfrm>
            <a:off x="4261104" y="1828800"/>
            <a:ext cx="1124712" cy="640080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61104" y="1828800"/>
            <a:ext cx="1124712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 허용?</a:t>
            </a:r>
            <a:endParaRPr lang="ko-KR" sz="800" dirty="0"/>
          </a:p>
        </p:txBody>
      </p:sp>
      <p:sp>
        <p:nvSpPr>
          <p:cNvPr id="17" name="Text 15"/>
          <p:cNvSpPr/>
          <p:nvPr/>
        </p:nvSpPr>
        <p:spPr>
          <a:xfrm>
            <a:off x="4261104" y="1444752"/>
            <a:ext cx="11247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3</a:t>
            </a:r>
            <a:endParaRPr lang="ko-KR" sz="800" dirty="0"/>
          </a:p>
        </p:txBody>
      </p:sp>
      <p:sp>
        <p:nvSpPr>
          <p:cNvPr id="18" name="Shape 16"/>
          <p:cNvSpPr/>
          <p:nvPr/>
        </p:nvSpPr>
        <p:spPr>
          <a:xfrm>
            <a:off x="5532120" y="1828800"/>
            <a:ext cx="1124712" cy="640080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1828800"/>
            <a:ext cx="1124712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당일예약?</a:t>
            </a:r>
            <a:endParaRPr lang="ko-KR" sz="800" dirty="0"/>
          </a:p>
        </p:txBody>
      </p:sp>
      <p:sp>
        <p:nvSpPr>
          <p:cNvPr id="20" name="Text 18"/>
          <p:cNvSpPr/>
          <p:nvPr/>
        </p:nvSpPr>
        <p:spPr>
          <a:xfrm>
            <a:off x="5532120" y="1444752"/>
            <a:ext cx="11247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4</a:t>
            </a:r>
            <a:endParaRPr lang="ko-KR" sz="800" dirty="0"/>
          </a:p>
        </p:txBody>
      </p:sp>
      <p:sp>
        <p:nvSpPr>
          <p:cNvPr id="21" name="Shape 19"/>
          <p:cNvSpPr/>
          <p:nvPr/>
        </p:nvSpPr>
        <p:spPr>
          <a:xfrm>
            <a:off x="6803136" y="1828800"/>
            <a:ext cx="1124712" cy="640080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828800"/>
            <a:ext cx="1124712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Context별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 전?</a:t>
            </a:r>
            <a:endParaRPr lang="ko-KR" sz="800" dirty="0"/>
          </a:p>
        </p:txBody>
      </p:sp>
      <p:sp>
        <p:nvSpPr>
          <p:cNvPr id="23" name="Text 21"/>
          <p:cNvSpPr/>
          <p:nvPr/>
        </p:nvSpPr>
        <p:spPr>
          <a:xfrm>
            <a:off x="6803136" y="1444752"/>
            <a:ext cx="11247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5</a:t>
            </a:r>
            <a:endParaRPr lang="ko-KR" sz="800" dirty="0"/>
          </a:p>
        </p:txBody>
      </p:sp>
      <p:sp>
        <p:nvSpPr>
          <p:cNvPr id="24" name="Shape 22"/>
          <p:cNvSpPr/>
          <p:nvPr/>
        </p:nvSpPr>
        <p:spPr>
          <a:xfrm>
            <a:off x="8074152" y="1828800"/>
            <a:ext cx="1124712" cy="640080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74152" y="1828800"/>
            <a:ext cx="1124712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 정원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 20?</a:t>
            </a:r>
            <a:endParaRPr lang="ko-KR" sz="800" dirty="0"/>
          </a:p>
        </p:txBody>
      </p:sp>
      <p:sp>
        <p:nvSpPr>
          <p:cNvPr id="26" name="Text 24"/>
          <p:cNvSpPr/>
          <p:nvPr/>
        </p:nvSpPr>
        <p:spPr>
          <a:xfrm>
            <a:off x="8074152" y="1444752"/>
            <a:ext cx="11247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6</a:t>
            </a:r>
            <a:endParaRPr lang="ko-KR" sz="800" dirty="0"/>
          </a:p>
        </p:txBody>
      </p:sp>
      <p:sp>
        <p:nvSpPr>
          <p:cNvPr id="27" name="Shape 25"/>
          <p:cNvSpPr/>
          <p:nvPr/>
        </p:nvSpPr>
        <p:spPr>
          <a:xfrm>
            <a:off x="9345168" y="1828800"/>
            <a:ext cx="1124712" cy="640080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45168" y="1828800"/>
            <a:ext cx="1124712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수검자 다른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유효예약 없음?</a:t>
            </a:r>
            <a:endParaRPr lang="ko-KR" sz="800" dirty="0"/>
          </a:p>
        </p:txBody>
      </p:sp>
      <p:sp>
        <p:nvSpPr>
          <p:cNvPr id="29" name="Text 27"/>
          <p:cNvSpPr/>
          <p:nvPr/>
        </p:nvSpPr>
        <p:spPr>
          <a:xfrm>
            <a:off x="9345168" y="1444752"/>
            <a:ext cx="11247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7</a:t>
            </a:r>
            <a:endParaRPr lang="ko-KR" sz="800" dirty="0"/>
          </a:p>
        </p:txBody>
      </p:sp>
      <p:sp>
        <p:nvSpPr>
          <p:cNvPr id="30" name="Shape 28"/>
          <p:cNvSpPr/>
          <p:nvPr/>
        </p:nvSpPr>
        <p:spPr>
          <a:xfrm>
            <a:off x="10616184" y="1828800"/>
            <a:ext cx="1124712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16184" y="1828800"/>
            <a:ext cx="1124712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가능</a:t>
            </a:r>
            <a:endParaRPr lang="ko-KR" sz="800" dirty="0"/>
          </a:p>
        </p:txBody>
      </p:sp>
      <p:sp>
        <p:nvSpPr>
          <p:cNvPr id="32" name="Shape 30"/>
          <p:cNvSpPr/>
          <p:nvPr/>
        </p:nvSpPr>
        <p:spPr>
          <a:xfrm>
            <a:off x="10648188" y="1860804"/>
            <a:ext cx="1060704" cy="576072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16184" y="3017520"/>
            <a:ext cx="1124712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16184" y="3017520"/>
            <a:ext cx="11247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불가</a:t>
            </a:r>
            <a:endParaRPr lang="ko-KR" sz="800" dirty="0"/>
          </a:p>
        </p:txBody>
      </p:sp>
      <p:sp>
        <p:nvSpPr>
          <p:cNvPr id="35" name="Shape 33"/>
          <p:cNvSpPr/>
          <p:nvPr/>
        </p:nvSpPr>
        <p:spPr>
          <a:xfrm>
            <a:off x="10648188" y="3049524"/>
            <a:ext cx="1060704" cy="393192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72768" y="2148840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843784" y="2148840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114800" y="2148840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385816" y="2148840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927848" y="2148840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198864" y="2148840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469880" y="2148840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656832" y="2148840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6606452" y="1633215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45" name="Shape 43"/>
          <p:cNvSpPr/>
          <p:nvPr/>
        </p:nvSpPr>
        <p:spPr>
          <a:xfrm flipV="1">
            <a:off x="6547104" y="1316736"/>
            <a:ext cx="0" cy="51206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6547104" y="1316736"/>
            <a:ext cx="163677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8183880" y="1316736"/>
            <a:ext cx="0" cy="48463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448656" y="1240023"/>
            <a:ext cx="1833672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8656" y="1240023"/>
            <a:ext cx="1833672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— 당일예약이 아니면 마감 미적용</a:t>
            </a:r>
            <a:endParaRPr lang="ko-KR" sz="800" dirty="0"/>
          </a:p>
        </p:txBody>
      </p:sp>
      <p:sp>
        <p:nvSpPr>
          <p:cNvPr id="50" name="Shape 48"/>
          <p:cNvSpPr/>
          <p:nvPr/>
        </p:nvSpPr>
        <p:spPr>
          <a:xfrm>
            <a:off x="2281428" y="2834640"/>
            <a:ext cx="889711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2281428" y="2468880"/>
            <a:ext cx="0" cy="36576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2157896" y="2538471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57896" y="2538471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54" name="Shape 52"/>
          <p:cNvSpPr/>
          <p:nvPr/>
        </p:nvSpPr>
        <p:spPr>
          <a:xfrm>
            <a:off x="3552444" y="2468880"/>
            <a:ext cx="0" cy="36576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3437420" y="2538471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37420" y="2538471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57" name="Shape 55"/>
          <p:cNvSpPr/>
          <p:nvPr/>
        </p:nvSpPr>
        <p:spPr>
          <a:xfrm>
            <a:off x="4823460" y="2468880"/>
            <a:ext cx="0" cy="36576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4708436" y="2538471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08436" y="2538471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60" name="Shape 58"/>
          <p:cNvSpPr/>
          <p:nvPr/>
        </p:nvSpPr>
        <p:spPr>
          <a:xfrm>
            <a:off x="7365492" y="2468880"/>
            <a:ext cx="0" cy="36576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7250468" y="2538471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50468" y="2538471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63" name="Shape 61"/>
          <p:cNvSpPr/>
          <p:nvPr/>
        </p:nvSpPr>
        <p:spPr>
          <a:xfrm>
            <a:off x="8636508" y="2468880"/>
            <a:ext cx="0" cy="36576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8521484" y="2538471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21484" y="2538471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66" name="Shape 64"/>
          <p:cNvSpPr/>
          <p:nvPr/>
        </p:nvSpPr>
        <p:spPr>
          <a:xfrm>
            <a:off x="9907524" y="2468880"/>
            <a:ext cx="0" cy="36576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9792500" y="2538471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792500" y="2538471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69" name="Shape 67"/>
          <p:cNvSpPr/>
          <p:nvPr/>
        </p:nvSpPr>
        <p:spPr>
          <a:xfrm>
            <a:off x="11178540" y="2834640"/>
            <a:ext cx="0" cy="155448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420624" y="3639312"/>
            <a:ext cx="5669280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2064" y="3639312"/>
            <a:ext cx="54864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Context별 마감</a:t>
            </a:r>
            <a:endParaRPr lang="ko-KR" sz="1000" dirty="0"/>
          </a:p>
        </p:txBody>
      </p:sp>
      <p:sp>
        <p:nvSpPr>
          <p:cNvPr id="72" name="Shape 70"/>
          <p:cNvSpPr/>
          <p:nvPr/>
        </p:nvSpPr>
        <p:spPr>
          <a:xfrm>
            <a:off x="420624" y="3931920"/>
            <a:ext cx="1280160" cy="2926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6344" y="3931920"/>
            <a:ext cx="118872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</a:t>
            </a:r>
            <a:endParaRPr lang="ko-KR" sz="1000" dirty="0"/>
          </a:p>
        </p:txBody>
      </p:sp>
      <p:sp>
        <p:nvSpPr>
          <p:cNvPr id="74" name="Shape 72"/>
          <p:cNvSpPr/>
          <p:nvPr/>
        </p:nvSpPr>
        <p:spPr>
          <a:xfrm>
            <a:off x="1700784" y="3931920"/>
            <a:ext cx="4389120" cy="2926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746504" y="3931920"/>
            <a:ext cx="42976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 허용조건</a:t>
            </a:r>
            <a:endParaRPr lang="ko-KR" sz="1000" dirty="0"/>
          </a:p>
        </p:txBody>
      </p:sp>
      <p:sp>
        <p:nvSpPr>
          <p:cNvPr id="76" name="Shape 74"/>
          <p:cNvSpPr/>
          <p:nvPr/>
        </p:nvSpPr>
        <p:spPr>
          <a:xfrm>
            <a:off x="420624" y="4224528"/>
            <a:ext cx="1280160" cy="310896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6344" y="4270248"/>
            <a:ext cx="11887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ko-KR" sz="1000" dirty="0"/>
          </a:p>
        </p:txBody>
      </p:sp>
      <p:sp>
        <p:nvSpPr>
          <p:cNvPr id="78" name="Shape 76"/>
          <p:cNvSpPr/>
          <p:nvPr/>
        </p:nvSpPr>
        <p:spPr>
          <a:xfrm>
            <a:off x="1700784" y="4224528"/>
            <a:ext cx="4389120" cy="310896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746504" y="4270248"/>
            <a:ext cx="42976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시간대 당일예약 마감 전</a:t>
            </a:r>
            <a:endParaRPr lang="ko-KR" sz="1000" dirty="0"/>
          </a:p>
        </p:txBody>
      </p:sp>
      <p:sp>
        <p:nvSpPr>
          <p:cNvPr id="80" name="Shape 78"/>
          <p:cNvSpPr/>
          <p:nvPr/>
        </p:nvSpPr>
        <p:spPr>
          <a:xfrm>
            <a:off x="420624" y="4535424"/>
            <a:ext cx="1280160" cy="310896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66344" y="4581144"/>
            <a:ext cx="11887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WalkIn</a:t>
            </a:r>
            <a:endParaRPr lang="ko-KR" sz="1000" dirty="0"/>
          </a:p>
        </p:txBody>
      </p:sp>
      <p:sp>
        <p:nvSpPr>
          <p:cNvPr id="82" name="Shape 80"/>
          <p:cNvSpPr/>
          <p:nvPr/>
        </p:nvSpPr>
        <p:spPr>
          <a:xfrm>
            <a:off x="1700784" y="4535424"/>
            <a:ext cx="4389120" cy="310896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746504" y="4581144"/>
            <a:ext cx="42976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시간대 접수 마감 전</a:t>
            </a:r>
            <a:endParaRPr lang="ko-KR" sz="1000" dirty="0"/>
          </a:p>
        </p:txBody>
      </p:sp>
      <p:sp>
        <p:nvSpPr>
          <p:cNvPr id="84" name="Shape 82"/>
          <p:cNvSpPr/>
          <p:nvPr/>
        </p:nvSpPr>
        <p:spPr>
          <a:xfrm>
            <a:off x="420624" y="4846320"/>
            <a:ext cx="1280160" cy="310896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66344" y="4892040"/>
            <a:ext cx="11887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미래일</a:t>
            </a:r>
            <a:endParaRPr lang="ko-KR" sz="1000" dirty="0"/>
          </a:p>
        </p:txBody>
      </p:sp>
      <p:sp>
        <p:nvSpPr>
          <p:cNvPr id="86" name="Shape 84"/>
          <p:cNvSpPr/>
          <p:nvPr/>
        </p:nvSpPr>
        <p:spPr>
          <a:xfrm>
            <a:off x="1700784" y="4846320"/>
            <a:ext cx="4389120" cy="310896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746504" y="4892040"/>
            <a:ext cx="42976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 마감 미적용, CP/HOL·시간대·정원·중복 적용</a:t>
            </a:r>
            <a:endParaRPr lang="ko-KR" sz="1000" dirty="0"/>
          </a:p>
        </p:txBody>
      </p:sp>
      <p:sp>
        <p:nvSpPr>
          <p:cNvPr id="88" name="Shape 86"/>
          <p:cNvSpPr/>
          <p:nvPr/>
        </p:nvSpPr>
        <p:spPr>
          <a:xfrm>
            <a:off x="420624" y="5175504"/>
            <a:ext cx="5669280" cy="484149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30352" y="5248656"/>
            <a:ext cx="5449824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마감과 같은 시각부터 불가다.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마감시간 정책은 CP-04 운영시간(09:00 ≤ 현재시각 &lt; 18:00) 안에서만 적용한다.</a:t>
            </a:r>
            <a:endParaRPr lang="ko-KR" sz="1000" dirty="0"/>
          </a:p>
        </p:txBody>
      </p:sp>
      <p:sp>
        <p:nvSpPr>
          <p:cNvPr id="90" name="Shape 88"/>
          <p:cNvSpPr/>
          <p:nvPr/>
        </p:nvSpPr>
        <p:spPr>
          <a:xfrm>
            <a:off x="6309360" y="3639312"/>
            <a:ext cx="5458968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400800" y="3639312"/>
            <a:ext cx="527608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규칙</a:t>
            </a:r>
            <a:endParaRPr lang="ko-KR" sz="1000" dirty="0"/>
          </a:p>
        </p:txBody>
      </p:sp>
      <p:sp>
        <p:nvSpPr>
          <p:cNvPr id="92" name="Shape 90"/>
          <p:cNvSpPr/>
          <p:nvPr/>
        </p:nvSpPr>
        <p:spPr>
          <a:xfrm>
            <a:off x="6309360" y="3931920"/>
            <a:ext cx="5458968" cy="115984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419088" y="4005072"/>
            <a:ext cx="5239512" cy="1013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신규예약과 예약변경은 저장 Transaction 안에서 정원·중복을 다시 확인한다.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예약변경에서는 변경 대상 WorkId 자체를 중복판단에서 제외하고 다른 RSV/RCP 업무만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충돌로 본다.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화면의 정원값은 안내용 Snapshot이며 저장 성공을 보장하지 않는다.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중복판단 유효예약은 예약일 ≥ DB 현재일이고 상태가 RSV 또는 RCP인 업무다. 과거 업무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중복판단에서 제외한다.</a:t>
            </a:r>
            <a:endParaRPr lang="ko-KR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4770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P02-06  예약 변경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420624" y="6382512"/>
            <a:ext cx="1134770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정책: P02-06 RP-03, RP-06~09, TGT, NEX, AEX</a:t>
            </a:r>
            <a:endParaRPr lang="ko-KR" sz="900" dirty="0"/>
          </a:p>
        </p:txBody>
      </p:sp>
      <p:sp>
        <p:nvSpPr>
          <p:cNvPr id="4" name="Shape 2"/>
          <p:cNvSpPr/>
          <p:nvPr/>
        </p:nvSpPr>
        <p:spPr>
          <a:xfrm>
            <a:off x="420624" y="969264"/>
            <a:ext cx="11347704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969264"/>
            <a:ext cx="1116482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축약 흐름   —   RSV 확인 → 실제 변경 계산 → 예약일/시간대/AEX 영향검증 → 상태·RowVersion 확인 → 저장 / No-op / 기존예약 유지</a:t>
            </a:r>
            <a:endParaRPr lang="ko-KR" sz="1000" dirty="0"/>
          </a:p>
        </p:txBody>
      </p:sp>
      <p:sp>
        <p:nvSpPr>
          <p:cNvPr id="6" name="Shape 4"/>
          <p:cNvSpPr/>
          <p:nvPr/>
        </p:nvSpPr>
        <p:spPr>
          <a:xfrm>
            <a:off x="420624" y="1371600"/>
            <a:ext cx="1239926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371600"/>
            <a:ext cx="1239926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변경 시작</a:t>
            </a:r>
            <a:endParaRPr lang="ko-KR" sz="800" dirty="0"/>
          </a:p>
        </p:txBody>
      </p:sp>
      <p:sp>
        <p:nvSpPr>
          <p:cNvPr id="8" name="Shape 6"/>
          <p:cNvSpPr/>
          <p:nvPr/>
        </p:nvSpPr>
        <p:spPr>
          <a:xfrm>
            <a:off x="452628" y="1403604"/>
            <a:ext cx="1175918" cy="59436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43430" y="1371600"/>
            <a:ext cx="1239926" cy="6583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43430" y="1371600"/>
            <a:ext cx="1239926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P02-05 예약 조회 ·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선택</a:t>
            </a:r>
            <a:endParaRPr lang="ko-KR" sz="800" dirty="0"/>
          </a:p>
        </p:txBody>
      </p:sp>
      <p:sp>
        <p:nvSpPr>
          <p:cNvPr id="11" name="Shape 9"/>
          <p:cNvSpPr/>
          <p:nvPr/>
        </p:nvSpPr>
        <p:spPr>
          <a:xfrm>
            <a:off x="1898294" y="1371600"/>
            <a:ext cx="0" cy="658368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028493" y="1371600"/>
            <a:ext cx="0" cy="658368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3266237" y="1371600"/>
            <a:ext cx="1239926" cy="658368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6237" y="1371600"/>
            <a:ext cx="1239926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 = RSV?</a:t>
            </a:r>
            <a:endParaRPr lang="ko-KR" sz="800" dirty="0"/>
          </a:p>
        </p:txBody>
      </p:sp>
      <p:sp>
        <p:nvSpPr>
          <p:cNvPr id="15" name="Shape 13"/>
          <p:cNvSpPr/>
          <p:nvPr/>
        </p:nvSpPr>
        <p:spPr>
          <a:xfrm>
            <a:off x="4689043" y="1371600"/>
            <a:ext cx="1239926" cy="6583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9043" y="1371600"/>
            <a:ext cx="1239926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현재값과 요청값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· 실제 변경 계산</a:t>
            </a:r>
            <a:endParaRPr lang="ko-KR" sz="800" dirty="0"/>
          </a:p>
        </p:txBody>
      </p:sp>
      <p:sp>
        <p:nvSpPr>
          <p:cNvPr id="17" name="Shape 15"/>
          <p:cNvSpPr/>
          <p:nvPr/>
        </p:nvSpPr>
        <p:spPr>
          <a:xfrm>
            <a:off x="6111850" y="1371600"/>
            <a:ext cx="1239926" cy="6583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1850" y="1371600"/>
            <a:ext cx="1239926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 / 시간대 / AEX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영향검증</a:t>
            </a:r>
            <a:endParaRPr lang="ko-KR" sz="800" dirty="0"/>
          </a:p>
        </p:txBody>
      </p:sp>
      <p:sp>
        <p:nvSpPr>
          <p:cNvPr id="19" name="Shape 17"/>
          <p:cNvSpPr/>
          <p:nvPr/>
        </p:nvSpPr>
        <p:spPr>
          <a:xfrm>
            <a:off x="7534656" y="1371600"/>
            <a:ext cx="1239926" cy="6583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34656" y="1371600"/>
            <a:ext cx="1239926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· RowVersion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최종확인</a:t>
            </a:r>
            <a:endParaRPr lang="ko-KR" sz="800" dirty="0"/>
          </a:p>
        </p:txBody>
      </p:sp>
      <p:sp>
        <p:nvSpPr>
          <p:cNvPr id="21" name="Shape 19"/>
          <p:cNvSpPr/>
          <p:nvPr/>
        </p:nvSpPr>
        <p:spPr>
          <a:xfrm>
            <a:off x="1660550" y="1700784"/>
            <a:ext cx="15544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083357" y="1700784"/>
            <a:ext cx="15544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506163" y="1700784"/>
            <a:ext cx="15544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928970" y="1700784"/>
            <a:ext cx="15544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51776" y="1700784"/>
            <a:ext cx="15544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87968" y="1325880"/>
            <a:ext cx="0" cy="153619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8774582" y="1700784"/>
            <a:ext cx="11338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8887968" y="1325880"/>
            <a:ext cx="13716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052560" y="1097280"/>
            <a:ext cx="2715768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0" y="1097280"/>
            <a:ext cx="271576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E1   예약 변경 완료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변경 있음 → 영향범위만 원자적 저장</a:t>
            </a:r>
            <a:endParaRPr lang="ko-KR" sz="800" dirty="0"/>
          </a:p>
        </p:txBody>
      </p:sp>
      <p:sp>
        <p:nvSpPr>
          <p:cNvPr id="31" name="Shape 29"/>
          <p:cNvSpPr/>
          <p:nvPr/>
        </p:nvSpPr>
        <p:spPr>
          <a:xfrm>
            <a:off x="9084564" y="1129284"/>
            <a:ext cx="2651760" cy="393192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87968" y="1837944"/>
            <a:ext cx="13716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052560" y="1609344"/>
            <a:ext cx="2715768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0" y="1609344"/>
            <a:ext cx="271576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E2   변경 대상 없음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결과에서 변경 대상을 선택하지 않음</a:t>
            </a:r>
            <a:endParaRPr lang="ko-KR" sz="800" dirty="0"/>
          </a:p>
        </p:txBody>
      </p:sp>
      <p:sp>
        <p:nvSpPr>
          <p:cNvPr id="35" name="Shape 33"/>
          <p:cNvSpPr/>
          <p:nvPr/>
        </p:nvSpPr>
        <p:spPr>
          <a:xfrm>
            <a:off x="9084564" y="1641348"/>
            <a:ext cx="2651760" cy="393192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87968" y="2350008"/>
            <a:ext cx="13716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052560" y="2121408"/>
            <a:ext cx="2715768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52560" y="2121408"/>
            <a:ext cx="271576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E3   변경 불가 / 기존예약 유지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≠ RSV · 예약일 변경 후 비대상 · 저장 불가</a:t>
            </a:r>
            <a:endParaRPr lang="ko-KR" sz="800" dirty="0"/>
          </a:p>
        </p:txBody>
      </p:sp>
      <p:sp>
        <p:nvSpPr>
          <p:cNvPr id="39" name="Shape 37"/>
          <p:cNvSpPr/>
          <p:nvPr/>
        </p:nvSpPr>
        <p:spPr>
          <a:xfrm>
            <a:off x="9084564" y="2153412"/>
            <a:ext cx="2651760" cy="393192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87968" y="2862072"/>
            <a:ext cx="13716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052560" y="2633472"/>
            <a:ext cx="2715768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52560" y="2633472"/>
            <a:ext cx="271576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E4   변경 없음 / No-op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요청값이 DB 현재값과 같아 데이터 변경 없음</a:t>
            </a:r>
            <a:endParaRPr lang="ko-KR" sz="800" dirty="0"/>
          </a:p>
        </p:txBody>
      </p:sp>
      <p:sp>
        <p:nvSpPr>
          <p:cNvPr id="43" name="Shape 41"/>
          <p:cNvSpPr/>
          <p:nvPr/>
        </p:nvSpPr>
        <p:spPr>
          <a:xfrm>
            <a:off x="9084564" y="2665476"/>
            <a:ext cx="2651760" cy="393192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0624" y="3291840"/>
            <a:ext cx="6711696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3291840"/>
            <a:ext cx="652881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Matrix   —   실제 변경조합별 재검증·저장 범위</a:t>
            </a:r>
            <a:endParaRPr lang="ko-KR" sz="1000" dirty="0"/>
          </a:p>
        </p:txBody>
      </p:sp>
      <p:sp>
        <p:nvSpPr>
          <p:cNvPr id="46" name="Shape 44"/>
          <p:cNvSpPr/>
          <p:nvPr/>
        </p:nvSpPr>
        <p:spPr>
          <a:xfrm>
            <a:off x="420624" y="3584448"/>
            <a:ext cx="192024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" y="3584448"/>
            <a:ext cx="1828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변경조합</a:t>
            </a:r>
            <a:endParaRPr lang="ko-KR" sz="950" dirty="0"/>
          </a:p>
        </p:txBody>
      </p:sp>
      <p:sp>
        <p:nvSpPr>
          <p:cNvPr id="48" name="Shape 46"/>
          <p:cNvSpPr/>
          <p:nvPr/>
        </p:nvSpPr>
        <p:spPr>
          <a:xfrm>
            <a:off x="2340864" y="3584448"/>
            <a:ext cx="530352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86584" y="3584448"/>
            <a:ext cx="43891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endParaRPr lang="ko-KR" sz="950" dirty="0"/>
          </a:p>
        </p:txBody>
      </p:sp>
      <p:sp>
        <p:nvSpPr>
          <p:cNvPr id="50" name="Shape 48"/>
          <p:cNvSpPr/>
          <p:nvPr/>
        </p:nvSpPr>
        <p:spPr>
          <a:xfrm>
            <a:off x="2871216" y="3584448"/>
            <a:ext cx="530352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16936" y="3584448"/>
            <a:ext cx="43891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TGT</a:t>
            </a:r>
            <a:endParaRPr lang="ko-KR" sz="950" dirty="0"/>
          </a:p>
        </p:txBody>
      </p:sp>
      <p:sp>
        <p:nvSpPr>
          <p:cNvPr id="52" name="Shape 50"/>
          <p:cNvSpPr/>
          <p:nvPr/>
        </p:nvSpPr>
        <p:spPr>
          <a:xfrm>
            <a:off x="3401568" y="3584448"/>
            <a:ext cx="530352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47288" y="3584448"/>
            <a:ext cx="43891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</a:t>
            </a:r>
            <a:endParaRPr lang="ko-KR" sz="950" dirty="0"/>
          </a:p>
        </p:txBody>
      </p:sp>
      <p:sp>
        <p:nvSpPr>
          <p:cNvPr id="54" name="Shape 52"/>
          <p:cNvSpPr/>
          <p:nvPr/>
        </p:nvSpPr>
        <p:spPr>
          <a:xfrm>
            <a:off x="3931920" y="3584448"/>
            <a:ext cx="530352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77640" y="3584448"/>
            <a:ext cx="43891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AEX</a:t>
            </a:r>
            <a:endParaRPr lang="ko-KR" sz="950" dirty="0"/>
          </a:p>
        </p:txBody>
      </p:sp>
      <p:sp>
        <p:nvSpPr>
          <p:cNvPr id="56" name="Shape 54"/>
          <p:cNvSpPr/>
          <p:nvPr/>
        </p:nvSpPr>
        <p:spPr>
          <a:xfrm>
            <a:off x="4462272" y="3584448"/>
            <a:ext cx="2670048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07992" y="3584448"/>
            <a:ext cx="2578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ko-KR" sz="950" dirty="0"/>
          </a:p>
        </p:txBody>
      </p:sp>
      <p:sp>
        <p:nvSpPr>
          <p:cNvPr id="58" name="Shape 56"/>
          <p:cNvSpPr/>
          <p:nvPr/>
        </p:nvSpPr>
        <p:spPr>
          <a:xfrm>
            <a:off x="420624" y="3858768"/>
            <a:ext cx="192024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" y="3904488"/>
            <a:ext cx="1828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 변경 포함</a:t>
            </a:r>
            <a:endParaRPr lang="ko-KR" sz="950" dirty="0"/>
          </a:p>
        </p:txBody>
      </p:sp>
      <p:sp>
        <p:nvSpPr>
          <p:cNvPr id="60" name="Shape 58"/>
          <p:cNvSpPr/>
          <p:nvPr/>
        </p:nvSpPr>
        <p:spPr>
          <a:xfrm>
            <a:off x="2340864" y="3858768"/>
            <a:ext cx="530352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386584" y="3904488"/>
            <a:ext cx="4389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950" dirty="0"/>
          </a:p>
        </p:txBody>
      </p:sp>
      <p:sp>
        <p:nvSpPr>
          <p:cNvPr id="62" name="Shape 60"/>
          <p:cNvSpPr/>
          <p:nvPr/>
        </p:nvSpPr>
        <p:spPr>
          <a:xfrm>
            <a:off x="2871216" y="3858768"/>
            <a:ext cx="530352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16936" y="3904488"/>
            <a:ext cx="4389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950" dirty="0"/>
          </a:p>
        </p:txBody>
      </p:sp>
      <p:sp>
        <p:nvSpPr>
          <p:cNvPr id="64" name="Shape 62"/>
          <p:cNvSpPr/>
          <p:nvPr/>
        </p:nvSpPr>
        <p:spPr>
          <a:xfrm>
            <a:off x="3401568" y="3858768"/>
            <a:ext cx="530352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47288" y="3904488"/>
            <a:ext cx="4389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950" dirty="0"/>
          </a:p>
        </p:txBody>
      </p:sp>
      <p:sp>
        <p:nvSpPr>
          <p:cNvPr id="66" name="Shape 64"/>
          <p:cNvSpPr/>
          <p:nvPr/>
        </p:nvSpPr>
        <p:spPr>
          <a:xfrm>
            <a:off x="3931920" y="3858768"/>
            <a:ext cx="530352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977640" y="3904488"/>
            <a:ext cx="4389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950" dirty="0"/>
          </a:p>
        </p:txBody>
      </p:sp>
      <p:sp>
        <p:nvSpPr>
          <p:cNvPr id="68" name="Shape 66"/>
          <p:cNvSpPr/>
          <p:nvPr/>
        </p:nvSpPr>
        <p:spPr>
          <a:xfrm>
            <a:off x="4462272" y="3858768"/>
            <a:ext cx="2670048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07992" y="3904488"/>
            <a:ext cx="257860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Work+영향 Detail</a:t>
            </a:r>
            <a:endParaRPr lang="ko-KR" sz="950" dirty="0"/>
          </a:p>
        </p:txBody>
      </p:sp>
      <p:sp>
        <p:nvSpPr>
          <p:cNvPr id="70" name="Shape 68"/>
          <p:cNvSpPr/>
          <p:nvPr/>
        </p:nvSpPr>
        <p:spPr>
          <a:xfrm>
            <a:off x="420624" y="4133088"/>
            <a:ext cx="192024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6344" y="4178808"/>
            <a:ext cx="1828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시간대만 변경</a:t>
            </a:r>
            <a:endParaRPr lang="ko-KR" sz="950" dirty="0"/>
          </a:p>
        </p:txBody>
      </p:sp>
      <p:sp>
        <p:nvSpPr>
          <p:cNvPr id="72" name="Shape 70"/>
          <p:cNvSpPr/>
          <p:nvPr/>
        </p:nvSpPr>
        <p:spPr>
          <a:xfrm>
            <a:off x="2340864" y="4133088"/>
            <a:ext cx="530352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386584" y="4178808"/>
            <a:ext cx="4389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950" dirty="0"/>
          </a:p>
        </p:txBody>
      </p:sp>
      <p:sp>
        <p:nvSpPr>
          <p:cNvPr id="74" name="Shape 72"/>
          <p:cNvSpPr/>
          <p:nvPr/>
        </p:nvSpPr>
        <p:spPr>
          <a:xfrm>
            <a:off x="2871216" y="4133088"/>
            <a:ext cx="530352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916936" y="4178808"/>
            <a:ext cx="4389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950" dirty="0"/>
          </a:p>
        </p:txBody>
      </p:sp>
      <p:sp>
        <p:nvSpPr>
          <p:cNvPr id="76" name="Shape 74"/>
          <p:cNvSpPr/>
          <p:nvPr/>
        </p:nvSpPr>
        <p:spPr>
          <a:xfrm>
            <a:off x="3401568" y="4133088"/>
            <a:ext cx="530352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447288" y="4178808"/>
            <a:ext cx="4389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950" dirty="0"/>
          </a:p>
        </p:txBody>
      </p:sp>
      <p:sp>
        <p:nvSpPr>
          <p:cNvPr id="78" name="Shape 76"/>
          <p:cNvSpPr/>
          <p:nvPr/>
        </p:nvSpPr>
        <p:spPr>
          <a:xfrm>
            <a:off x="3931920" y="4133088"/>
            <a:ext cx="530352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77640" y="4178808"/>
            <a:ext cx="4389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950" dirty="0"/>
          </a:p>
        </p:txBody>
      </p:sp>
      <p:sp>
        <p:nvSpPr>
          <p:cNvPr id="80" name="Shape 78"/>
          <p:cNvSpPr/>
          <p:nvPr/>
        </p:nvSpPr>
        <p:spPr>
          <a:xfrm>
            <a:off x="4462272" y="4133088"/>
            <a:ext cx="2670048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507992" y="4178808"/>
            <a:ext cx="257860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Work만</a:t>
            </a:r>
            <a:endParaRPr lang="ko-KR" sz="950" dirty="0"/>
          </a:p>
        </p:txBody>
      </p:sp>
      <p:sp>
        <p:nvSpPr>
          <p:cNvPr id="82" name="Shape 80"/>
          <p:cNvSpPr/>
          <p:nvPr/>
        </p:nvSpPr>
        <p:spPr>
          <a:xfrm>
            <a:off x="420624" y="4407408"/>
            <a:ext cx="192024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6344" y="4453128"/>
            <a:ext cx="1828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AEX만 변경</a:t>
            </a:r>
            <a:endParaRPr lang="ko-KR" sz="950" dirty="0"/>
          </a:p>
        </p:txBody>
      </p:sp>
      <p:sp>
        <p:nvSpPr>
          <p:cNvPr id="84" name="Shape 82"/>
          <p:cNvSpPr/>
          <p:nvPr/>
        </p:nvSpPr>
        <p:spPr>
          <a:xfrm>
            <a:off x="2340864" y="4407408"/>
            <a:ext cx="530352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386584" y="4453128"/>
            <a:ext cx="4389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950" dirty="0"/>
          </a:p>
        </p:txBody>
      </p:sp>
      <p:sp>
        <p:nvSpPr>
          <p:cNvPr id="86" name="Shape 84"/>
          <p:cNvSpPr/>
          <p:nvPr/>
        </p:nvSpPr>
        <p:spPr>
          <a:xfrm>
            <a:off x="2871216" y="4407408"/>
            <a:ext cx="530352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916936" y="4453128"/>
            <a:ext cx="4389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950" dirty="0"/>
          </a:p>
        </p:txBody>
      </p:sp>
      <p:sp>
        <p:nvSpPr>
          <p:cNvPr id="88" name="Shape 86"/>
          <p:cNvSpPr/>
          <p:nvPr/>
        </p:nvSpPr>
        <p:spPr>
          <a:xfrm>
            <a:off x="3401568" y="4407408"/>
            <a:ext cx="530352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447288" y="4453128"/>
            <a:ext cx="4389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950" dirty="0"/>
          </a:p>
        </p:txBody>
      </p:sp>
      <p:sp>
        <p:nvSpPr>
          <p:cNvPr id="90" name="Shape 88"/>
          <p:cNvSpPr/>
          <p:nvPr/>
        </p:nvSpPr>
        <p:spPr>
          <a:xfrm>
            <a:off x="3931920" y="4407408"/>
            <a:ext cx="530352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977640" y="4453128"/>
            <a:ext cx="4389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950" dirty="0"/>
          </a:p>
        </p:txBody>
      </p:sp>
      <p:sp>
        <p:nvSpPr>
          <p:cNvPr id="92" name="Shape 90"/>
          <p:cNvSpPr/>
          <p:nvPr/>
        </p:nvSpPr>
        <p:spPr>
          <a:xfrm>
            <a:off x="4462272" y="4407408"/>
            <a:ext cx="2670048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507992" y="4453128"/>
            <a:ext cx="257860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AEX Detail+Work 동시성 갱신</a:t>
            </a:r>
            <a:endParaRPr lang="ko-KR" sz="950" dirty="0"/>
          </a:p>
        </p:txBody>
      </p:sp>
      <p:sp>
        <p:nvSpPr>
          <p:cNvPr id="94" name="Shape 92"/>
          <p:cNvSpPr/>
          <p:nvPr/>
        </p:nvSpPr>
        <p:spPr>
          <a:xfrm>
            <a:off x="420624" y="4681728"/>
            <a:ext cx="192024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66344" y="4727448"/>
            <a:ext cx="1828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시간대+AEX</a:t>
            </a:r>
            <a:endParaRPr lang="ko-KR" sz="950" dirty="0"/>
          </a:p>
        </p:txBody>
      </p:sp>
      <p:sp>
        <p:nvSpPr>
          <p:cNvPr id="96" name="Shape 94"/>
          <p:cNvSpPr/>
          <p:nvPr/>
        </p:nvSpPr>
        <p:spPr>
          <a:xfrm>
            <a:off x="2340864" y="4681728"/>
            <a:ext cx="530352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386584" y="4727448"/>
            <a:ext cx="4389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950" dirty="0"/>
          </a:p>
        </p:txBody>
      </p:sp>
      <p:sp>
        <p:nvSpPr>
          <p:cNvPr id="98" name="Shape 96"/>
          <p:cNvSpPr/>
          <p:nvPr/>
        </p:nvSpPr>
        <p:spPr>
          <a:xfrm>
            <a:off x="2871216" y="4681728"/>
            <a:ext cx="530352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916936" y="4727448"/>
            <a:ext cx="4389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950" dirty="0"/>
          </a:p>
        </p:txBody>
      </p:sp>
      <p:sp>
        <p:nvSpPr>
          <p:cNvPr id="100" name="Shape 98"/>
          <p:cNvSpPr/>
          <p:nvPr/>
        </p:nvSpPr>
        <p:spPr>
          <a:xfrm>
            <a:off x="3401568" y="4681728"/>
            <a:ext cx="530352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447288" y="4727448"/>
            <a:ext cx="4389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950" dirty="0"/>
          </a:p>
        </p:txBody>
      </p:sp>
      <p:sp>
        <p:nvSpPr>
          <p:cNvPr id="102" name="Shape 100"/>
          <p:cNvSpPr/>
          <p:nvPr/>
        </p:nvSpPr>
        <p:spPr>
          <a:xfrm>
            <a:off x="3931920" y="4681728"/>
            <a:ext cx="530352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977640" y="4727448"/>
            <a:ext cx="4389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950" dirty="0"/>
          </a:p>
        </p:txBody>
      </p:sp>
      <p:sp>
        <p:nvSpPr>
          <p:cNvPr id="104" name="Shape 102"/>
          <p:cNvSpPr/>
          <p:nvPr/>
        </p:nvSpPr>
        <p:spPr>
          <a:xfrm>
            <a:off x="4462272" y="4681728"/>
            <a:ext cx="2670048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507992" y="4727448"/>
            <a:ext cx="257860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Work+AEX Detail</a:t>
            </a:r>
            <a:endParaRPr lang="ko-KR" sz="950" dirty="0"/>
          </a:p>
        </p:txBody>
      </p:sp>
      <p:sp>
        <p:nvSpPr>
          <p:cNvPr id="106" name="Shape 104"/>
          <p:cNvSpPr/>
          <p:nvPr/>
        </p:nvSpPr>
        <p:spPr>
          <a:xfrm>
            <a:off x="420624" y="4956048"/>
            <a:ext cx="192024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66344" y="5001768"/>
            <a:ext cx="1828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없음</a:t>
            </a:r>
            <a:endParaRPr lang="ko-KR" sz="950" dirty="0"/>
          </a:p>
        </p:txBody>
      </p:sp>
      <p:sp>
        <p:nvSpPr>
          <p:cNvPr id="108" name="Shape 106"/>
          <p:cNvSpPr/>
          <p:nvPr/>
        </p:nvSpPr>
        <p:spPr>
          <a:xfrm>
            <a:off x="2340864" y="4956048"/>
            <a:ext cx="530352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386584" y="5001768"/>
            <a:ext cx="4389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950" dirty="0"/>
          </a:p>
        </p:txBody>
      </p:sp>
      <p:sp>
        <p:nvSpPr>
          <p:cNvPr id="110" name="Shape 108"/>
          <p:cNvSpPr/>
          <p:nvPr/>
        </p:nvSpPr>
        <p:spPr>
          <a:xfrm>
            <a:off x="2871216" y="4956048"/>
            <a:ext cx="530352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916936" y="5001768"/>
            <a:ext cx="4389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950" dirty="0"/>
          </a:p>
        </p:txBody>
      </p:sp>
      <p:sp>
        <p:nvSpPr>
          <p:cNvPr id="112" name="Shape 110"/>
          <p:cNvSpPr/>
          <p:nvPr/>
        </p:nvSpPr>
        <p:spPr>
          <a:xfrm>
            <a:off x="3401568" y="4956048"/>
            <a:ext cx="530352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447288" y="5001768"/>
            <a:ext cx="4389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950" dirty="0"/>
          </a:p>
        </p:txBody>
      </p:sp>
      <p:sp>
        <p:nvSpPr>
          <p:cNvPr id="114" name="Shape 112"/>
          <p:cNvSpPr/>
          <p:nvPr/>
        </p:nvSpPr>
        <p:spPr>
          <a:xfrm>
            <a:off x="3931920" y="4956048"/>
            <a:ext cx="530352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977640" y="5001768"/>
            <a:ext cx="4389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950" dirty="0"/>
          </a:p>
        </p:txBody>
      </p:sp>
      <p:sp>
        <p:nvSpPr>
          <p:cNvPr id="116" name="Shape 114"/>
          <p:cNvSpPr/>
          <p:nvPr/>
        </p:nvSpPr>
        <p:spPr>
          <a:xfrm>
            <a:off x="4462272" y="4956048"/>
            <a:ext cx="2670048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507992" y="5001768"/>
            <a:ext cx="257860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변경 없음</a:t>
            </a:r>
            <a:endParaRPr lang="ko-KR" sz="950" dirty="0"/>
          </a:p>
        </p:txBody>
      </p:sp>
      <p:sp>
        <p:nvSpPr>
          <p:cNvPr id="118" name="Shape 116"/>
          <p:cNvSpPr/>
          <p:nvPr/>
        </p:nvSpPr>
        <p:spPr>
          <a:xfrm>
            <a:off x="7315200" y="3291840"/>
            <a:ext cx="4453128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406640" y="3291840"/>
            <a:ext cx="427024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규칙</a:t>
            </a:r>
            <a:endParaRPr lang="ko-KR" sz="1000" dirty="0"/>
          </a:p>
        </p:txBody>
      </p:sp>
      <p:sp>
        <p:nvSpPr>
          <p:cNvPr id="120" name="Shape 118"/>
          <p:cNvSpPr/>
          <p:nvPr/>
        </p:nvSpPr>
        <p:spPr>
          <a:xfrm>
            <a:off x="7315200" y="3584448"/>
            <a:ext cx="4453128" cy="1362547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424928" y="3657600"/>
            <a:ext cx="4233672" cy="1216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예약일 변경 후 비대상이면 변경을 저장하지 않고 기존 예약을 유지한다.</a:t>
            </a:r>
            <a:endParaRPr lang="ko-KR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새 NEX와 기존/요청 AEX가 충돌하면 유효하게 재선택한 뒤 저장한다.</a:t>
            </a:r>
            <a:endParaRPr lang="ko-KR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시간대만 변경한 경우 TGT/NEX/AEX를 재검증하거나 재작성하지 않는다.</a:t>
            </a:r>
            <a:endParaRPr lang="ko-KR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AEX 실제 변경은 Work Aggregate 변경으로 처리해 Work의 동시성 토큰도 갱신</a:t>
            </a:r>
            <a:endParaRPr lang="ko-KR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ko-KR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AEX 집합이 동일하면 Detail과 Work를 불필요하게 갱신하지 않는다.</a:t>
            </a:r>
            <a:endParaRPr lang="ko-KR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일정·중복 검증에서 현재 WorkId는 제외하며, 자기 자신 때문에 다른 유효예약으</a:t>
            </a:r>
            <a:endParaRPr lang="ko-KR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차단되지 않아야 한다.</a:t>
            </a:r>
            <a:endParaRPr lang="ko-KR" sz="900" dirty="0"/>
          </a:p>
        </p:txBody>
      </p:sp>
      <p:sp>
        <p:nvSpPr>
          <p:cNvPr id="122" name="Shape 120"/>
          <p:cNvSpPr/>
          <p:nvPr/>
        </p:nvSpPr>
        <p:spPr>
          <a:xfrm>
            <a:off x="420624" y="5431536"/>
            <a:ext cx="11347704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12064" y="5431536"/>
            <a:ext cx="1116482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 변경 영향 재검증   —   유효한 경우만 저장한다</a:t>
            </a:r>
            <a:endParaRPr lang="ko-KR" sz="1000" dirty="0"/>
          </a:p>
        </p:txBody>
      </p:sp>
      <p:sp>
        <p:nvSpPr>
          <p:cNvPr id="124" name="Shape 122"/>
          <p:cNvSpPr/>
          <p:nvPr/>
        </p:nvSpPr>
        <p:spPr>
          <a:xfrm>
            <a:off x="420624" y="5742432"/>
            <a:ext cx="1753819" cy="40233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20624" y="5742432"/>
            <a:ext cx="1753819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 변경</a:t>
            </a:r>
            <a:endParaRPr lang="ko-KR" sz="900" dirty="0"/>
          </a:p>
        </p:txBody>
      </p:sp>
      <p:sp>
        <p:nvSpPr>
          <p:cNvPr id="126" name="Shape 124"/>
          <p:cNvSpPr/>
          <p:nvPr/>
        </p:nvSpPr>
        <p:spPr>
          <a:xfrm>
            <a:off x="2339035" y="5742432"/>
            <a:ext cx="1753819" cy="40233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339035" y="5742432"/>
            <a:ext cx="1753819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일정검증</a:t>
            </a:r>
            <a:endParaRPr lang="ko-KR" sz="900" dirty="0"/>
          </a:p>
        </p:txBody>
      </p:sp>
      <p:sp>
        <p:nvSpPr>
          <p:cNvPr id="128" name="Shape 126"/>
          <p:cNvSpPr/>
          <p:nvPr/>
        </p:nvSpPr>
        <p:spPr>
          <a:xfrm>
            <a:off x="2192731" y="5943600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29" name="Shape 127"/>
          <p:cNvSpPr/>
          <p:nvPr/>
        </p:nvSpPr>
        <p:spPr>
          <a:xfrm>
            <a:off x="4257446" y="5742432"/>
            <a:ext cx="1753819" cy="40233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257446" y="5742432"/>
            <a:ext cx="1753819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TGT 재판정</a:t>
            </a:r>
            <a:endParaRPr lang="ko-KR" sz="900" dirty="0"/>
          </a:p>
        </p:txBody>
      </p:sp>
      <p:sp>
        <p:nvSpPr>
          <p:cNvPr id="131" name="Shape 129"/>
          <p:cNvSpPr/>
          <p:nvPr/>
        </p:nvSpPr>
        <p:spPr>
          <a:xfrm>
            <a:off x="4111142" y="5943600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32" name="Shape 130"/>
          <p:cNvSpPr/>
          <p:nvPr/>
        </p:nvSpPr>
        <p:spPr>
          <a:xfrm>
            <a:off x="6175858" y="5742432"/>
            <a:ext cx="1753819" cy="40233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175858" y="5742432"/>
            <a:ext cx="1753819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 재구성</a:t>
            </a:r>
            <a:endParaRPr lang="ko-KR" sz="900" dirty="0"/>
          </a:p>
        </p:txBody>
      </p:sp>
      <p:sp>
        <p:nvSpPr>
          <p:cNvPr id="134" name="Shape 132"/>
          <p:cNvSpPr/>
          <p:nvPr/>
        </p:nvSpPr>
        <p:spPr>
          <a:xfrm>
            <a:off x="6029554" y="5943600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35" name="Shape 133"/>
          <p:cNvSpPr/>
          <p:nvPr/>
        </p:nvSpPr>
        <p:spPr>
          <a:xfrm>
            <a:off x="8094269" y="5742432"/>
            <a:ext cx="1753819" cy="40233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094269" y="5742432"/>
            <a:ext cx="1753819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AEX 재검증</a:t>
            </a:r>
            <a:endParaRPr lang="ko-KR" sz="900" dirty="0"/>
          </a:p>
        </p:txBody>
      </p:sp>
      <p:sp>
        <p:nvSpPr>
          <p:cNvPr id="137" name="Shape 135"/>
          <p:cNvSpPr/>
          <p:nvPr/>
        </p:nvSpPr>
        <p:spPr>
          <a:xfrm>
            <a:off x="7947965" y="5943600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38" name="Shape 136"/>
          <p:cNvSpPr/>
          <p:nvPr/>
        </p:nvSpPr>
        <p:spPr>
          <a:xfrm>
            <a:off x="10012680" y="5742432"/>
            <a:ext cx="1753819" cy="40233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0012680" y="5742432"/>
            <a:ext cx="1753819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유효한 경우만 저장</a:t>
            </a:r>
            <a:endParaRPr lang="ko-KR" sz="900" dirty="0"/>
          </a:p>
        </p:txBody>
      </p:sp>
      <p:sp>
        <p:nvSpPr>
          <p:cNvPr id="140" name="Shape 138"/>
          <p:cNvSpPr/>
          <p:nvPr/>
        </p:nvSpPr>
        <p:spPr>
          <a:xfrm>
            <a:off x="9866376" y="5943600"/>
            <a:ext cx="1188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4770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P02-05  예약 조회   ·   P02-07  예약 취소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420624" y="6382512"/>
            <a:ext cx="1134770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정책: P02-05 CP-05, 상태 해석 / P02-07 CP-05, RP-10</a:t>
            </a:r>
            <a:endParaRPr lang="ko-KR" sz="900" dirty="0"/>
          </a:p>
        </p:txBody>
      </p:sp>
      <p:sp>
        <p:nvSpPr>
          <p:cNvPr id="4" name="Shape 2"/>
          <p:cNvSpPr/>
          <p:nvPr/>
        </p:nvSpPr>
        <p:spPr>
          <a:xfrm>
            <a:off x="420624" y="987552"/>
            <a:ext cx="5394960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987552"/>
            <a:ext cx="52120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P02-05  예약 조회</a:t>
            </a:r>
            <a:endParaRPr lang="ko-KR" sz="1000" dirty="0"/>
          </a:p>
        </p:txBody>
      </p:sp>
      <p:sp>
        <p:nvSpPr>
          <p:cNvPr id="6" name="Shape 4"/>
          <p:cNvSpPr/>
          <p:nvPr/>
        </p:nvSpPr>
        <p:spPr>
          <a:xfrm>
            <a:off x="420624" y="1298448"/>
            <a:ext cx="118872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298448"/>
            <a:ext cx="118872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조회 시작</a:t>
            </a:r>
            <a:endParaRPr lang="ko-KR" sz="800" dirty="0"/>
          </a:p>
        </p:txBody>
      </p:sp>
      <p:sp>
        <p:nvSpPr>
          <p:cNvPr id="8" name="Shape 6"/>
          <p:cNvSpPr/>
          <p:nvPr/>
        </p:nvSpPr>
        <p:spPr>
          <a:xfrm>
            <a:off x="452628" y="1330452"/>
            <a:ext cx="1124712" cy="448056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19656" y="1298448"/>
            <a:ext cx="1188720" cy="51206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19656" y="1298448"/>
            <a:ext cx="118872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조회조건 입력</a:t>
            </a:r>
            <a:endParaRPr lang="ko-KR" sz="800" dirty="0"/>
          </a:p>
        </p:txBody>
      </p:sp>
      <p:sp>
        <p:nvSpPr>
          <p:cNvPr id="11" name="Shape 9"/>
          <p:cNvSpPr/>
          <p:nvPr/>
        </p:nvSpPr>
        <p:spPr>
          <a:xfrm>
            <a:off x="3218688" y="1298448"/>
            <a:ext cx="1188720" cy="51206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298448"/>
            <a:ext cx="118872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예약·접수 공통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업무내역 조회</a:t>
            </a:r>
            <a:endParaRPr lang="ko-KR" sz="800" dirty="0"/>
          </a:p>
        </p:txBody>
      </p:sp>
      <p:sp>
        <p:nvSpPr>
          <p:cNvPr id="13" name="Shape 11"/>
          <p:cNvSpPr/>
          <p:nvPr/>
        </p:nvSpPr>
        <p:spPr>
          <a:xfrm>
            <a:off x="4617720" y="1298448"/>
            <a:ext cx="1188720" cy="512064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298448"/>
            <a:ext cx="118872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존재?</a:t>
            </a:r>
            <a:endParaRPr lang="ko-KR" sz="800" dirty="0"/>
          </a:p>
        </p:txBody>
      </p:sp>
      <p:sp>
        <p:nvSpPr>
          <p:cNvPr id="15" name="Shape 13"/>
          <p:cNvSpPr/>
          <p:nvPr/>
        </p:nvSpPr>
        <p:spPr>
          <a:xfrm>
            <a:off x="1819656" y="2029968"/>
            <a:ext cx="118872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19656" y="2029968"/>
            <a:ext cx="118872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결과 없음</a:t>
            </a:r>
            <a:endParaRPr lang="ko-KR" sz="800" dirty="0"/>
          </a:p>
        </p:txBody>
      </p:sp>
      <p:sp>
        <p:nvSpPr>
          <p:cNvPr id="17" name="Shape 15"/>
          <p:cNvSpPr/>
          <p:nvPr/>
        </p:nvSpPr>
        <p:spPr>
          <a:xfrm>
            <a:off x="1851660" y="2061972"/>
            <a:ext cx="1124712" cy="448056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8688" y="2029968"/>
            <a:ext cx="118872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8688" y="2029968"/>
            <a:ext cx="118872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완료</a:t>
            </a:r>
            <a:endParaRPr lang="ko-KR" sz="800" dirty="0"/>
          </a:p>
        </p:txBody>
      </p:sp>
      <p:sp>
        <p:nvSpPr>
          <p:cNvPr id="20" name="Shape 18"/>
          <p:cNvSpPr/>
          <p:nvPr/>
        </p:nvSpPr>
        <p:spPr>
          <a:xfrm>
            <a:off x="3250692" y="2061972"/>
            <a:ext cx="1124712" cy="448056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2029968"/>
            <a:ext cx="1188720" cy="51206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029968"/>
            <a:ext cx="118872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건 선택 /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확인</a:t>
            </a:r>
            <a:endParaRPr lang="ko-KR" sz="800" dirty="0"/>
          </a:p>
        </p:txBody>
      </p:sp>
      <p:sp>
        <p:nvSpPr>
          <p:cNvPr id="23" name="Shape 21"/>
          <p:cNvSpPr/>
          <p:nvPr/>
        </p:nvSpPr>
        <p:spPr>
          <a:xfrm>
            <a:off x="1609344" y="1554480"/>
            <a:ext cx="18288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008376" y="1554480"/>
            <a:ext cx="18288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407408" y="1554480"/>
            <a:ext cx="18288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212080" y="1810512"/>
            <a:ext cx="0" cy="19202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308004" y="1843527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8004" y="1843527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29" name="Shape 27"/>
          <p:cNvSpPr/>
          <p:nvPr/>
        </p:nvSpPr>
        <p:spPr>
          <a:xfrm flipH="1">
            <a:off x="4434840" y="2286000"/>
            <a:ext cx="18288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64608" y="1810512"/>
            <a:ext cx="0" cy="10058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31" name="Shape 29"/>
          <p:cNvSpPr/>
          <p:nvPr/>
        </p:nvSpPr>
        <p:spPr>
          <a:xfrm flipH="1">
            <a:off x="2414016" y="1911096"/>
            <a:ext cx="245059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2414016" y="1911096"/>
            <a:ext cx="0" cy="9144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664752" y="1834383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64752" y="1834383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35" name="Shape 33"/>
          <p:cNvSpPr/>
          <p:nvPr/>
        </p:nvSpPr>
        <p:spPr>
          <a:xfrm>
            <a:off x="6089904" y="987552"/>
            <a:ext cx="5678424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81344" y="987552"/>
            <a:ext cx="549554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P02-07  예약 취소</a:t>
            </a:r>
            <a:endParaRPr lang="ko-KR" sz="1000" dirty="0"/>
          </a:p>
        </p:txBody>
      </p:sp>
      <p:sp>
        <p:nvSpPr>
          <p:cNvPr id="37" name="Shape 35"/>
          <p:cNvSpPr/>
          <p:nvPr/>
        </p:nvSpPr>
        <p:spPr>
          <a:xfrm>
            <a:off x="6089904" y="1298448"/>
            <a:ext cx="118872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9904" y="1298448"/>
            <a:ext cx="118872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취소 시작</a:t>
            </a:r>
            <a:endParaRPr lang="ko-KR" sz="800" dirty="0"/>
          </a:p>
        </p:txBody>
      </p:sp>
      <p:sp>
        <p:nvSpPr>
          <p:cNvPr id="39" name="Shape 37"/>
          <p:cNvSpPr/>
          <p:nvPr/>
        </p:nvSpPr>
        <p:spPr>
          <a:xfrm>
            <a:off x="6121908" y="1330452"/>
            <a:ext cx="1124712" cy="448056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71232" y="1298448"/>
            <a:ext cx="1188720" cy="51206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71232" y="1298448"/>
            <a:ext cx="118872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P02-05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조회</a:t>
            </a:r>
            <a:endParaRPr lang="ko-KR" sz="800" dirty="0"/>
          </a:p>
        </p:txBody>
      </p:sp>
      <p:sp>
        <p:nvSpPr>
          <p:cNvPr id="42" name="Shape 40"/>
          <p:cNvSpPr/>
          <p:nvPr/>
        </p:nvSpPr>
        <p:spPr>
          <a:xfrm>
            <a:off x="7626096" y="1298448"/>
            <a:ext cx="0" cy="512064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8705088" y="1298448"/>
            <a:ext cx="0" cy="512064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9052560" y="1298448"/>
            <a:ext cx="1188720" cy="512064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52560" y="1298448"/>
            <a:ext cx="118872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대상 선택?</a:t>
            </a:r>
            <a:endParaRPr lang="ko-KR" sz="800" dirty="0"/>
          </a:p>
        </p:txBody>
      </p:sp>
      <p:sp>
        <p:nvSpPr>
          <p:cNvPr id="46" name="Shape 44"/>
          <p:cNvSpPr/>
          <p:nvPr/>
        </p:nvSpPr>
        <p:spPr>
          <a:xfrm>
            <a:off x="10533888" y="1298448"/>
            <a:ext cx="118872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533888" y="1298448"/>
            <a:ext cx="118872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대상 없음</a:t>
            </a:r>
            <a:endParaRPr lang="ko-KR" sz="800" dirty="0"/>
          </a:p>
        </p:txBody>
      </p:sp>
      <p:sp>
        <p:nvSpPr>
          <p:cNvPr id="48" name="Shape 46"/>
          <p:cNvSpPr/>
          <p:nvPr/>
        </p:nvSpPr>
        <p:spPr>
          <a:xfrm>
            <a:off x="10565892" y="1330452"/>
            <a:ext cx="1124712" cy="448056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89904" y="2029968"/>
            <a:ext cx="1188720" cy="512064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89904" y="2029968"/>
            <a:ext cx="118872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진행?</a:t>
            </a:r>
            <a:endParaRPr lang="ko-KR" sz="800" dirty="0"/>
          </a:p>
        </p:txBody>
      </p:sp>
      <p:sp>
        <p:nvSpPr>
          <p:cNvPr id="51" name="Shape 49"/>
          <p:cNvSpPr/>
          <p:nvPr/>
        </p:nvSpPr>
        <p:spPr>
          <a:xfrm>
            <a:off x="7571232" y="2029968"/>
            <a:ext cx="1188720" cy="51206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1232" y="2029968"/>
            <a:ext cx="118872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취소 확인</a:t>
            </a:r>
            <a:endParaRPr lang="ko-KR" sz="800" dirty="0"/>
          </a:p>
        </p:txBody>
      </p:sp>
      <p:sp>
        <p:nvSpPr>
          <p:cNvPr id="53" name="Shape 51"/>
          <p:cNvSpPr/>
          <p:nvPr/>
        </p:nvSpPr>
        <p:spPr>
          <a:xfrm>
            <a:off x="9052560" y="2029968"/>
            <a:ext cx="1188720" cy="512064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52560" y="2029968"/>
            <a:ext cx="118872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 = RSV?</a:t>
            </a:r>
            <a:endParaRPr lang="ko-KR" sz="800" dirty="0"/>
          </a:p>
        </p:txBody>
      </p:sp>
      <p:sp>
        <p:nvSpPr>
          <p:cNvPr id="55" name="Shape 53"/>
          <p:cNvSpPr/>
          <p:nvPr/>
        </p:nvSpPr>
        <p:spPr>
          <a:xfrm>
            <a:off x="10533888" y="2029968"/>
            <a:ext cx="118872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533888" y="2029968"/>
            <a:ext cx="118872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취소 불가</a:t>
            </a:r>
            <a:endParaRPr lang="ko-KR" sz="800" dirty="0"/>
          </a:p>
        </p:txBody>
      </p:sp>
      <p:sp>
        <p:nvSpPr>
          <p:cNvPr id="57" name="Shape 55"/>
          <p:cNvSpPr/>
          <p:nvPr/>
        </p:nvSpPr>
        <p:spPr>
          <a:xfrm>
            <a:off x="10565892" y="2061972"/>
            <a:ext cx="1124712" cy="448056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089904" y="2761488"/>
            <a:ext cx="118872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89904" y="2761488"/>
            <a:ext cx="118872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취소 중단</a:t>
            </a:r>
            <a:endParaRPr lang="ko-KR" sz="800" dirty="0"/>
          </a:p>
        </p:txBody>
      </p:sp>
      <p:sp>
        <p:nvSpPr>
          <p:cNvPr id="60" name="Shape 58"/>
          <p:cNvSpPr/>
          <p:nvPr/>
        </p:nvSpPr>
        <p:spPr>
          <a:xfrm>
            <a:off x="6121908" y="2793492"/>
            <a:ext cx="1124712" cy="448056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571232" y="2761488"/>
            <a:ext cx="1188720" cy="51206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71232" y="2761488"/>
            <a:ext cx="118872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동시성·현재상태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최종검증</a:t>
            </a:r>
            <a:endParaRPr lang="ko-KR" sz="800" dirty="0"/>
          </a:p>
        </p:txBody>
      </p:sp>
      <p:sp>
        <p:nvSpPr>
          <p:cNvPr id="63" name="Shape 61"/>
          <p:cNvSpPr/>
          <p:nvPr/>
        </p:nvSpPr>
        <p:spPr>
          <a:xfrm>
            <a:off x="9052560" y="2761488"/>
            <a:ext cx="1188720" cy="51206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052560" y="2761488"/>
            <a:ext cx="118872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업무 행을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CNR로 변경</a:t>
            </a:r>
            <a:endParaRPr lang="ko-KR" sz="800" dirty="0"/>
          </a:p>
        </p:txBody>
      </p:sp>
      <p:sp>
        <p:nvSpPr>
          <p:cNvPr id="65" name="Shape 63"/>
          <p:cNvSpPr/>
          <p:nvPr/>
        </p:nvSpPr>
        <p:spPr>
          <a:xfrm>
            <a:off x="10533888" y="2761488"/>
            <a:ext cx="1188720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533888" y="2761488"/>
            <a:ext cx="118872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취소 완료</a:t>
            </a:r>
            <a:endParaRPr lang="ko-KR" sz="800" dirty="0"/>
          </a:p>
        </p:txBody>
      </p:sp>
      <p:sp>
        <p:nvSpPr>
          <p:cNvPr id="67" name="Shape 65"/>
          <p:cNvSpPr/>
          <p:nvPr/>
        </p:nvSpPr>
        <p:spPr>
          <a:xfrm>
            <a:off x="10565892" y="2793492"/>
            <a:ext cx="1124712" cy="448056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278624" y="1554480"/>
            <a:ext cx="26517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8759952" y="1554480"/>
            <a:ext cx="26517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10241280" y="1554480"/>
            <a:ext cx="26517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10272560" y="1477767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272560" y="1477767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73" name="Shape 71"/>
          <p:cNvSpPr/>
          <p:nvPr/>
        </p:nvSpPr>
        <p:spPr>
          <a:xfrm>
            <a:off x="9646920" y="1810512"/>
            <a:ext cx="0" cy="19202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9742844" y="1843527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742844" y="1843527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76" name="Shape 74"/>
          <p:cNvSpPr/>
          <p:nvPr/>
        </p:nvSpPr>
        <p:spPr>
          <a:xfrm>
            <a:off x="10241280" y="2286000"/>
            <a:ext cx="26517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10272560" y="2209287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272560" y="2209287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79" name="Shape 77"/>
          <p:cNvSpPr/>
          <p:nvPr/>
        </p:nvSpPr>
        <p:spPr>
          <a:xfrm flipH="1">
            <a:off x="8787384" y="2286000"/>
            <a:ext cx="26517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8782724" y="2209287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782724" y="2209287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82" name="Shape 80"/>
          <p:cNvSpPr/>
          <p:nvPr/>
        </p:nvSpPr>
        <p:spPr>
          <a:xfrm flipH="1">
            <a:off x="7306056" y="2286000"/>
            <a:ext cx="26517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6684264" y="2542032"/>
            <a:ext cx="0" cy="19202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6349784" y="2575047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49784" y="2575047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86" name="Shape 84"/>
          <p:cNvSpPr/>
          <p:nvPr/>
        </p:nvSpPr>
        <p:spPr>
          <a:xfrm>
            <a:off x="7031736" y="2542032"/>
            <a:ext cx="0" cy="10058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7031736" y="2642616"/>
            <a:ext cx="113385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8165592" y="2642616"/>
            <a:ext cx="0" cy="9144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7164236" y="2565903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64236" y="2565903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91" name="Shape 89"/>
          <p:cNvSpPr/>
          <p:nvPr/>
        </p:nvSpPr>
        <p:spPr>
          <a:xfrm>
            <a:off x="8759952" y="3017520"/>
            <a:ext cx="26517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10241280" y="3017520"/>
            <a:ext cx="26517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420624" y="3529584"/>
            <a:ext cx="11347704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12064" y="3529584"/>
            <a:ext cx="1116482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조회   —   P02-05는 P03-04와 동일한 업무 데이터를 조회하며 실제 Form/SP를 공유한다.</a:t>
            </a:r>
            <a:endParaRPr lang="ko-KR" sz="1000" dirty="0"/>
          </a:p>
        </p:txBody>
      </p:sp>
      <p:sp>
        <p:nvSpPr>
          <p:cNvPr id="95" name="Shape 93"/>
          <p:cNvSpPr/>
          <p:nvPr/>
        </p:nvSpPr>
        <p:spPr>
          <a:xfrm>
            <a:off x="1005840" y="3877056"/>
            <a:ext cx="2377440" cy="42062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005840" y="3877056"/>
            <a:ext cx="237744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P02-05  예약 조회</a:t>
            </a:r>
            <a:endParaRPr lang="ko-KR" sz="1000" dirty="0"/>
          </a:p>
        </p:txBody>
      </p:sp>
      <p:sp>
        <p:nvSpPr>
          <p:cNvPr id="97" name="Shape 95"/>
          <p:cNvSpPr/>
          <p:nvPr/>
        </p:nvSpPr>
        <p:spPr>
          <a:xfrm>
            <a:off x="1005840" y="4480560"/>
            <a:ext cx="2377440" cy="42062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05840" y="4480560"/>
            <a:ext cx="237744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P03-04  접수 조회</a:t>
            </a:r>
            <a:endParaRPr lang="ko-KR" sz="1000" dirty="0"/>
          </a:p>
        </p:txBody>
      </p:sp>
      <p:sp>
        <p:nvSpPr>
          <p:cNvPr id="99" name="Shape 97"/>
          <p:cNvSpPr/>
          <p:nvPr/>
        </p:nvSpPr>
        <p:spPr>
          <a:xfrm>
            <a:off x="4297680" y="3986784"/>
            <a:ext cx="3566160" cy="804672"/>
          </a:xfrm>
          <a:prstGeom prst="rect">
            <a:avLst/>
          </a:prstGeom>
          <a:ln w="25400">
            <a:solidFill>
              <a:srgbClr val="1F386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297680" y="3986784"/>
            <a:ext cx="3566160" cy="8046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예약·접수 공통 업무내역 조회</a:t>
            </a:r>
            <a:endParaRPr lang="ko-KR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Form / SP 공유</a:t>
            </a:r>
            <a:endParaRPr lang="ko-KR" sz="1000" dirty="0"/>
          </a:p>
        </p:txBody>
      </p:sp>
      <p:sp>
        <p:nvSpPr>
          <p:cNvPr id="101" name="Shape 99"/>
          <p:cNvSpPr/>
          <p:nvPr/>
        </p:nvSpPr>
        <p:spPr>
          <a:xfrm>
            <a:off x="3383280" y="4087368"/>
            <a:ext cx="54864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02" name="Shape 100"/>
          <p:cNvSpPr/>
          <p:nvPr/>
        </p:nvSpPr>
        <p:spPr>
          <a:xfrm>
            <a:off x="3931920" y="4087368"/>
            <a:ext cx="0" cy="30175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03" name="Shape 101"/>
          <p:cNvSpPr/>
          <p:nvPr/>
        </p:nvSpPr>
        <p:spPr>
          <a:xfrm>
            <a:off x="3931920" y="4389120"/>
            <a:ext cx="33832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>
            <a:off x="3383280" y="4690872"/>
            <a:ext cx="54864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05" name="Shape 103"/>
          <p:cNvSpPr/>
          <p:nvPr/>
        </p:nvSpPr>
        <p:spPr>
          <a:xfrm flipV="1">
            <a:off x="3931920" y="4389120"/>
            <a:ext cx="0" cy="30175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06" name="Shape 104"/>
          <p:cNvSpPr/>
          <p:nvPr/>
        </p:nvSpPr>
        <p:spPr>
          <a:xfrm>
            <a:off x="3931920" y="4389120"/>
            <a:ext cx="33832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8778240" y="3877056"/>
            <a:ext cx="2990088" cy="42062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778240" y="3877056"/>
            <a:ext cx="2990088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= 예약  →  예약 Ribbon Action</a:t>
            </a:r>
            <a:endParaRPr lang="ko-KR" sz="1000" dirty="0"/>
          </a:p>
        </p:txBody>
      </p:sp>
      <p:sp>
        <p:nvSpPr>
          <p:cNvPr id="109" name="Shape 107"/>
          <p:cNvSpPr/>
          <p:nvPr/>
        </p:nvSpPr>
        <p:spPr>
          <a:xfrm>
            <a:off x="8778240" y="4480560"/>
            <a:ext cx="2990088" cy="420624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778240" y="4480560"/>
            <a:ext cx="2990088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= 접수  →  접수 Ribbon Action</a:t>
            </a:r>
            <a:endParaRPr lang="ko-KR" sz="1000" dirty="0"/>
          </a:p>
        </p:txBody>
      </p:sp>
      <p:sp>
        <p:nvSpPr>
          <p:cNvPr id="111" name="Shape 109"/>
          <p:cNvSpPr/>
          <p:nvPr/>
        </p:nvSpPr>
        <p:spPr>
          <a:xfrm>
            <a:off x="7863840" y="4389120"/>
            <a:ext cx="54864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12" name="Shape 110"/>
          <p:cNvSpPr/>
          <p:nvPr/>
        </p:nvSpPr>
        <p:spPr>
          <a:xfrm flipV="1">
            <a:off x="8412480" y="4087368"/>
            <a:ext cx="0" cy="30175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13" name="Shape 111"/>
          <p:cNvSpPr/>
          <p:nvPr/>
        </p:nvSpPr>
        <p:spPr>
          <a:xfrm>
            <a:off x="8412480" y="4087368"/>
            <a:ext cx="33832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14" name="Shape 112"/>
          <p:cNvSpPr/>
          <p:nvPr/>
        </p:nvSpPr>
        <p:spPr>
          <a:xfrm>
            <a:off x="7863840" y="4389120"/>
            <a:ext cx="54864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15" name="Shape 113"/>
          <p:cNvSpPr/>
          <p:nvPr/>
        </p:nvSpPr>
        <p:spPr>
          <a:xfrm>
            <a:off x="8412480" y="4389120"/>
            <a:ext cx="0" cy="30175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16" name="Shape 114"/>
          <p:cNvSpPr/>
          <p:nvPr/>
        </p:nvSpPr>
        <p:spPr>
          <a:xfrm>
            <a:off x="8412480" y="4690872"/>
            <a:ext cx="33832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17" name="Shape 115"/>
          <p:cNvSpPr/>
          <p:nvPr/>
        </p:nvSpPr>
        <p:spPr>
          <a:xfrm>
            <a:off x="420624" y="5138928"/>
            <a:ext cx="5577840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12064" y="5138928"/>
            <a:ext cx="53949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P02-05  적용 규칙</a:t>
            </a:r>
            <a:endParaRPr lang="ko-KR" sz="1000" dirty="0"/>
          </a:p>
        </p:txBody>
      </p:sp>
      <p:sp>
        <p:nvSpPr>
          <p:cNvPr id="119" name="Shape 117"/>
          <p:cNvSpPr/>
          <p:nvPr/>
        </p:nvSpPr>
        <p:spPr>
          <a:xfrm>
            <a:off x="420624" y="5413248"/>
            <a:ext cx="5577840" cy="467257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30352" y="5486400"/>
            <a:ext cx="5358384" cy="32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RSV/RCP/CNR/CNC를 모두 조회할 수 있다.</a:t>
            </a:r>
            <a:endParaRPr lang="ko-KR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후속 변경·취소·접수는 WorkId로 최신 데이터를 다시 조회한 후 상태를 재판정한다.</a:t>
            </a:r>
            <a:endParaRPr lang="ko-KR" sz="950" dirty="0"/>
          </a:p>
        </p:txBody>
      </p:sp>
      <p:sp>
        <p:nvSpPr>
          <p:cNvPr id="121" name="Shape 119"/>
          <p:cNvSpPr/>
          <p:nvPr/>
        </p:nvSpPr>
        <p:spPr>
          <a:xfrm>
            <a:off x="6190488" y="5138928"/>
            <a:ext cx="5577840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281928" y="5138928"/>
            <a:ext cx="53949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P02-07  적용 규칙</a:t>
            </a:r>
            <a:endParaRPr lang="ko-KR" sz="1000" dirty="0"/>
          </a:p>
        </p:txBody>
      </p:sp>
      <p:sp>
        <p:nvSpPr>
          <p:cNvPr id="123" name="Shape 121"/>
          <p:cNvSpPr/>
          <p:nvPr/>
        </p:nvSpPr>
        <p:spPr>
          <a:xfrm>
            <a:off x="6190488" y="5413248"/>
            <a:ext cx="5577840" cy="467257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300216" y="5486400"/>
            <a:ext cx="5358384" cy="32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Work와 검사 Detail을 물리 삭제하지 않는다.</a:t>
            </a:r>
            <a:endParaRPr lang="ko-KR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취소 상태에서 복원하지 않는다. 재진행은 신규예약을 생성한다.</a:t>
            </a:r>
            <a:endParaRPr lang="ko-KR" sz="950" dirty="0"/>
          </a:p>
        </p:txBody>
      </p:sp>
      <p:sp>
        <p:nvSpPr>
          <p:cNvPr id="125" name="Shape 123"/>
          <p:cNvSpPr/>
          <p:nvPr/>
        </p:nvSpPr>
        <p:spPr>
          <a:xfrm>
            <a:off x="4206240" y="3895344"/>
            <a:ext cx="3749040" cy="987552"/>
          </a:xfrm>
          <a:prstGeom prst="rect">
            <a:avLst/>
          </a:prstGeom>
          <a:ln w="22225">
            <a:solidFill>
              <a:srgbClr val="FF00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4770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  접수 처리 · 접수 대상 확인 · 접수 가능조건 검증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420624" y="6382512"/>
            <a:ext cx="1134770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정책: P03-01 RCP-01, RCP-04, RP-08 / P03-02 CP-05, RP-05, RP-06, RCP-01 / P03-03 CP-01~04, HOL, RCP-02, RCP-03, 마감시간 정책</a:t>
            </a:r>
            <a:endParaRPr lang="ko-KR" sz="900" dirty="0"/>
          </a:p>
        </p:txBody>
      </p:sp>
      <p:sp>
        <p:nvSpPr>
          <p:cNvPr id="4" name="Shape 2"/>
          <p:cNvSpPr/>
          <p:nvPr/>
        </p:nvSpPr>
        <p:spPr>
          <a:xfrm>
            <a:off x="420624" y="969264"/>
            <a:ext cx="11347704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969264"/>
            <a:ext cx="1116482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P03-01  접수 처리</a:t>
            </a:r>
            <a:endParaRPr lang="ko-KR" sz="1000" dirty="0"/>
          </a:p>
        </p:txBody>
      </p:sp>
      <p:sp>
        <p:nvSpPr>
          <p:cNvPr id="6" name="Shape 4"/>
          <p:cNvSpPr/>
          <p:nvPr/>
        </p:nvSpPr>
        <p:spPr>
          <a:xfrm>
            <a:off x="420624" y="1261872"/>
            <a:ext cx="1472184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261872"/>
            <a:ext cx="147218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처리 시작</a:t>
            </a:r>
            <a:endParaRPr lang="ko-KR" sz="800" dirty="0"/>
          </a:p>
        </p:txBody>
      </p:sp>
      <p:sp>
        <p:nvSpPr>
          <p:cNvPr id="8" name="Shape 6"/>
          <p:cNvSpPr/>
          <p:nvPr/>
        </p:nvSpPr>
        <p:spPr>
          <a:xfrm>
            <a:off x="452628" y="1293876"/>
            <a:ext cx="1408176" cy="41148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61972" y="1261872"/>
            <a:ext cx="1472184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61972" y="1261872"/>
            <a:ext cx="147218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PatientId 또는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WorkId 전달됨?</a:t>
            </a:r>
            <a:endParaRPr lang="ko-KR" sz="800" dirty="0"/>
          </a:p>
        </p:txBody>
      </p:sp>
      <p:sp>
        <p:nvSpPr>
          <p:cNvPr id="11" name="Shape 9"/>
          <p:cNvSpPr/>
          <p:nvPr/>
        </p:nvSpPr>
        <p:spPr>
          <a:xfrm>
            <a:off x="3703320" y="1261872"/>
            <a:ext cx="1472184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261872"/>
            <a:ext cx="147218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P01-01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조회 및 확정</a:t>
            </a:r>
            <a:endParaRPr lang="ko-KR" sz="800" dirty="0"/>
          </a:p>
        </p:txBody>
      </p:sp>
      <p:sp>
        <p:nvSpPr>
          <p:cNvPr id="13" name="Shape 11"/>
          <p:cNvSpPr/>
          <p:nvPr/>
        </p:nvSpPr>
        <p:spPr>
          <a:xfrm>
            <a:off x="3758184" y="1261872"/>
            <a:ext cx="0" cy="475488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120640" y="1261872"/>
            <a:ext cx="0" cy="475488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344668" y="1261872"/>
            <a:ext cx="1472184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4668" y="1261872"/>
            <a:ext cx="147218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확정?</a:t>
            </a:r>
            <a:endParaRPr lang="ko-KR" sz="800" dirty="0"/>
          </a:p>
        </p:txBody>
      </p:sp>
      <p:sp>
        <p:nvSpPr>
          <p:cNvPr id="17" name="Shape 15"/>
          <p:cNvSpPr/>
          <p:nvPr/>
        </p:nvSpPr>
        <p:spPr>
          <a:xfrm>
            <a:off x="6986016" y="1261872"/>
            <a:ext cx="1472184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86016" y="1261872"/>
            <a:ext cx="147218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P03-02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대상 확인</a:t>
            </a:r>
            <a:endParaRPr lang="ko-KR" sz="800" dirty="0"/>
          </a:p>
        </p:txBody>
      </p:sp>
      <p:sp>
        <p:nvSpPr>
          <p:cNvPr id="19" name="Shape 17"/>
          <p:cNvSpPr/>
          <p:nvPr/>
        </p:nvSpPr>
        <p:spPr>
          <a:xfrm>
            <a:off x="7040880" y="1261872"/>
            <a:ext cx="0" cy="475488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403336" y="1261872"/>
            <a:ext cx="0" cy="475488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8627364" y="1261872"/>
            <a:ext cx="1472184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27364" y="1261872"/>
            <a:ext cx="147218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대상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WorkId 확정?</a:t>
            </a:r>
            <a:endParaRPr lang="ko-KR" sz="800" dirty="0"/>
          </a:p>
        </p:txBody>
      </p:sp>
      <p:sp>
        <p:nvSpPr>
          <p:cNvPr id="23" name="Shape 21"/>
          <p:cNvSpPr/>
          <p:nvPr/>
        </p:nvSpPr>
        <p:spPr>
          <a:xfrm>
            <a:off x="10268712" y="1261872"/>
            <a:ext cx="1472184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68712" y="1261872"/>
            <a:ext cx="147218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대상 없음 / 중단</a:t>
            </a:r>
            <a:endParaRPr lang="ko-KR" sz="800" dirty="0"/>
          </a:p>
        </p:txBody>
      </p:sp>
      <p:sp>
        <p:nvSpPr>
          <p:cNvPr id="25" name="Shape 23"/>
          <p:cNvSpPr/>
          <p:nvPr/>
        </p:nvSpPr>
        <p:spPr>
          <a:xfrm>
            <a:off x="10300716" y="1293876"/>
            <a:ext cx="1408176" cy="41148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" y="2103120"/>
            <a:ext cx="1472184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2103120"/>
            <a:ext cx="147218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예약정보·NEX·AEX 확인</a:t>
            </a:r>
            <a:endParaRPr lang="ko-KR" sz="800" dirty="0"/>
          </a:p>
        </p:txBody>
      </p:sp>
      <p:sp>
        <p:nvSpPr>
          <p:cNvPr id="28" name="Shape 26"/>
          <p:cNvSpPr/>
          <p:nvPr/>
        </p:nvSpPr>
        <p:spPr>
          <a:xfrm>
            <a:off x="2061972" y="2103120"/>
            <a:ext cx="1472184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61972" y="2103120"/>
            <a:ext cx="147218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P03-03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가능조건 검증</a:t>
            </a:r>
            <a:endParaRPr lang="ko-KR" sz="800" dirty="0"/>
          </a:p>
        </p:txBody>
      </p:sp>
      <p:sp>
        <p:nvSpPr>
          <p:cNvPr id="30" name="Shape 28"/>
          <p:cNvSpPr/>
          <p:nvPr/>
        </p:nvSpPr>
        <p:spPr>
          <a:xfrm>
            <a:off x="2116836" y="2103120"/>
            <a:ext cx="0" cy="475488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3479292" y="2103120"/>
            <a:ext cx="0" cy="475488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3703320" y="2103120"/>
            <a:ext cx="1472184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2103120"/>
            <a:ext cx="147218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가능?</a:t>
            </a:r>
            <a:endParaRPr lang="ko-KR" sz="800" dirty="0"/>
          </a:p>
        </p:txBody>
      </p:sp>
      <p:sp>
        <p:nvSpPr>
          <p:cNvPr id="34" name="Shape 32"/>
          <p:cNvSpPr/>
          <p:nvPr/>
        </p:nvSpPr>
        <p:spPr>
          <a:xfrm>
            <a:off x="5344668" y="2103120"/>
            <a:ext cx="1472184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4668" y="2103120"/>
            <a:ext cx="147218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상태·동시성 최종검증</a:t>
            </a:r>
            <a:endParaRPr lang="ko-KR" sz="800" dirty="0"/>
          </a:p>
        </p:txBody>
      </p:sp>
      <p:sp>
        <p:nvSpPr>
          <p:cNvPr id="36" name="Shape 34"/>
          <p:cNvSpPr/>
          <p:nvPr/>
        </p:nvSpPr>
        <p:spPr>
          <a:xfrm>
            <a:off x="6986016" y="2103120"/>
            <a:ext cx="1472184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86016" y="2103120"/>
            <a:ext cx="147218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Work 행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RSV→RCP 원자적 변경</a:t>
            </a:r>
            <a:endParaRPr lang="ko-KR" sz="800" dirty="0"/>
          </a:p>
        </p:txBody>
      </p:sp>
      <p:sp>
        <p:nvSpPr>
          <p:cNvPr id="38" name="Shape 36"/>
          <p:cNvSpPr/>
          <p:nvPr/>
        </p:nvSpPr>
        <p:spPr>
          <a:xfrm>
            <a:off x="8627364" y="2103120"/>
            <a:ext cx="1472184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27364" y="2103120"/>
            <a:ext cx="147218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완료</a:t>
            </a:r>
            <a:endParaRPr lang="ko-KR" sz="800" dirty="0"/>
          </a:p>
        </p:txBody>
      </p:sp>
      <p:sp>
        <p:nvSpPr>
          <p:cNvPr id="40" name="Shape 38"/>
          <p:cNvSpPr/>
          <p:nvPr/>
        </p:nvSpPr>
        <p:spPr>
          <a:xfrm>
            <a:off x="8659368" y="2135124"/>
            <a:ext cx="1408176" cy="41148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68712" y="2103120"/>
            <a:ext cx="1472184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68712" y="2103120"/>
            <a:ext cx="1472184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불가</a:t>
            </a:r>
            <a:endParaRPr lang="ko-KR" sz="800" dirty="0"/>
          </a:p>
        </p:txBody>
      </p:sp>
      <p:sp>
        <p:nvSpPr>
          <p:cNvPr id="43" name="Shape 41"/>
          <p:cNvSpPr/>
          <p:nvPr/>
        </p:nvSpPr>
        <p:spPr>
          <a:xfrm>
            <a:off x="10300716" y="2135124"/>
            <a:ext cx="1408176" cy="41148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92808" y="1499616"/>
            <a:ext cx="1417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534156" y="1499616"/>
            <a:ext cx="1417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3503714" y="1249167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47" name="Shape 45"/>
          <p:cNvSpPr/>
          <p:nvPr/>
        </p:nvSpPr>
        <p:spPr>
          <a:xfrm>
            <a:off x="5175504" y="1499616"/>
            <a:ext cx="1417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816852" y="1499616"/>
            <a:ext cx="1417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6777902" y="1249167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50" name="Shape 48"/>
          <p:cNvSpPr/>
          <p:nvPr/>
        </p:nvSpPr>
        <p:spPr>
          <a:xfrm>
            <a:off x="8458200" y="1499616"/>
            <a:ext cx="1417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0099548" y="1499616"/>
            <a:ext cx="1417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10069106" y="1249167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53" name="Shape 51"/>
          <p:cNvSpPr/>
          <p:nvPr/>
        </p:nvSpPr>
        <p:spPr>
          <a:xfrm>
            <a:off x="2798064" y="1737360"/>
            <a:ext cx="0" cy="14630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798064" y="1883664"/>
            <a:ext cx="4604004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 flipV="1">
            <a:off x="7402068" y="1764792"/>
            <a:ext cx="0" cy="11887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3058580" y="1806951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58580" y="1806951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58" name="Shape 56"/>
          <p:cNvSpPr/>
          <p:nvPr/>
        </p:nvSpPr>
        <p:spPr>
          <a:xfrm>
            <a:off x="6080760" y="1737360"/>
            <a:ext cx="0" cy="7315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080760" y="1810512"/>
            <a:ext cx="4924044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60" name="Shape 58"/>
          <p:cNvSpPr/>
          <p:nvPr/>
        </p:nvSpPr>
        <p:spPr>
          <a:xfrm flipV="1">
            <a:off x="11004804" y="1764792"/>
            <a:ext cx="0" cy="4572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6349784" y="1733799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49784" y="1733799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63" name="Shape 61"/>
          <p:cNvSpPr/>
          <p:nvPr/>
        </p:nvSpPr>
        <p:spPr>
          <a:xfrm>
            <a:off x="9363456" y="1737360"/>
            <a:ext cx="0" cy="25603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64" name="Shape 62"/>
          <p:cNvSpPr/>
          <p:nvPr/>
        </p:nvSpPr>
        <p:spPr>
          <a:xfrm flipH="1">
            <a:off x="1156716" y="1993392"/>
            <a:ext cx="820674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1156716" y="1993392"/>
            <a:ext cx="0" cy="82296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8691284" y="1916679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691284" y="1916679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68" name="Shape 66"/>
          <p:cNvSpPr/>
          <p:nvPr/>
        </p:nvSpPr>
        <p:spPr>
          <a:xfrm>
            <a:off x="1892808" y="2340864"/>
            <a:ext cx="1417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3534156" y="2340864"/>
            <a:ext cx="1417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5175504" y="2340864"/>
            <a:ext cx="1417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1" name="Text 69"/>
          <p:cNvSpPr/>
          <p:nvPr/>
        </p:nvSpPr>
        <p:spPr>
          <a:xfrm>
            <a:off x="5136554" y="2090415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72" name="Shape 70"/>
          <p:cNvSpPr/>
          <p:nvPr/>
        </p:nvSpPr>
        <p:spPr>
          <a:xfrm>
            <a:off x="6816852" y="2340864"/>
            <a:ext cx="1417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8458200" y="2340864"/>
            <a:ext cx="1417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 flipV="1">
            <a:off x="4439412" y="2048256"/>
            <a:ext cx="0" cy="5486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4439412" y="2048256"/>
            <a:ext cx="656539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11004804" y="2048256"/>
            <a:ext cx="0" cy="2743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4690148" y="1971543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690148" y="1971543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79" name="Shape 77"/>
          <p:cNvSpPr/>
          <p:nvPr/>
        </p:nvSpPr>
        <p:spPr>
          <a:xfrm>
            <a:off x="420624" y="2670048"/>
            <a:ext cx="11347704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12064" y="2670048"/>
            <a:ext cx="1116482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P03-02  접수 대상 확인   ·   당일 RSV 우선 · RCP는 중복접수로 차단 · 당일 업무가 없으면 WalkIn 당일예약 후 복귀</a:t>
            </a:r>
            <a:endParaRPr lang="ko-KR" sz="1000" dirty="0"/>
          </a:p>
        </p:txBody>
      </p:sp>
      <p:sp>
        <p:nvSpPr>
          <p:cNvPr id="81" name="Shape 79"/>
          <p:cNvSpPr/>
          <p:nvPr/>
        </p:nvSpPr>
        <p:spPr>
          <a:xfrm>
            <a:off x="420624" y="2926080"/>
            <a:ext cx="1753819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20624" y="2926080"/>
            <a:ext cx="1753819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대상 확인 시작</a:t>
            </a:r>
            <a:endParaRPr lang="ko-KR" sz="800" dirty="0"/>
          </a:p>
        </p:txBody>
      </p:sp>
      <p:sp>
        <p:nvSpPr>
          <p:cNvPr id="83" name="Shape 81"/>
          <p:cNvSpPr/>
          <p:nvPr/>
        </p:nvSpPr>
        <p:spPr>
          <a:xfrm>
            <a:off x="452628" y="2958084"/>
            <a:ext cx="1689811" cy="41148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339035" y="2926080"/>
            <a:ext cx="1753819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339035" y="2926080"/>
            <a:ext cx="1753819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수검자의 당일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취소(CNR·CNC) 제외 업무 조회</a:t>
            </a:r>
            <a:endParaRPr lang="ko-KR" sz="800" dirty="0"/>
          </a:p>
        </p:txBody>
      </p:sp>
      <p:sp>
        <p:nvSpPr>
          <p:cNvPr id="86" name="Shape 84"/>
          <p:cNvSpPr/>
          <p:nvPr/>
        </p:nvSpPr>
        <p:spPr>
          <a:xfrm>
            <a:off x="4257446" y="2926080"/>
            <a:ext cx="1753819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257446" y="2926080"/>
            <a:ext cx="1753819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 업무 존재?</a:t>
            </a:r>
            <a:endParaRPr lang="ko-KR" sz="800" dirty="0"/>
          </a:p>
        </p:txBody>
      </p:sp>
      <p:sp>
        <p:nvSpPr>
          <p:cNvPr id="88" name="Shape 86"/>
          <p:cNvSpPr/>
          <p:nvPr/>
        </p:nvSpPr>
        <p:spPr>
          <a:xfrm>
            <a:off x="6175858" y="2926080"/>
            <a:ext cx="1753819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175858" y="2926080"/>
            <a:ext cx="1753819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= RSV?</a:t>
            </a:r>
            <a:endParaRPr lang="ko-KR" sz="800" dirty="0"/>
          </a:p>
        </p:txBody>
      </p:sp>
      <p:sp>
        <p:nvSpPr>
          <p:cNvPr id="90" name="Shape 88"/>
          <p:cNvSpPr/>
          <p:nvPr/>
        </p:nvSpPr>
        <p:spPr>
          <a:xfrm>
            <a:off x="8094269" y="2926080"/>
            <a:ext cx="1753819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094269" y="2926080"/>
            <a:ext cx="1753819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WorkId 확정</a:t>
            </a:r>
            <a:endParaRPr lang="ko-KR" sz="800" dirty="0"/>
          </a:p>
        </p:txBody>
      </p:sp>
      <p:sp>
        <p:nvSpPr>
          <p:cNvPr id="92" name="Shape 90"/>
          <p:cNvSpPr/>
          <p:nvPr/>
        </p:nvSpPr>
        <p:spPr>
          <a:xfrm>
            <a:off x="10012680" y="2926080"/>
            <a:ext cx="1753819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012680" y="2926080"/>
            <a:ext cx="1753819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대상 WorkId 확정</a:t>
            </a:r>
            <a:endParaRPr lang="ko-KR" sz="800" dirty="0"/>
          </a:p>
        </p:txBody>
      </p:sp>
      <p:sp>
        <p:nvSpPr>
          <p:cNvPr id="94" name="Shape 92"/>
          <p:cNvSpPr/>
          <p:nvPr/>
        </p:nvSpPr>
        <p:spPr>
          <a:xfrm>
            <a:off x="10044684" y="2958084"/>
            <a:ext cx="1689811" cy="41148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257446" y="3621024"/>
            <a:ext cx="1753819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257446" y="3621024"/>
            <a:ext cx="1753819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대상 없음</a:t>
            </a:r>
            <a:endParaRPr lang="ko-KR" sz="800" dirty="0"/>
          </a:p>
        </p:txBody>
      </p:sp>
      <p:sp>
        <p:nvSpPr>
          <p:cNvPr id="97" name="Shape 95"/>
          <p:cNvSpPr/>
          <p:nvPr/>
        </p:nvSpPr>
        <p:spPr>
          <a:xfrm>
            <a:off x="4289450" y="3653028"/>
            <a:ext cx="1689811" cy="41148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175858" y="3621024"/>
            <a:ext cx="1753819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175858" y="3621024"/>
            <a:ext cx="1753819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= RCP?</a:t>
            </a:r>
            <a:endParaRPr lang="ko-KR" sz="800" dirty="0"/>
          </a:p>
        </p:txBody>
      </p:sp>
      <p:sp>
        <p:nvSpPr>
          <p:cNvPr id="100" name="Shape 98"/>
          <p:cNvSpPr/>
          <p:nvPr/>
        </p:nvSpPr>
        <p:spPr>
          <a:xfrm>
            <a:off x="8094269" y="3621024"/>
            <a:ext cx="1753819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094269" y="3621024"/>
            <a:ext cx="1753819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중복접수 대상 /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조건검증에서 차단</a:t>
            </a:r>
            <a:endParaRPr lang="ko-KR" sz="800" dirty="0"/>
          </a:p>
        </p:txBody>
      </p:sp>
      <p:sp>
        <p:nvSpPr>
          <p:cNvPr id="102" name="Shape 100"/>
          <p:cNvSpPr/>
          <p:nvPr/>
        </p:nvSpPr>
        <p:spPr>
          <a:xfrm>
            <a:off x="420624" y="4315968"/>
            <a:ext cx="1753819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20624" y="4315968"/>
            <a:ext cx="1753819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중복판단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유효예약 존재?</a:t>
            </a:r>
            <a:endParaRPr lang="ko-KR" sz="800" dirty="0"/>
          </a:p>
        </p:txBody>
      </p:sp>
      <p:sp>
        <p:nvSpPr>
          <p:cNvPr id="104" name="Shape 102"/>
          <p:cNvSpPr/>
          <p:nvPr/>
        </p:nvSpPr>
        <p:spPr>
          <a:xfrm>
            <a:off x="2339035" y="4315968"/>
            <a:ext cx="1753819" cy="47548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339035" y="4315968"/>
            <a:ext cx="1753819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P02-01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WalkIn 신규 당일예약</a:t>
            </a:r>
            <a:endParaRPr lang="ko-KR" sz="800" dirty="0"/>
          </a:p>
        </p:txBody>
      </p:sp>
      <p:sp>
        <p:nvSpPr>
          <p:cNvPr id="106" name="Shape 104"/>
          <p:cNvSpPr/>
          <p:nvPr/>
        </p:nvSpPr>
        <p:spPr>
          <a:xfrm>
            <a:off x="2393899" y="4315968"/>
            <a:ext cx="0" cy="475488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107" name="Shape 105"/>
          <p:cNvSpPr/>
          <p:nvPr/>
        </p:nvSpPr>
        <p:spPr>
          <a:xfrm>
            <a:off x="4037990" y="4315968"/>
            <a:ext cx="0" cy="475488"/>
          </a:xfrm>
          <a:prstGeom prst="line">
            <a:avLst/>
          </a:prstGeom>
          <a:noFill/>
          <a:ln w="9525">
            <a:solidFill>
              <a:srgbClr val="1F3864"/>
            </a:solidFill>
            <a:prstDash val="solid"/>
            <a:tailEnd type="none"/>
          </a:ln>
        </p:spPr>
      </p:sp>
      <p:sp>
        <p:nvSpPr>
          <p:cNvPr id="108" name="Shape 106"/>
          <p:cNvSpPr/>
          <p:nvPr/>
        </p:nvSpPr>
        <p:spPr>
          <a:xfrm>
            <a:off x="4257446" y="4315968"/>
            <a:ext cx="1753819" cy="475488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257446" y="4315968"/>
            <a:ext cx="1753819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생성 성공?</a:t>
            </a:r>
            <a:endParaRPr lang="ko-KR" sz="800" dirty="0"/>
          </a:p>
        </p:txBody>
      </p:sp>
      <p:sp>
        <p:nvSpPr>
          <p:cNvPr id="110" name="Shape 108"/>
          <p:cNvSpPr/>
          <p:nvPr/>
        </p:nvSpPr>
        <p:spPr>
          <a:xfrm>
            <a:off x="10012680" y="4315968"/>
            <a:ext cx="1753819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012680" y="4315968"/>
            <a:ext cx="1753819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불가</a:t>
            </a:r>
            <a:endParaRPr lang="ko-KR" sz="800" dirty="0"/>
          </a:p>
        </p:txBody>
      </p:sp>
      <p:sp>
        <p:nvSpPr>
          <p:cNvPr id="112" name="Shape 110"/>
          <p:cNvSpPr/>
          <p:nvPr/>
        </p:nvSpPr>
        <p:spPr>
          <a:xfrm>
            <a:off x="10044684" y="4347972"/>
            <a:ext cx="1689811" cy="41148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174443" y="3163824"/>
            <a:ext cx="13716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14" name="Shape 112"/>
          <p:cNvSpPr/>
          <p:nvPr/>
        </p:nvSpPr>
        <p:spPr>
          <a:xfrm>
            <a:off x="4092854" y="3163824"/>
            <a:ext cx="13716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15" name="Shape 113"/>
          <p:cNvSpPr/>
          <p:nvPr/>
        </p:nvSpPr>
        <p:spPr>
          <a:xfrm>
            <a:off x="6011266" y="3163824"/>
            <a:ext cx="13716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16" name="Text 114"/>
          <p:cNvSpPr/>
          <p:nvPr/>
        </p:nvSpPr>
        <p:spPr>
          <a:xfrm>
            <a:off x="5970029" y="2913375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117" name="Shape 115"/>
          <p:cNvSpPr/>
          <p:nvPr/>
        </p:nvSpPr>
        <p:spPr>
          <a:xfrm>
            <a:off x="7929677" y="3163824"/>
            <a:ext cx="13716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18" name="Text 116"/>
          <p:cNvSpPr/>
          <p:nvPr/>
        </p:nvSpPr>
        <p:spPr>
          <a:xfrm>
            <a:off x="7888440" y="2913375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119" name="Shape 117"/>
          <p:cNvSpPr/>
          <p:nvPr/>
        </p:nvSpPr>
        <p:spPr>
          <a:xfrm>
            <a:off x="9848088" y="3163824"/>
            <a:ext cx="13716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7052767" y="3401568"/>
            <a:ext cx="0" cy="19202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21" name="Shape 119"/>
          <p:cNvSpPr/>
          <p:nvPr/>
        </p:nvSpPr>
        <p:spPr>
          <a:xfrm>
            <a:off x="7175487" y="3434583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175487" y="3434583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123" name="Shape 121"/>
          <p:cNvSpPr/>
          <p:nvPr/>
        </p:nvSpPr>
        <p:spPr>
          <a:xfrm>
            <a:off x="7929677" y="3858768"/>
            <a:ext cx="13716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24" name="Text 122"/>
          <p:cNvSpPr/>
          <p:nvPr/>
        </p:nvSpPr>
        <p:spPr>
          <a:xfrm>
            <a:off x="7888440" y="3608319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125" name="Shape 123"/>
          <p:cNvSpPr/>
          <p:nvPr/>
        </p:nvSpPr>
        <p:spPr>
          <a:xfrm flipH="1">
            <a:off x="6038698" y="3858768"/>
            <a:ext cx="13716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26" name="Text 124"/>
          <p:cNvSpPr/>
          <p:nvPr/>
        </p:nvSpPr>
        <p:spPr>
          <a:xfrm>
            <a:off x="5978537" y="3608319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127" name="Shape 125"/>
          <p:cNvSpPr/>
          <p:nvPr/>
        </p:nvSpPr>
        <p:spPr>
          <a:xfrm>
            <a:off x="9848088" y="3858768"/>
            <a:ext cx="104150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28" name="Shape 126"/>
          <p:cNvSpPr/>
          <p:nvPr/>
        </p:nvSpPr>
        <p:spPr>
          <a:xfrm>
            <a:off x="10889590" y="3858768"/>
            <a:ext cx="0" cy="429768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29" name="Shape 127"/>
          <p:cNvSpPr/>
          <p:nvPr/>
        </p:nvSpPr>
        <p:spPr>
          <a:xfrm>
            <a:off x="5134356" y="3401568"/>
            <a:ext cx="0" cy="7315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30" name="Shape 128"/>
          <p:cNvSpPr/>
          <p:nvPr/>
        </p:nvSpPr>
        <p:spPr>
          <a:xfrm flipH="1">
            <a:off x="1297534" y="3474720"/>
            <a:ext cx="383682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31" name="Shape 129"/>
          <p:cNvSpPr/>
          <p:nvPr/>
        </p:nvSpPr>
        <p:spPr>
          <a:xfrm>
            <a:off x="1297534" y="3474720"/>
            <a:ext cx="0" cy="813816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32" name="Shape 130"/>
          <p:cNvSpPr/>
          <p:nvPr/>
        </p:nvSpPr>
        <p:spPr>
          <a:xfrm>
            <a:off x="4616996" y="3398007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616996" y="3398007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134" name="Shape 132"/>
          <p:cNvSpPr/>
          <p:nvPr/>
        </p:nvSpPr>
        <p:spPr>
          <a:xfrm>
            <a:off x="2174443" y="4553712"/>
            <a:ext cx="13716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35" name="Text 133"/>
          <p:cNvSpPr/>
          <p:nvPr/>
        </p:nvSpPr>
        <p:spPr>
          <a:xfrm>
            <a:off x="2141715" y="4303263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136" name="Shape 134"/>
          <p:cNvSpPr/>
          <p:nvPr/>
        </p:nvSpPr>
        <p:spPr>
          <a:xfrm>
            <a:off x="4092854" y="4553712"/>
            <a:ext cx="13716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37" name="Shape 135"/>
          <p:cNvSpPr/>
          <p:nvPr/>
        </p:nvSpPr>
        <p:spPr>
          <a:xfrm>
            <a:off x="1297534" y="4791456"/>
            <a:ext cx="0" cy="9144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38" name="Shape 136"/>
          <p:cNvSpPr/>
          <p:nvPr/>
        </p:nvSpPr>
        <p:spPr>
          <a:xfrm>
            <a:off x="1297534" y="4882896"/>
            <a:ext cx="920800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39" name="Shape 137"/>
          <p:cNvSpPr/>
          <p:nvPr/>
        </p:nvSpPr>
        <p:spPr>
          <a:xfrm flipV="1">
            <a:off x="10505542" y="4818888"/>
            <a:ext cx="0" cy="64008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40" name="Shape 138"/>
          <p:cNvSpPr/>
          <p:nvPr/>
        </p:nvSpPr>
        <p:spPr>
          <a:xfrm>
            <a:off x="1576337" y="4806183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576337" y="4806183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142" name="Shape 140"/>
          <p:cNvSpPr/>
          <p:nvPr/>
        </p:nvSpPr>
        <p:spPr>
          <a:xfrm flipV="1">
            <a:off x="5134356" y="4123944"/>
            <a:ext cx="0" cy="19202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43" name="Shape 141"/>
          <p:cNvSpPr/>
          <p:nvPr/>
        </p:nvSpPr>
        <p:spPr>
          <a:xfrm>
            <a:off x="5257076" y="4129527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257076" y="4129527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145" name="Shape 143"/>
          <p:cNvSpPr/>
          <p:nvPr/>
        </p:nvSpPr>
        <p:spPr>
          <a:xfrm>
            <a:off x="6011266" y="4553712"/>
            <a:ext cx="2000707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46" name="Shape 144"/>
          <p:cNvSpPr/>
          <p:nvPr/>
        </p:nvSpPr>
        <p:spPr>
          <a:xfrm flipV="1">
            <a:off x="8011973" y="3511296"/>
            <a:ext cx="0" cy="1042416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47" name="Shape 145"/>
          <p:cNvSpPr/>
          <p:nvPr/>
        </p:nvSpPr>
        <p:spPr>
          <a:xfrm>
            <a:off x="8011973" y="3511296"/>
            <a:ext cx="2877617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48" name="Shape 146"/>
          <p:cNvSpPr/>
          <p:nvPr/>
        </p:nvSpPr>
        <p:spPr>
          <a:xfrm flipV="1">
            <a:off x="10889590" y="3429000"/>
            <a:ext cx="0" cy="82296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49" name="Shape 147"/>
          <p:cNvSpPr/>
          <p:nvPr/>
        </p:nvSpPr>
        <p:spPr>
          <a:xfrm>
            <a:off x="8337271" y="3434583"/>
            <a:ext cx="995323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8337271" y="3434583"/>
            <a:ext cx="995323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 — WorkId 반환</a:t>
            </a:r>
            <a:endParaRPr lang="ko-KR" sz="800" dirty="0"/>
          </a:p>
        </p:txBody>
      </p:sp>
      <p:sp>
        <p:nvSpPr>
          <p:cNvPr id="151" name="Shape 149"/>
          <p:cNvSpPr/>
          <p:nvPr/>
        </p:nvSpPr>
        <p:spPr>
          <a:xfrm>
            <a:off x="420624" y="5029200"/>
            <a:ext cx="11347704" cy="219456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512064" y="5029200"/>
            <a:ext cx="1116482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P03-03  접수 가능조건 검증   —   5게이트를 모두 통과해야 접수 가능하다</a:t>
            </a:r>
            <a:endParaRPr lang="ko-KR" sz="1000" dirty="0"/>
          </a:p>
        </p:txBody>
      </p:sp>
      <p:sp>
        <p:nvSpPr>
          <p:cNvPr id="153" name="Shape 151"/>
          <p:cNvSpPr/>
          <p:nvPr/>
        </p:nvSpPr>
        <p:spPr>
          <a:xfrm>
            <a:off x="420624" y="5321808"/>
            <a:ext cx="144841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420624" y="5321808"/>
            <a:ext cx="144841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가능조건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시작</a:t>
            </a:r>
            <a:endParaRPr lang="ko-KR" sz="800" dirty="0"/>
          </a:p>
        </p:txBody>
      </p:sp>
      <p:sp>
        <p:nvSpPr>
          <p:cNvPr id="155" name="Shape 153"/>
          <p:cNvSpPr/>
          <p:nvPr/>
        </p:nvSpPr>
        <p:spPr>
          <a:xfrm>
            <a:off x="452628" y="5353812"/>
            <a:ext cx="1384402" cy="338328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070202" y="5321808"/>
            <a:ext cx="1448410" cy="402336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2070202" y="5321808"/>
            <a:ext cx="144841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 = RSV?</a:t>
            </a:r>
            <a:endParaRPr lang="ko-KR" sz="800" dirty="0"/>
          </a:p>
        </p:txBody>
      </p:sp>
      <p:sp>
        <p:nvSpPr>
          <p:cNvPr id="158" name="Shape 156"/>
          <p:cNvSpPr/>
          <p:nvPr/>
        </p:nvSpPr>
        <p:spPr>
          <a:xfrm>
            <a:off x="3719779" y="5321808"/>
            <a:ext cx="1448410" cy="402336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3719779" y="5321808"/>
            <a:ext cx="144841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 = DB 현재일?</a:t>
            </a:r>
            <a:endParaRPr lang="ko-KR" sz="800" dirty="0"/>
          </a:p>
        </p:txBody>
      </p:sp>
      <p:sp>
        <p:nvSpPr>
          <p:cNvPr id="160" name="Shape 158"/>
          <p:cNvSpPr/>
          <p:nvPr/>
        </p:nvSpPr>
        <p:spPr>
          <a:xfrm>
            <a:off x="5369357" y="5321808"/>
            <a:ext cx="1448410" cy="402336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5369357" y="5321808"/>
            <a:ext cx="144841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가능일?</a:t>
            </a:r>
            <a:endParaRPr lang="ko-KR" sz="800" dirty="0"/>
          </a:p>
        </p:txBody>
      </p:sp>
      <p:sp>
        <p:nvSpPr>
          <p:cNvPr id="162" name="Shape 160"/>
          <p:cNvSpPr/>
          <p:nvPr/>
        </p:nvSpPr>
        <p:spPr>
          <a:xfrm>
            <a:off x="7018934" y="5321808"/>
            <a:ext cx="1448410" cy="402336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7018934" y="5321808"/>
            <a:ext cx="144841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09:00 ≤ 현재시각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 18:00?</a:t>
            </a:r>
            <a:endParaRPr lang="ko-KR" sz="800" dirty="0"/>
          </a:p>
        </p:txBody>
      </p:sp>
      <p:sp>
        <p:nvSpPr>
          <p:cNvPr id="164" name="Shape 162"/>
          <p:cNvSpPr/>
          <p:nvPr/>
        </p:nvSpPr>
        <p:spPr>
          <a:xfrm>
            <a:off x="8668512" y="5321808"/>
            <a:ext cx="1448410" cy="402336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8668512" y="5321808"/>
            <a:ext cx="144841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시간대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마감 전?</a:t>
            </a:r>
            <a:endParaRPr lang="ko-KR" sz="800" dirty="0"/>
          </a:p>
        </p:txBody>
      </p:sp>
      <p:sp>
        <p:nvSpPr>
          <p:cNvPr id="166" name="Shape 164"/>
          <p:cNvSpPr/>
          <p:nvPr/>
        </p:nvSpPr>
        <p:spPr>
          <a:xfrm>
            <a:off x="10318090" y="5321808"/>
            <a:ext cx="144841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0318090" y="5321808"/>
            <a:ext cx="144841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가능</a:t>
            </a:r>
            <a:endParaRPr lang="ko-KR" sz="800" dirty="0"/>
          </a:p>
        </p:txBody>
      </p:sp>
      <p:sp>
        <p:nvSpPr>
          <p:cNvPr id="168" name="Shape 166"/>
          <p:cNvSpPr/>
          <p:nvPr/>
        </p:nvSpPr>
        <p:spPr>
          <a:xfrm>
            <a:off x="10350094" y="5353812"/>
            <a:ext cx="1384402" cy="338328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318090" y="5943600"/>
            <a:ext cx="144841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0318090" y="5943600"/>
            <a:ext cx="144841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불가</a:t>
            </a:r>
            <a:endParaRPr lang="ko-KR" sz="800" dirty="0"/>
          </a:p>
        </p:txBody>
      </p:sp>
      <p:sp>
        <p:nvSpPr>
          <p:cNvPr id="171" name="Shape 169"/>
          <p:cNvSpPr/>
          <p:nvPr/>
        </p:nvSpPr>
        <p:spPr>
          <a:xfrm>
            <a:off x="10350094" y="5975604"/>
            <a:ext cx="1384402" cy="210312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869034" y="5522976"/>
            <a:ext cx="17373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73" name="Shape 171"/>
          <p:cNvSpPr/>
          <p:nvPr/>
        </p:nvSpPr>
        <p:spPr>
          <a:xfrm>
            <a:off x="3518611" y="5522976"/>
            <a:ext cx="17373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74" name="Shape 172"/>
          <p:cNvSpPr/>
          <p:nvPr/>
        </p:nvSpPr>
        <p:spPr>
          <a:xfrm>
            <a:off x="5168189" y="5522976"/>
            <a:ext cx="17373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75" name="Shape 173"/>
          <p:cNvSpPr/>
          <p:nvPr/>
        </p:nvSpPr>
        <p:spPr>
          <a:xfrm>
            <a:off x="6817766" y="5522976"/>
            <a:ext cx="17373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76" name="Shape 174"/>
          <p:cNvSpPr/>
          <p:nvPr/>
        </p:nvSpPr>
        <p:spPr>
          <a:xfrm>
            <a:off x="8467344" y="5522976"/>
            <a:ext cx="17373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77" name="Shape 175"/>
          <p:cNvSpPr/>
          <p:nvPr/>
        </p:nvSpPr>
        <p:spPr>
          <a:xfrm>
            <a:off x="10116922" y="5522976"/>
            <a:ext cx="17373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>
            <a:off x="2794406" y="5888736"/>
            <a:ext cx="824788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79" name="Shape 177"/>
          <p:cNvSpPr/>
          <p:nvPr/>
        </p:nvSpPr>
        <p:spPr>
          <a:xfrm>
            <a:off x="2794406" y="5724144"/>
            <a:ext cx="0" cy="16459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80" name="Shape 178"/>
          <p:cNvSpPr/>
          <p:nvPr/>
        </p:nvSpPr>
        <p:spPr>
          <a:xfrm>
            <a:off x="4443984" y="5724144"/>
            <a:ext cx="0" cy="16459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81" name="Shape 179"/>
          <p:cNvSpPr/>
          <p:nvPr/>
        </p:nvSpPr>
        <p:spPr>
          <a:xfrm>
            <a:off x="6093562" y="5724144"/>
            <a:ext cx="0" cy="16459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82" name="Shape 180"/>
          <p:cNvSpPr/>
          <p:nvPr/>
        </p:nvSpPr>
        <p:spPr>
          <a:xfrm>
            <a:off x="7743139" y="5724144"/>
            <a:ext cx="0" cy="16459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83" name="Shape 181"/>
          <p:cNvSpPr/>
          <p:nvPr/>
        </p:nvSpPr>
        <p:spPr>
          <a:xfrm>
            <a:off x="9392717" y="5724144"/>
            <a:ext cx="0" cy="16459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84" name="Shape 182"/>
          <p:cNvSpPr/>
          <p:nvPr/>
        </p:nvSpPr>
        <p:spPr>
          <a:xfrm>
            <a:off x="11042294" y="5888736"/>
            <a:ext cx="0" cy="27432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85" name="Text 183"/>
          <p:cNvSpPr/>
          <p:nvPr/>
        </p:nvSpPr>
        <p:spPr>
          <a:xfrm>
            <a:off x="420624" y="5779008"/>
            <a:ext cx="15727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— 하나라도 불충족</a:t>
            </a:r>
            <a:endParaRPr lang="ko-KR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4770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상태전이   ·   동시성 경계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420624" y="6382512"/>
            <a:ext cx="1134770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정책: P03-05 RP-08, AEX, RCP-05 / P03-06 CP-05, RCP-06 — 상태 해석과 취소 보존은 CP-05, 전이 조건은 RP-09·RP-10, RCP-02~06</a:t>
            </a:r>
            <a:endParaRPr lang="ko-KR" sz="900" dirty="0"/>
          </a:p>
        </p:txBody>
      </p:sp>
      <p:sp>
        <p:nvSpPr>
          <p:cNvPr id="4" name="Shape 2"/>
          <p:cNvSpPr/>
          <p:nvPr/>
        </p:nvSpPr>
        <p:spPr>
          <a:xfrm>
            <a:off x="420624" y="969264"/>
            <a:ext cx="5669280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969264"/>
            <a:ext cx="54864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상태전이   —   동일 업무 행의 RSV / RCP / CNR / CNC 전이</a:t>
            </a:r>
            <a:endParaRPr lang="ko-KR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280160" cy="365760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74520"/>
            <a:ext cx="128016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신규예약</a:t>
            </a:r>
            <a:endParaRPr lang="ko-KR" sz="900" dirty="0"/>
          </a:p>
        </p:txBody>
      </p:sp>
      <p:sp>
        <p:nvSpPr>
          <p:cNvPr id="8" name="Shape 6"/>
          <p:cNvSpPr/>
          <p:nvPr/>
        </p:nvSpPr>
        <p:spPr>
          <a:xfrm>
            <a:off x="2194560" y="1645920"/>
            <a:ext cx="155448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755648"/>
            <a:ext cx="1554480" cy="395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RSV</a:t>
            </a:r>
            <a:endParaRPr lang="ko-KR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2106778"/>
            <a:ext cx="15544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</a:t>
            </a:r>
            <a:endParaRPr lang="ko-KR" sz="8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155448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755648"/>
            <a:ext cx="1554480" cy="395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RCP</a:t>
            </a:r>
            <a:endParaRPr lang="ko-KR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106778"/>
            <a:ext cx="15544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접수완료</a:t>
            </a:r>
            <a:endParaRPr lang="ko-KR" sz="800" dirty="0"/>
          </a:p>
        </p:txBody>
      </p:sp>
      <p:sp>
        <p:nvSpPr>
          <p:cNvPr id="14" name="Shape 12"/>
          <p:cNvSpPr/>
          <p:nvPr/>
        </p:nvSpPr>
        <p:spPr>
          <a:xfrm>
            <a:off x="2194560" y="3291840"/>
            <a:ext cx="155448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3401568"/>
            <a:ext cx="1554480" cy="395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CNR</a:t>
            </a:r>
            <a:endParaRPr lang="ko-KR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3752698"/>
            <a:ext cx="15544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예약취소</a:t>
            </a:r>
            <a:endParaRPr lang="ko-KR" sz="800" dirty="0"/>
          </a:p>
        </p:txBody>
      </p:sp>
      <p:sp>
        <p:nvSpPr>
          <p:cNvPr id="17" name="Shape 15"/>
          <p:cNvSpPr/>
          <p:nvPr/>
        </p:nvSpPr>
        <p:spPr>
          <a:xfrm>
            <a:off x="4754880" y="3291840"/>
            <a:ext cx="155448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401568"/>
            <a:ext cx="1554480" cy="395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CNC</a:t>
            </a:r>
            <a:endParaRPr lang="ko-KR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752698"/>
            <a:ext cx="15544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접수취소</a:t>
            </a:r>
            <a:endParaRPr lang="ko-KR" sz="800" dirty="0"/>
          </a:p>
        </p:txBody>
      </p:sp>
      <p:sp>
        <p:nvSpPr>
          <p:cNvPr id="20" name="Shape 18"/>
          <p:cNvSpPr/>
          <p:nvPr/>
        </p:nvSpPr>
        <p:spPr>
          <a:xfrm>
            <a:off x="1737360" y="2057400"/>
            <a:ext cx="42976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749040" y="2057400"/>
            <a:ext cx="97840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104640" y="1843527"/>
            <a:ext cx="294640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04640" y="1843527"/>
            <a:ext cx="294640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</a:t>
            </a:r>
            <a:endParaRPr lang="ko-KR" sz="800" dirty="0"/>
          </a:p>
        </p:txBody>
      </p:sp>
      <p:sp>
        <p:nvSpPr>
          <p:cNvPr id="24" name="Shape 22"/>
          <p:cNvSpPr/>
          <p:nvPr/>
        </p:nvSpPr>
        <p:spPr>
          <a:xfrm flipV="1">
            <a:off x="2770632" y="1426464"/>
            <a:ext cx="0" cy="27432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2770632" y="1426464"/>
            <a:ext cx="40233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3172968" y="1426464"/>
            <a:ext cx="0" cy="246888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2194560" y="1280160"/>
            <a:ext cx="1554480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예약변경</a:t>
            </a:r>
            <a:endParaRPr lang="ko-KR" sz="800" dirty="0"/>
          </a:p>
        </p:txBody>
      </p:sp>
      <p:sp>
        <p:nvSpPr>
          <p:cNvPr id="28" name="Shape 26"/>
          <p:cNvSpPr/>
          <p:nvPr/>
        </p:nvSpPr>
        <p:spPr>
          <a:xfrm flipV="1">
            <a:off x="5330952" y="1426464"/>
            <a:ext cx="0" cy="27432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5330952" y="1426464"/>
            <a:ext cx="40233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5733288" y="1426464"/>
            <a:ext cx="0" cy="246888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4754880" y="1280160"/>
            <a:ext cx="1554480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AEX 변경</a:t>
            </a:r>
            <a:endParaRPr lang="ko-KR" sz="800" dirty="0"/>
          </a:p>
        </p:txBody>
      </p:sp>
      <p:sp>
        <p:nvSpPr>
          <p:cNvPr id="32" name="Shape 30"/>
          <p:cNvSpPr/>
          <p:nvPr/>
        </p:nvSpPr>
        <p:spPr>
          <a:xfrm>
            <a:off x="2971800" y="2468880"/>
            <a:ext cx="0" cy="795528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532120" y="2468880"/>
            <a:ext cx="0" cy="795528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971800" y="4114800"/>
            <a:ext cx="0" cy="274320"/>
          </a:xfrm>
          <a:prstGeom prst="line">
            <a:avLst/>
          </a:prstGeom>
          <a:noFill/>
          <a:ln w="12700">
            <a:solidFill>
              <a:srgbClr val="8C9BB5"/>
            </a:solidFill>
            <a:prstDash val="dash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532120" y="4114800"/>
            <a:ext cx="0" cy="274320"/>
          </a:xfrm>
          <a:prstGeom prst="line">
            <a:avLst/>
          </a:prstGeom>
          <a:noFill/>
          <a:ln w="12700">
            <a:solidFill>
              <a:srgbClr val="8C9BB5"/>
            </a:solidFill>
            <a:prstDash val="dash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560320" y="4425696"/>
            <a:ext cx="3383280" cy="310896"/>
          </a:xfrm>
          <a:prstGeom prst="rect">
            <a:avLst/>
          </a:prstGeom>
          <a:ln w="12700">
            <a:solidFill>
              <a:srgbClr val="8C9BB5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2560320" y="4425696"/>
            <a:ext cx="33832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CNR · CNC → 모든 상태   허용하지 않음 (복원 경로 없음)</a:t>
            </a:r>
            <a:endParaRPr lang="ko-KR" sz="900" dirty="0"/>
          </a:p>
        </p:txBody>
      </p:sp>
      <p:sp>
        <p:nvSpPr>
          <p:cNvPr id="38" name="Shape 36"/>
          <p:cNvSpPr/>
          <p:nvPr/>
        </p:nvSpPr>
        <p:spPr>
          <a:xfrm>
            <a:off x="6400800" y="969264"/>
            <a:ext cx="5367528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969264"/>
            <a:ext cx="518464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상태전이 규칙</a:t>
            </a:r>
            <a:endParaRPr lang="ko-KR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1280160"/>
            <a:ext cx="123444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1280160"/>
            <a:ext cx="1143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전이</a:t>
            </a:r>
            <a:endParaRPr lang="ko-KR" sz="950" dirty="0"/>
          </a:p>
        </p:txBody>
      </p:sp>
      <p:sp>
        <p:nvSpPr>
          <p:cNvPr id="42" name="Shape 40"/>
          <p:cNvSpPr/>
          <p:nvPr/>
        </p:nvSpPr>
        <p:spPr>
          <a:xfrm>
            <a:off x="7635240" y="1280160"/>
            <a:ext cx="123444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0" y="1280160"/>
            <a:ext cx="1143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</a:t>
            </a:r>
            <a:endParaRPr lang="ko-KR" sz="950" dirty="0"/>
          </a:p>
        </p:txBody>
      </p:sp>
      <p:sp>
        <p:nvSpPr>
          <p:cNvPr id="44" name="Shape 42"/>
          <p:cNvSpPr/>
          <p:nvPr/>
        </p:nvSpPr>
        <p:spPr>
          <a:xfrm>
            <a:off x="8869680" y="1280160"/>
            <a:ext cx="2898648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15400" y="1280160"/>
            <a:ext cx="28072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ko-KR" sz="950" dirty="0"/>
          </a:p>
        </p:txBody>
      </p:sp>
      <p:sp>
        <p:nvSpPr>
          <p:cNvPr id="46" name="Shape 44"/>
          <p:cNvSpPr/>
          <p:nvPr/>
        </p:nvSpPr>
        <p:spPr>
          <a:xfrm>
            <a:off x="6400800" y="1554480"/>
            <a:ext cx="1234440" cy="25603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1600200"/>
            <a:ext cx="1143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RSV → RSV</a:t>
            </a:r>
            <a:endParaRPr lang="ko-KR" sz="950" dirty="0"/>
          </a:p>
        </p:txBody>
      </p:sp>
      <p:sp>
        <p:nvSpPr>
          <p:cNvPr id="48" name="Shape 46"/>
          <p:cNvSpPr/>
          <p:nvPr/>
        </p:nvSpPr>
        <p:spPr>
          <a:xfrm>
            <a:off x="7635240" y="1554480"/>
            <a:ext cx="1234440" cy="25603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80960" y="1600200"/>
            <a:ext cx="1143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예약변경</a:t>
            </a:r>
            <a:endParaRPr lang="ko-KR" sz="950" dirty="0"/>
          </a:p>
        </p:txBody>
      </p:sp>
      <p:sp>
        <p:nvSpPr>
          <p:cNvPr id="50" name="Shape 48"/>
          <p:cNvSpPr/>
          <p:nvPr/>
        </p:nvSpPr>
        <p:spPr>
          <a:xfrm>
            <a:off x="8869680" y="1554480"/>
            <a:ext cx="2898648" cy="25603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15400" y="1600200"/>
            <a:ext cx="28072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일정·검사구성의 영향범위만 저장</a:t>
            </a:r>
            <a:endParaRPr lang="ko-KR" sz="950" dirty="0"/>
          </a:p>
        </p:txBody>
      </p:sp>
      <p:sp>
        <p:nvSpPr>
          <p:cNvPr id="52" name="Shape 50"/>
          <p:cNvSpPr/>
          <p:nvPr/>
        </p:nvSpPr>
        <p:spPr>
          <a:xfrm>
            <a:off x="6400800" y="1810512"/>
            <a:ext cx="1234440" cy="25603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46520" y="1856232"/>
            <a:ext cx="1143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RSV → RCP</a:t>
            </a:r>
            <a:endParaRPr lang="ko-KR" sz="950" dirty="0"/>
          </a:p>
        </p:txBody>
      </p:sp>
      <p:sp>
        <p:nvSpPr>
          <p:cNvPr id="54" name="Shape 52"/>
          <p:cNvSpPr/>
          <p:nvPr/>
        </p:nvSpPr>
        <p:spPr>
          <a:xfrm>
            <a:off x="7635240" y="1810512"/>
            <a:ext cx="1234440" cy="25603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80960" y="1856232"/>
            <a:ext cx="1143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</a:t>
            </a:r>
            <a:endParaRPr lang="ko-KR" sz="950" dirty="0"/>
          </a:p>
        </p:txBody>
      </p:sp>
      <p:sp>
        <p:nvSpPr>
          <p:cNvPr id="56" name="Shape 54"/>
          <p:cNvSpPr/>
          <p:nvPr/>
        </p:nvSpPr>
        <p:spPr>
          <a:xfrm>
            <a:off x="8869680" y="1810512"/>
            <a:ext cx="2898648" cy="25603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15400" y="1856232"/>
            <a:ext cx="28072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예약일·시간대·검사구성 유지, 상태만 변경</a:t>
            </a:r>
            <a:endParaRPr lang="ko-KR" sz="950" dirty="0"/>
          </a:p>
        </p:txBody>
      </p:sp>
      <p:sp>
        <p:nvSpPr>
          <p:cNvPr id="58" name="Shape 56"/>
          <p:cNvSpPr/>
          <p:nvPr/>
        </p:nvSpPr>
        <p:spPr>
          <a:xfrm>
            <a:off x="6400800" y="2066544"/>
            <a:ext cx="1234440" cy="25603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46520" y="2112264"/>
            <a:ext cx="1143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RSV → CNR</a:t>
            </a:r>
            <a:endParaRPr lang="ko-KR" sz="950" dirty="0"/>
          </a:p>
        </p:txBody>
      </p:sp>
      <p:sp>
        <p:nvSpPr>
          <p:cNvPr id="60" name="Shape 58"/>
          <p:cNvSpPr/>
          <p:nvPr/>
        </p:nvSpPr>
        <p:spPr>
          <a:xfrm>
            <a:off x="7635240" y="2066544"/>
            <a:ext cx="1234440" cy="25603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80960" y="2112264"/>
            <a:ext cx="1143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예약취소</a:t>
            </a:r>
            <a:endParaRPr lang="ko-KR" sz="950" dirty="0"/>
          </a:p>
        </p:txBody>
      </p:sp>
      <p:sp>
        <p:nvSpPr>
          <p:cNvPr id="62" name="Shape 60"/>
          <p:cNvSpPr/>
          <p:nvPr/>
        </p:nvSpPr>
        <p:spPr>
          <a:xfrm>
            <a:off x="8869680" y="2066544"/>
            <a:ext cx="2898648" cy="25603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15400" y="2112264"/>
            <a:ext cx="28072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업무 행을 CNR로 변경</a:t>
            </a:r>
            <a:endParaRPr lang="ko-KR" sz="950" dirty="0"/>
          </a:p>
        </p:txBody>
      </p:sp>
      <p:sp>
        <p:nvSpPr>
          <p:cNvPr id="64" name="Shape 62"/>
          <p:cNvSpPr/>
          <p:nvPr/>
        </p:nvSpPr>
        <p:spPr>
          <a:xfrm>
            <a:off x="6400800" y="2322576"/>
            <a:ext cx="1234440" cy="25603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46520" y="2368296"/>
            <a:ext cx="1143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RCP → RCP</a:t>
            </a:r>
            <a:endParaRPr lang="ko-KR" sz="950" dirty="0"/>
          </a:p>
        </p:txBody>
      </p:sp>
      <p:sp>
        <p:nvSpPr>
          <p:cNvPr id="66" name="Shape 64"/>
          <p:cNvSpPr/>
          <p:nvPr/>
        </p:nvSpPr>
        <p:spPr>
          <a:xfrm>
            <a:off x="7635240" y="2322576"/>
            <a:ext cx="1234440" cy="25603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80960" y="2368296"/>
            <a:ext cx="1143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AEX 변경</a:t>
            </a:r>
            <a:endParaRPr lang="ko-KR" sz="950" dirty="0"/>
          </a:p>
        </p:txBody>
      </p:sp>
      <p:sp>
        <p:nvSpPr>
          <p:cNvPr id="68" name="Shape 66"/>
          <p:cNvSpPr/>
          <p:nvPr/>
        </p:nvSpPr>
        <p:spPr>
          <a:xfrm>
            <a:off x="8869680" y="2322576"/>
            <a:ext cx="2898648" cy="25603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915400" y="2368296"/>
            <a:ext cx="28072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변경(P03-05). RowVersion 갱신</a:t>
            </a:r>
            <a:endParaRPr lang="ko-KR" sz="950" dirty="0"/>
          </a:p>
        </p:txBody>
      </p:sp>
      <p:sp>
        <p:nvSpPr>
          <p:cNvPr id="70" name="Shape 68"/>
          <p:cNvSpPr/>
          <p:nvPr/>
        </p:nvSpPr>
        <p:spPr>
          <a:xfrm>
            <a:off x="6400800" y="2578608"/>
            <a:ext cx="1234440" cy="25603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46520" y="2624328"/>
            <a:ext cx="1143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RCP → CNC</a:t>
            </a:r>
            <a:endParaRPr lang="ko-KR" sz="950" dirty="0"/>
          </a:p>
        </p:txBody>
      </p:sp>
      <p:sp>
        <p:nvSpPr>
          <p:cNvPr id="72" name="Shape 70"/>
          <p:cNvSpPr/>
          <p:nvPr/>
        </p:nvSpPr>
        <p:spPr>
          <a:xfrm>
            <a:off x="7635240" y="2578608"/>
            <a:ext cx="1234440" cy="25603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680960" y="2624328"/>
            <a:ext cx="1143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접수취소</a:t>
            </a:r>
            <a:endParaRPr lang="ko-KR" sz="950" dirty="0"/>
          </a:p>
        </p:txBody>
      </p:sp>
      <p:sp>
        <p:nvSpPr>
          <p:cNvPr id="74" name="Shape 72"/>
          <p:cNvSpPr/>
          <p:nvPr/>
        </p:nvSpPr>
        <p:spPr>
          <a:xfrm>
            <a:off x="8869680" y="2578608"/>
            <a:ext cx="2898648" cy="25603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915400" y="2624328"/>
            <a:ext cx="28072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RSV로 복원하지 않는다</a:t>
            </a:r>
            <a:endParaRPr lang="ko-KR" sz="950" dirty="0"/>
          </a:p>
        </p:txBody>
      </p:sp>
      <p:sp>
        <p:nvSpPr>
          <p:cNvPr id="76" name="Shape 74"/>
          <p:cNvSpPr/>
          <p:nvPr/>
        </p:nvSpPr>
        <p:spPr>
          <a:xfrm>
            <a:off x="6400800" y="2834640"/>
            <a:ext cx="1234440" cy="25603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46520" y="2880360"/>
            <a:ext cx="1143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CNR → *</a:t>
            </a:r>
            <a:endParaRPr lang="ko-KR" sz="950" dirty="0"/>
          </a:p>
        </p:txBody>
      </p:sp>
      <p:sp>
        <p:nvSpPr>
          <p:cNvPr id="78" name="Shape 76"/>
          <p:cNvSpPr/>
          <p:nvPr/>
        </p:nvSpPr>
        <p:spPr>
          <a:xfrm>
            <a:off x="7635240" y="2834640"/>
            <a:ext cx="1234440" cy="25603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680960" y="2880360"/>
            <a:ext cx="1143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허용하지 않음</a:t>
            </a:r>
            <a:endParaRPr lang="ko-KR" sz="950" dirty="0"/>
          </a:p>
        </p:txBody>
      </p:sp>
      <p:sp>
        <p:nvSpPr>
          <p:cNvPr id="80" name="Shape 78"/>
          <p:cNvSpPr/>
          <p:nvPr/>
        </p:nvSpPr>
        <p:spPr>
          <a:xfrm>
            <a:off x="8869680" y="2834640"/>
            <a:ext cx="2898648" cy="25603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915400" y="2880360"/>
            <a:ext cx="28072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재진행은 신규예약을 생성한다</a:t>
            </a:r>
            <a:endParaRPr lang="ko-KR" sz="950" dirty="0"/>
          </a:p>
        </p:txBody>
      </p:sp>
      <p:sp>
        <p:nvSpPr>
          <p:cNvPr id="82" name="Shape 80"/>
          <p:cNvSpPr/>
          <p:nvPr/>
        </p:nvSpPr>
        <p:spPr>
          <a:xfrm>
            <a:off x="6400800" y="3090672"/>
            <a:ext cx="1234440" cy="25603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446520" y="3136392"/>
            <a:ext cx="1143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CNC → *</a:t>
            </a:r>
            <a:endParaRPr lang="ko-KR" sz="950" dirty="0"/>
          </a:p>
        </p:txBody>
      </p:sp>
      <p:sp>
        <p:nvSpPr>
          <p:cNvPr id="84" name="Shape 82"/>
          <p:cNvSpPr/>
          <p:nvPr/>
        </p:nvSpPr>
        <p:spPr>
          <a:xfrm>
            <a:off x="7635240" y="3090672"/>
            <a:ext cx="1234440" cy="25603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680960" y="3136392"/>
            <a:ext cx="1143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허용하지 않음</a:t>
            </a:r>
            <a:endParaRPr lang="ko-KR" sz="950" dirty="0"/>
          </a:p>
        </p:txBody>
      </p:sp>
      <p:sp>
        <p:nvSpPr>
          <p:cNvPr id="86" name="Shape 84"/>
          <p:cNvSpPr/>
          <p:nvPr/>
        </p:nvSpPr>
        <p:spPr>
          <a:xfrm>
            <a:off x="8869680" y="3090672"/>
            <a:ext cx="2898648" cy="25603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915400" y="3136392"/>
            <a:ext cx="28072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재진행은 신규예약을 생성한다</a:t>
            </a:r>
            <a:endParaRPr lang="ko-KR" sz="950" dirty="0"/>
          </a:p>
        </p:txBody>
      </p:sp>
      <p:sp>
        <p:nvSpPr>
          <p:cNvPr id="88" name="Shape 86"/>
          <p:cNvSpPr/>
          <p:nvPr/>
        </p:nvSpPr>
        <p:spPr>
          <a:xfrm>
            <a:off x="6400800" y="3364992"/>
            <a:ext cx="5367528" cy="306781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510528" y="3438144"/>
            <a:ext cx="5148072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 상태전이와 복원 경로는 없다.</a:t>
            </a:r>
            <a:endParaRPr lang="ko-KR" sz="950" dirty="0"/>
          </a:p>
        </p:txBody>
      </p:sp>
      <p:sp>
        <p:nvSpPr>
          <p:cNvPr id="90" name="Shape 88"/>
          <p:cNvSpPr/>
          <p:nvPr/>
        </p:nvSpPr>
        <p:spPr>
          <a:xfrm>
            <a:off x="6400800" y="3712464"/>
            <a:ext cx="5367528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492240" y="3712464"/>
            <a:ext cx="518464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P03-05  접수 변경   —   동일 AEX 집합 저장은 No-op</a:t>
            </a:r>
            <a:endParaRPr lang="ko-KR" sz="1000" dirty="0"/>
          </a:p>
        </p:txBody>
      </p:sp>
      <p:sp>
        <p:nvSpPr>
          <p:cNvPr id="92" name="Shape 90"/>
          <p:cNvSpPr/>
          <p:nvPr/>
        </p:nvSpPr>
        <p:spPr>
          <a:xfrm>
            <a:off x="6400800" y="4023360"/>
            <a:ext cx="1600200" cy="402336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400800" y="4023360"/>
            <a:ext cx="160020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 = RCP?</a:t>
            </a:r>
            <a:endParaRPr lang="ko-KR" sz="800" dirty="0"/>
          </a:p>
        </p:txBody>
      </p:sp>
      <p:sp>
        <p:nvSpPr>
          <p:cNvPr id="94" name="Shape 92"/>
          <p:cNvSpPr/>
          <p:nvPr/>
        </p:nvSpPr>
        <p:spPr>
          <a:xfrm>
            <a:off x="8284464" y="4023360"/>
            <a:ext cx="1600200" cy="40233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284464" y="4023360"/>
            <a:ext cx="160020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AEX 추가 / 제거 ·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AEX 검사구성 검증</a:t>
            </a:r>
            <a:endParaRPr lang="ko-KR" sz="800" dirty="0"/>
          </a:p>
        </p:txBody>
      </p:sp>
      <p:sp>
        <p:nvSpPr>
          <p:cNvPr id="96" name="Shape 94"/>
          <p:cNvSpPr/>
          <p:nvPr/>
        </p:nvSpPr>
        <p:spPr>
          <a:xfrm>
            <a:off x="10168128" y="4023360"/>
            <a:ext cx="1600200" cy="402336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168128" y="4023360"/>
            <a:ext cx="160020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AEX 변경 있음?</a:t>
            </a:r>
            <a:endParaRPr lang="ko-KR" sz="800" dirty="0"/>
          </a:p>
        </p:txBody>
      </p:sp>
      <p:sp>
        <p:nvSpPr>
          <p:cNvPr id="98" name="Shape 96"/>
          <p:cNvSpPr/>
          <p:nvPr/>
        </p:nvSpPr>
        <p:spPr>
          <a:xfrm>
            <a:off x="6400800" y="4590288"/>
            <a:ext cx="160020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400800" y="4590288"/>
            <a:ext cx="160020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변경 불가</a:t>
            </a:r>
            <a:endParaRPr lang="ko-KR" sz="800" dirty="0"/>
          </a:p>
        </p:txBody>
      </p:sp>
      <p:sp>
        <p:nvSpPr>
          <p:cNvPr id="100" name="Shape 98"/>
          <p:cNvSpPr/>
          <p:nvPr/>
        </p:nvSpPr>
        <p:spPr>
          <a:xfrm>
            <a:off x="6432804" y="4622292"/>
            <a:ext cx="1536192" cy="338328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284464" y="4590288"/>
            <a:ext cx="160020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284464" y="4590288"/>
            <a:ext cx="160020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없음 / No-op</a:t>
            </a:r>
            <a:endParaRPr lang="ko-KR" sz="800" dirty="0"/>
          </a:p>
        </p:txBody>
      </p:sp>
      <p:sp>
        <p:nvSpPr>
          <p:cNvPr id="103" name="Shape 101"/>
          <p:cNvSpPr/>
          <p:nvPr/>
        </p:nvSpPr>
        <p:spPr>
          <a:xfrm>
            <a:off x="8316468" y="4622292"/>
            <a:ext cx="1536192" cy="338328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168128" y="4590288"/>
            <a:ext cx="1600200" cy="40233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0168128" y="4590288"/>
            <a:ext cx="160020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AEX Detail 변경 +</a:t>
            </a:r>
            <a:endParaRPr lang="ko-KR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 동시성 갱신</a:t>
            </a:r>
            <a:endParaRPr lang="ko-KR" sz="800" dirty="0"/>
          </a:p>
        </p:txBody>
      </p:sp>
      <p:sp>
        <p:nvSpPr>
          <p:cNvPr id="106" name="Shape 104"/>
          <p:cNvSpPr/>
          <p:nvPr/>
        </p:nvSpPr>
        <p:spPr>
          <a:xfrm>
            <a:off x="8001000" y="4224528"/>
            <a:ext cx="2560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8019200" y="4147815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019200" y="4147815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109" name="Shape 107"/>
          <p:cNvSpPr/>
          <p:nvPr/>
        </p:nvSpPr>
        <p:spPr>
          <a:xfrm>
            <a:off x="9884664" y="4224528"/>
            <a:ext cx="25603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7200900" y="4425696"/>
            <a:ext cx="0" cy="13716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7305332" y="4431279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305332" y="4431279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113" name="Shape 111"/>
          <p:cNvSpPr/>
          <p:nvPr/>
        </p:nvSpPr>
        <p:spPr>
          <a:xfrm>
            <a:off x="11297412" y="4425696"/>
            <a:ext cx="0" cy="13716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14" name="Shape 112"/>
          <p:cNvSpPr/>
          <p:nvPr/>
        </p:nvSpPr>
        <p:spPr>
          <a:xfrm>
            <a:off x="11411624" y="4431279"/>
            <a:ext cx="247065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1411624" y="4431279"/>
            <a:ext cx="247065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</a:t>
            </a:r>
            <a:endParaRPr lang="ko-KR" sz="800" dirty="0"/>
          </a:p>
        </p:txBody>
      </p:sp>
      <p:sp>
        <p:nvSpPr>
          <p:cNvPr id="116" name="Shape 114"/>
          <p:cNvSpPr/>
          <p:nvPr/>
        </p:nvSpPr>
        <p:spPr>
          <a:xfrm>
            <a:off x="10639044" y="4425696"/>
            <a:ext cx="0" cy="82296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17" name="Shape 115"/>
          <p:cNvSpPr/>
          <p:nvPr/>
        </p:nvSpPr>
        <p:spPr>
          <a:xfrm flipH="1">
            <a:off x="9084564" y="4507992"/>
            <a:ext cx="155448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118" name="Shape 116"/>
          <p:cNvSpPr/>
          <p:nvPr/>
        </p:nvSpPr>
        <p:spPr>
          <a:xfrm>
            <a:off x="9084564" y="4507992"/>
            <a:ext cx="0" cy="5486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19" name="Shape 117"/>
          <p:cNvSpPr/>
          <p:nvPr/>
        </p:nvSpPr>
        <p:spPr>
          <a:xfrm>
            <a:off x="10286276" y="4431279"/>
            <a:ext cx="230049" cy="15342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286276" y="4431279"/>
            <a:ext cx="230049" cy="153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00" dirty="0"/>
          </a:p>
        </p:txBody>
      </p:sp>
      <p:sp>
        <p:nvSpPr>
          <p:cNvPr id="121" name="Text 119"/>
          <p:cNvSpPr/>
          <p:nvPr/>
        </p:nvSpPr>
        <p:spPr>
          <a:xfrm>
            <a:off x="6400800" y="5065776"/>
            <a:ext cx="536752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예약일·시간대·NEX는 ReadOnly. 실제 AEX 변경 시에만 Work의 RowVersion이 바뀐다.</a:t>
            </a:r>
            <a:endParaRPr lang="ko-KR" sz="900" dirty="0"/>
          </a:p>
        </p:txBody>
      </p:sp>
      <p:sp>
        <p:nvSpPr>
          <p:cNvPr id="122" name="Shape 120"/>
          <p:cNvSpPr/>
          <p:nvPr/>
        </p:nvSpPr>
        <p:spPr>
          <a:xfrm>
            <a:off x="420624" y="4754880"/>
            <a:ext cx="5669280" cy="450365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30352" y="4828032"/>
            <a:ext cx="5449824" cy="304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 업무 구분   —   접수 → P03-01 접수 처리   ·   조회 → P03-04 접수 조회</a:t>
            </a:r>
            <a:endParaRPr lang="ko-KR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→ P03-05 접수 변경   ·   취소 → P03-06 접수 취소</a:t>
            </a:r>
            <a:endParaRPr lang="ko-KR" sz="900" dirty="0"/>
          </a:p>
        </p:txBody>
      </p:sp>
      <p:sp>
        <p:nvSpPr>
          <p:cNvPr id="124" name="Shape 122"/>
          <p:cNvSpPr/>
          <p:nvPr/>
        </p:nvSpPr>
        <p:spPr>
          <a:xfrm>
            <a:off x="420624" y="5303520"/>
            <a:ext cx="11347704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12064" y="5303520"/>
            <a:ext cx="1116482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동시성 및 잠금 경계</a:t>
            </a:r>
            <a:endParaRPr lang="ko-KR" sz="1000" dirty="0"/>
          </a:p>
        </p:txBody>
      </p:sp>
      <p:sp>
        <p:nvSpPr>
          <p:cNvPr id="126" name="Shape 124"/>
          <p:cNvSpPr/>
          <p:nvPr/>
        </p:nvSpPr>
        <p:spPr>
          <a:xfrm>
            <a:off x="420624" y="5596128"/>
            <a:ext cx="11347704" cy="788210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30352" y="5669280"/>
            <a:ext cx="11128248" cy="641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수검자 수정과 같은 Patient의 신규예약 생성이 경합할 수 있으므로 Patient 단위 직렬화가 필요하다.</a:t>
            </a:r>
            <a:endParaRPr lang="ko-KR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신규예약·예약이동은 Patient와 대상 Slot을 같은 Transaction에서 잠그고 정원·중복을 재조회한다.</a:t>
            </a:r>
            <a:endParaRPr lang="ko-KR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예약이동의 중복조회에서는 변경 대상 WorkId를 제외하고 다른 유효업무만 확인한다.</a:t>
            </a:r>
            <a:endParaRPr lang="ko-KR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예약이동에서 기존 Slot과 신규 Slot을 함께 잠글 경우 정렬된 순서로 획득하여 교착 위험을 줄인다.</a:t>
            </a:r>
            <a:endParaRPr lang="ko-KR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4770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  ↔  정책 추적표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420624" y="6382512"/>
            <a:ext cx="1134770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정책: 원문 「정책 추적표」의 P01 5행 · P02 7행 · P03 6행, 총 18행을 그대로 옮긴다.</a:t>
            </a:r>
            <a:endParaRPr lang="ko-KR" sz="900" dirty="0"/>
          </a:p>
        </p:txBody>
      </p:sp>
      <p:sp>
        <p:nvSpPr>
          <p:cNvPr id="4" name="Shape 2"/>
          <p:cNvSpPr/>
          <p:nvPr/>
        </p:nvSpPr>
        <p:spPr>
          <a:xfrm>
            <a:off x="420624" y="1005840"/>
            <a:ext cx="3599688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05840"/>
            <a:ext cx="341680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  ↔  정책</a:t>
            </a:r>
            <a:endParaRPr lang="ko-KR" sz="1000" dirty="0"/>
          </a:p>
        </p:txBody>
      </p:sp>
      <p:sp>
        <p:nvSpPr>
          <p:cNvPr id="6" name="Shape 4"/>
          <p:cNvSpPr/>
          <p:nvPr/>
        </p:nvSpPr>
        <p:spPr>
          <a:xfrm>
            <a:off x="420624" y="1316736"/>
            <a:ext cx="1051560" cy="2926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" y="1316736"/>
            <a:ext cx="96012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</a:t>
            </a:r>
            <a:endParaRPr lang="ko-KR" sz="1000" dirty="0"/>
          </a:p>
        </p:txBody>
      </p:sp>
      <p:sp>
        <p:nvSpPr>
          <p:cNvPr id="8" name="Shape 6"/>
          <p:cNvSpPr/>
          <p:nvPr/>
        </p:nvSpPr>
        <p:spPr>
          <a:xfrm>
            <a:off x="1472184" y="1316736"/>
            <a:ext cx="2548128" cy="2926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17904" y="1316736"/>
            <a:ext cx="245668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정책</a:t>
            </a:r>
            <a:endParaRPr lang="ko-KR" sz="1000" dirty="0"/>
          </a:p>
        </p:txBody>
      </p:sp>
      <p:sp>
        <p:nvSpPr>
          <p:cNvPr id="10" name="Shape 8"/>
          <p:cNvSpPr/>
          <p:nvPr/>
        </p:nvSpPr>
        <p:spPr>
          <a:xfrm>
            <a:off x="420624" y="1609344"/>
            <a:ext cx="1051560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1655064"/>
            <a:ext cx="960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P01-01</a:t>
            </a:r>
            <a:endParaRPr lang="ko-KR" sz="1000" dirty="0"/>
          </a:p>
        </p:txBody>
      </p:sp>
      <p:sp>
        <p:nvSpPr>
          <p:cNvPr id="12" name="Shape 10"/>
          <p:cNvSpPr/>
          <p:nvPr/>
        </p:nvSpPr>
        <p:spPr>
          <a:xfrm>
            <a:off x="1472184" y="1609344"/>
            <a:ext cx="2548128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17904" y="1655064"/>
            <a:ext cx="245668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EP-01, EP-02</a:t>
            </a:r>
            <a:endParaRPr lang="ko-KR" sz="1000" dirty="0"/>
          </a:p>
        </p:txBody>
      </p:sp>
      <p:sp>
        <p:nvSpPr>
          <p:cNvPr id="14" name="Shape 12"/>
          <p:cNvSpPr/>
          <p:nvPr/>
        </p:nvSpPr>
        <p:spPr>
          <a:xfrm>
            <a:off x="420624" y="1975104"/>
            <a:ext cx="1051560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" y="2020824"/>
            <a:ext cx="960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P01-02</a:t>
            </a:r>
            <a:endParaRPr lang="ko-KR" sz="1000" dirty="0"/>
          </a:p>
        </p:txBody>
      </p:sp>
      <p:sp>
        <p:nvSpPr>
          <p:cNvPr id="16" name="Shape 14"/>
          <p:cNvSpPr/>
          <p:nvPr/>
        </p:nvSpPr>
        <p:spPr>
          <a:xfrm>
            <a:off x="1472184" y="1975104"/>
            <a:ext cx="2548128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17904" y="2020824"/>
            <a:ext cx="245668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EP-03, EP-04, EP-09</a:t>
            </a:r>
            <a:endParaRPr lang="ko-KR" sz="1000" dirty="0"/>
          </a:p>
        </p:txBody>
      </p:sp>
      <p:sp>
        <p:nvSpPr>
          <p:cNvPr id="18" name="Shape 16"/>
          <p:cNvSpPr/>
          <p:nvPr/>
        </p:nvSpPr>
        <p:spPr>
          <a:xfrm>
            <a:off x="420624" y="2340864"/>
            <a:ext cx="1051560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" y="2386584"/>
            <a:ext cx="960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P01-03</a:t>
            </a:r>
            <a:endParaRPr lang="ko-KR" sz="1000" dirty="0"/>
          </a:p>
        </p:txBody>
      </p:sp>
      <p:sp>
        <p:nvSpPr>
          <p:cNvPr id="20" name="Shape 18"/>
          <p:cNvSpPr/>
          <p:nvPr/>
        </p:nvSpPr>
        <p:spPr>
          <a:xfrm>
            <a:off x="1472184" y="2340864"/>
            <a:ext cx="2548128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17904" y="2386584"/>
            <a:ext cx="245668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EP-05~07</a:t>
            </a:r>
            <a:endParaRPr lang="ko-KR" sz="1000" dirty="0"/>
          </a:p>
        </p:txBody>
      </p:sp>
      <p:sp>
        <p:nvSpPr>
          <p:cNvPr id="22" name="Shape 20"/>
          <p:cNvSpPr/>
          <p:nvPr/>
        </p:nvSpPr>
        <p:spPr>
          <a:xfrm>
            <a:off x="420624" y="2706624"/>
            <a:ext cx="1051560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" y="2752344"/>
            <a:ext cx="960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P01-04</a:t>
            </a:r>
            <a:endParaRPr lang="ko-KR" sz="1000" dirty="0"/>
          </a:p>
        </p:txBody>
      </p:sp>
      <p:sp>
        <p:nvSpPr>
          <p:cNvPr id="24" name="Shape 22"/>
          <p:cNvSpPr/>
          <p:nvPr/>
        </p:nvSpPr>
        <p:spPr>
          <a:xfrm>
            <a:off x="1472184" y="2706624"/>
            <a:ext cx="2548128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17904" y="2752344"/>
            <a:ext cx="245668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EP-04, EP-08, CP-06</a:t>
            </a:r>
            <a:endParaRPr lang="ko-KR" sz="1000" dirty="0"/>
          </a:p>
        </p:txBody>
      </p:sp>
      <p:sp>
        <p:nvSpPr>
          <p:cNvPr id="26" name="Shape 24"/>
          <p:cNvSpPr/>
          <p:nvPr/>
        </p:nvSpPr>
        <p:spPr>
          <a:xfrm>
            <a:off x="420624" y="3072384"/>
            <a:ext cx="1051560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" y="3118104"/>
            <a:ext cx="960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P01-05</a:t>
            </a:r>
            <a:endParaRPr lang="ko-KR" sz="1000" dirty="0"/>
          </a:p>
        </p:txBody>
      </p:sp>
      <p:sp>
        <p:nvSpPr>
          <p:cNvPr id="28" name="Shape 26"/>
          <p:cNvSpPr/>
          <p:nvPr/>
        </p:nvSpPr>
        <p:spPr>
          <a:xfrm>
            <a:off x="1472184" y="3072384"/>
            <a:ext cx="2548128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17904" y="3118104"/>
            <a:ext cx="245668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EP-03, EP-05, EP-08</a:t>
            </a:r>
            <a:endParaRPr lang="ko-KR" sz="1000" dirty="0"/>
          </a:p>
        </p:txBody>
      </p:sp>
      <p:sp>
        <p:nvSpPr>
          <p:cNvPr id="30" name="Shape 28"/>
          <p:cNvSpPr/>
          <p:nvPr/>
        </p:nvSpPr>
        <p:spPr>
          <a:xfrm>
            <a:off x="4294632" y="1005840"/>
            <a:ext cx="3599688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6072" y="1005840"/>
            <a:ext cx="341680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  ↔  정책</a:t>
            </a:r>
            <a:endParaRPr lang="ko-KR" sz="1000" dirty="0"/>
          </a:p>
        </p:txBody>
      </p:sp>
      <p:sp>
        <p:nvSpPr>
          <p:cNvPr id="32" name="Shape 30"/>
          <p:cNvSpPr/>
          <p:nvPr/>
        </p:nvSpPr>
        <p:spPr>
          <a:xfrm>
            <a:off x="4294632" y="1316736"/>
            <a:ext cx="1051560" cy="2926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0352" y="1316736"/>
            <a:ext cx="96012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</a:t>
            </a:r>
            <a:endParaRPr lang="ko-KR" sz="1000" dirty="0"/>
          </a:p>
        </p:txBody>
      </p:sp>
      <p:sp>
        <p:nvSpPr>
          <p:cNvPr id="34" name="Shape 32"/>
          <p:cNvSpPr/>
          <p:nvPr/>
        </p:nvSpPr>
        <p:spPr>
          <a:xfrm>
            <a:off x="5346192" y="1316736"/>
            <a:ext cx="2548128" cy="2926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1912" y="1316736"/>
            <a:ext cx="245668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정책</a:t>
            </a:r>
            <a:endParaRPr lang="ko-KR" sz="1000" dirty="0"/>
          </a:p>
        </p:txBody>
      </p:sp>
      <p:sp>
        <p:nvSpPr>
          <p:cNvPr id="36" name="Shape 34"/>
          <p:cNvSpPr/>
          <p:nvPr/>
        </p:nvSpPr>
        <p:spPr>
          <a:xfrm>
            <a:off x="4294632" y="1609344"/>
            <a:ext cx="1051560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0352" y="1655064"/>
            <a:ext cx="960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P02-01</a:t>
            </a:r>
            <a:endParaRPr lang="ko-KR" sz="1000" dirty="0"/>
          </a:p>
        </p:txBody>
      </p:sp>
      <p:sp>
        <p:nvSpPr>
          <p:cNvPr id="38" name="Shape 36"/>
          <p:cNvSpPr/>
          <p:nvPr/>
        </p:nvSpPr>
        <p:spPr>
          <a:xfrm>
            <a:off x="5346192" y="1609344"/>
            <a:ext cx="2548128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1912" y="1655064"/>
            <a:ext cx="245668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RP-01, RP-06</a:t>
            </a:r>
            <a:endParaRPr lang="ko-KR" sz="1000" dirty="0"/>
          </a:p>
        </p:txBody>
      </p:sp>
      <p:sp>
        <p:nvSpPr>
          <p:cNvPr id="40" name="Shape 38"/>
          <p:cNvSpPr/>
          <p:nvPr/>
        </p:nvSpPr>
        <p:spPr>
          <a:xfrm>
            <a:off x="4294632" y="1975104"/>
            <a:ext cx="1051560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0352" y="2020824"/>
            <a:ext cx="960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P02-02</a:t>
            </a:r>
            <a:endParaRPr lang="ko-KR" sz="1000" dirty="0"/>
          </a:p>
        </p:txBody>
      </p:sp>
      <p:sp>
        <p:nvSpPr>
          <p:cNvPr id="42" name="Shape 40"/>
          <p:cNvSpPr/>
          <p:nvPr/>
        </p:nvSpPr>
        <p:spPr>
          <a:xfrm>
            <a:off x="5346192" y="1975104"/>
            <a:ext cx="2548128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91912" y="2020824"/>
            <a:ext cx="245668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RP-07, RP-08, TGT, NEX, AEX</a:t>
            </a:r>
            <a:endParaRPr lang="ko-KR" sz="1000" dirty="0"/>
          </a:p>
        </p:txBody>
      </p:sp>
      <p:sp>
        <p:nvSpPr>
          <p:cNvPr id="44" name="Shape 42"/>
          <p:cNvSpPr/>
          <p:nvPr/>
        </p:nvSpPr>
        <p:spPr>
          <a:xfrm>
            <a:off x="4294632" y="2340864"/>
            <a:ext cx="1051560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40352" y="2386584"/>
            <a:ext cx="960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P02-03</a:t>
            </a:r>
            <a:endParaRPr lang="ko-KR" sz="1000" dirty="0"/>
          </a:p>
        </p:txBody>
      </p:sp>
      <p:sp>
        <p:nvSpPr>
          <p:cNvPr id="46" name="Shape 44"/>
          <p:cNvSpPr/>
          <p:nvPr/>
        </p:nvSpPr>
        <p:spPr>
          <a:xfrm>
            <a:off x="5346192" y="2340864"/>
            <a:ext cx="2548128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91912" y="2386584"/>
            <a:ext cx="245668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RP-02, RP-04, RP-05</a:t>
            </a:r>
            <a:endParaRPr lang="ko-KR" sz="1000" dirty="0"/>
          </a:p>
        </p:txBody>
      </p:sp>
      <p:sp>
        <p:nvSpPr>
          <p:cNvPr id="48" name="Shape 46"/>
          <p:cNvSpPr/>
          <p:nvPr/>
        </p:nvSpPr>
        <p:spPr>
          <a:xfrm>
            <a:off x="4294632" y="2706624"/>
            <a:ext cx="1051560" cy="429285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40352" y="2752344"/>
            <a:ext cx="960120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P02-04</a:t>
            </a:r>
            <a:endParaRPr lang="ko-KR" sz="1000" dirty="0"/>
          </a:p>
        </p:txBody>
      </p:sp>
      <p:sp>
        <p:nvSpPr>
          <p:cNvPr id="50" name="Shape 48"/>
          <p:cNvSpPr/>
          <p:nvPr/>
        </p:nvSpPr>
        <p:spPr>
          <a:xfrm>
            <a:off x="5346192" y="2706624"/>
            <a:ext cx="2548128" cy="429285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91912" y="2752344"/>
            <a:ext cx="2456688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CP-01~04, HOL, RP-02~06, RP-09, 마감시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 정책</a:t>
            </a:r>
            <a:endParaRPr lang="ko-KR" sz="1000" dirty="0"/>
          </a:p>
        </p:txBody>
      </p:sp>
      <p:sp>
        <p:nvSpPr>
          <p:cNvPr id="52" name="Shape 50"/>
          <p:cNvSpPr/>
          <p:nvPr/>
        </p:nvSpPr>
        <p:spPr>
          <a:xfrm>
            <a:off x="4294632" y="3135909"/>
            <a:ext cx="1051560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40352" y="3181629"/>
            <a:ext cx="960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P02-05</a:t>
            </a:r>
            <a:endParaRPr lang="ko-KR" sz="1000" dirty="0"/>
          </a:p>
        </p:txBody>
      </p:sp>
      <p:sp>
        <p:nvSpPr>
          <p:cNvPr id="54" name="Shape 52"/>
          <p:cNvSpPr/>
          <p:nvPr/>
        </p:nvSpPr>
        <p:spPr>
          <a:xfrm>
            <a:off x="5346192" y="3135909"/>
            <a:ext cx="2548128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91912" y="3181629"/>
            <a:ext cx="245668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CP-05, 상태 해석</a:t>
            </a:r>
            <a:endParaRPr lang="ko-KR" sz="1000" dirty="0"/>
          </a:p>
        </p:txBody>
      </p:sp>
      <p:sp>
        <p:nvSpPr>
          <p:cNvPr id="56" name="Shape 54"/>
          <p:cNvSpPr/>
          <p:nvPr/>
        </p:nvSpPr>
        <p:spPr>
          <a:xfrm>
            <a:off x="4294632" y="3501669"/>
            <a:ext cx="1051560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40352" y="3547389"/>
            <a:ext cx="960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P02-06</a:t>
            </a:r>
            <a:endParaRPr lang="ko-KR" sz="1000" dirty="0"/>
          </a:p>
        </p:txBody>
      </p:sp>
      <p:sp>
        <p:nvSpPr>
          <p:cNvPr id="58" name="Shape 56"/>
          <p:cNvSpPr/>
          <p:nvPr/>
        </p:nvSpPr>
        <p:spPr>
          <a:xfrm>
            <a:off x="5346192" y="3501669"/>
            <a:ext cx="2548128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91912" y="3547389"/>
            <a:ext cx="245668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RP-03, RP-06~09, TGT, NEX, AEX</a:t>
            </a:r>
            <a:endParaRPr lang="ko-KR" sz="1000" dirty="0"/>
          </a:p>
        </p:txBody>
      </p:sp>
      <p:sp>
        <p:nvSpPr>
          <p:cNvPr id="60" name="Shape 58"/>
          <p:cNvSpPr/>
          <p:nvPr/>
        </p:nvSpPr>
        <p:spPr>
          <a:xfrm>
            <a:off x="4294632" y="3867429"/>
            <a:ext cx="1051560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40352" y="3913149"/>
            <a:ext cx="960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P02-07</a:t>
            </a:r>
            <a:endParaRPr lang="ko-KR" sz="1000" dirty="0"/>
          </a:p>
        </p:txBody>
      </p:sp>
      <p:sp>
        <p:nvSpPr>
          <p:cNvPr id="62" name="Shape 60"/>
          <p:cNvSpPr/>
          <p:nvPr/>
        </p:nvSpPr>
        <p:spPr>
          <a:xfrm>
            <a:off x="5346192" y="3867429"/>
            <a:ext cx="2548128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91912" y="3913149"/>
            <a:ext cx="245668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CP-05, RP-10</a:t>
            </a:r>
            <a:endParaRPr lang="ko-KR" sz="1000" dirty="0"/>
          </a:p>
        </p:txBody>
      </p:sp>
      <p:sp>
        <p:nvSpPr>
          <p:cNvPr id="64" name="Shape 62"/>
          <p:cNvSpPr/>
          <p:nvPr/>
        </p:nvSpPr>
        <p:spPr>
          <a:xfrm>
            <a:off x="8168640" y="1005840"/>
            <a:ext cx="3599688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260080" y="1005840"/>
            <a:ext cx="341680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  ↔  정책</a:t>
            </a:r>
            <a:endParaRPr lang="ko-KR" sz="1000" dirty="0"/>
          </a:p>
        </p:txBody>
      </p:sp>
      <p:sp>
        <p:nvSpPr>
          <p:cNvPr id="66" name="Shape 64"/>
          <p:cNvSpPr/>
          <p:nvPr/>
        </p:nvSpPr>
        <p:spPr>
          <a:xfrm>
            <a:off x="8168640" y="1316736"/>
            <a:ext cx="1051560" cy="2926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14360" y="1316736"/>
            <a:ext cx="96012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</a:t>
            </a:r>
            <a:endParaRPr lang="ko-KR" sz="1000" dirty="0"/>
          </a:p>
        </p:txBody>
      </p:sp>
      <p:sp>
        <p:nvSpPr>
          <p:cNvPr id="68" name="Shape 66"/>
          <p:cNvSpPr/>
          <p:nvPr/>
        </p:nvSpPr>
        <p:spPr>
          <a:xfrm>
            <a:off x="9220200" y="1316736"/>
            <a:ext cx="2548128" cy="2926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265920" y="1316736"/>
            <a:ext cx="245668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정책</a:t>
            </a:r>
            <a:endParaRPr lang="ko-KR" sz="1000" dirty="0"/>
          </a:p>
        </p:txBody>
      </p:sp>
      <p:sp>
        <p:nvSpPr>
          <p:cNvPr id="70" name="Shape 68"/>
          <p:cNvSpPr/>
          <p:nvPr/>
        </p:nvSpPr>
        <p:spPr>
          <a:xfrm>
            <a:off x="8168640" y="1609344"/>
            <a:ext cx="1051560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14360" y="1655064"/>
            <a:ext cx="960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P03-01</a:t>
            </a:r>
            <a:endParaRPr lang="ko-KR" sz="1000" dirty="0"/>
          </a:p>
        </p:txBody>
      </p:sp>
      <p:sp>
        <p:nvSpPr>
          <p:cNvPr id="72" name="Shape 70"/>
          <p:cNvSpPr/>
          <p:nvPr/>
        </p:nvSpPr>
        <p:spPr>
          <a:xfrm>
            <a:off x="9220200" y="1609344"/>
            <a:ext cx="2548128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265920" y="1655064"/>
            <a:ext cx="245668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RCP-01, RCP-04, RP-08</a:t>
            </a:r>
            <a:endParaRPr lang="ko-KR" sz="1000" dirty="0"/>
          </a:p>
        </p:txBody>
      </p:sp>
      <p:sp>
        <p:nvSpPr>
          <p:cNvPr id="74" name="Shape 72"/>
          <p:cNvSpPr/>
          <p:nvPr/>
        </p:nvSpPr>
        <p:spPr>
          <a:xfrm>
            <a:off x="8168640" y="1975104"/>
            <a:ext cx="1051560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14360" y="2020824"/>
            <a:ext cx="960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P03-02</a:t>
            </a:r>
            <a:endParaRPr lang="ko-KR" sz="1000" dirty="0"/>
          </a:p>
        </p:txBody>
      </p:sp>
      <p:sp>
        <p:nvSpPr>
          <p:cNvPr id="76" name="Shape 74"/>
          <p:cNvSpPr/>
          <p:nvPr/>
        </p:nvSpPr>
        <p:spPr>
          <a:xfrm>
            <a:off x="9220200" y="1975104"/>
            <a:ext cx="2548128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265920" y="2020824"/>
            <a:ext cx="245668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CP-05, RP-05, RP-06, RCP-01</a:t>
            </a:r>
            <a:endParaRPr lang="ko-KR" sz="1000" dirty="0"/>
          </a:p>
        </p:txBody>
      </p:sp>
      <p:sp>
        <p:nvSpPr>
          <p:cNvPr id="78" name="Shape 76"/>
          <p:cNvSpPr/>
          <p:nvPr/>
        </p:nvSpPr>
        <p:spPr>
          <a:xfrm>
            <a:off x="8168640" y="2340864"/>
            <a:ext cx="1051560" cy="429285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14360" y="2386584"/>
            <a:ext cx="960120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P03-03</a:t>
            </a:r>
            <a:endParaRPr lang="ko-KR" sz="1000" dirty="0"/>
          </a:p>
        </p:txBody>
      </p:sp>
      <p:sp>
        <p:nvSpPr>
          <p:cNvPr id="80" name="Shape 78"/>
          <p:cNvSpPr/>
          <p:nvPr/>
        </p:nvSpPr>
        <p:spPr>
          <a:xfrm>
            <a:off x="9220200" y="2340864"/>
            <a:ext cx="2548128" cy="429285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265920" y="2386584"/>
            <a:ext cx="2456688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CP-01~04, HOL, RCP-02, RCP-03, 마감시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 정책</a:t>
            </a:r>
            <a:endParaRPr lang="ko-KR" sz="1000" dirty="0"/>
          </a:p>
        </p:txBody>
      </p:sp>
      <p:sp>
        <p:nvSpPr>
          <p:cNvPr id="82" name="Shape 80"/>
          <p:cNvSpPr/>
          <p:nvPr/>
        </p:nvSpPr>
        <p:spPr>
          <a:xfrm>
            <a:off x="8168640" y="2770149"/>
            <a:ext cx="1051560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214360" y="2815869"/>
            <a:ext cx="960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P03-04</a:t>
            </a:r>
            <a:endParaRPr lang="ko-KR" sz="1000" dirty="0"/>
          </a:p>
        </p:txBody>
      </p:sp>
      <p:sp>
        <p:nvSpPr>
          <p:cNvPr id="84" name="Shape 82"/>
          <p:cNvSpPr/>
          <p:nvPr/>
        </p:nvSpPr>
        <p:spPr>
          <a:xfrm>
            <a:off x="9220200" y="2770149"/>
            <a:ext cx="2548128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265920" y="2815869"/>
            <a:ext cx="245668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CP-05, 상태 해석</a:t>
            </a:r>
            <a:endParaRPr lang="ko-KR" sz="1000" dirty="0"/>
          </a:p>
        </p:txBody>
      </p:sp>
      <p:sp>
        <p:nvSpPr>
          <p:cNvPr id="86" name="Shape 84"/>
          <p:cNvSpPr/>
          <p:nvPr/>
        </p:nvSpPr>
        <p:spPr>
          <a:xfrm>
            <a:off x="8168640" y="3135909"/>
            <a:ext cx="1051560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214360" y="3181629"/>
            <a:ext cx="960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P03-05</a:t>
            </a:r>
            <a:endParaRPr lang="ko-KR" sz="1000" dirty="0"/>
          </a:p>
        </p:txBody>
      </p:sp>
      <p:sp>
        <p:nvSpPr>
          <p:cNvPr id="88" name="Shape 86"/>
          <p:cNvSpPr/>
          <p:nvPr/>
        </p:nvSpPr>
        <p:spPr>
          <a:xfrm>
            <a:off x="9220200" y="3135909"/>
            <a:ext cx="2548128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265920" y="3181629"/>
            <a:ext cx="245668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RP-08, AEX, RCP-05</a:t>
            </a:r>
            <a:endParaRPr lang="ko-KR" sz="1000" dirty="0"/>
          </a:p>
        </p:txBody>
      </p:sp>
      <p:sp>
        <p:nvSpPr>
          <p:cNvPr id="90" name="Shape 88"/>
          <p:cNvSpPr/>
          <p:nvPr/>
        </p:nvSpPr>
        <p:spPr>
          <a:xfrm>
            <a:off x="8168640" y="3501669"/>
            <a:ext cx="1051560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214360" y="3547389"/>
            <a:ext cx="960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P03-06</a:t>
            </a:r>
            <a:endParaRPr lang="ko-KR" sz="1000" dirty="0"/>
          </a:p>
        </p:txBody>
      </p:sp>
      <p:sp>
        <p:nvSpPr>
          <p:cNvPr id="92" name="Shape 90"/>
          <p:cNvSpPr/>
          <p:nvPr/>
        </p:nvSpPr>
        <p:spPr>
          <a:xfrm>
            <a:off x="9220200" y="3501669"/>
            <a:ext cx="2548128" cy="36576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265920" y="3547389"/>
            <a:ext cx="245668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CP-05, RCP-06</a:t>
            </a:r>
            <a:endParaRPr lang="ko-KR" sz="1000" dirty="0"/>
          </a:p>
        </p:txBody>
      </p:sp>
      <p:sp>
        <p:nvSpPr>
          <p:cNvPr id="94" name="Shape 92"/>
          <p:cNvSpPr/>
          <p:nvPr/>
        </p:nvSpPr>
        <p:spPr>
          <a:xfrm>
            <a:off x="420624" y="4352544"/>
            <a:ext cx="11347704" cy="237744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12064" y="4352544"/>
            <a:ext cx="1116482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계열</a:t>
            </a:r>
            <a:endParaRPr lang="ko-KR" sz="1000" dirty="0"/>
          </a:p>
        </p:txBody>
      </p:sp>
      <p:sp>
        <p:nvSpPr>
          <p:cNvPr id="96" name="Shape 94"/>
          <p:cNvSpPr/>
          <p:nvPr/>
        </p:nvSpPr>
        <p:spPr>
          <a:xfrm>
            <a:off x="420624" y="4626864"/>
            <a:ext cx="105156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66344" y="4626864"/>
            <a:ext cx="960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</a:t>
            </a:r>
            <a:endParaRPr lang="ko-KR" sz="950" dirty="0"/>
          </a:p>
        </p:txBody>
      </p:sp>
      <p:sp>
        <p:nvSpPr>
          <p:cNvPr id="98" name="Shape 96"/>
          <p:cNvSpPr/>
          <p:nvPr/>
        </p:nvSpPr>
        <p:spPr>
          <a:xfrm>
            <a:off x="1472184" y="4626864"/>
            <a:ext cx="461772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517904" y="4626864"/>
            <a:ext cx="4526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endParaRPr lang="ko-KR" sz="950" dirty="0"/>
          </a:p>
        </p:txBody>
      </p:sp>
      <p:sp>
        <p:nvSpPr>
          <p:cNvPr id="100" name="Shape 98"/>
          <p:cNvSpPr/>
          <p:nvPr/>
        </p:nvSpPr>
        <p:spPr>
          <a:xfrm>
            <a:off x="6089904" y="4626864"/>
            <a:ext cx="1051560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135624" y="4626864"/>
            <a:ext cx="9601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</a:t>
            </a:r>
            <a:endParaRPr lang="ko-KR" sz="950" dirty="0"/>
          </a:p>
        </p:txBody>
      </p:sp>
      <p:sp>
        <p:nvSpPr>
          <p:cNvPr id="102" name="Shape 100"/>
          <p:cNvSpPr/>
          <p:nvPr/>
        </p:nvSpPr>
        <p:spPr>
          <a:xfrm>
            <a:off x="7141464" y="4626864"/>
            <a:ext cx="4626864" cy="27432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187184" y="4626864"/>
            <a:ext cx="453542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endParaRPr lang="ko-KR" sz="950" dirty="0"/>
          </a:p>
        </p:txBody>
      </p:sp>
      <p:sp>
        <p:nvSpPr>
          <p:cNvPr id="104" name="Shape 102"/>
          <p:cNvSpPr/>
          <p:nvPr/>
        </p:nvSpPr>
        <p:spPr>
          <a:xfrm>
            <a:off x="420624" y="4901184"/>
            <a:ext cx="105156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66344" y="4946904"/>
            <a:ext cx="960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</a:t>
            </a:r>
            <a:endParaRPr lang="ko-KR" sz="950" dirty="0"/>
          </a:p>
        </p:txBody>
      </p:sp>
      <p:sp>
        <p:nvSpPr>
          <p:cNvPr id="106" name="Shape 104"/>
          <p:cNvSpPr/>
          <p:nvPr/>
        </p:nvSpPr>
        <p:spPr>
          <a:xfrm>
            <a:off x="1472184" y="4901184"/>
            <a:ext cx="461772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517904" y="4946904"/>
            <a:ext cx="45262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— 업무 가능일 · 운영요일 · 휴무일 · 운영시간 · 취소 보존</a:t>
            </a:r>
            <a:endParaRPr lang="ko-KR" sz="950" dirty="0"/>
          </a:p>
        </p:txBody>
      </p:sp>
      <p:sp>
        <p:nvSpPr>
          <p:cNvPr id="108" name="Shape 106"/>
          <p:cNvSpPr/>
          <p:nvPr/>
        </p:nvSpPr>
        <p:spPr>
          <a:xfrm>
            <a:off x="6089904" y="4901184"/>
            <a:ext cx="105156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135624" y="4946904"/>
            <a:ext cx="960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TGT</a:t>
            </a:r>
            <a:endParaRPr lang="ko-KR" sz="950" dirty="0"/>
          </a:p>
        </p:txBody>
      </p:sp>
      <p:sp>
        <p:nvSpPr>
          <p:cNvPr id="110" name="Shape 108"/>
          <p:cNvSpPr/>
          <p:nvPr/>
        </p:nvSpPr>
        <p:spPr>
          <a:xfrm>
            <a:off x="7141464" y="4901184"/>
            <a:ext cx="4626864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187184" y="4946904"/>
            <a:ext cx="453542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일반건강검진 대상판정 Rule</a:t>
            </a:r>
            <a:endParaRPr lang="ko-KR" sz="950" dirty="0"/>
          </a:p>
        </p:txBody>
      </p:sp>
      <p:sp>
        <p:nvSpPr>
          <p:cNvPr id="112" name="Shape 110"/>
          <p:cNvSpPr/>
          <p:nvPr/>
        </p:nvSpPr>
        <p:spPr>
          <a:xfrm>
            <a:off x="420624" y="5175504"/>
            <a:ext cx="105156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66344" y="5221224"/>
            <a:ext cx="960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</a:t>
            </a:r>
            <a:endParaRPr lang="ko-KR" sz="950" dirty="0"/>
          </a:p>
        </p:txBody>
      </p:sp>
      <p:sp>
        <p:nvSpPr>
          <p:cNvPr id="114" name="Shape 112"/>
          <p:cNvSpPr/>
          <p:nvPr/>
        </p:nvSpPr>
        <p:spPr>
          <a:xfrm>
            <a:off x="1472184" y="5175504"/>
            <a:ext cx="461772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517904" y="5221224"/>
            <a:ext cx="45262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— 관리 단위 · 차트번호 · 필수정보 · 중복등록 · 변경 제한</a:t>
            </a:r>
            <a:endParaRPr lang="ko-KR" sz="950" dirty="0"/>
          </a:p>
        </p:txBody>
      </p:sp>
      <p:sp>
        <p:nvSpPr>
          <p:cNvPr id="116" name="Shape 114"/>
          <p:cNvSpPr/>
          <p:nvPr/>
        </p:nvSpPr>
        <p:spPr>
          <a:xfrm>
            <a:off x="6089904" y="5175504"/>
            <a:ext cx="105156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135624" y="5221224"/>
            <a:ext cx="960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</a:t>
            </a:r>
            <a:endParaRPr lang="ko-KR" sz="950" dirty="0"/>
          </a:p>
        </p:txBody>
      </p:sp>
      <p:sp>
        <p:nvSpPr>
          <p:cNvPr id="118" name="Shape 116"/>
          <p:cNvSpPr/>
          <p:nvPr/>
        </p:nvSpPr>
        <p:spPr>
          <a:xfrm>
            <a:off x="7141464" y="5175504"/>
            <a:ext cx="4626864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187184" y="5221224"/>
            <a:ext cx="453542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국가검진 검사오더 생성 Rule (기본 8종 + 조건부 0~3종)</a:t>
            </a:r>
            <a:endParaRPr lang="ko-KR" sz="950" dirty="0"/>
          </a:p>
        </p:txBody>
      </p:sp>
      <p:sp>
        <p:nvSpPr>
          <p:cNvPr id="120" name="Shape 118"/>
          <p:cNvSpPr/>
          <p:nvPr/>
        </p:nvSpPr>
        <p:spPr>
          <a:xfrm>
            <a:off x="420624" y="5449824"/>
            <a:ext cx="105156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66344" y="5495544"/>
            <a:ext cx="960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RP</a:t>
            </a:r>
            <a:endParaRPr lang="ko-KR" sz="950" dirty="0"/>
          </a:p>
        </p:txBody>
      </p:sp>
      <p:sp>
        <p:nvSpPr>
          <p:cNvPr id="122" name="Shape 120"/>
          <p:cNvSpPr/>
          <p:nvPr/>
        </p:nvSpPr>
        <p:spPr>
          <a:xfrm>
            <a:off x="1472184" y="5449824"/>
            <a:ext cx="461772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517904" y="5495544"/>
            <a:ext cx="45262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— 일정 · 정원 · 당일/현장예약 · 중복예약 · 검사 구성 · 변경</a:t>
            </a:r>
            <a:endParaRPr lang="ko-KR" sz="950" dirty="0"/>
          </a:p>
        </p:txBody>
      </p:sp>
      <p:sp>
        <p:nvSpPr>
          <p:cNvPr id="124" name="Shape 122"/>
          <p:cNvSpPr/>
          <p:nvPr/>
        </p:nvSpPr>
        <p:spPr>
          <a:xfrm>
            <a:off x="6089904" y="5449824"/>
            <a:ext cx="105156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135624" y="5495544"/>
            <a:ext cx="960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AEX</a:t>
            </a:r>
            <a:endParaRPr lang="ko-KR" sz="950" dirty="0"/>
          </a:p>
        </p:txBody>
      </p:sp>
      <p:sp>
        <p:nvSpPr>
          <p:cNvPr id="126" name="Shape 124"/>
          <p:cNvSpPr/>
          <p:nvPr/>
        </p:nvSpPr>
        <p:spPr>
          <a:xfrm>
            <a:off x="7141464" y="5449824"/>
            <a:ext cx="4626864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187184" y="5495544"/>
            <a:ext cx="453542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본인부담 추가검사 Master / Rule</a:t>
            </a:r>
            <a:endParaRPr lang="ko-KR" sz="950" dirty="0"/>
          </a:p>
        </p:txBody>
      </p:sp>
      <p:sp>
        <p:nvSpPr>
          <p:cNvPr id="128" name="Shape 126"/>
          <p:cNvSpPr/>
          <p:nvPr/>
        </p:nvSpPr>
        <p:spPr>
          <a:xfrm>
            <a:off x="420624" y="5724144"/>
            <a:ext cx="105156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66344" y="5769864"/>
            <a:ext cx="960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RCP</a:t>
            </a:r>
            <a:endParaRPr lang="ko-KR" sz="950" dirty="0"/>
          </a:p>
        </p:txBody>
      </p:sp>
      <p:sp>
        <p:nvSpPr>
          <p:cNvPr id="130" name="Shape 128"/>
          <p:cNvSpPr/>
          <p:nvPr/>
        </p:nvSpPr>
        <p:spPr>
          <a:xfrm>
            <a:off x="1472184" y="5724144"/>
            <a:ext cx="461772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517904" y="5769864"/>
            <a:ext cx="45262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— 예약 전제 · 접수 가능조건 · 중복접수 · 접수 변경 · 접수 취소</a:t>
            </a:r>
            <a:endParaRPr lang="ko-KR" sz="950" dirty="0"/>
          </a:p>
        </p:txBody>
      </p:sp>
      <p:sp>
        <p:nvSpPr>
          <p:cNvPr id="132" name="Shape 130"/>
          <p:cNvSpPr/>
          <p:nvPr/>
        </p:nvSpPr>
        <p:spPr>
          <a:xfrm>
            <a:off x="6089904" y="5724144"/>
            <a:ext cx="105156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135624" y="5769864"/>
            <a:ext cx="960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HOL</a:t>
            </a:r>
            <a:endParaRPr lang="ko-KR" sz="950" dirty="0"/>
          </a:p>
        </p:txBody>
      </p:sp>
      <p:sp>
        <p:nvSpPr>
          <p:cNvPr id="134" name="Shape 132"/>
          <p:cNvSpPr/>
          <p:nvPr/>
        </p:nvSpPr>
        <p:spPr>
          <a:xfrm>
            <a:off x="7141464" y="5724144"/>
            <a:ext cx="4626864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187184" y="5769864"/>
            <a:ext cx="453542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휴무일 기준 Rule</a:t>
            </a:r>
            <a:endParaRPr lang="ko-KR" sz="950" dirty="0"/>
          </a:p>
        </p:txBody>
      </p:sp>
      <p:sp>
        <p:nvSpPr>
          <p:cNvPr id="136" name="Shape 134"/>
          <p:cNvSpPr/>
          <p:nvPr/>
        </p:nvSpPr>
        <p:spPr>
          <a:xfrm>
            <a:off x="420624" y="5998464"/>
            <a:ext cx="105156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66344" y="6044184"/>
            <a:ext cx="960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해석</a:t>
            </a:r>
            <a:endParaRPr lang="ko-KR" sz="950" dirty="0"/>
          </a:p>
        </p:txBody>
      </p:sp>
      <p:sp>
        <p:nvSpPr>
          <p:cNvPr id="138" name="Shape 136"/>
          <p:cNvSpPr/>
          <p:nvPr/>
        </p:nvSpPr>
        <p:spPr>
          <a:xfrm>
            <a:off x="1472184" y="5998464"/>
            <a:ext cx="461772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517904" y="6044184"/>
            <a:ext cx="45262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예약·접수 상태(RSV / RCP / CNR / CNC) 해석 기준</a:t>
            </a:r>
            <a:endParaRPr lang="ko-KR" sz="950" dirty="0"/>
          </a:p>
        </p:txBody>
      </p:sp>
      <p:sp>
        <p:nvSpPr>
          <p:cNvPr id="140" name="Shape 138"/>
          <p:cNvSpPr/>
          <p:nvPr/>
        </p:nvSpPr>
        <p:spPr>
          <a:xfrm>
            <a:off x="6089904" y="5998464"/>
            <a:ext cx="1051560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135624" y="6044184"/>
            <a:ext cx="960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마감시간 정책</a:t>
            </a:r>
            <a:endParaRPr lang="ko-KR" sz="950" dirty="0"/>
          </a:p>
        </p:txBody>
      </p:sp>
      <p:sp>
        <p:nvSpPr>
          <p:cNvPr id="142" name="Shape 140"/>
          <p:cNvSpPr/>
          <p:nvPr/>
        </p:nvSpPr>
        <p:spPr>
          <a:xfrm>
            <a:off x="7141464" y="5998464"/>
            <a:ext cx="4626864" cy="27432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7187184" y="6044184"/>
            <a:ext cx="453542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당일예약 마감 · 접수 마감</a:t>
            </a:r>
            <a:endParaRPr lang="ko-KR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2026-09-14T07:08:49Z</dcterms:created>
  <dcterms:modified xsi:type="dcterms:W3CDTF">2026-09-14T07:08:49Z</dcterms:modified>
</cp:coreProperties>
</file>