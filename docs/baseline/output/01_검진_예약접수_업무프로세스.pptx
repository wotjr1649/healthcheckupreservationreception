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안내  ·  용어 정의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문서는 하나의 세트이며 정책 ID · 프로세스 ID · 기능 ID로 서로를 참조한다.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301752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261872"/>
            <a:ext cx="29260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3438144" y="1261872"/>
            <a:ext cx="833018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83864" y="1261872"/>
            <a:ext cx="82387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담는 내용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" y="151790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56362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00_검진_예약접수_업무정책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3438144" y="151790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83864" y="156362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· EP · RP · RCP 정책과 TGT · NEX · AEX · HOL Rule의 개별 내용. 각 장 하단 캡션이 인용하는 정책 ID의 뜻은 이 문서에 있다.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79222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183794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01_검진_예약접수_업무프로세스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3438144" y="179222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83864" y="183794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문서. P01 ~ P03 프로세스의 단계 · 분기 · 종료점 · 상태전이와 프로세스 ↔ 정책 추적표.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206654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11226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02_검진_예약접수_기능정의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3438144" y="206654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83864" y="211226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ID 16개 / 기능행 36개의 기능 계약, 업무 Rule, 개발 범위, DB 추적.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420624" y="234086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38658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03_검진_예약접수_화면설계서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438144" y="234086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83864" y="238658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13개의 구성 · 필드 · 검증 · Ribbon Action · 화면 전이.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20624" y="2852928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" y="2852928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정의   ·   같은 상태코드를 쓰지만 시점 기준이 다른 두 개념을 구분한다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420624" y="3108960"/>
            <a:ext cx="219456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" y="3108960"/>
            <a:ext cx="2103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2615184" y="3108960"/>
            <a:ext cx="915314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60904" y="3108960"/>
            <a:ext cx="90617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3364992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" y="3410712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2615184" y="3364992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60904" y="3410712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상태가 예약(RSV) 또는 접수완료(RCP)인 해당 수검자의 모든 업무. 예약일의 과거 · 현재 · 미래를 구분하지 않는다. P01-05의 주민등록번호 변경 차단 판정에 쓰며, 차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트번호 변경에는 적용하지 않는다.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3777385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" y="3823105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 유효예약</a:t>
            </a:r>
            <a:endParaRPr lang="ko-KR" sz="950" dirty="0"/>
          </a:p>
        </p:txBody>
      </p:sp>
      <p:sp>
        <p:nvSpPr>
          <p:cNvPr id="38" name="Shape 36"/>
          <p:cNvSpPr/>
          <p:nvPr/>
        </p:nvSpPr>
        <p:spPr>
          <a:xfrm>
            <a:off x="2615184" y="3777385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60904" y="3823105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&gt;= DB 현재일이고 상태가 RSV 또는 RCP인 업무. P02-01의 중복예약 판정에 쓴다. 활성 업무와 달리 과거 업무를 제외하며, 예약변경에서는 변경 대상 WorkId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자체를 제외한다.</a:t>
            </a:r>
            <a:endParaRPr lang="ko-KR" sz="950" dirty="0"/>
          </a:p>
        </p:txBody>
      </p:sp>
      <p:sp>
        <p:nvSpPr>
          <p:cNvPr id="40" name="Shape 38"/>
          <p:cNvSpPr/>
          <p:nvPr/>
        </p:nvSpPr>
        <p:spPr>
          <a:xfrm>
            <a:off x="420624" y="418977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" y="423549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/ WalkIn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2615184" y="418977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60904" y="423549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진입 Context. Normal은 예약일을 선택하고, WalkIn(현장 당일예약)은 예약일을 DB 현재일로 고정한다.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420624" y="446409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6344" y="450981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/ WorkId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2615184" y="446409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60904" y="450981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수검자 Master 식별키, WorkId는 예약 · 접수 업무 1건의 식별키다. 프로세스 · 화면 간 전달키로 쓴다.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420624" y="473841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6344" y="478413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/ RCP / CNR / CNC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615184" y="473841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60904" y="478413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/ 접수완료 / 예약취소 / 접수취소 상태 코드. 취소는 물리 삭제하지 않고 같은 업무 행의 상태만 바꾸며 복원하지 않는다.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420624" y="501273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6344" y="505845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 / PM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2615184" y="501273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660904" y="505845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/ 오후 시간대 코드. 평일은 오전과 오후, 토요일은 오전만 운영한다.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20624" y="528705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6344" y="533277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SP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2615184" y="528705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660904" y="533277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변경을 수행하는 Stored Procedure. UI의 Enabled/Disabled는 사전 안내이며, 저장 · 상태전이 시점에 DB가 현재 조건을 다시 검증한다.</a:t>
            </a:r>
            <a:endParaRPr lang="ko-KR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업무 흐름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P01~P03 공통 CP-01~04 · HOL / P01 EP / P02 RP · TGT · NEX · AEX / P03 RCP — 프로세스별 대응은 「프로세스 ↔ 정책 추적표」 장 참조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정상업무 연계   —   수검자 확정에서 접수까지의 정상 경로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수검자 관리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예약 관리</a:t>
            </a:r>
            <a:endParaRPr lang="ko-KR" sz="900" dirty="0"/>
          </a:p>
        </p:txBody>
      </p:sp>
      <p:sp>
        <p:nvSpPr>
          <p:cNvPr id="10" name="Shape 8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접수 관리</a:t>
            </a:r>
            <a:endParaRPr lang="ko-KR" sz="900" dirty="0"/>
          </a:p>
        </p:txBody>
      </p:sp>
      <p:sp>
        <p:nvSpPr>
          <p:cNvPr id="12" name="Shape 10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또는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00" dirty="0"/>
          </a:p>
        </p:txBody>
      </p:sp>
      <p:sp>
        <p:nvSpPr>
          <p:cNvPr id="14" name="Shape 12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 확정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1810512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및 검사구성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3472891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저장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513527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내원</a:t>
            </a:r>
            <a:endParaRPr lang="ko-KR" sz="900" dirty="0"/>
          </a:p>
        </p:txBody>
      </p:sp>
      <p:sp>
        <p:nvSpPr>
          <p:cNvPr id="25" name="Shape 23"/>
          <p:cNvSpPr/>
          <p:nvPr/>
        </p:nvSpPr>
        <p:spPr>
          <a:xfrm>
            <a:off x="679765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예약·예정검사 확인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8460029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10122408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106424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4431182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418320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106424" y="2468880"/>
            <a:ext cx="9336024" cy="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746504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정보수정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4645152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/ 예약취소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7543800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내역조회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10442448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 / 접수취소</a:t>
            </a:r>
            <a:endParaRPr lang="ko-KR" sz="900" dirty="0"/>
          </a:p>
        </p:txBody>
      </p:sp>
      <p:sp>
        <p:nvSpPr>
          <p:cNvPr id="48" name="Text 46"/>
          <p:cNvSpPr/>
          <p:nvPr/>
        </p:nvSpPr>
        <p:spPr>
          <a:xfrm>
            <a:off x="420624" y="2249424"/>
            <a:ext cx="146304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보조업무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334670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334670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문서가 확정한 업무 규칙</a:t>
            </a:r>
            <a:endParaRPr lang="ko-KR" sz="1000" dirty="0"/>
          </a:p>
        </p:txBody>
      </p:sp>
      <p:sp>
        <p:nvSpPr>
          <p:cNvPr id="51" name="Text 49"/>
          <p:cNvSpPr/>
          <p:nvPr/>
        </p:nvSpPr>
        <p:spPr>
          <a:xfrm>
            <a:off x="420624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</a:t>
            </a:r>
            <a:endParaRPr lang="ko-KR" sz="900" dirty="0"/>
          </a:p>
        </p:txBody>
      </p:sp>
      <p:sp>
        <p:nvSpPr>
          <p:cNvPr id="52" name="Text 50"/>
          <p:cNvSpPr/>
          <p:nvPr/>
        </p:nvSpPr>
        <p:spPr>
          <a:xfrm>
            <a:off x="694944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P00은 수검자 관리·예약 관리·접수 관리의 최상위 구조다.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20624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</a:t>
            </a:r>
            <a:endParaRPr lang="ko-KR" sz="900" dirty="0"/>
          </a:p>
        </p:txBody>
      </p:sp>
      <p:sp>
        <p:nvSpPr>
          <p:cNvPr id="54" name="Text 52"/>
          <p:cNvSpPr/>
          <p:nvPr/>
        </p:nvSpPr>
        <p:spPr>
          <a:xfrm>
            <a:off x="694944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P01은 조회/확정, 신규등록, 중복검증, 정보수정, 식별정보 변경검증의 5개 프로세스다.</a:t>
            </a:r>
            <a:endParaRPr lang="ko-KR" sz="900" dirty="0"/>
          </a:p>
        </p:txBody>
      </p:sp>
      <p:sp>
        <p:nvSpPr>
          <p:cNvPr id="55" name="Text 53"/>
          <p:cNvSpPr/>
          <p:nvPr/>
        </p:nvSpPr>
        <p:spPr>
          <a:xfrm>
            <a:off x="420624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694944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신규예약은 일정 확정 → 일정검증 → TGT → NEX → AEX → 저장 순서다.</a:t>
            </a:r>
            <a:endParaRPr lang="ko-KR" sz="900" dirty="0"/>
          </a:p>
        </p:txBody>
      </p:sp>
      <p:sp>
        <p:nvSpPr>
          <p:cNvPr id="57" name="Text 55"/>
          <p:cNvSpPr/>
          <p:nvPr/>
        </p:nvSpPr>
        <p:spPr>
          <a:xfrm>
            <a:off x="420624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</a:t>
            </a:r>
            <a:endParaRPr lang="ko-KR" sz="900" dirty="0"/>
          </a:p>
        </p:txBody>
      </p:sp>
      <p:sp>
        <p:nvSpPr>
          <p:cNvPr id="58" name="Text 56"/>
          <p:cNvSpPr/>
          <p:nvPr/>
        </p:nvSpPr>
        <p:spPr>
          <a:xfrm>
            <a:off x="694944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유효예약이 있으면 신규예약을 생성하지 않고 기존 Work를 연다.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420624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</a:t>
            </a:r>
            <a:endParaRPr lang="ko-KR" sz="900" dirty="0"/>
          </a:p>
        </p:txBody>
      </p:sp>
      <p:sp>
        <p:nvSpPr>
          <p:cNvPr id="60" name="Text 58"/>
          <p:cNvSpPr/>
          <p:nvPr/>
        </p:nvSpPr>
        <p:spPr>
          <a:xfrm>
            <a:off x="694944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예약변경의 중복판정에서는 변경 대상 Work 자체를 제외한다.</a:t>
            </a:r>
            <a:endParaRPr lang="ko-KR" sz="900" dirty="0"/>
          </a:p>
        </p:txBody>
      </p:sp>
      <p:sp>
        <p:nvSpPr>
          <p:cNvPr id="61" name="Text 59"/>
          <p:cNvSpPr/>
          <p:nvPr/>
        </p:nvSpPr>
        <p:spPr>
          <a:xfrm>
            <a:off x="420624" y="563270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</a:t>
            </a:r>
            <a:endParaRPr lang="ko-KR" sz="900" dirty="0"/>
          </a:p>
        </p:txBody>
      </p:sp>
      <p:sp>
        <p:nvSpPr>
          <p:cNvPr id="62" name="Text 60"/>
          <p:cNvSpPr/>
          <p:nvPr/>
        </p:nvSpPr>
        <p:spPr>
          <a:xfrm>
            <a:off x="694944" y="563270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변경은 TGT/NEX/AEX를 영향 재검증하고 시간대만 변경하면 일정 Rule만 검증한다.</a:t>
            </a:r>
            <a:endParaRPr lang="ko-KR" sz="900" dirty="0"/>
          </a:p>
        </p:txBody>
      </p:sp>
      <p:sp>
        <p:nvSpPr>
          <p:cNvPr id="63" name="Text 61"/>
          <p:cNvSpPr/>
          <p:nvPr/>
        </p:nvSpPr>
        <p:spPr>
          <a:xfrm>
            <a:off x="6190488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6464808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P03은 예약 기반 접수만 허용하며 현장 내원도 WalkIn 당일예약 후 접수한다.</a:t>
            </a:r>
            <a:endParaRPr lang="ko-KR" sz="900" dirty="0"/>
          </a:p>
        </p:txBody>
      </p:sp>
      <p:sp>
        <p:nvSpPr>
          <p:cNvPr id="65" name="Text 63"/>
          <p:cNvSpPr/>
          <p:nvPr/>
        </p:nvSpPr>
        <p:spPr>
          <a:xfrm>
            <a:off x="6190488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</a:t>
            </a:r>
            <a:endParaRPr lang="ko-KR" sz="900" dirty="0"/>
          </a:p>
        </p:txBody>
      </p:sp>
      <p:sp>
        <p:nvSpPr>
          <p:cNvPr id="66" name="Text 64"/>
          <p:cNvSpPr/>
          <p:nvPr/>
        </p:nvSpPr>
        <p:spPr>
          <a:xfrm>
            <a:off x="6464808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예약정보와 검사구성을 확인하며 직접 편집하지 않는다.</a:t>
            </a:r>
            <a:endParaRPr lang="ko-KR" sz="900" dirty="0"/>
          </a:p>
        </p:txBody>
      </p:sp>
      <p:sp>
        <p:nvSpPr>
          <p:cNvPr id="67" name="Text 65"/>
          <p:cNvSpPr/>
          <p:nvPr/>
        </p:nvSpPr>
        <p:spPr>
          <a:xfrm>
            <a:off x="6190488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</a:t>
            </a:r>
            <a:endParaRPr lang="ko-KR" sz="900" dirty="0"/>
          </a:p>
        </p:txBody>
      </p:sp>
      <p:sp>
        <p:nvSpPr>
          <p:cNvPr id="68" name="Text 66"/>
          <p:cNvSpPr/>
          <p:nvPr/>
        </p:nvSpPr>
        <p:spPr>
          <a:xfrm>
            <a:off x="6464808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예약과 접수는 동일 업무 행의 RSV/RCP/CNR/CNC 상태전이다.</a:t>
            </a:r>
            <a:endParaRPr lang="ko-KR" sz="900" dirty="0"/>
          </a:p>
        </p:txBody>
      </p:sp>
      <p:sp>
        <p:nvSpPr>
          <p:cNvPr id="69" name="Text 67"/>
          <p:cNvSpPr/>
          <p:nvPr/>
        </p:nvSpPr>
        <p:spPr>
          <a:xfrm>
            <a:off x="6190488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</a:t>
            </a:r>
            <a:endParaRPr lang="ko-KR" sz="900" dirty="0"/>
          </a:p>
        </p:txBody>
      </p:sp>
      <p:sp>
        <p:nvSpPr>
          <p:cNvPr id="70" name="Text 68"/>
          <p:cNvSpPr/>
          <p:nvPr/>
        </p:nvSpPr>
        <p:spPr>
          <a:xfrm>
            <a:off x="6464808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취소는 보존하되 복원하지 않는다.</a:t>
            </a:r>
            <a:endParaRPr lang="ko-KR" sz="900" dirty="0"/>
          </a:p>
        </p:txBody>
      </p:sp>
      <p:sp>
        <p:nvSpPr>
          <p:cNvPr id="71" name="Text 69"/>
          <p:cNvSpPr/>
          <p:nvPr/>
        </p:nvSpPr>
        <p:spPr>
          <a:xfrm>
            <a:off x="6190488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</a:t>
            </a:r>
            <a:endParaRPr lang="ko-KR" sz="900" dirty="0"/>
          </a:p>
        </p:txBody>
      </p:sp>
      <p:sp>
        <p:nvSpPr>
          <p:cNvPr id="72" name="Text 70"/>
          <p:cNvSpPr/>
          <p:nvPr/>
        </p:nvSpPr>
        <p:spPr>
          <a:xfrm>
            <a:off x="6464808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Write는 DB에서 현재상태·정원·중복·Rule·동시성을 최종 검증한다.</a:t>
            </a:r>
            <a:endParaRPr lang="ko-K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수검자 확인 / 관리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P01-01 EP-01, EP-02 / P01-02 EP-03, EP-04, EP-09 / P01-04 EP-04, EP-08, CP-06 / P01-05 EP-03, EP-05, EP-08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184148"/>
            <a:ext cx="167335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13432" y="1344168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611880" y="1344168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794760" y="1106424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794760" y="110642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/ 확인   →   P01-01 수검자 조회 및 확정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078224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260336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3794760" y="1344168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등록   →   P01-02 신규 수검자 등록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4078224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7260336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3794760" y="158191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  →   P01-04 수검자 정보 수정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078224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7260336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7315200" y="11064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7452360" y="1106424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315200" y="134416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315200" y="15819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 flipV="1">
            <a:off x="7452360" y="1344168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종료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7621524" y="1184148"/>
            <a:ext cx="18562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92640" y="1005840"/>
            <a:ext cx="2075688" cy="55171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802368" y="1078992"/>
            <a:ext cx="1856232" cy="405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삭제 프로세스는 정의하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오류는 P01-04로 수정한다. (EP-10)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1755648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2064" y="1755648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  수검자 조회 및 확정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시작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80644" y="2098548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조회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수검자 존재?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확정</a:t>
            </a:r>
            <a:endParaRPr lang="ko-KR" sz="800" dirty="0"/>
          </a:p>
        </p:txBody>
      </p:sp>
      <p:sp>
        <p:nvSpPr>
          <p:cNvPr id="52" name="Shape 50"/>
          <p:cNvSpPr/>
          <p:nvPr/>
        </p:nvSpPr>
        <p:spPr>
          <a:xfrm>
            <a:off x="1961388" y="2720340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중단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961388" y="3342132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확정?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 등록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4745736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3" name="Shape 61"/>
          <p:cNvSpPr/>
          <p:nvPr/>
        </p:nvSpPr>
        <p:spPr>
          <a:xfrm>
            <a:off x="5879592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1792224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3172968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553712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5029200" y="2468880"/>
            <a:ext cx="0" cy="1280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 flipH="1">
            <a:off x="3931920" y="2596896"/>
            <a:ext cx="10972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3931920" y="259689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 flipH="1">
            <a:off x="3200400" y="288950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5596128" y="246888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 flipH="1">
            <a:off x="4581144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 flipH="1">
            <a:off x="3200400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Text 76"/>
          <p:cNvSpPr/>
          <p:nvPr/>
        </p:nvSpPr>
        <p:spPr>
          <a:xfrm>
            <a:off x="3126524" y="32974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V="1">
            <a:off x="3931920" y="3200400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2551176" y="3200400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2551176" y="3118104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20624" y="4059936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12064" y="4059936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  수검자 정보 수정   ·   P01-05  식별정보 변경 검증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시작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580644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 상세 조회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존재?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대상 없음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722876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가능?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식별정보 변경 검증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1984248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>
            <a:off x="3118104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변경?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수정값 입력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검증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수정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완료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722876" y="5326380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불가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기존값 유지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1961388" y="5788152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310128" y="5650992"/>
            <a:ext cx="2816352" cy="5263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419856" y="5724144"/>
            <a:ext cx="2596896" cy="3800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 = 차트번호·주민번호 고유성 검증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주민번호 변경 시 활성 업무 존재 → 변경 불가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 = 상태 RSV·RCP인 모든 업무 (예약일 시점 무관)</a:t>
            </a:r>
            <a:endParaRPr lang="ko-KR" sz="750" dirty="0"/>
          </a:p>
        </p:txBody>
      </p:sp>
      <p:sp>
        <p:nvSpPr>
          <p:cNvPr id="120" name="Shape 118"/>
          <p:cNvSpPr/>
          <p:nvPr/>
        </p:nvSpPr>
        <p:spPr>
          <a:xfrm>
            <a:off x="1792224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3172968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553712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Text 121"/>
          <p:cNvSpPr/>
          <p:nvPr/>
        </p:nvSpPr>
        <p:spPr>
          <a:xfrm>
            <a:off x="4507268" y="432155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3931920" y="470001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5" name="Shape 123"/>
          <p:cNvSpPr/>
          <p:nvPr/>
        </p:nvSpPr>
        <p:spPr>
          <a:xfrm>
            <a:off x="3931920" y="4764024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>
            <a:off x="5312664" y="4764024"/>
            <a:ext cx="0" cy="411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7" name="Shape 125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 flipH="1">
            <a:off x="4581144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0" name="Shape 128"/>
          <p:cNvSpPr/>
          <p:nvPr/>
        </p:nvSpPr>
        <p:spPr>
          <a:xfrm flipH="1">
            <a:off x="3200400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1" name="Text 129"/>
          <p:cNvSpPr/>
          <p:nvPr/>
        </p:nvSpPr>
        <p:spPr>
          <a:xfrm>
            <a:off x="3118016" y="47833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 flipH="1">
            <a:off x="1819656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3931920" y="5161788"/>
            <a:ext cx="0" cy="65837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4" name="Shape 132"/>
          <p:cNvSpPr/>
          <p:nvPr/>
        </p:nvSpPr>
        <p:spPr>
          <a:xfrm flipH="1">
            <a:off x="1444752" y="5227625"/>
            <a:ext cx="2487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5" name="Shape 133"/>
          <p:cNvSpPr/>
          <p:nvPr/>
        </p:nvSpPr>
        <p:spPr>
          <a:xfrm>
            <a:off x="1444752" y="5227625"/>
            <a:ext cx="0" cy="39319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6" name="Shape 134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8" name="Shape 136"/>
          <p:cNvSpPr/>
          <p:nvPr/>
        </p:nvSpPr>
        <p:spPr>
          <a:xfrm>
            <a:off x="896112" y="5161788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9" name="Shape 137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 flipH="1">
            <a:off x="457200" y="4997196"/>
            <a:ext cx="914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57200" y="4997196"/>
            <a:ext cx="0" cy="9235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3" name="Shape 141"/>
          <p:cNvSpPr/>
          <p:nvPr/>
        </p:nvSpPr>
        <p:spPr>
          <a:xfrm>
            <a:off x="457200" y="592074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4" name="Shape 142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1792224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7" name="Shape 145"/>
          <p:cNvSpPr/>
          <p:nvPr/>
        </p:nvSpPr>
        <p:spPr>
          <a:xfrm>
            <a:off x="3172968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8" name="Text 146"/>
          <p:cNvSpPr/>
          <p:nvPr/>
        </p:nvSpPr>
        <p:spPr>
          <a:xfrm>
            <a:off x="3118016" y="52450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553712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0" name="Shape 148"/>
          <p:cNvSpPr/>
          <p:nvPr/>
        </p:nvSpPr>
        <p:spPr>
          <a:xfrm>
            <a:off x="2551176" y="5623560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6126480" y="1755648"/>
            <a:ext cx="5632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6217920" y="1755648"/>
            <a:ext cx="5449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  신규 수검자 등록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시작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6158484" y="209854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입력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 유효?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 / Gender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자동산출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보완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중복 검증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51560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9" name="Shape 167"/>
          <p:cNvSpPr/>
          <p:nvPr/>
        </p:nvSpPr>
        <p:spPr>
          <a:xfrm>
            <a:off x="1170432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0" name="Shape 168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7603236" y="374446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확인</a:t>
            </a:r>
            <a:endParaRPr lang="ko-KR" sz="800" dirty="0"/>
          </a:p>
        </p:txBody>
      </p:sp>
      <p:sp>
        <p:nvSpPr>
          <p:cNvPr id="175" name="Shape 173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결과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요청</a:t>
            </a:r>
            <a:endParaRPr lang="ko-KR" sz="800" dirty="0"/>
          </a:p>
        </p:txBody>
      </p:sp>
      <p:sp>
        <p:nvSpPr>
          <p:cNvPr id="179" name="Shape 177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차트번호 입력</a:t>
            </a:r>
            <a:endParaRPr lang="ko-KR" sz="800" dirty="0"/>
          </a:p>
        </p:txBody>
      </p:sp>
      <p:sp>
        <p:nvSpPr>
          <p:cNvPr id="181" name="Shape 179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자동발급?</a:t>
            </a:r>
            <a:endParaRPr lang="ko-KR" sz="800" dirty="0"/>
          </a:p>
        </p:txBody>
      </p:sp>
      <p:sp>
        <p:nvSpPr>
          <p:cNvPr id="183" name="Shape 181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 선택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고유성·현재조건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187" name="Shape 185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89" name="Shape 187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 Master 저장</a:t>
            </a:r>
            <a:endParaRPr lang="ko-KR" sz="800" dirty="0"/>
          </a:p>
        </p:txBody>
      </p:sp>
      <p:sp>
        <p:nvSpPr>
          <p:cNvPr id="191" name="Shape 189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PatientId·ChartNo 반환</a:t>
            </a:r>
            <a:endParaRPr lang="ko-KR" sz="800" dirty="0"/>
          </a:p>
        </p:txBody>
      </p:sp>
      <p:sp>
        <p:nvSpPr>
          <p:cNvPr id="193" name="Shape 191"/>
          <p:cNvSpPr/>
          <p:nvPr/>
        </p:nvSpPr>
        <p:spPr>
          <a:xfrm>
            <a:off x="10492740" y="539038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또는 실패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603236" y="5920740"/>
            <a:ext cx="1234440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7424928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8" name="Shape 196"/>
          <p:cNvSpPr/>
          <p:nvPr/>
        </p:nvSpPr>
        <p:spPr>
          <a:xfrm>
            <a:off x="8869680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9" name="Shape 197"/>
          <p:cNvSpPr/>
          <p:nvPr/>
        </p:nvSpPr>
        <p:spPr>
          <a:xfrm>
            <a:off x="10314432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0" name="Text 198"/>
          <p:cNvSpPr/>
          <p:nvPr/>
        </p:nvSpPr>
        <p:spPr>
          <a:xfrm>
            <a:off x="10264052" y="20629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01" name="Shape 199"/>
          <p:cNvSpPr/>
          <p:nvPr/>
        </p:nvSpPr>
        <p:spPr>
          <a:xfrm>
            <a:off x="9665208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2" name="Shape 200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04" name="Shape 202"/>
          <p:cNvSpPr/>
          <p:nvPr/>
        </p:nvSpPr>
        <p:spPr>
          <a:xfrm flipH="1">
            <a:off x="8220456" y="3127248"/>
            <a:ext cx="7955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05" name="Shape 203"/>
          <p:cNvSpPr/>
          <p:nvPr/>
        </p:nvSpPr>
        <p:spPr>
          <a:xfrm flipV="1">
            <a:off x="8220456" y="2569464"/>
            <a:ext cx="0" cy="5577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6" name="Shape 204"/>
          <p:cNvSpPr/>
          <p:nvPr/>
        </p:nvSpPr>
        <p:spPr>
          <a:xfrm>
            <a:off x="11109960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7" name="Shape 205"/>
          <p:cNvSpPr/>
          <p:nvPr/>
        </p:nvSpPr>
        <p:spPr>
          <a:xfrm>
            <a:off x="11109960" y="336499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8" name="Shape 206"/>
          <p:cNvSpPr/>
          <p:nvPr/>
        </p:nvSpPr>
        <p:spPr>
          <a:xfrm flipH="1">
            <a:off x="10341864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9" name="Text 207"/>
          <p:cNvSpPr/>
          <p:nvPr/>
        </p:nvSpPr>
        <p:spPr>
          <a:xfrm>
            <a:off x="10019205" y="350773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</a:t>
            </a:r>
            <a:endParaRPr lang="ko-KR" sz="800" dirty="0"/>
          </a:p>
        </p:txBody>
      </p:sp>
      <p:sp>
        <p:nvSpPr>
          <p:cNvPr id="210" name="Shape 208"/>
          <p:cNvSpPr/>
          <p:nvPr/>
        </p:nvSpPr>
        <p:spPr>
          <a:xfrm flipH="1">
            <a:off x="8897112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11109960" y="418795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2" name="Shape 210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 flipH="1">
            <a:off x="10341864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5" name="Shape 213"/>
          <p:cNvSpPr/>
          <p:nvPr/>
        </p:nvSpPr>
        <p:spPr>
          <a:xfrm flipH="1">
            <a:off x="8897112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6" name="Text 214"/>
          <p:cNvSpPr/>
          <p:nvPr/>
        </p:nvSpPr>
        <p:spPr>
          <a:xfrm>
            <a:off x="8827808" y="45318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17" name="Shape 215"/>
          <p:cNvSpPr/>
          <p:nvPr/>
        </p:nvSpPr>
        <p:spPr>
          <a:xfrm flipH="1">
            <a:off x="7452360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 flipV="1">
            <a:off x="9665208" y="4361688"/>
            <a:ext cx="0" cy="17373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19" name="Shape 217"/>
          <p:cNvSpPr/>
          <p:nvPr/>
        </p:nvSpPr>
        <p:spPr>
          <a:xfrm flipH="1">
            <a:off x="6775704" y="4361688"/>
            <a:ext cx="28895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0" name="Shape 218"/>
          <p:cNvSpPr/>
          <p:nvPr/>
        </p:nvSpPr>
        <p:spPr>
          <a:xfrm>
            <a:off x="6775704" y="436168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6775704" y="501091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7424928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8869680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6" name="Text 224"/>
          <p:cNvSpPr/>
          <p:nvPr/>
        </p:nvSpPr>
        <p:spPr>
          <a:xfrm>
            <a:off x="8819300" y="53548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7" name="Shape 225"/>
          <p:cNvSpPr/>
          <p:nvPr/>
        </p:nvSpPr>
        <p:spPr>
          <a:xfrm>
            <a:off x="10314432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>
            <a:off x="8220456" y="5833872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Shape 227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 등록 중복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P01-03 EP-05~07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시작</a:t>
            </a:r>
            <a:endParaRPr lang="ko-KR" sz="900" dirty="0"/>
          </a:p>
        </p:txBody>
      </p:sp>
      <p:sp>
        <p:nvSpPr>
          <p:cNvPr id="6" name="Shape 4"/>
          <p:cNvSpPr/>
          <p:nvPr/>
        </p:nvSpPr>
        <p:spPr>
          <a:xfrm>
            <a:off x="2683764" y="108356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 존재?</a:t>
            </a:r>
            <a:endParaRPr lang="ko-KR" sz="900" dirty="0"/>
          </a:p>
        </p:txBody>
      </p:sp>
      <p:sp>
        <p:nvSpPr>
          <p:cNvPr id="9" name="Shape 7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이름과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이름 동일?</a:t>
            </a:r>
            <a:endParaRPr lang="ko-KR" sz="900" dirty="0"/>
          </a:p>
        </p:txBody>
      </p:sp>
      <p:sp>
        <p:nvSpPr>
          <p:cNvPr id="11" name="Shape 9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후보 존재?</a:t>
            </a:r>
            <a:endParaRPr lang="ko-KR" sz="900" dirty="0"/>
          </a:p>
        </p:txBody>
      </p:sp>
      <p:sp>
        <p:nvSpPr>
          <p:cNvPr id="13" name="Shape 11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</a:t>
            </a:r>
            <a:endParaRPr lang="ko-KR" sz="900" dirty="0"/>
          </a:p>
        </p:txBody>
      </p:sp>
      <p:sp>
        <p:nvSpPr>
          <p:cNvPr id="15" name="Shape 13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불일치 확인 안내</a:t>
            </a:r>
            <a:endParaRPr lang="ko-KR" sz="900" dirty="0"/>
          </a:p>
        </p:txBody>
      </p:sp>
      <p:sp>
        <p:nvSpPr>
          <p:cNvPr id="17" name="Shape 15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목록 표시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8549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63413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6341364" y="538124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29000" y="1527048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15468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H="1">
            <a:off x="160020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6002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70332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370332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52578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6002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984248" y="3246120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1984248" y="3438144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3429000" y="3438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16002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29000" y="410565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3" name="Shape 51"/>
          <p:cNvSpPr/>
          <p:nvPr/>
        </p:nvSpPr>
        <p:spPr>
          <a:xfrm flipH="1">
            <a:off x="1984248" y="429768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1984248" y="4297680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2578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35040" y="3008376"/>
            <a:ext cx="10515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7086600" y="3008376"/>
            <a:ext cx="0" cy="1453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52578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6035040" y="472744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4" name="Text 62"/>
          <p:cNvSpPr/>
          <p:nvPr/>
        </p:nvSpPr>
        <p:spPr>
          <a:xfrm>
            <a:off x="5735161" y="4266687"/>
            <a:ext cx="874078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별도 수검자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257800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6" name="Shape 64"/>
          <p:cNvSpPr/>
          <p:nvPr/>
        </p:nvSpPr>
        <p:spPr>
          <a:xfrm>
            <a:off x="5257800" y="5157216"/>
            <a:ext cx="18288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70866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70" name="Shape 68"/>
          <p:cNvSpPr/>
          <p:nvPr/>
        </p:nvSpPr>
        <p:spPr>
          <a:xfrm>
            <a:off x="4873752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1" name="Shape 69"/>
          <p:cNvSpPr/>
          <p:nvPr/>
        </p:nvSpPr>
        <p:spPr>
          <a:xfrm flipH="1">
            <a:off x="3429000" y="5157216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2" name="Shape 70"/>
          <p:cNvSpPr/>
          <p:nvPr/>
        </p:nvSpPr>
        <p:spPr>
          <a:xfrm>
            <a:off x="34290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오입력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 flipH="1">
            <a:off x="566928" y="5586984"/>
            <a:ext cx="20848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566928" y="1289304"/>
            <a:ext cx="0" cy="429768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566928" y="12893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138160" y="1051560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29600" y="1051560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138160" y="1344168"/>
            <a:ext cx="363016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247888" y="1417320"/>
            <a:ext cx="341071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최종 고유성 기준은 주민등록번호다.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동일 주민등록번호는 이름이 달라도 신규등록하지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이름+생년월일 후보는 경고·확인 대상이지 자동 동일인 확정조건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별도 수검자로 계속하기 확인은 현재 이름·생년월일·주민등록번호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조합에만 유효하다. 값이 바뀌면 다시 검증한다.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UI 확인 이후에도 저장 Transaction에서 주민등록번호와 차트번호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고유성을 다시 검증한다.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8138160" y="2962747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29600" y="2962747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종료점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138160" y="3255355"/>
            <a:ext cx="3630168" cy="9064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247888" y="3328507"/>
            <a:ext cx="3410712" cy="760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  —   동일 주민등록번호를 확인하고 기존 PatientId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확정한다.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   —   후보가 없거나 별도 수검자로 확인되어 신규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만든다.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  —   사용자가 취소하여 신규행을 만들지 않는다.</a:t>
            </a:r>
            <a:endParaRPr lang="ko-KR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예약 관리 개요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P02-01 RP-01, RP-06 / P02-02 RP-07, RP-08, TGT, NEX, AEX / P02-03 RP-02, RP-04, RP-05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239012"/>
            <a:ext cx="13990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3911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246120" y="1399032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060704"/>
            <a:ext cx="0" cy="6583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429000" y="106070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 →   P02-01 신규 예약 등록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3712464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483096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6537960" y="1060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656832" y="1060704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29000" y="1280160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  →   P02-05 예약 조회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3712464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6483096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6537960" y="128016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6656832" y="1280160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429000" y="1499616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  →   P02-06 예약 변경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712464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6483096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6537960" y="1499616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V="1">
            <a:off x="6656832" y="1399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429000" y="171907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  →   P02-07 예약 취소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3712464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6483096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6537960" y="1719072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2" name="Shape 40"/>
          <p:cNvSpPr/>
          <p:nvPr/>
        </p:nvSpPr>
        <p:spPr>
          <a:xfrm flipV="1">
            <a:off x="6656832" y="1399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종료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6844284" y="1239012"/>
            <a:ext cx="153619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641080" y="969264"/>
            <a:ext cx="3127248" cy="821995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750808" y="1042416"/>
            <a:ext cx="2907792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간 호출 관계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→  P01-01 · P02-02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→  P02-03 · P02-04 · TGT · NEX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→  P02-05 · P02-03·04 · TGT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→  P02-05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18836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18836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신규 예약 등록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시작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52628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전달됨?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37581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5120640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중단 또는 실패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7018020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기존 예약 조회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선택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8682228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>
            <a:off x="100446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예약 연결 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종료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10300716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구성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2116836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3479292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8" name="Shape 76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확정?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저장시점 전체 Rule·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최종검증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Work+Exam 원자적 저장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반환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10300716" y="3415284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9280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3534156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1" name="Text 89"/>
          <p:cNvSpPr/>
          <p:nvPr/>
        </p:nvSpPr>
        <p:spPr>
          <a:xfrm>
            <a:off x="3503714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5175504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6816852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Text 92"/>
          <p:cNvSpPr/>
          <p:nvPr/>
        </p:nvSpPr>
        <p:spPr>
          <a:xfrm>
            <a:off x="6786410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2670048"/>
            <a:ext cx="0" cy="2011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6" name="Shape 94"/>
          <p:cNvSpPr/>
          <p:nvPr/>
        </p:nvSpPr>
        <p:spPr>
          <a:xfrm flipH="1">
            <a:off x="836676" y="2871216"/>
            <a:ext cx="19613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7" name="Shape 95"/>
          <p:cNvSpPr/>
          <p:nvPr/>
        </p:nvSpPr>
        <p:spPr>
          <a:xfrm>
            <a:off x="836676" y="287121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080760" y="2670048"/>
            <a:ext cx="0" cy="3474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 flipH="1">
            <a:off x="1156716" y="3017520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1156716" y="3017520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 flipV="1">
            <a:off x="1476756" y="3072384"/>
            <a:ext cx="0" cy="310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1476756" y="3072384"/>
            <a:ext cx="78867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 flipV="1">
            <a:off x="9363456" y="2697480"/>
            <a:ext cx="0" cy="3749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8" name="Shape 106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9954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189280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2" name="Text 110"/>
          <p:cNvSpPr/>
          <p:nvPr/>
        </p:nvSpPr>
        <p:spPr>
          <a:xfrm>
            <a:off x="1862366" y="33797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3534156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5175504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Text 113"/>
          <p:cNvSpPr/>
          <p:nvPr/>
        </p:nvSpPr>
        <p:spPr>
          <a:xfrm>
            <a:off x="5136554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816852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8458200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8419250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1009954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 flipV="1">
            <a:off x="4439412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1" name="Shape 119"/>
          <p:cNvSpPr/>
          <p:nvPr/>
        </p:nvSpPr>
        <p:spPr>
          <a:xfrm>
            <a:off x="4439412" y="3273552"/>
            <a:ext cx="29626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2" name="Shape 120"/>
          <p:cNvSpPr/>
          <p:nvPr/>
        </p:nvSpPr>
        <p:spPr>
          <a:xfrm flipV="1">
            <a:off x="7402068" y="2697480"/>
            <a:ext cx="0" cy="5760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Shape 121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V="1">
            <a:off x="8042148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 flipH="1">
            <a:off x="7429500" y="3273552"/>
            <a:ext cx="6126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7" name="Shape 125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3986784"/>
            <a:ext cx="6528816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12064" y="3986784"/>
            <a:ext cx="63459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예약 내용 구성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시작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452628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설정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1810512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7" name="Shape 135"/>
          <p:cNvSpPr/>
          <p:nvPr/>
        </p:nvSpPr>
        <p:spPr>
          <a:xfrm>
            <a:off x="2889504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검증</a:t>
            </a:r>
            <a:endParaRPr lang="ko-KR" sz="800" dirty="0"/>
          </a:p>
        </p:txBody>
      </p:sp>
      <p:sp>
        <p:nvSpPr>
          <p:cNvPr id="140" name="Shape 138"/>
          <p:cNvSpPr/>
          <p:nvPr/>
        </p:nvSpPr>
        <p:spPr>
          <a:xfrm>
            <a:off x="3145536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1" name="Shape 139"/>
          <p:cNvSpPr/>
          <p:nvPr/>
        </p:nvSpPr>
        <p:spPr>
          <a:xfrm>
            <a:off x="4224528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유효?</a:t>
            </a:r>
            <a:endParaRPr lang="ko-KR" sz="800" dirty="0"/>
          </a:p>
        </p:txBody>
      </p:sp>
      <p:sp>
        <p:nvSpPr>
          <p:cNvPr id="144" name="Shape 142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중단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5792724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대상판정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대상?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진행 불가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3122676" y="495147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자동구성</a:t>
            </a:r>
            <a:endParaRPr lang="ko-KR" sz="800" dirty="0"/>
          </a:p>
        </p:txBody>
      </p:sp>
      <p:sp>
        <p:nvSpPr>
          <p:cNvPr id="156" name="Shape 154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3122676" y="559155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검사구성 유효?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검증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5559552"/>
            <a:ext cx="2615184" cy="653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530352" y="5632704"/>
            <a:ext cx="2395728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적용 규칙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AEX는 0개 이상 선택할 수 있다.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NEX와 같은 ExamItemCode 또는 성별조건 불충족 AEX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선택 불가</a:t>
            </a:r>
            <a:endParaRPr lang="ko-KR" sz="750" dirty="0"/>
          </a:p>
        </p:txBody>
      </p:sp>
      <p:sp>
        <p:nvSpPr>
          <p:cNvPr id="167" name="Shape 165"/>
          <p:cNvSpPr/>
          <p:nvPr/>
        </p:nvSpPr>
        <p:spPr>
          <a:xfrm>
            <a:off x="1609344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8" name="Shape 166"/>
          <p:cNvSpPr/>
          <p:nvPr/>
        </p:nvSpPr>
        <p:spPr>
          <a:xfrm>
            <a:off x="2944368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9" name="Shape 167"/>
          <p:cNvSpPr/>
          <p:nvPr/>
        </p:nvSpPr>
        <p:spPr>
          <a:xfrm>
            <a:off x="4279392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0" name="Shape 168"/>
          <p:cNvSpPr/>
          <p:nvPr/>
        </p:nvSpPr>
        <p:spPr>
          <a:xfrm>
            <a:off x="5614416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1" name="Text 169"/>
          <p:cNvSpPr/>
          <p:nvPr/>
        </p:nvSpPr>
        <p:spPr>
          <a:xfrm>
            <a:off x="5572544" y="4257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5020056" y="470001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3" name="Shape 171"/>
          <p:cNvSpPr/>
          <p:nvPr/>
        </p:nvSpPr>
        <p:spPr>
          <a:xfrm flipH="1">
            <a:off x="1014984" y="4754880"/>
            <a:ext cx="40050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4" name="Shape 172"/>
          <p:cNvSpPr/>
          <p:nvPr/>
        </p:nvSpPr>
        <p:spPr>
          <a:xfrm>
            <a:off x="1014984" y="4754880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1609344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944368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9" name="Text 177"/>
          <p:cNvSpPr/>
          <p:nvPr/>
        </p:nvSpPr>
        <p:spPr>
          <a:xfrm>
            <a:off x="2902496" y="48976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80" name="Shape 178"/>
          <p:cNvSpPr/>
          <p:nvPr/>
        </p:nvSpPr>
        <p:spPr>
          <a:xfrm>
            <a:off x="2350008" y="534009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2350008" y="5449824"/>
            <a:ext cx="2670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 flipV="1">
            <a:off x="5020056" y="5367528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3" name="Shape 181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5614416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6" name="Shape 184"/>
          <p:cNvSpPr/>
          <p:nvPr/>
        </p:nvSpPr>
        <p:spPr>
          <a:xfrm>
            <a:off x="6355080" y="534009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7" name="Shape 185"/>
          <p:cNvSpPr/>
          <p:nvPr/>
        </p:nvSpPr>
        <p:spPr>
          <a:xfrm flipH="1">
            <a:off x="5641848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8" name="Shape 186"/>
          <p:cNvSpPr/>
          <p:nvPr/>
        </p:nvSpPr>
        <p:spPr>
          <a:xfrm flipH="1">
            <a:off x="4306824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9" name="Text 187"/>
          <p:cNvSpPr/>
          <p:nvPr/>
        </p:nvSpPr>
        <p:spPr>
          <a:xfrm>
            <a:off x="422901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90" name="Shape 188"/>
          <p:cNvSpPr/>
          <p:nvPr/>
        </p:nvSpPr>
        <p:spPr>
          <a:xfrm>
            <a:off x="5020056" y="598017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1" name="Shape 189"/>
          <p:cNvSpPr/>
          <p:nvPr/>
        </p:nvSpPr>
        <p:spPr>
          <a:xfrm>
            <a:off x="5020056" y="60899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2" name="Shape 190"/>
          <p:cNvSpPr/>
          <p:nvPr/>
        </p:nvSpPr>
        <p:spPr>
          <a:xfrm flipV="1">
            <a:off x="7077456" y="5129784"/>
            <a:ext cx="0" cy="9601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3" name="Shape 191"/>
          <p:cNvSpPr/>
          <p:nvPr/>
        </p:nvSpPr>
        <p:spPr>
          <a:xfrm flipH="1">
            <a:off x="6976872" y="5129784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4" name="Shape 192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223760" y="3986784"/>
            <a:ext cx="4544568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7315200" y="3986784"/>
            <a:ext cx="4361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  예약 일정 설정   ·   평일 AM/PM, 토요일 AM만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시작</a:t>
            </a:r>
            <a:endParaRPr lang="ko-KR" sz="800" dirty="0"/>
          </a:p>
        </p:txBody>
      </p:sp>
      <p:sp>
        <p:nvSpPr>
          <p:cNvPr id="200" name="Shape 198"/>
          <p:cNvSpPr/>
          <p:nvPr/>
        </p:nvSpPr>
        <p:spPr>
          <a:xfrm>
            <a:off x="7255764" y="431139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800" dirty="0"/>
          </a:p>
        </p:txBody>
      </p:sp>
      <p:sp>
        <p:nvSpPr>
          <p:cNvPr id="203" name="Shape 201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Normal: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선택</a:t>
            </a:r>
            <a:endParaRPr lang="ko-KR" sz="800" dirty="0"/>
          </a:p>
        </p:txBody>
      </p:sp>
      <p:sp>
        <p:nvSpPr>
          <p:cNvPr id="205" name="Shape 203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WalkIn: 예약일=DB 오늘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207" name="Shape 205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 시간대 및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조회</a:t>
            </a:r>
            <a:endParaRPr lang="ko-KR" sz="800" dirty="0"/>
          </a:p>
        </p:txBody>
      </p:sp>
      <p:sp>
        <p:nvSpPr>
          <p:cNvPr id="209" name="Shape 207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중단</a:t>
            </a:r>
            <a:endParaRPr lang="ko-KR" sz="800" dirty="0"/>
          </a:p>
        </p:txBody>
      </p:sp>
      <p:sp>
        <p:nvSpPr>
          <p:cNvPr id="211" name="Shape 209"/>
          <p:cNvSpPr/>
          <p:nvPr/>
        </p:nvSpPr>
        <p:spPr>
          <a:xfrm>
            <a:off x="725576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선택?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입력 완료</a:t>
            </a:r>
            <a:endParaRPr lang="ko-KR" sz="800" dirty="0"/>
          </a:p>
        </p:txBody>
      </p:sp>
      <p:sp>
        <p:nvSpPr>
          <p:cNvPr id="216" name="Shape 214"/>
          <p:cNvSpPr/>
          <p:nvPr/>
        </p:nvSpPr>
        <p:spPr>
          <a:xfrm>
            <a:off x="1041044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61364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>
            <a:off x="1019098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9" name="Text 217"/>
          <p:cNvSpPr/>
          <p:nvPr/>
        </p:nvSpPr>
        <p:spPr>
          <a:xfrm>
            <a:off x="10068115" y="4257543"/>
            <a:ext cx="43319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800" dirty="0"/>
          </a:p>
        </p:txBody>
      </p:sp>
      <p:sp>
        <p:nvSpPr>
          <p:cNvPr id="220" name="Shape 218"/>
          <p:cNvSpPr/>
          <p:nvPr/>
        </p:nvSpPr>
        <p:spPr>
          <a:xfrm>
            <a:off x="949604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1107338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10190988" y="512978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11073384" y="5340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6" name="Shape 224"/>
          <p:cNvSpPr/>
          <p:nvPr/>
        </p:nvSpPr>
        <p:spPr>
          <a:xfrm flipH="1">
            <a:off x="9496044" y="5431536"/>
            <a:ext cx="15773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7" name="Shape 225"/>
          <p:cNvSpPr/>
          <p:nvPr/>
        </p:nvSpPr>
        <p:spPr>
          <a:xfrm>
            <a:off x="9496044" y="5431536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 flipH="1">
            <a:off x="8641080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Text 227"/>
          <p:cNvSpPr/>
          <p:nvPr/>
        </p:nvSpPr>
        <p:spPr>
          <a:xfrm>
            <a:off x="8592350" y="5537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30" name="Shape 228"/>
          <p:cNvSpPr/>
          <p:nvPr/>
        </p:nvSpPr>
        <p:spPr>
          <a:xfrm>
            <a:off x="10190988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1" name="Text 229"/>
          <p:cNvSpPr/>
          <p:nvPr/>
        </p:nvSpPr>
        <p:spPr>
          <a:xfrm>
            <a:off x="1016118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  예약 일정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P02-04 CP-01~04, HOL, RP-02~06, RP-09,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게이트   —   앞 게이트를 통과해야 다음 게이트를 본다. 하나라도 불충족이면 즉시 일정 불가다.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80060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과거?</a:t>
            </a:r>
            <a:endParaRPr lang="ko-KR" sz="800" dirty="0"/>
          </a:p>
        </p:txBody>
      </p:sp>
      <p:sp>
        <p:nvSpPr>
          <p:cNvPr id="11" name="Text 9"/>
          <p:cNvSpPr/>
          <p:nvPr/>
        </p:nvSpPr>
        <p:spPr>
          <a:xfrm>
            <a:off x="171907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1</a:t>
            </a:r>
            <a:endParaRPr lang="ko-KR" sz="800" dirty="0"/>
          </a:p>
        </p:txBody>
      </p:sp>
      <p:sp>
        <p:nvSpPr>
          <p:cNvPr id="12" name="Shape 10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4" name="Text 12"/>
          <p:cNvSpPr/>
          <p:nvPr/>
        </p:nvSpPr>
        <p:spPr>
          <a:xfrm>
            <a:off x="299008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2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허용?</a:t>
            </a:r>
            <a:endParaRPr lang="ko-KR" sz="800" dirty="0"/>
          </a:p>
        </p:txBody>
      </p:sp>
      <p:sp>
        <p:nvSpPr>
          <p:cNvPr id="17" name="Text 15"/>
          <p:cNvSpPr/>
          <p:nvPr/>
        </p:nvSpPr>
        <p:spPr>
          <a:xfrm>
            <a:off x="4261104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3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당일예약?</a:t>
            </a:r>
            <a:endParaRPr lang="ko-KR" sz="800" dirty="0"/>
          </a:p>
        </p:txBody>
      </p:sp>
      <p:sp>
        <p:nvSpPr>
          <p:cNvPr id="20" name="Text 18"/>
          <p:cNvSpPr/>
          <p:nvPr/>
        </p:nvSpPr>
        <p:spPr>
          <a:xfrm>
            <a:off x="5532120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4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전?</a:t>
            </a:r>
            <a:endParaRPr lang="ko-KR" sz="800" dirty="0"/>
          </a:p>
        </p:txBody>
      </p:sp>
      <p:sp>
        <p:nvSpPr>
          <p:cNvPr id="23" name="Text 21"/>
          <p:cNvSpPr/>
          <p:nvPr/>
        </p:nvSpPr>
        <p:spPr>
          <a:xfrm>
            <a:off x="6803136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5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정원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20?</a:t>
            </a:r>
            <a:endParaRPr lang="ko-KR" sz="800" dirty="0"/>
          </a:p>
        </p:txBody>
      </p:sp>
      <p:sp>
        <p:nvSpPr>
          <p:cNvPr id="26" name="Text 24"/>
          <p:cNvSpPr/>
          <p:nvPr/>
        </p:nvSpPr>
        <p:spPr>
          <a:xfrm>
            <a:off x="807415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6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수검자 다른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없음?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934516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7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가능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10648188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불가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0648188" y="3049524"/>
            <a:ext cx="1060704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7276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284378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1480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385816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92784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19886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46988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656832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6606452" y="16332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 flipV="1">
            <a:off x="6547104" y="1316736"/>
            <a:ext cx="0" cy="5120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6547104" y="1316736"/>
            <a:ext cx="16367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8183880" y="131673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당일예약이 아니면 마감 미적용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2281428" y="2834640"/>
            <a:ext cx="889711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1" name="Shape 49"/>
          <p:cNvSpPr/>
          <p:nvPr/>
        </p:nvSpPr>
        <p:spPr>
          <a:xfrm>
            <a:off x="228142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2" name="Shape 50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355244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823460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8" name="Shape 56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7365492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863650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6" name="Shape 64"/>
          <p:cNvSpPr/>
          <p:nvPr/>
        </p:nvSpPr>
        <p:spPr>
          <a:xfrm>
            <a:off x="990752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11178540" y="2834640"/>
            <a:ext cx="0" cy="1554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420624" y="3639312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12064" y="3639312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 마감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420624" y="3931920"/>
            <a:ext cx="12801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66344" y="3931920"/>
            <a:ext cx="11887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1700784" y="3931920"/>
            <a:ext cx="438912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746504" y="3931920"/>
            <a:ext cx="42976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허용조건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420624" y="4224528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66344" y="42702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1700784" y="4224528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746504" y="4270248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당일예약 마감 전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420624" y="4535424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6344" y="45811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1700784" y="4535424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46504" y="4581144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접수 마감 전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420624" y="4846320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66344" y="48920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미래일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1700784" y="4846320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746504" y="4892040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마감 미적용, CP/HOL·시간대·정원·중복 적용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420624" y="5175504"/>
            <a:ext cx="5669280" cy="4841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0352" y="5248656"/>
            <a:ext cx="5449824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마감과 같은 시각부터 불가다.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마감시간 정책은 CP-04 운영시간(09:00 ≤ 현재시각 &lt; 18:00) 안에서만 적용한다.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6309360" y="3639312"/>
            <a:ext cx="54589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00800" y="3639312"/>
            <a:ext cx="52760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309360" y="3931920"/>
            <a:ext cx="5458968" cy="11598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19088" y="4005072"/>
            <a:ext cx="5239512" cy="1013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신규예약과 예약변경은 저장 Transaction 안에서 정원·중복을 다시 확인한다.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예약변경에서는 변경 대상 WorkId 자체를 중복판단에서 제외하고 다른 RSV/RCP 업무만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충돌로 본다.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화면의 정원값은 안내용 Snapshot이며 저장 성공을 보장하지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중복판단 유효예약은 예약일 ≥ DB 현재일이고 상태가 RSV 또는 RCP인 업무다. 과거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중복판단에서 제외한다.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예약 변경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P02-06 RP-03, RP-06~09, TGT, NEX, AEX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축약 흐름   —   RSV 확인 → 실제 변경 계산 → 예약일/시간대/AEX 영향검증 → 상태·RowVersion 확인 → 저장 / No-op / 기존예약 유지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403604"/>
            <a:ext cx="1175918" cy="59436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예약 조회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1898294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028493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현재값과 요청값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· 실제 변경 계산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 / AEX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영향검증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· RowVersion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최종확인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66055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083357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06163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92897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351776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887968" y="1325880"/>
            <a:ext cx="0" cy="15361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8774582" y="1700784"/>
            <a:ext cx="11338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8887968" y="1325880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E1   예약 변경 완료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있음 → 영향범위만 원자적 저장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9084564" y="1129284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87968" y="183794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   변경 대상 없음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결과에서 변경 대상을 선택하지 않음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9084564" y="1641348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887968" y="235000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E3   변경 불가 / 기존예약 유지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≠ RSV · 예약일 변경 후 비대상 · 저장 불가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9084564" y="2153412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887968" y="286207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E4   변경 없음 / No-op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요청값이 DB 현재값과 같아 데이터 변경 없음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9084564" y="2665476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20624" y="3291840"/>
            <a:ext cx="6711696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" y="3291840"/>
            <a:ext cx="652881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Matrix   —   실제 변경조합별 재검증·저장 범위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420624" y="3584448"/>
            <a:ext cx="19202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" y="3584448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변경조합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2340864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386584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871216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16936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3401568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47288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3931920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77640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462272" y="3584448"/>
            <a:ext cx="26700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07992" y="3584448"/>
            <a:ext cx="2578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420624" y="385876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6344" y="390448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포함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2340864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386584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2871216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916936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3401568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447288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3931920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977640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4462272" y="385876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507992" y="390448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Work+영향 Detail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420624" y="413308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66344" y="417880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2340864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386584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2871216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916936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3401568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447288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3931920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77640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4462272" y="413308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07992" y="417880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Work만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420624" y="440740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6344" y="445312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2340864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86584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2871216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916936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3401568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447288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3931920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977640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2" name="Shape 90"/>
          <p:cNvSpPr/>
          <p:nvPr/>
        </p:nvSpPr>
        <p:spPr>
          <a:xfrm>
            <a:off x="4462272" y="440740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507992" y="445312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Detail+Work 동시성 갱신</a:t>
            </a:r>
            <a:endParaRPr lang="ko-KR" sz="950" dirty="0"/>
          </a:p>
        </p:txBody>
      </p:sp>
      <p:sp>
        <p:nvSpPr>
          <p:cNvPr id="94" name="Shape 92"/>
          <p:cNvSpPr/>
          <p:nvPr/>
        </p:nvSpPr>
        <p:spPr>
          <a:xfrm>
            <a:off x="420624" y="468172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66344" y="472744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시간대+AEX</a:t>
            </a:r>
            <a:endParaRPr lang="ko-KR" sz="950" dirty="0"/>
          </a:p>
        </p:txBody>
      </p:sp>
      <p:sp>
        <p:nvSpPr>
          <p:cNvPr id="96" name="Shape 94"/>
          <p:cNvSpPr/>
          <p:nvPr/>
        </p:nvSpPr>
        <p:spPr>
          <a:xfrm>
            <a:off x="2340864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386584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2871216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916936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3401568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447288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3931920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977640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462272" y="468172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507992" y="472744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Work+AEX Detail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420624" y="495604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66344" y="500176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2340864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386584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2871216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916936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3401568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447288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3931920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977640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4462272" y="495604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507992" y="500176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 없음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315200" y="3291840"/>
            <a:ext cx="44531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406640" y="3291840"/>
            <a:ext cx="42702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120" name="Shape 118"/>
          <p:cNvSpPr/>
          <p:nvPr/>
        </p:nvSpPr>
        <p:spPr>
          <a:xfrm>
            <a:off x="7315200" y="3584448"/>
            <a:ext cx="445312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4928" y="3657600"/>
            <a:ext cx="423367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예약일 변경 후 비대상이면 변경을 저장하지 않고 기존 예약을 유지한다.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새 NEX와 기존/요청 AEX가 충돌하면 유효하게 재선택한 뒤 저장한다.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시간대만 변경한 경우 TGT/NEX/AEX를 재검증하거나 재작성하지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실제 변경은 Work Aggregate 변경으로 처리해 Work의 동시성 토큰도 갱신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집합이 동일하면 Detail과 Work를 불필요하게 갱신하지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일정·중복 검증에서 현재 WorkId는 제외하며, 자기 자신 때문에 다른 유효예약으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차단되지 않아야 한다.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5431536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12064" y="5431536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영향 재검증   —   유효한 경우만 저장한다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900" dirty="0"/>
          </a:p>
        </p:txBody>
      </p:sp>
      <p:sp>
        <p:nvSpPr>
          <p:cNvPr id="126" name="Shape 124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</a:t>
            </a:r>
            <a:endParaRPr lang="ko-KR" sz="900" dirty="0"/>
          </a:p>
        </p:txBody>
      </p:sp>
      <p:sp>
        <p:nvSpPr>
          <p:cNvPr id="128" name="Shape 126"/>
          <p:cNvSpPr/>
          <p:nvPr/>
        </p:nvSpPr>
        <p:spPr>
          <a:xfrm>
            <a:off x="2192731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재판정</a:t>
            </a:r>
            <a:endParaRPr lang="ko-KR" sz="900" dirty="0"/>
          </a:p>
        </p:txBody>
      </p:sp>
      <p:sp>
        <p:nvSpPr>
          <p:cNvPr id="131" name="Shape 129"/>
          <p:cNvSpPr/>
          <p:nvPr/>
        </p:nvSpPr>
        <p:spPr>
          <a:xfrm>
            <a:off x="4111142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재구성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029554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재검증</a:t>
            </a:r>
            <a:endParaRPr lang="ko-KR" sz="900" dirty="0"/>
          </a:p>
        </p:txBody>
      </p:sp>
      <p:sp>
        <p:nvSpPr>
          <p:cNvPr id="137" name="Shape 135"/>
          <p:cNvSpPr/>
          <p:nvPr/>
        </p:nvSpPr>
        <p:spPr>
          <a:xfrm>
            <a:off x="7947965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8" name="Shape 136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유효한 경우만 저장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9866376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   ·   P02-07  예약 취소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P02-05 CP-05, 상태 해석 / P02-07 CP-05, RP-10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87552"/>
            <a:ext cx="539496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87552"/>
            <a:ext cx="52120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업무내역 조회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존재?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 없음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1851660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완료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506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건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확인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609344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008376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407408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21208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 flipH="1">
            <a:off x="4434840" y="228600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864608" y="181051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 flipH="1">
            <a:off x="2414016" y="1911096"/>
            <a:ext cx="24505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2414016" y="1911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6089904" y="987552"/>
            <a:ext cx="567842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1344" y="987552"/>
            <a:ext cx="54955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예약 취소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시작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612190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</a:t>
            </a:r>
            <a:endParaRPr lang="ko-KR" sz="800" dirty="0"/>
          </a:p>
        </p:txBody>
      </p:sp>
      <p:sp>
        <p:nvSpPr>
          <p:cNvPr id="42" name="Shape 40"/>
          <p:cNvSpPr/>
          <p:nvPr/>
        </p:nvSpPr>
        <p:spPr>
          <a:xfrm>
            <a:off x="7626096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8705088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선택?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없음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10565892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진행?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불가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05658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중단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6121908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동시성·현재상태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CNR로 변경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완료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10565892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278624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8759952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10241280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964692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10241280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H="1">
            <a:off x="8787384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 flipH="1">
            <a:off x="7306056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684264" y="254203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7031736" y="2542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7031736" y="2642616"/>
            <a:ext cx="1133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8" name="Shape 86"/>
          <p:cNvSpPr/>
          <p:nvPr/>
        </p:nvSpPr>
        <p:spPr>
          <a:xfrm>
            <a:off x="8165592" y="264261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9" name="Shape 87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8759952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10241280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420624" y="352958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12064" y="352958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조회   —   P02-05는 P03-04와 동일한 업무 데이터를 조회하며 실제 Form/SP를 공유한다.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  접수 조회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 업무내역 조회</a:t>
            </a:r>
            <a:endParaRPr lang="ko-KR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Form / SP 공유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3383280" y="4087368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93192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3" name="Shape 101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3383280" y="4690872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5" name="Shape 103"/>
          <p:cNvSpPr/>
          <p:nvPr/>
        </p:nvSpPr>
        <p:spPr>
          <a:xfrm flipV="1">
            <a:off x="393192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예약  →  예약 Ribbon Action</a:t>
            </a:r>
            <a:endParaRPr lang="ko-KR" sz="1000" dirty="0"/>
          </a:p>
        </p:txBody>
      </p:sp>
      <p:sp>
        <p:nvSpPr>
          <p:cNvPr id="109" name="Shape 107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접수  →  접수 Ribbon Action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2" name="Shape 110"/>
          <p:cNvSpPr/>
          <p:nvPr/>
        </p:nvSpPr>
        <p:spPr>
          <a:xfrm flipV="1">
            <a:off x="841248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3" name="Shape 111"/>
          <p:cNvSpPr/>
          <p:nvPr/>
        </p:nvSpPr>
        <p:spPr>
          <a:xfrm>
            <a:off x="8412480" y="4087368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5" name="Shape 113"/>
          <p:cNvSpPr/>
          <p:nvPr/>
        </p:nvSpPr>
        <p:spPr>
          <a:xfrm>
            <a:off x="841248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6" name="Shape 114"/>
          <p:cNvSpPr/>
          <p:nvPr/>
        </p:nvSpPr>
        <p:spPr>
          <a:xfrm>
            <a:off x="8412480" y="4690872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20624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12064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적용 규칙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420624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30352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RSV/RCP/CNR/CNC를 모두 조회할 수 있다.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후속 변경·취소·접수는 WorkId로 최신 데이터를 다시 조회한 후 상태를 재판정한다.</a:t>
            </a:r>
            <a:endParaRPr lang="ko-KR" sz="950" dirty="0"/>
          </a:p>
        </p:txBody>
      </p:sp>
      <p:sp>
        <p:nvSpPr>
          <p:cNvPr id="121" name="Shape 119"/>
          <p:cNvSpPr/>
          <p:nvPr/>
        </p:nvSpPr>
        <p:spPr>
          <a:xfrm>
            <a:off x="6190488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81928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적용 규칙</a:t>
            </a:r>
            <a:endParaRPr lang="ko-KR" sz="1000" dirty="0"/>
          </a:p>
        </p:txBody>
      </p:sp>
      <p:sp>
        <p:nvSpPr>
          <p:cNvPr id="123" name="Shape 121"/>
          <p:cNvSpPr/>
          <p:nvPr/>
        </p:nvSpPr>
        <p:spPr>
          <a:xfrm>
            <a:off x="6190488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300216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Work와 검사 Detail을 물리 삭제하지 않는다.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취소 상태에서 복원하지 않는다. 재진행은 신규예약을 생성한다.</a:t>
            </a:r>
            <a:endParaRPr lang="ko-KR" sz="950" dirty="0"/>
          </a:p>
        </p:txBody>
      </p:sp>
      <p:sp>
        <p:nvSpPr>
          <p:cNvPr id="125" name="Shape 123"/>
          <p:cNvSpPr/>
          <p:nvPr/>
        </p:nvSpPr>
        <p:spPr>
          <a:xfrm>
            <a:off x="4206240" y="3895344"/>
            <a:ext cx="3749040" cy="987552"/>
          </a:xfrm>
          <a:prstGeom prst="rect">
            <a:avLst/>
          </a:prstGeom>
          <a:ln w="22225">
            <a:solidFill>
              <a:srgbClr val="FF00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접수 처리 · 접수 대상 확인 · 접수 가능조건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P03-01 RCP-01, RCP-04, RP-08 / P03-02 CP-05, RP-05, RP-06, RCP-01 / P03-03 CP-01~04, HOL, RCP-02, RCP-03,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  접수 처리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전달됨?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3758184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12064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04088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8403336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확정?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 / 중단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10300716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예약정보·NEX·AEX 확인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 검증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2116836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3479292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가능?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상태·동시성 최종검증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Work 행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RSV→RCP 원자적 변경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완료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8659368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0300716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89280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534156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3503714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5175504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816852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6777902" y="1249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8458200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1009954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10069106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2798064" y="1737360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2798064" y="1883664"/>
            <a:ext cx="46040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7402068" y="1764792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80760" y="1737360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6080760" y="1810512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 flipV="1">
            <a:off x="11004804" y="1764792"/>
            <a:ext cx="0" cy="457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363456" y="1737360"/>
            <a:ext cx="0" cy="2560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 flipH="1">
            <a:off x="1156716" y="1993392"/>
            <a:ext cx="82067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>
            <a:off x="1156716" y="1993392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1892808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3534156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175504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Text 69"/>
          <p:cNvSpPr/>
          <p:nvPr/>
        </p:nvSpPr>
        <p:spPr>
          <a:xfrm>
            <a:off x="5136554" y="20904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>
            <a:off x="6816852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8458200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 flipV="1">
            <a:off x="4439412" y="204825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5" name="Shape 73"/>
          <p:cNvSpPr/>
          <p:nvPr/>
        </p:nvSpPr>
        <p:spPr>
          <a:xfrm>
            <a:off x="4439412" y="2048256"/>
            <a:ext cx="65653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>
            <a:off x="11004804" y="204825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20624" y="2670048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12064" y="2670048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  접수 대상 확인   ·   당일 RSV 우선 · RCP는 중복접수로 차단 · 당일 업무가 없으면 WalkIn 당일예약 후 복귀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 시작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52628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수검자의 당일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취소(CNR·CNC) 제외 업무 조회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업무 존재?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RSV?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WorkId 확정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WorkId 확정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10044684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4289450" y="3653028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RCP?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중복접수 대상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조건검증에서 차단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신규 당일예약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2393899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>
            <a:off x="4037990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8" name="Shape 106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생성 성공?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10044684" y="4347972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174443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092854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Shape 113"/>
          <p:cNvSpPr/>
          <p:nvPr/>
        </p:nvSpPr>
        <p:spPr>
          <a:xfrm>
            <a:off x="6011266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6" name="Text 114"/>
          <p:cNvSpPr/>
          <p:nvPr/>
        </p:nvSpPr>
        <p:spPr>
          <a:xfrm>
            <a:off x="5970029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7929677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7888440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9848088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7052767" y="340156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7929677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4" name="Text 122"/>
          <p:cNvSpPr/>
          <p:nvPr/>
        </p:nvSpPr>
        <p:spPr>
          <a:xfrm>
            <a:off x="7888440" y="36083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H="1">
            <a:off x="6038698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6" name="Text 124"/>
          <p:cNvSpPr/>
          <p:nvPr/>
        </p:nvSpPr>
        <p:spPr>
          <a:xfrm>
            <a:off x="5978537" y="36083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9848088" y="3858768"/>
            <a:ext cx="104150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8" name="Shape 126"/>
          <p:cNvSpPr/>
          <p:nvPr/>
        </p:nvSpPr>
        <p:spPr>
          <a:xfrm>
            <a:off x="10889590" y="3858768"/>
            <a:ext cx="0" cy="4297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5134356" y="3401568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0" name="Shape 128"/>
          <p:cNvSpPr/>
          <p:nvPr/>
        </p:nvSpPr>
        <p:spPr>
          <a:xfrm flipH="1">
            <a:off x="1297534" y="3474720"/>
            <a:ext cx="383682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1" name="Shape 129"/>
          <p:cNvSpPr/>
          <p:nvPr/>
        </p:nvSpPr>
        <p:spPr>
          <a:xfrm>
            <a:off x="1297534" y="347472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2174443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Text 133"/>
          <p:cNvSpPr/>
          <p:nvPr/>
        </p:nvSpPr>
        <p:spPr>
          <a:xfrm>
            <a:off x="2141715" y="43032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4092854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7" name="Shape 135"/>
          <p:cNvSpPr/>
          <p:nvPr/>
        </p:nvSpPr>
        <p:spPr>
          <a:xfrm>
            <a:off x="1297534" y="479145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1297534" y="4882896"/>
            <a:ext cx="92080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9" name="Shape 137"/>
          <p:cNvSpPr/>
          <p:nvPr/>
        </p:nvSpPr>
        <p:spPr>
          <a:xfrm flipV="1">
            <a:off x="10505542" y="4818888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 flipV="1">
            <a:off x="5134356" y="412394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3" name="Shape 141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6011266" y="4553712"/>
            <a:ext cx="200070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6" name="Shape 144"/>
          <p:cNvSpPr/>
          <p:nvPr/>
        </p:nvSpPr>
        <p:spPr>
          <a:xfrm flipV="1">
            <a:off x="8011973" y="3511296"/>
            <a:ext cx="0" cy="10424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7" name="Shape 145"/>
          <p:cNvSpPr/>
          <p:nvPr/>
        </p:nvSpPr>
        <p:spPr>
          <a:xfrm>
            <a:off x="8011973" y="3511296"/>
            <a:ext cx="287761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8" name="Shape 146"/>
          <p:cNvSpPr/>
          <p:nvPr/>
        </p:nvSpPr>
        <p:spPr>
          <a:xfrm flipV="1">
            <a:off x="10889590" y="3429000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9" name="Shape 147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 — WorkId 반환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420624" y="5029200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512064" y="5029200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  접수 가능조건 검증   —   5게이트를 모두 통과해야 접수 가능하다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시작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52628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= DB 현재일?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09:00 ≤ 현재시각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18:00?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마감 전?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350094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71" name="Shape 169"/>
          <p:cNvSpPr/>
          <p:nvPr/>
        </p:nvSpPr>
        <p:spPr>
          <a:xfrm>
            <a:off x="10350094" y="5975604"/>
            <a:ext cx="1384402" cy="21031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186903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3" name="Shape 171"/>
          <p:cNvSpPr/>
          <p:nvPr/>
        </p:nvSpPr>
        <p:spPr>
          <a:xfrm>
            <a:off x="3518611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4" name="Shape 172"/>
          <p:cNvSpPr/>
          <p:nvPr/>
        </p:nvSpPr>
        <p:spPr>
          <a:xfrm>
            <a:off x="5168189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6817766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6" name="Shape 174"/>
          <p:cNvSpPr/>
          <p:nvPr/>
        </p:nvSpPr>
        <p:spPr>
          <a:xfrm>
            <a:off x="846734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7" name="Shape 175"/>
          <p:cNvSpPr/>
          <p:nvPr/>
        </p:nvSpPr>
        <p:spPr>
          <a:xfrm>
            <a:off x="10116922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794406" y="5888736"/>
            <a:ext cx="8247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9" name="Shape 177"/>
          <p:cNvSpPr/>
          <p:nvPr/>
        </p:nvSpPr>
        <p:spPr>
          <a:xfrm>
            <a:off x="2794406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0" name="Shape 178"/>
          <p:cNvSpPr/>
          <p:nvPr/>
        </p:nvSpPr>
        <p:spPr>
          <a:xfrm>
            <a:off x="4443984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6093562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>
            <a:off x="7743139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3" name="Shape 181"/>
          <p:cNvSpPr/>
          <p:nvPr/>
        </p:nvSpPr>
        <p:spPr>
          <a:xfrm>
            <a:off x="9392717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4" name="Shape 182"/>
          <p:cNvSpPr/>
          <p:nvPr/>
        </p:nvSpPr>
        <p:spPr>
          <a:xfrm>
            <a:off x="11042294" y="588873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5" name="Text 183"/>
          <p:cNvSpPr/>
          <p:nvPr/>
        </p:nvSpPr>
        <p:spPr>
          <a:xfrm>
            <a:off x="420624" y="5779008"/>
            <a:ext cx="15727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하나라도 불충족</a:t>
            </a:r>
            <a:endParaRPr lang="ko-KR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·   동시성 경계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P03-05 RP-08, AEX, RCP-05 / P03-06 CP-05, RCP-06 — 상태 해석과 취소 보존은 CP-05, 전이 조건은 RP-09·RP-10, RCP-02~06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—   동일 업무 행의 RSV / RCP / CNR / CNC 전이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19456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</a:t>
            </a:r>
            <a:endParaRPr lang="ko-KR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75488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219456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</a:t>
            </a:r>
            <a:endParaRPr lang="ko-KR" sz="1200" dirty="0"/>
          </a:p>
        </p:txBody>
      </p:sp>
      <p:sp>
        <p:nvSpPr>
          <p:cNvPr id="16" name="Text 14"/>
          <p:cNvSpPr/>
          <p:nvPr/>
        </p:nvSpPr>
        <p:spPr>
          <a:xfrm>
            <a:off x="219456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75488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</a:t>
            </a:r>
            <a:endParaRPr lang="ko-KR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737360" y="2057400"/>
            <a:ext cx="4297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749040" y="2057400"/>
            <a:ext cx="9784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 flipV="1">
            <a:off x="277063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277063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317296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219456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 flipV="1">
            <a:off x="533095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533095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573328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475488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180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53212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97180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53212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· CNC → 모든 상태   허용하지 않음 (복원 경로 없음)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6400800" y="9692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92240" y="9692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규칙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4652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전이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763524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8096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8869680" y="1280160"/>
            <a:ext cx="28986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915400" y="1280160"/>
            <a:ext cx="28072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640080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4652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RSV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763524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8096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8869680" y="155448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15400" y="160020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일정·검사구성의 영향범위만 저장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640080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4652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RCP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763524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8096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8869680" y="181051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15400" y="185623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예약일·시간대·검사구성 유지, 상태만 변경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640080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4652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CNR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763524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8096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8869680" y="2066544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915400" y="2112264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CNR로 변경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640080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4652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RCP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763524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68096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8869680" y="2322576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915400" y="2368296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변경(P03-05). RowVersion 갱신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640080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44652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CNC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763524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68096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8869680" y="2578608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915400" y="2624328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RSV로 복원하지 않는다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640080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4652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→ *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763524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68096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8869680" y="283464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915400" y="288036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640080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44652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 → *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763524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68096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8869680" y="309067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915400" y="313639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6400800" y="3364992"/>
            <a:ext cx="5367528" cy="306781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510528" y="3438144"/>
            <a:ext cx="5148072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상태전이와 복원 경로는 없다.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6400800" y="37124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92240" y="37124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  접수 변경   —   동일 AEX 집합 저장은 No-op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RCP?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추가 / 제거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검사구성 검증</a:t>
            </a:r>
            <a:endParaRPr lang="ko-KR" sz="800" dirty="0"/>
          </a:p>
        </p:txBody>
      </p:sp>
      <p:sp>
        <p:nvSpPr>
          <p:cNvPr id="96" name="Shape 94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AEX 변경 있음?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 불가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432804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 / No-op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8316468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 변경 +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동시성 갱신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8001000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9884664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7200900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11297412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10639044" y="4425696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7" name="Shape 115"/>
          <p:cNvSpPr/>
          <p:nvPr/>
        </p:nvSpPr>
        <p:spPr>
          <a:xfrm flipH="1">
            <a:off x="9084564" y="4507992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8" name="Shape 116"/>
          <p:cNvSpPr/>
          <p:nvPr/>
        </p:nvSpPr>
        <p:spPr>
          <a:xfrm>
            <a:off x="9084564" y="4507992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9" name="Shape 117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1" name="Text 119"/>
          <p:cNvSpPr/>
          <p:nvPr/>
        </p:nvSpPr>
        <p:spPr>
          <a:xfrm>
            <a:off x="6400800" y="5065776"/>
            <a:ext cx="536752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예약일·시간대·NEX는 ReadOnly. 실제 AEX 변경 시에만 Work의 RowVersion이 바뀐다.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4754880"/>
            <a:ext cx="5669280" cy="4503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0352" y="4828032"/>
            <a:ext cx="5449824" cy="304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업무 구분   —   접수 → P03-01 접수 처리   ·   조회 → P03-04 접수 조회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→ P03-05 접수 변경   ·   취소 → P03-06 접수 취소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420624" y="530352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12064" y="530352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및 잠금 경계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420624" y="5596128"/>
            <a:ext cx="11347704" cy="78821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30352" y="5669280"/>
            <a:ext cx="11128248" cy="641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수검자 수정과 같은 Patient의 신규예약 생성이 경합할 수 있으므로 Patient 단위 직렬화가 필요하다.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신규예약·예약이동은 Patient와 대상 Slot을 같은 Transaction에서 잠그고 정원·중복을 재조회한다.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예약이동의 중복조회에서는 변경 대상 WorkId를 제외하고 다른 유효업무만 확인한다.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예약이동에서 기존 Slot과 신규 Slot을 함께 잠글 경우 정렬된 순서로 획득하여 교착 위험을 줄인다.</a:t>
            </a:r>
            <a:endParaRPr lang="ko-KR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 ↔  정책 추적표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원문 「정책 추적표」의 P01 5행 · P02 7행 · P03 6행, 총 18행을 그대로 옮긴다.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↔  정책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8" name="Shape 6"/>
          <p:cNvSpPr/>
          <p:nvPr/>
        </p:nvSpPr>
        <p:spPr>
          <a:xfrm>
            <a:off x="1472184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17904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10" name="Shape 8"/>
          <p:cNvSpPr/>
          <p:nvPr/>
        </p:nvSpPr>
        <p:spPr>
          <a:xfrm>
            <a:off x="420624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1000" dirty="0"/>
          </a:p>
        </p:txBody>
      </p:sp>
      <p:sp>
        <p:nvSpPr>
          <p:cNvPr id="12" name="Shape 10"/>
          <p:cNvSpPr/>
          <p:nvPr/>
        </p:nvSpPr>
        <p:spPr>
          <a:xfrm>
            <a:off x="1472184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EP-01, EP-02</a:t>
            </a:r>
            <a:endParaRPr lang="ko-KR" sz="1000" dirty="0"/>
          </a:p>
        </p:txBody>
      </p:sp>
      <p:sp>
        <p:nvSpPr>
          <p:cNvPr id="14" name="Shape 12"/>
          <p:cNvSpPr/>
          <p:nvPr/>
        </p:nvSpPr>
        <p:spPr>
          <a:xfrm>
            <a:off x="420624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1000" dirty="0"/>
          </a:p>
        </p:txBody>
      </p:sp>
      <p:sp>
        <p:nvSpPr>
          <p:cNvPr id="16" name="Shape 14"/>
          <p:cNvSpPr/>
          <p:nvPr/>
        </p:nvSpPr>
        <p:spPr>
          <a:xfrm>
            <a:off x="1472184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17904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EP-04, EP-09</a:t>
            </a:r>
            <a:endParaRPr lang="ko-KR" sz="1000" dirty="0"/>
          </a:p>
        </p:txBody>
      </p:sp>
      <p:sp>
        <p:nvSpPr>
          <p:cNvPr id="18" name="Shape 16"/>
          <p:cNvSpPr/>
          <p:nvPr/>
        </p:nvSpPr>
        <p:spPr>
          <a:xfrm>
            <a:off x="420624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1000" dirty="0"/>
          </a:p>
        </p:txBody>
      </p:sp>
      <p:sp>
        <p:nvSpPr>
          <p:cNvPr id="20" name="Shape 18"/>
          <p:cNvSpPr/>
          <p:nvPr/>
        </p:nvSpPr>
        <p:spPr>
          <a:xfrm>
            <a:off x="1472184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17904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EP-05~07</a:t>
            </a:r>
            <a:endParaRPr lang="ko-KR" sz="1000" dirty="0"/>
          </a:p>
        </p:txBody>
      </p:sp>
      <p:sp>
        <p:nvSpPr>
          <p:cNvPr id="22" name="Shape 20"/>
          <p:cNvSpPr/>
          <p:nvPr/>
        </p:nvSpPr>
        <p:spPr>
          <a:xfrm>
            <a:off x="420624" y="270662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75234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</a:t>
            </a:r>
            <a:endParaRPr lang="ko-KR" sz="1000" dirty="0"/>
          </a:p>
        </p:txBody>
      </p:sp>
      <p:sp>
        <p:nvSpPr>
          <p:cNvPr id="24" name="Shape 22"/>
          <p:cNvSpPr/>
          <p:nvPr/>
        </p:nvSpPr>
        <p:spPr>
          <a:xfrm>
            <a:off x="1472184" y="270662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17904" y="275234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EP-04, EP-08, CP-06</a:t>
            </a:r>
            <a:endParaRPr lang="ko-KR" sz="1000" dirty="0"/>
          </a:p>
        </p:txBody>
      </p:sp>
      <p:sp>
        <p:nvSpPr>
          <p:cNvPr id="26" name="Shape 24"/>
          <p:cNvSpPr/>
          <p:nvPr/>
        </p:nvSpPr>
        <p:spPr>
          <a:xfrm>
            <a:off x="420624" y="307238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" y="311810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1472184" y="307238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17904" y="311810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EP-05, EP-08</a:t>
            </a:r>
            <a:endParaRPr lang="ko-KR" sz="1000" dirty="0"/>
          </a:p>
        </p:txBody>
      </p:sp>
      <p:sp>
        <p:nvSpPr>
          <p:cNvPr id="30" name="Shape 28"/>
          <p:cNvSpPr/>
          <p:nvPr/>
        </p:nvSpPr>
        <p:spPr>
          <a:xfrm>
            <a:off x="4294632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6072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↔  정책</a:t>
            </a:r>
            <a:endParaRPr lang="ko-KR" sz="1000" dirty="0"/>
          </a:p>
        </p:txBody>
      </p:sp>
      <p:sp>
        <p:nvSpPr>
          <p:cNvPr id="32" name="Shape 30"/>
          <p:cNvSpPr/>
          <p:nvPr/>
        </p:nvSpPr>
        <p:spPr>
          <a:xfrm>
            <a:off x="4294632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40352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34" name="Shape 32"/>
          <p:cNvSpPr/>
          <p:nvPr/>
        </p:nvSpPr>
        <p:spPr>
          <a:xfrm>
            <a:off x="5346192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1912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4294632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40352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1000" dirty="0"/>
          </a:p>
        </p:txBody>
      </p:sp>
      <p:sp>
        <p:nvSpPr>
          <p:cNvPr id="38" name="Shape 36"/>
          <p:cNvSpPr/>
          <p:nvPr/>
        </p:nvSpPr>
        <p:spPr>
          <a:xfrm>
            <a:off x="5346192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91912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RP-01, RP-06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4294632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40352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1000" dirty="0"/>
          </a:p>
        </p:txBody>
      </p:sp>
      <p:sp>
        <p:nvSpPr>
          <p:cNvPr id="42" name="Shape 40"/>
          <p:cNvSpPr/>
          <p:nvPr/>
        </p:nvSpPr>
        <p:spPr>
          <a:xfrm>
            <a:off x="5346192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91912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RP-07, RP-08, TGT, NEX, AEX</a:t>
            </a:r>
            <a:endParaRPr lang="ko-KR" sz="1000" dirty="0"/>
          </a:p>
        </p:txBody>
      </p:sp>
      <p:sp>
        <p:nvSpPr>
          <p:cNvPr id="44" name="Shape 42"/>
          <p:cNvSpPr/>
          <p:nvPr/>
        </p:nvSpPr>
        <p:spPr>
          <a:xfrm>
            <a:off x="4294632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40352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5346192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91912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RP-02, RP-04, RP-05</a:t>
            </a:r>
            <a:endParaRPr lang="ko-KR" sz="1000" dirty="0"/>
          </a:p>
        </p:txBody>
      </p:sp>
      <p:sp>
        <p:nvSpPr>
          <p:cNvPr id="48" name="Shape 46"/>
          <p:cNvSpPr/>
          <p:nvPr/>
        </p:nvSpPr>
        <p:spPr>
          <a:xfrm>
            <a:off x="4294632" y="270662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40352" y="275234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1000" dirty="0"/>
          </a:p>
        </p:txBody>
      </p:sp>
      <p:sp>
        <p:nvSpPr>
          <p:cNvPr id="50" name="Shape 48"/>
          <p:cNvSpPr/>
          <p:nvPr/>
        </p:nvSpPr>
        <p:spPr>
          <a:xfrm>
            <a:off x="5346192" y="270662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91912" y="275234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RP-02~06, RP-09,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52" name="Shape 50"/>
          <p:cNvSpPr/>
          <p:nvPr/>
        </p:nvSpPr>
        <p:spPr>
          <a:xfrm>
            <a:off x="4294632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40352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1000" dirty="0"/>
          </a:p>
        </p:txBody>
      </p:sp>
      <p:sp>
        <p:nvSpPr>
          <p:cNvPr id="54" name="Shape 52"/>
          <p:cNvSpPr/>
          <p:nvPr/>
        </p:nvSpPr>
        <p:spPr>
          <a:xfrm>
            <a:off x="5346192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91912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56" name="Shape 54"/>
          <p:cNvSpPr/>
          <p:nvPr/>
        </p:nvSpPr>
        <p:spPr>
          <a:xfrm>
            <a:off x="4294632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40352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5346192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91912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RP-03, RP-06~09, TGT, NEX, AEX</a:t>
            </a:r>
            <a:endParaRPr lang="ko-KR" sz="1000" dirty="0"/>
          </a:p>
        </p:txBody>
      </p:sp>
      <p:sp>
        <p:nvSpPr>
          <p:cNvPr id="60" name="Shape 58"/>
          <p:cNvSpPr/>
          <p:nvPr/>
        </p:nvSpPr>
        <p:spPr>
          <a:xfrm>
            <a:off x="4294632" y="386742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340352" y="391314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5346192" y="386742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391912" y="391314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RP-10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168640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260080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↔  정책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168640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214360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9220200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265920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168640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214360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9220200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265920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RCP-01, RCP-04, RP-08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168640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14360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9220200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265920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RP-05, RP-06, RCP-01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168640" y="234086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14360" y="238658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9220200" y="234086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265920" y="238658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RCP-02, RCP-03,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168640" y="277014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14360" y="281586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9220200" y="277014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265920" y="281586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168640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214360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9220200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265920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RP-08, AEX, RCP-05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168640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214360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9220200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265920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RCP-06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420624" y="435254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12064" y="435254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계열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42062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6634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1472184" y="4626864"/>
            <a:ext cx="461772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517904" y="4626864"/>
            <a:ext cx="45262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608990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13562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7141464" y="4626864"/>
            <a:ext cx="4626864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187184" y="4626864"/>
            <a:ext cx="453542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2062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634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1472184" y="490118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517904" y="494690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— 업무 가능일 · 운영요일 · 휴무일 · 운영시간 · 취소 보존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608990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13562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7141464" y="490118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7187184" y="494690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 대상판정 Rule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42062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634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1472184" y="517550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517904" y="522122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— 관리 단위 · 차트번호 · 필수정보 · 중복등록 · 변경 제한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608990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13562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141464" y="517550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187184" y="522122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검사오더 생성 Rule (기본 8종 + 조건부 0~3종)</a:t>
            </a:r>
            <a:endParaRPr lang="ko-KR" sz="950" dirty="0"/>
          </a:p>
        </p:txBody>
      </p:sp>
      <p:sp>
        <p:nvSpPr>
          <p:cNvPr id="120" name="Shape 118"/>
          <p:cNvSpPr/>
          <p:nvPr/>
        </p:nvSpPr>
        <p:spPr>
          <a:xfrm>
            <a:off x="42062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6634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</a:t>
            </a:r>
            <a:endParaRPr lang="ko-KR" sz="950" dirty="0"/>
          </a:p>
        </p:txBody>
      </p:sp>
      <p:sp>
        <p:nvSpPr>
          <p:cNvPr id="122" name="Shape 120"/>
          <p:cNvSpPr/>
          <p:nvPr/>
        </p:nvSpPr>
        <p:spPr>
          <a:xfrm>
            <a:off x="1472184" y="544982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517904" y="549554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— 일정 · 정원 · 당일/현장예약 · 중복예약 · 검사 구성 · 변경</a:t>
            </a:r>
            <a:endParaRPr lang="ko-KR" sz="950" dirty="0"/>
          </a:p>
        </p:txBody>
      </p:sp>
      <p:sp>
        <p:nvSpPr>
          <p:cNvPr id="124" name="Shape 122"/>
          <p:cNvSpPr/>
          <p:nvPr/>
        </p:nvSpPr>
        <p:spPr>
          <a:xfrm>
            <a:off x="608990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13562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126" name="Shape 124"/>
          <p:cNvSpPr/>
          <p:nvPr/>
        </p:nvSpPr>
        <p:spPr>
          <a:xfrm>
            <a:off x="7141464" y="544982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187184" y="549554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본인부담 추가검사 Master / Rule</a:t>
            </a:r>
            <a:endParaRPr lang="ko-KR" sz="950" dirty="0"/>
          </a:p>
        </p:txBody>
      </p:sp>
      <p:sp>
        <p:nvSpPr>
          <p:cNvPr id="128" name="Shape 126"/>
          <p:cNvSpPr/>
          <p:nvPr/>
        </p:nvSpPr>
        <p:spPr>
          <a:xfrm>
            <a:off x="42062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634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950" dirty="0"/>
          </a:p>
        </p:txBody>
      </p:sp>
      <p:sp>
        <p:nvSpPr>
          <p:cNvPr id="130" name="Shape 128"/>
          <p:cNvSpPr/>
          <p:nvPr/>
        </p:nvSpPr>
        <p:spPr>
          <a:xfrm>
            <a:off x="1472184" y="572414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517904" y="576986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— 예약 전제 · 접수 가능조건 · 중복접수 · 접수 변경 · 접수 취소</a:t>
            </a:r>
            <a:endParaRPr lang="ko-KR" sz="950" dirty="0"/>
          </a:p>
        </p:txBody>
      </p:sp>
      <p:sp>
        <p:nvSpPr>
          <p:cNvPr id="132" name="Shape 130"/>
          <p:cNvSpPr/>
          <p:nvPr/>
        </p:nvSpPr>
        <p:spPr>
          <a:xfrm>
            <a:off x="608990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3562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HOL</a:t>
            </a:r>
            <a:endParaRPr lang="ko-KR" sz="950" dirty="0"/>
          </a:p>
        </p:txBody>
      </p:sp>
      <p:sp>
        <p:nvSpPr>
          <p:cNvPr id="134" name="Shape 132"/>
          <p:cNvSpPr/>
          <p:nvPr/>
        </p:nvSpPr>
        <p:spPr>
          <a:xfrm>
            <a:off x="7141464" y="572414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187184" y="576986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기준 Rule</a:t>
            </a:r>
            <a:endParaRPr lang="ko-KR" sz="950" dirty="0"/>
          </a:p>
        </p:txBody>
      </p:sp>
      <p:sp>
        <p:nvSpPr>
          <p:cNvPr id="136" name="Shape 134"/>
          <p:cNvSpPr/>
          <p:nvPr/>
        </p:nvSpPr>
        <p:spPr>
          <a:xfrm>
            <a:off x="42062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6634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해석</a:t>
            </a:r>
            <a:endParaRPr lang="ko-KR" sz="950" dirty="0"/>
          </a:p>
        </p:txBody>
      </p:sp>
      <p:sp>
        <p:nvSpPr>
          <p:cNvPr id="138" name="Shape 136"/>
          <p:cNvSpPr/>
          <p:nvPr/>
        </p:nvSpPr>
        <p:spPr>
          <a:xfrm>
            <a:off x="1472184" y="599846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517904" y="604418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상태(RSV / RCP / CNR / CNC) 해석 기준</a:t>
            </a:r>
            <a:endParaRPr lang="ko-KR" sz="950" dirty="0"/>
          </a:p>
        </p:txBody>
      </p:sp>
      <p:sp>
        <p:nvSpPr>
          <p:cNvPr id="140" name="Shape 138"/>
          <p:cNvSpPr/>
          <p:nvPr/>
        </p:nvSpPr>
        <p:spPr>
          <a:xfrm>
            <a:off x="608990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13562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마감시간 정책</a:t>
            </a:r>
            <a:endParaRPr lang="ko-KR" sz="950" dirty="0"/>
          </a:p>
        </p:txBody>
      </p:sp>
      <p:sp>
        <p:nvSpPr>
          <p:cNvPr id="142" name="Shape 140"/>
          <p:cNvSpPr/>
          <p:nvPr/>
        </p:nvSpPr>
        <p:spPr>
          <a:xfrm>
            <a:off x="7141464" y="599846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7187184" y="604418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 마감 · 접수 마감</a:t>
            </a:r>
            <a:endParaRPr lang="ko-KR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2026-09-14T12:38:35Z</dcterms:created>
  <dcterms:modified xsi:type="dcterms:W3CDTF">2026-09-14T12:38:35Z</dcterms:modified>
</cp:coreProperties>
</file>