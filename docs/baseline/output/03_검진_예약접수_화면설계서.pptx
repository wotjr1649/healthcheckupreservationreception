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</p:sldIdLst>
  <p:notesMasterIdLst>
    <p:notesMasterId r:id="rId3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notesMaster" Target="notesMasters/notesMaster1.xml"/><Relationship Id="rId31" Type="http://schemas.openxmlformats.org/officeDocument/2006/relationships/presProps" Target="presProps.xml"/><Relationship Id="rId32" Type="http://schemas.openxmlformats.org/officeDocument/2006/relationships/viewProps" Target="viewProps.xml"/><Relationship Id="rId33" Type="http://schemas.openxmlformats.org/officeDocument/2006/relationships/theme" Target="theme/theme1.xml"/><Relationship Id="rId3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목록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1234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ID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1655064" y="932688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696212" y="97383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화면명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4032504" y="932688"/>
            <a:ext cx="96012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073652" y="973836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형태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992624" y="932688"/>
            <a:ext cx="164592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33772" y="973836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Process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6638544" y="932688"/>
            <a:ext cx="512978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679692" y="973836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Function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420624" y="1158568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61772" y="1199716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1655064" y="1158568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696212" y="119971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Shell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4032504" y="1158568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073652" y="1199716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850" dirty="0"/>
          </a:p>
        </p:txBody>
      </p:sp>
      <p:sp>
        <p:nvSpPr>
          <p:cNvPr id="19" name="Shape 17"/>
          <p:cNvSpPr/>
          <p:nvPr/>
        </p:nvSpPr>
        <p:spPr>
          <a:xfrm>
            <a:off x="4992624" y="1158568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033772" y="1199716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P00</a:t>
            </a:r>
            <a:endParaRPr lang="ko-KR" sz="850" dirty="0"/>
          </a:p>
        </p:txBody>
      </p:sp>
      <p:sp>
        <p:nvSpPr>
          <p:cNvPr id="21" name="Shape 19"/>
          <p:cNvSpPr/>
          <p:nvPr/>
        </p:nvSpPr>
        <p:spPr>
          <a:xfrm>
            <a:off x="6638544" y="1158568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679692" y="1199716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endParaRPr lang="ko-KR" sz="850" dirty="0"/>
          </a:p>
        </p:txBody>
      </p:sp>
      <p:sp>
        <p:nvSpPr>
          <p:cNvPr id="23" name="Shape 21"/>
          <p:cNvSpPr/>
          <p:nvPr/>
        </p:nvSpPr>
        <p:spPr>
          <a:xfrm>
            <a:off x="420624" y="138444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61772" y="142559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</a:t>
            </a:r>
            <a:endParaRPr lang="ko-KR" sz="850" dirty="0"/>
          </a:p>
        </p:txBody>
      </p:sp>
      <p:sp>
        <p:nvSpPr>
          <p:cNvPr id="25" name="Shape 23"/>
          <p:cNvSpPr/>
          <p:nvPr/>
        </p:nvSpPr>
        <p:spPr>
          <a:xfrm>
            <a:off x="1655064" y="138444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696212" y="142559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850" dirty="0"/>
          </a:p>
        </p:txBody>
      </p:sp>
      <p:sp>
        <p:nvSpPr>
          <p:cNvPr id="27" name="Shape 25"/>
          <p:cNvSpPr/>
          <p:nvPr/>
        </p:nvSpPr>
        <p:spPr>
          <a:xfrm>
            <a:off x="4032504" y="138444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073652" y="142559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29" name="Shape 27"/>
          <p:cNvSpPr/>
          <p:nvPr/>
        </p:nvSpPr>
        <p:spPr>
          <a:xfrm>
            <a:off x="4992624" y="138444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033772" y="142559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P01-01~05</a:t>
            </a:r>
            <a:endParaRPr lang="ko-KR" sz="850" dirty="0"/>
          </a:p>
        </p:txBody>
      </p:sp>
      <p:sp>
        <p:nvSpPr>
          <p:cNvPr id="31" name="Shape 29"/>
          <p:cNvSpPr/>
          <p:nvPr/>
        </p:nvSpPr>
        <p:spPr>
          <a:xfrm>
            <a:off x="6638544" y="138444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679692" y="142559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F-PAT-001~003, F-COM-002, F-COM-007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420624" y="161032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1772" y="165147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</a:t>
            </a:r>
            <a:endParaRPr lang="ko-KR" sz="850" dirty="0"/>
          </a:p>
        </p:txBody>
      </p:sp>
      <p:sp>
        <p:nvSpPr>
          <p:cNvPr id="35" name="Shape 33"/>
          <p:cNvSpPr/>
          <p:nvPr/>
        </p:nvSpPr>
        <p:spPr>
          <a:xfrm>
            <a:off x="1655064" y="161032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696212" y="165147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등록/수정</a:t>
            </a:r>
            <a:endParaRPr lang="ko-KR" sz="850" dirty="0"/>
          </a:p>
        </p:txBody>
      </p:sp>
      <p:sp>
        <p:nvSpPr>
          <p:cNvPr id="37" name="Shape 35"/>
          <p:cNvSpPr/>
          <p:nvPr/>
        </p:nvSpPr>
        <p:spPr>
          <a:xfrm>
            <a:off x="4032504" y="161032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073652" y="165147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992624" y="161032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033772" y="165147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P01-02~05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6638544" y="161032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679692" y="165147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F-PAT-002~003, F-COM-002, F-COM-007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183620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187735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1655064" y="183620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696212" y="187735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4032504" y="183620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073652" y="187735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992624" y="183620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033772" y="187735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P01-01~03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6638544" y="183620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79692" y="187735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F-PAT-001~002, F-COM-002, F-COM-007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2062089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2103237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1655064" y="2062089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1696212" y="2103237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032504" y="2062089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073652" y="2103237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4992624" y="2062089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5033772" y="2103237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6638544" y="2062089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6679692" y="2103237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F-COM-002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420624" y="228797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61772" y="232911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1655064" y="228797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696212" y="232911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4032504" y="228797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073652" y="232911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992624" y="228797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5033772" y="232911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P02-01~04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6638544" y="228797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6679692" y="232911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F-RSV-001, F-COM-003~005, F-COM-007</a:t>
            </a:r>
            <a:endParaRPr lang="ko-KR" sz="850" dirty="0"/>
          </a:p>
        </p:txBody>
      </p:sp>
      <p:sp>
        <p:nvSpPr>
          <p:cNvPr id="73" name="Shape 71"/>
          <p:cNvSpPr/>
          <p:nvPr/>
        </p:nvSpPr>
        <p:spPr>
          <a:xfrm>
            <a:off x="420624" y="251385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1772" y="255499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</a:t>
            </a:r>
            <a:endParaRPr lang="ko-KR" sz="850" dirty="0"/>
          </a:p>
        </p:txBody>
      </p:sp>
      <p:sp>
        <p:nvSpPr>
          <p:cNvPr id="75" name="Shape 73"/>
          <p:cNvSpPr/>
          <p:nvPr/>
        </p:nvSpPr>
        <p:spPr>
          <a:xfrm>
            <a:off x="1655064" y="251385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1696212" y="255499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</a:t>
            </a:r>
            <a:endParaRPr lang="ko-KR" sz="850" dirty="0"/>
          </a:p>
        </p:txBody>
      </p:sp>
      <p:sp>
        <p:nvSpPr>
          <p:cNvPr id="77" name="Shape 75"/>
          <p:cNvSpPr/>
          <p:nvPr/>
        </p:nvSpPr>
        <p:spPr>
          <a:xfrm>
            <a:off x="4032504" y="251385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073652" y="255499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</a:t>
            </a:r>
            <a:endParaRPr lang="ko-KR" sz="850" dirty="0"/>
          </a:p>
        </p:txBody>
      </p:sp>
      <p:sp>
        <p:nvSpPr>
          <p:cNvPr id="79" name="Shape 77"/>
          <p:cNvSpPr/>
          <p:nvPr/>
        </p:nvSpPr>
        <p:spPr>
          <a:xfrm>
            <a:off x="4992624" y="251385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5033772" y="255499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P02-05, P03-04</a:t>
            </a:r>
            <a:endParaRPr lang="ko-KR" sz="850" dirty="0"/>
          </a:p>
        </p:txBody>
      </p:sp>
      <p:sp>
        <p:nvSpPr>
          <p:cNvPr id="81" name="Shape 79"/>
          <p:cNvSpPr/>
          <p:nvPr/>
        </p:nvSpPr>
        <p:spPr>
          <a:xfrm>
            <a:off x="6638544" y="251385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6679692" y="255499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F-COM-001, F-COM-007</a:t>
            </a:r>
            <a:endParaRPr lang="ko-KR" sz="850" dirty="0"/>
          </a:p>
        </p:txBody>
      </p:sp>
      <p:sp>
        <p:nvSpPr>
          <p:cNvPr id="83" name="Shape 81"/>
          <p:cNvSpPr/>
          <p:nvPr/>
        </p:nvSpPr>
        <p:spPr>
          <a:xfrm>
            <a:off x="420624" y="2739730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61772" y="2780878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</a:t>
            </a:r>
            <a:endParaRPr lang="ko-KR" sz="850" dirty="0"/>
          </a:p>
        </p:txBody>
      </p:sp>
      <p:sp>
        <p:nvSpPr>
          <p:cNvPr id="85" name="Shape 83"/>
          <p:cNvSpPr/>
          <p:nvPr/>
        </p:nvSpPr>
        <p:spPr>
          <a:xfrm>
            <a:off x="1655064" y="2739730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1696212" y="2780878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850" dirty="0"/>
          </a:p>
        </p:txBody>
      </p:sp>
      <p:sp>
        <p:nvSpPr>
          <p:cNvPr id="87" name="Shape 85"/>
          <p:cNvSpPr/>
          <p:nvPr/>
        </p:nvSpPr>
        <p:spPr>
          <a:xfrm>
            <a:off x="4032504" y="2739730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073652" y="2780878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89" name="Shape 87"/>
          <p:cNvSpPr/>
          <p:nvPr/>
        </p:nvSpPr>
        <p:spPr>
          <a:xfrm>
            <a:off x="4992624" y="2739730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033772" y="2780878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P02-06</a:t>
            </a:r>
            <a:endParaRPr lang="ko-KR" sz="850" dirty="0"/>
          </a:p>
        </p:txBody>
      </p:sp>
      <p:sp>
        <p:nvSpPr>
          <p:cNvPr id="91" name="Shape 89"/>
          <p:cNvSpPr/>
          <p:nvPr/>
        </p:nvSpPr>
        <p:spPr>
          <a:xfrm>
            <a:off x="6638544" y="2739730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679692" y="2780878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F-RSV-002, F-COM-003~005, F-COM-007</a:t>
            </a:r>
            <a:endParaRPr lang="ko-KR" sz="850" dirty="0"/>
          </a:p>
        </p:txBody>
      </p:sp>
      <p:sp>
        <p:nvSpPr>
          <p:cNvPr id="93" name="Shape 91"/>
          <p:cNvSpPr/>
          <p:nvPr/>
        </p:nvSpPr>
        <p:spPr>
          <a:xfrm>
            <a:off x="420624" y="296561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1772" y="300675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</a:t>
            </a:r>
            <a:endParaRPr lang="ko-KR" sz="850" dirty="0"/>
          </a:p>
        </p:txBody>
      </p:sp>
      <p:sp>
        <p:nvSpPr>
          <p:cNvPr id="95" name="Shape 93"/>
          <p:cNvSpPr/>
          <p:nvPr/>
        </p:nvSpPr>
        <p:spPr>
          <a:xfrm>
            <a:off x="1655064" y="296561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696212" y="300675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850" dirty="0"/>
          </a:p>
        </p:txBody>
      </p:sp>
      <p:sp>
        <p:nvSpPr>
          <p:cNvPr id="97" name="Shape 95"/>
          <p:cNvSpPr/>
          <p:nvPr/>
        </p:nvSpPr>
        <p:spPr>
          <a:xfrm>
            <a:off x="4032504" y="296561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073652" y="300675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</a:t>
            </a:r>
            <a:endParaRPr lang="ko-KR" sz="850" dirty="0"/>
          </a:p>
        </p:txBody>
      </p:sp>
      <p:sp>
        <p:nvSpPr>
          <p:cNvPr id="99" name="Shape 97"/>
          <p:cNvSpPr/>
          <p:nvPr/>
        </p:nvSpPr>
        <p:spPr>
          <a:xfrm>
            <a:off x="4992624" y="296561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5033772" y="300675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</a:t>
            </a:r>
            <a:endParaRPr lang="ko-KR" sz="850" dirty="0"/>
          </a:p>
        </p:txBody>
      </p:sp>
      <p:sp>
        <p:nvSpPr>
          <p:cNvPr id="101" name="Shape 99"/>
          <p:cNvSpPr/>
          <p:nvPr/>
        </p:nvSpPr>
        <p:spPr>
          <a:xfrm>
            <a:off x="6638544" y="296561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6679692" y="300675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F-RSV-003, F-COM-007</a:t>
            </a:r>
            <a:endParaRPr lang="ko-KR" sz="850" dirty="0"/>
          </a:p>
        </p:txBody>
      </p:sp>
      <p:sp>
        <p:nvSpPr>
          <p:cNvPr id="103" name="Shape 101"/>
          <p:cNvSpPr/>
          <p:nvPr/>
        </p:nvSpPr>
        <p:spPr>
          <a:xfrm>
            <a:off x="420624" y="319149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61772" y="323263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</a:t>
            </a:r>
            <a:endParaRPr lang="ko-KR" sz="850" dirty="0"/>
          </a:p>
        </p:txBody>
      </p:sp>
      <p:sp>
        <p:nvSpPr>
          <p:cNvPr id="105" name="Shape 103"/>
          <p:cNvSpPr/>
          <p:nvPr/>
        </p:nvSpPr>
        <p:spPr>
          <a:xfrm>
            <a:off x="1655064" y="319149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1696212" y="323263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850" dirty="0"/>
          </a:p>
        </p:txBody>
      </p:sp>
      <p:sp>
        <p:nvSpPr>
          <p:cNvPr id="107" name="Shape 105"/>
          <p:cNvSpPr/>
          <p:nvPr/>
        </p:nvSpPr>
        <p:spPr>
          <a:xfrm>
            <a:off x="4032504" y="319149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073652" y="323263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09" name="Shape 107"/>
          <p:cNvSpPr/>
          <p:nvPr/>
        </p:nvSpPr>
        <p:spPr>
          <a:xfrm>
            <a:off x="4992624" y="319149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033772" y="323263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P03-01~03</a:t>
            </a:r>
            <a:endParaRPr lang="ko-KR" sz="850" dirty="0"/>
          </a:p>
        </p:txBody>
      </p:sp>
      <p:sp>
        <p:nvSpPr>
          <p:cNvPr id="111" name="Shape 109"/>
          <p:cNvSpPr/>
          <p:nvPr/>
        </p:nvSpPr>
        <p:spPr>
          <a:xfrm>
            <a:off x="6638544" y="319149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679692" y="323263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F-RCP-001, F-COM-006~007</a:t>
            </a:r>
            <a:endParaRPr lang="ko-KR" sz="850" dirty="0"/>
          </a:p>
        </p:txBody>
      </p:sp>
      <p:sp>
        <p:nvSpPr>
          <p:cNvPr id="113" name="Shape 111"/>
          <p:cNvSpPr/>
          <p:nvPr/>
        </p:nvSpPr>
        <p:spPr>
          <a:xfrm>
            <a:off x="420624" y="3417371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61772" y="3458519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</a:t>
            </a:r>
            <a:endParaRPr lang="ko-KR" sz="850" dirty="0"/>
          </a:p>
        </p:txBody>
      </p:sp>
      <p:sp>
        <p:nvSpPr>
          <p:cNvPr id="115" name="Shape 113"/>
          <p:cNvSpPr/>
          <p:nvPr/>
        </p:nvSpPr>
        <p:spPr>
          <a:xfrm>
            <a:off x="1655064" y="3417371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1696212" y="3458519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850" dirty="0"/>
          </a:p>
        </p:txBody>
      </p:sp>
      <p:sp>
        <p:nvSpPr>
          <p:cNvPr id="117" name="Shape 115"/>
          <p:cNvSpPr/>
          <p:nvPr/>
        </p:nvSpPr>
        <p:spPr>
          <a:xfrm>
            <a:off x="4032504" y="3417371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073652" y="3458519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19" name="Shape 117"/>
          <p:cNvSpPr/>
          <p:nvPr/>
        </p:nvSpPr>
        <p:spPr>
          <a:xfrm>
            <a:off x="4992624" y="3417371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5033772" y="3458519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P03-05</a:t>
            </a:r>
            <a:endParaRPr lang="ko-KR" sz="850" dirty="0"/>
          </a:p>
        </p:txBody>
      </p:sp>
      <p:sp>
        <p:nvSpPr>
          <p:cNvPr id="121" name="Shape 119"/>
          <p:cNvSpPr/>
          <p:nvPr/>
        </p:nvSpPr>
        <p:spPr>
          <a:xfrm>
            <a:off x="6638544" y="3417371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6679692" y="3458519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F-RCP-002, F-COM-004, F-COM-007</a:t>
            </a:r>
            <a:endParaRPr lang="ko-KR" sz="850" dirty="0"/>
          </a:p>
        </p:txBody>
      </p:sp>
      <p:sp>
        <p:nvSpPr>
          <p:cNvPr id="123" name="Shape 121"/>
          <p:cNvSpPr/>
          <p:nvPr/>
        </p:nvSpPr>
        <p:spPr>
          <a:xfrm>
            <a:off x="420624" y="364325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61772" y="368440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</a:t>
            </a:r>
            <a:endParaRPr lang="ko-KR" sz="850" dirty="0"/>
          </a:p>
        </p:txBody>
      </p:sp>
      <p:sp>
        <p:nvSpPr>
          <p:cNvPr id="125" name="Shape 123"/>
          <p:cNvSpPr/>
          <p:nvPr/>
        </p:nvSpPr>
        <p:spPr>
          <a:xfrm>
            <a:off x="1655064" y="364325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1696212" y="368440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 확인</a:t>
            </a:r>
            <a:endParaRPr lang="ko-KR" sz="850" dirty="0"/>
          </a:p>
        </p:txBody>
      </p:sp>
      <p:sp>
        <p:nvSpPr>
          <p:cNvPr id="127" name="Shape 125"/>
          <p:cNvSpPr/>
          <p:nvPr/>
        </p:nvSpPr>
        <p:spPr>
          <a:xfrm>
            <a:off x="4032504" y="364325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4073652" y="368440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</a:t>
            </a:r>
            <a:endParaRPr lang="ko-KR" sz="850" dirty="0"/>
          </a:p>
        </p:txBody>
      </p:sp>
      <p:sp>
        <p:nvSpPr>
          <p:cNvPr id="129" name="Shape 127"/>
          <p:cNvSpPr/>
          <p:nvPr/>
        </p:nvSpPr>
        <p:spPr>
          <a:xfrm>
            <a:off x="4992624" y="364325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033772" y="368440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</a:t>
            </a:r>
            <a:endParaRPr lang="ko-KR" sz="850" dirty="0"/>
          </a:p>
        </p:txBody>
      </p:sp>
      <p:sp>
        <p:nvSpPr>
          <p:cNvPr id="131" name="Shape 129"/>
          <p:cNvSpPr/>
          <p:nvPr/>
        </p:nvSpPr>
        <p:spPr>
          <a:xfrm>
            <a:off x="6638544" y="364325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6679692" y="368440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F-RCP-003, F-COM-007</a:t>
            </a:r>
            <a:endParaRPr lang="ko-KR" sz="850" dirty="0"/>
          </a:p>
        </p:txBody>
      </p:sp>
      <p:sp>
        <p:nvSpPr>
          <p:cNvPr id="133" name="Shape 131"/>
          <p:cNvSpPr/>
          <p:nvPr/>
        </p:nvSpPr>
        <p:spPr>
          <a:xfrm>
            <a:off x="420624" y="386913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461772" y="391028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DLG-LOG-01</a:t>
            </a:r>
            <a:endParaRPr lang="ko-KR" sz="850" dirty="0"/>
          </a:p>
        </p:txBody>
      </p:sp>
      <p:sp>
        <p:nvSpPr>
          <p:cNvPr id="135" name="Shape 133"/>
          <p:cNvSpPr/>
          <p:nvPr/>
        </p:nvSpPr>
        <p:spPr>
          <a:xfrm>
            <a:off x="1655064" y="386913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1696212" y="391028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열람</a:t>
            </a:r>
            <a:endParaRPr lang="ko-KR" sz="850" dirty="0"/>
          </a:p>
        </p:txBody>
      </p:sp>
      <p:sp>
        <p:nvSpPr>
          <p:cNvPr id="137" name="Shape 135"/>
          <p:cNvSpPr/>
          <p:nvPr/>
        </p:nvSpPr>
        <p:spPr>
          <a:xfrm>
            <a:off x="4032504" y="386913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073652" y="391028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39" name="Shape 137"/>
          <p:cNvSpPr/>
          <p:nvPr/>
        </p:nvSpPr>
        <p:spPr>
          <a:xfrm>
            <a:off x="4992624" y="386913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5033772" y="391028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P01~P03 공통</a:t>
            </a:r>
            <a:endParaRPr lang="ko-KR" sz="850" dirty="0"/>
          </a:p>
        </p:txBody>
      </p:sp>
      <p:sp>
        <p:nvSpPr>
          <p:cNvPr id="141" name="Shape 139"/>
          <p:cNvSpPr/>
          <p:nvPr/>
        </p:nvSpPr>
        <p:spPr>
          <a:xfrm>
            <a:off x="6638544" y="386913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6679692" y="391028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F-COM-008</a:t>
            </a:r>
            <a:endParaRPr lang="ko-KR" sz="850" dirty="0"/>
          </a:p>
        </p:txBody>
      </p:sp>
      <p:sp>
        <p:nvSpPr>
          <p:cNvPr id="143" name="Shape 141"/>
          <p:cNvSpPr/>
          <p:nvPr/>
        </p:nvSpPr>
        <p:spPr>
          <a:xfrm>
            <a:off x="420624" y="4095012"/>
            <a:ext cx="1234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461772" y="4136160"/>
            <a:ext cx="1152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</a:t>
            </a:r>
            <a:endParaRPr lang="ko-KR" sz="850" dirty="0"/>
          </a:p>
        </p:txBody>
      </p:sp>
      <p:sp>
        <p:nvSpPr>
          <p:cNvPr id="145" name="Shape 143"/>
          <p:cNvSpPr/>
          <p:nvPr/>
        </p:nvSpPr>
        <p:spPr>
          <a:xfrm>
            <a:off x="1655064" y="4095012"/>
            <a:ext cx="23774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1696212" y="4136160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850" dirty="0"/>
          </a:p>
        </p:txBody>
      </p:sp>
      <p:sp>
        <p:nvSpPr>
          <p:cNvPr id="147" name="Shape 145"/>
          <p:cNvSpPr/>
          <p:nvPr/>
        </p:nvSpPr>
        <p:spPr>
          <a:xfrm>
            <a:off x="4032504" y="4095012"/>
            <a:ext cx="9601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073652" y="4136160"/>
            <a:ext cx="8778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149" name="Shape 147"/>
          <p:cNvSpPr/>
          <p:nvPr/>
        </p:nvSpPr>
        <p:spPr>
          <a:xfrm>
            <a:off x="4992624" y="4095012"/>
            <a:ext cx="164592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033772" y="4136160"/>
            <a:ext cx="156362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기준정보</a:t>
            </a:r>
            <a:endParaRPr lang="ko-KR" sz="850" dirty="0"/>
          </a:p>
        </p:txBody>
      </p:sp>
      <p:sp>
        <p:nvSpPr>
          <p:cNvPr id="151" name="Shape 149"/>
          <p:cNvSpPr/>
          <p:nvPr/>
        </p:nvSpPr>
        <p:spPr>
          <a:xfrm>
            <a:off x="6638544" y="4095012"/>
            <a:ext cx="512978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6679692" y="4136160"/>
            <a:ext cx="504748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F-COM-009</a:t>
            </a:r>
            <a:endParaRPr lang="ko-KR" sz="850" dirty="0"/>
          </a:p>
        </p:txBody>
      </p:sp>
      <p:sp>
        <p:nvSpPr>
          <p:cNvPr id="153" name="Text 151"/>
          <p:cNvSpPr/>
          <p:nvPr/>
        </p:nvSpPr>
        <p:spPr>
          <a:xfrm>
            <a:off x="420624" y="4430620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범례 · 전제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420624" y="4650076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61772" y="469122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156" name="Shape 154"/>
          <p:cNvSpPr/>
          <p:nvPr/>
        </p:nvSpPr>
        <p:spPr>
          <a:xfrm>
            <a:off x="1883664" y="4650076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1924812" y="469122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158" name="Shape 156"/>
          <p:cNvSpPr/>
          <p:nvPr/>
        </p:nvSpPr>
        <p:spPr>
          <a:xfrm>
            <a:off x="420624" y="4875957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461772" y="4917105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</a:t>
            </a:r>
            <a:endParaRPr lang="ko-KR" sz="850" dirty="0"/>
          </a:p>
        </p:txBody>
      </p:sp>
      <p:sp>
        <p:nvSpPr>
          <p:cNvPr id="160" name="Shape 158"/>
          <p:cNvSpPr/>
          <p:nvPr/>
        </p:nvSpPr>
        <p:spPr>
          <a:xfrm>
            <a:off x="1883664" y="4875957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1924812" y="4917105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성인 일반건강검진의 예약과 접수를 처리하는 원내 프로그램. 상단 진입점 5개(수검자 관리 / 신규 예약 / 예약 관리 / 접수 관리 / 휴무일 관리), 업무 Tab 3개, Modal 8개, 확인창 2개로 구성한다.</a:t>
            </a:r>
            <a:endParaRPr lang="ko-KR" sz="850" dirty="0"/>
          </a:p>
        </p:txBody>
      </p:sp>
      <p:sp>
        <p:nvSpPr>
          <p:cNvPr id="162" name="Shape 160"/>
          <p:cNvSpPr/>
          <p:nvPr/>
        </p:nvSpPr>
        <p:spPr>
          <a:xfrm>
            <a:off x="420624" y="5101837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461772" y="5142985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동반 문서</a:t>
            </a:r>
            <a:endParaRPr lang="ko-KR" sz="850" dirty="0"/>
          </a:p>
        </p:txBody>
      </p:sp>
      <p:sp>
        <p:nvSpPr>
          <p:cNvPr id="164" name="Shape 162"/>
          <p:cNvSpPr/>
          <p:nvPr/>
        </p:nvSpPr>
        <p:spPr>
          <a:xfrm>
            <a:off x="1883664" y="5101837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1924812" y="5142985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「00_검진_예약접수_업무정책」 CP · EP · RP · RCP 정책과 TGT · NEX · AEX · HOL Rule의 개별 내용   /   「01_검진_예약접수_업무프로세스」 P01~P03 단계 · 분기 · 상태전이   /   「02_검진_예약접수_기능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정의」 Function ID 18개의 기능 계약   /   「03_검진_예약접수_화면설계서」 본 문서. 네 문서는 하나의 세트이며 정책 ID · 프로세스 ID · 기능 ID로 서로를 참조한다.</a:t>
            </a:r>
            <a:endParaRPr lang="ko-KR" sz="850" dirty="0"/>
          </a:p>
        </p:txBody>
      </p:sp>
      <p:sp>
        <p:nvSpPr>
          <p:cNvPr id="166" name="Shape 164"/>
          <p:cNvSpPr/>
          <p:nvPr/>
        </p:nvSpPr>
        <p:spPr>
          <a:xfrm>
            <a:off x="420624" y="5471302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461772" y="5512450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용어</a:t>
            </a:r>
            <a:endParaRPr lang="ko-KR" sz="850" dirty="0"/>
          </a:p>
        </p:txBody>
      </p:sp>
      <p:sp>
        <p:nvSpPr>
          <p:cNvPr id="168" name="Shape 166"/>
          <p:cNvSpPr/>
          <p:nvPr/>
        </p:nvSpPr>
        <p:spPr>
          <a:xfrm>
            <a:off x="1883664" y="5471302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1924812" y="5512450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수검자 Master 내부 식별자   ·   WorkId 예약/접수 업무 1건의 식별자   ·   Normal 일반 신규예약 Context   ·   WalkIn 현장 당일예약 Context(예약일 = 오늘 고정 ReadOnly)   ·   RowVersion 저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 시 함께 전달하는 동시성값(수검자 · 업무 공통)</a:t>
            </a:r>
            <a:endParaRPr lang="ko-KR" sz="850" dirty="0"/>
          </a:p>
        </p:txBody>
      </p:sp>
      <p:sp>
        <p:nvSpPr>
          <p:cNvPr id="170" name="Shape 168"/>
          <p:cNvSpPr/>
          <p:nvPr/>
        </p:nvSpPr>
        <p:spPr>
          <a:xfrm>
            <a:off x="420624" y="5840766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461772" y="588191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상태코드</a:t>
            </a:r>
            <a:endParaRPr lang="ko-KR" sz="850" dirty="0"/>
          </a:p>
        </p:txBody>
      </p:sp>
      <p:sp>
        <p:nvSpPr>
          <p:cNvPr id="172" name="Shape 170"/>
          <p:cNvSpPr/>
          <p:nvPr/>
        </p:nvSpPr>
        <p:spPr>
          <a:xfrm>
            <a:off x="1883664" y="5840766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1924812" y="588191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· 접수완료(RCP) · 예약취소(CNR) · 접수취소(CNC). 취소는 물리 삭제하지 않고 같은 행의 상태만 바꾸며 복원하지 않는다. (CP-05)</a:t>
            </a:r>
            <a:endParaRPr lang="ko-KR" sz="850" dirty="0"/>
          </a:p>
        </p:txBody>
      </p:sp>
      <p:sp>
        <p:nvSpPr>
          <p:cNvPr id="174" name="Shape 172"/>
          <p:cNvSpPr/>
          <p:nvPr/>
        </p:nvSpPr>
        <p:spPr>
          <a:xfrm>
            <a:off x="420624" y="6066646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461772" y="6107794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 표현 원칙</a:t>
            </a:r>
            <a:endParaRPr lang="ko-KR" sz="850" dirty="0"/>
          </a:p>
        </p:txBody>
      </p:sp>
      <p:sp>
        <p:nvSpPr>
          <p:cNvPr id="176" name="Shape 174"/>
          <p:cNvSpPr/>
          <p:nvPr/>
        </p:nvSpPr>
        <p:spPr>
          <a:xfrm>
            <a:off x="1883664" y="6066646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1924812" y="6107794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판단 가능한 선택불가 → Disabled + 사유  /  입력필드 오류 → Inline 오류  /  저장·상태전이 최종차단 → Blocking Message + 중단  /  동시성 충돌 → Blocking Message + 최신값 Refresh</a:t>
            </a:r>
            <a:endParaRPr lang="ko-KR" sz="8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목록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1883664" y="932688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4812" y="973836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420624" y="1158568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1772" y="1199716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규칙 ID 출처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1883664" y="1158568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924812" y="1199716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CP / EP / RP / RCP / TGT / NEX / AEX / HOL 은 「업무정책」 문서에 정의된 규칙 ID다. 각 화면 설명의 괄호 안 표기가 그 규칙을 가리킨다.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384449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" y="1425597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환경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1883664" y="1384449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924812" y="1425597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C# WinForms · .NET Framework 4.6.1 · DevExpress Components 20.2 · MSSQL. 최소 검증 해상도 1366×768, 권장 1920×1080. Windows 배율 100% / 125%.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420624" y="1610329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772" y="1651477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업무조건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1883664" y="1610329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924812" y="1651477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휴무일이거나 운영시간(09:00~18:00) 밖이면 모든 화면의 업무 Action을 비활성한다. 화면 표시는 안내값이며 저장 성공을 보장하지 않는다. (CP-01~04)</a:t>
            </a:r>
            <a:endParaRPr lang="ko-KR" sz="850" dirty="0"/>
          </a:p>
        </p:txBody>
      </p:sp>
      <p:sp>
        <p:nvSpPr>
          <p:cNvPr id="19" name="Shape 17"/>
          <p:cNvSpPr/>
          <p:nvPr/>
        </p:nvSpPr>
        <p:spPr>
          <a:xfrm>
            <a:off x="420624" y="1836209"/>
            <a:ext cx="14630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61772" y="1877357"/>
            <a:ext cx="13807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구현 제외</a:t>
            </a:r>
            <a:endParaRPr lang="ko-KR" sz="850" dirty="0"/>
          </a:p>
        </p:txBody>
      </p:sp>
      <p:sp>
        <p:nvSpPr>
          <p:cNvPr id="21" name="Shape 19"/>
          <p:cNvSpPr/>
          <p:nvPr/>
        </p:nvSpPr>
        <p:spPr>
          <a:xfrm>
            <a:off x="1883664" y="1836209"/>
            <a:ext cx="988466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924812" y="1877357"/>
            <a:ext cx="980236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로그인·권한, 통계 Dashboard, 실제 검사 수행·결과 입력·판독, 공단 대상자 API, 검사 Master·AEX 관리자 CRUD, 법정·대체 공휴일 행의 화면 변경, 가격·할인·수납·결제, 수검자 삭제·복원, 출력·인쇄·엑셀 내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보내기, 사용자별 Grid Layout 저장.</a:t>
            </a:r>
            <a:endParaRPr lang="ko-KR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흐름도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572000" y="1060704"/>
            <a:ext cx="7059168" cy="1517904"/>
          </a:xfrm>
          <a:prstGeom prst="rect">
            <a:avLst/>
          </a:prstGeom>
          <a:ln w="9525">
            <a:solidFill>
              <a:srgbClr val="8C9BB5"/>
            </a:solidFill>
            <a:prstDash val="dash"/>
          </a:ln>
        </p:spPr>
      </p:sp>
      <p:sp>
        <p:nvSpPr>
          <p:cNvPr id="4" name="Shape 2"/>
          <p:cNvSpPr/>
          <p:nvPr/>
        </p:nvSpPr>
        <p:spPr>
          <a:xfrm>
            <a:off x="4754880" y="1389888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754880" y="1426464"/>
            <a:ext cx="20116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</a:t>
            </a:r>
            <a:endParaRPr lang="ko-KR" sz="800" dirty="0"/>
          </a:p>
        </p:txBody>
      </p:sp>
      <p:sp>
        <p:nvSpPr>
          <p:cNvPr id="6" name="Text 4"/>
          <p:cNvSpPr/>
          <p:nvPr/>
        </p:nvSpPr>
        <p:spPr>
          <a:xfrm>
            <a:off x="4754880" y="1572768"/>
            <a:ext cx="20116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7" name="Shape 5"/>
          <p:cNvSpPr/>
          <p:nvPr/>
        </p:nvSpPr>
        <p:spPr>
          <a:xfrm>
            <a:off x="7178040" y="1389888"/>
            <a:ext cx="20116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178040" y="1426464"/>
            <a:ext cx="20116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</a:t>
            </a:r>
            <a:endParaRPr lang="ko-KR" sz="800" dirty="0"/>
          </a:p>
        </p:txBody>
      </p:sp>
      <p:sp>
        <p:nvSpPr>
          <p:cNvPr id="9" name="Text 7"/>
          <p:cNvSpPr/>
          <p:nvPr/>
        </p:nvSpPr>
        <p:spPr>
          <a:xfrm>
            <a:off x="7178040" y="1572768"/>
            <a:ext cx="20116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/ 수정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9555480" y="1389888"/>
            <a:ext cx="192024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555480" y="1426464"/>
            <a:ext cx="192024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00" dirty="0"/>
          </a:p>
        </p:txBody>
      </p:sp>
      <p:sp>
        <p:nvSpPr>
          <p:cNvPr id="12" name="Text 10"/>
          <p:cNvSpPr/>
          <p:nvPr/>
        </p:nvSpPr>
        <p:spPr>
          <a:xfrm>
            <a:off x="9555480" y="1572768"/>
            <a:ext cx="192024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950" dirty="0"/>
          </a:p>
        </p:txBody>
      </p:sp>
      <p:sp>
        <p:nvSpPr>
          <p:cNvPr id="13" name="Text 11"/>
          <p:cNvSpPr/>
          <p:nvPr/>
        </p:nvSpPr>
        <p:spPr>
          <a:xfrm>
            <a:off x="4681728" y="2359152"/>
            <a:ext cx="365760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확정 계열  ·  Modal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3200400"/>
            <a:ext cx="1481328" cy="566928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02920" y="3236976"/>
            <a:ext cx="14813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</a:t>
            </a:r>
            <a:endParaRPr lang="ko-KR" sz="800" dirty="0"/>
          </a:p>
        </p:txBody>
      </p:sp>
      <p:sp>
        <p:nvSpPr>
          <p:cNvPr id="16" name="Text 14"/>
          <p:cNvSpPr/>
          <p:nvPr/>
        </p:nvSpPr>
        <p:spPr>
          <a:xfrm>
            <a:off x="502920" y="3383280"/>
            <a:ext cx="1481328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950" dirty="0"/>
          </a:p>
        </p:txBody>
      </p:sp>
      <p:sp>
        <p:nvSpPr>
          <p:cNvPr id="17" name="Shape 15"/>
          <p:cNvSpPr/>
          <p:nvPr/>
        </p:nvSpPr>
        <p:spPr>
          <a:xfrm>
            <a:off x="2560320" y="3054096"/>
            <a:ext cx="17830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560320" y="309067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</a:t>
            </a:r>
            <a:endParaRPr lang="ko-KR" sz="800" dirty="0"/>
          </a:p>
        </p:txBody>
      </p:sp>
      <p:sp>
        <p:nvSpPr>
          <p:cNvPr id="19" name="Text 17"/>
          <p:cNvSpPr/>
          <p:nvPr/>
        </p:nvSpPr>
        <p:spPr>
          <a:xfrm>
            <a:off x="2560320" y="3236976"/>
            <a:ext cx="17830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20" name="Shape 18"/>
          <p:cNvSpPr/>
          <p:nvPr/>
        </p:nvSpPr>
        <p:spPr>
          <a:xfrm>
            <a:off x="2560320" y="3785616"/>
            <a:ext cx="1783080" cy="5029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560320" y="382219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</a:t>
            </a:r>
            <a:endParaRPr lang="ko-KR" sz="800" dirty="0"/>
          </a:p>
        </p:txBody>
      </p:sp>
      <p:sp>
        <p:nvSpPr>
          <p:cNvPr id="22" name="Text 20"/>
          <p:cNvSpPr/>
          <p:nvPr/>
        </p:nvSpPr>
        <p:spPr>
          <a:xfrm>
            <a:off x="2560320" y="3968496"/>
            <a:ext cx="1783080" cy="28346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23" name="Shape 21"/>
          <p:cNvSpPr/>
          <p:nvPr/>
        </p:nvSpPr>
        <p:spPr>
          <a:xfrm>
            <a:off x="2560320" y="4517136"/>
            <a:ext cx="1783080" cy="56692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60320" y="4553712"/>
            <a:ext cx="178308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</a:t>
            </a:r>
            <a:endParaRPr lang="ko-KR" sz="800" dirty="0"/>
          </a:p>
        </p:txBody>
      </p:sp>
      <p:sp>
        <p:nvSpPr>
          <p:cNvPr id="25" name="Text 23"/>
          <p:cNvSpPr/>
          <p:nvPr/>
        </p:nvSpPr>
        <p:spPr>
          <a:xfrm>
            <a:off x="2560320" y="4700016"/>
            <a:ext cx="1783080" cy="34747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Workbench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4572000" y="5248656"/>
            <a:ext cx="7059168" cy="1042416"/>
          </a:xfrm>
          <a:prstGeom prst="rect">
            <a:avLst/>
          </a:prstGeom>
          <a:ln w="9525">
            <a:solidFill>
              <a:srgbClr val="8C9BB5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54880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54880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4754880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6181344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81344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</a:t>
            </a:r>
            <a:endParaRPr lang="ko-KR" sz="800" dirty="0"/>
          </a:p>
        </p:txBody>
      </p:sp>
      <p:sp>
        <p:nvSpPr>
          <p:cNvPr id="32" name="Text 30"/>
          <p:cNvSpPr/>
          <p:nvPr/>
        </p:nvSpPr>
        <p:spPr>
          <a:xfrm>
            <a:off x="6181344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7607808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07808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</a:t>
            </a:r>
            <a:endParaRPr lang="ko-KR" sz="800" dirty="0"/>
          </a:p>
        </p:txBody>
      </p:sp>
      <p:sp>
        <p:nvSpPr>
          <p:cNvPr id="35" name="Text 33"/>
          <p:cNvSpPr/>
          <p:nvPr/>
        </p:nvSpPr>
        <p:spPr>
          <a:xfrm>
            <a:off x="7607808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9034272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034272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</a:t>
            </a:r>
            <a:endParaRPr lang="ko-KR" sz="800" dirty="0"/>
          </a:p>
        </p:txBody>
      </p:sp>
      <p:sp>
        <p:nvSpPr>
          <p:cNvPr id="38" name="Text 36"/>
          <p:cNvSpPr/>
          <p:nvPr/>
        </p:nvSpPr>
        <p:spPr>
          <a:xfrm>
            <a:off x="9034272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10460736" y="5376672"/>
            <a:ext cx="1280160" cy="47548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460736" y="5413248"/>
            <a:ext cx="1280160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</a:t>
            </a:r>
            <a:endParaRPr lang="ko-KR" sz="800" dirty="0"/>
          </a:p>
        </p:txBody>
      </p:sp>
      <p:sp>
        <p:nvSpPr>
          <p:cNvPr id="41" name="Text 39"/>
          <p:cNvSpPr/>
          <p:nvPr/>
        </p:nvSpPr>
        <p:spPr>
          <a:xfrm>
            <a:off x="10460736" y="5559552"/>
            <a:ext cx="12801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</a:t>
            </a:r>
            <a:endParaRPr lang="ko-KR" sz="850" dirty="0"/>
          </a:p>
        </p:txBody>
      </p:sp>
      <p:sp>
        <p:nvSpPr>
          <p:cNvPr id="42" name="Text 40"/>
          <p:cNvSpPr/>
          <p:nvPr/>
        </p:nvSpPr>
        <p:spPr>
          <a:xfrm>
            <a:off x="4681728" y="6053328"/>
            <a:ext cx="67665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Transaction  ·  Modal / Confirm      선택한 Work의 상태에 따라 활성된다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984248" y="3483864"/>
            <a:ext cx="30175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4" name="Shape 42"/>
          <p:cNvSpPr/>
          <p:nvPr/>
        </p:nvSpPr>
        <p:spPr>
          <a:xfrm>
            <a:off x="2286000" y="3305556"/>
            <a:ext cx="0" cy="149504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45" name="Shape 43"/>
          <p:cNvSpPr/>
          <p:nvPr/>
        </p:nvSpPr>
        <p:spPr>
          <a:xfrm>
            <a:off x="2286000" y="3305556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6" name="Shape 44"/>
          <p:cNvSpPr/>
          <p:nvPr/>
        </p:nvSpPr>
        <p:spPr>
          <a:xfrm>
            <a:off x="2286000" y="4037076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7" name="Shape 45"/>
          <p:cNvSpPr/>
          <p:nvPr/>
        </p:nvSpPr>
        <p:spPr>
          <a:xfrm>
            <a:off x="2286000" y="4800600"/>
            <a:ext cx="27432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3451860" y="3557016"/>
            <a:ext cx="0" cy="22860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3713821" y="3579876"/>
            <a:ext cx="7928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13821" y="3579876"/>
            <a:ext cx="7928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PatientId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451860" y="4288536"/>
            <a:ext cx="0" cy="22860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3491427" y="4311396"/>
            <a:ext cx="1786241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491427" y="4311396"/>
            <a:ext cx="1786241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WorkId  /  기존 유효예약 연결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4343400" y="3214116"/>
            <a:ext cx="100584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5" name="Shape 53"/>
          <p:cNvSpPr/>
          <p:nvPr/>
        </p:nvSpPr>
        <p:spPr>
          <a:xfrm flipV="1">
            <a:off x="4443984" y="914400"/>
            <a:ext cx="0" cy="2299716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6" name="Shape 54"/>
          <p:cNvSpPr/>
          <p:nvPr/>
        </p:nvSpPr>
        <p:spPr>
          <a:xfrm>
            <a:off x="4443984" y="914400"/>
            <a:ext cx="373989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57" name="Shape 55"/>
          <p:cNvSpPr/>
          <p:nvPr/>
        </p:nvSpPr>
        <p:spPr>
          <a:xfrm>
            <a:off x="8183880" y="914400"/>
            <a:ext cx="0" cy="47548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58" name="Shape 56"/>
          <p:cNvSpPr/>
          <p:nvPr/>
        </p:nvSpPr>
        <p:spPr>
          <a:xfrm>
            <a:off x="5508657" y="822960"/>
            <a:ext cx="1052767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5508657" y="822960"/>
            <a:ext cx="1052767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· 정보수정</a:t>
            </a:r>
            <a:endParaRPr lang="ko-KR" sz="800" dirty="0"/>
          </a:p>
        </p:txBody>
      </p:sp>
      <p:sp>
        <p:nvSpPr>
          <p:cNvPr id="60" name="Shape 58"/>
          <p:cNvSpPr/>
          <p:nvPr/>
        </p:nvSpPr>
        <p:spPr>
          <a:xfrm>
            <a:off x="4343400" y="3945636"/>
            <a:ext cx="180136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1" name="Shape 59"/>
          <p:cNvSpPr/>
          <p:nvPr/>
        </p:nvSpPr>
        <p:spPr>
          <a:xfrm flipV="1">
            <a:off x="6144768" y="1892808"/>
            <a:ext cx="0" cy="2052828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2" name="Shape 60"/>
          <p:cNvSpPr/>
          <p:nvPr/>
        </p:nvSpPr>
        <p:spPr>
          <a:xfrm>
            <a:off x="4993473" y="3854196"/>
            <a:ext cx="8944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993473" y="3854196"/>
            <a:ext cx="8944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미확정</a:t>
            </a:r>
            <a:endParaRPr lang="ko-KR" sz="800" dirty="0"/>
          </a:p>
        </p:txBody>
      </p:sp>
      <p:sp>
        <p:nvSpPr>
          <p:cNvPr id="64" name="Shape 62"/>
          <p:cNvSpPr/>
          <p:nvPr/>
        </p:nvSpPr>
        <p:spPr>
          <a:xfrm>
            <a:off x="5376672" y="1892808"/>
            <a:ext cx="0" cy="227228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65" name="Shape 63"/>
          <p:cNvSpPr/>
          <p:nvPr/>
        </p:nvSpPr>
        <p:spPr>
          <a:xfrm flipH="1">
            <a:off x="4343400" y="4165092"/>
            <a:ext cx="1033272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6" name="Shape 64"/>
          <p:cNvSpPr/>
          <p:nvPr/>
        </p:nvSpPr>
        <p:spPr>
          <a:xfrm>
            <a:off x="4358473" y="4073652"/>
            <a:ext cx="79281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358473" y="4073652"/>
            <a:ext cx="79281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반환</a:t>
            </a:r>
            <a:endParaRPr lang="ko-KR" sz="800" dirty="0"/>
          </a:p>
        </p:txBody>
      </p:sp>
      <p:sp>
        <p:nvSpPr>
          <p:cNvPr id="68" name="Shape 66"/>
          <p:cNvSpPr/>
          <p:nvPr/>
        </p:nvSpPr>
        <p:spPr>
          <a:xfrm>
            <a:off x="6766560" y="1641348"/>
            <a:ext cx="4114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69" name="Shape 67"/>
          <p:cNvSpPr/>
          <p:nvPr/>
        </p:nvSpPr>
        <p:spPr>
          <a:xfrm>
            <a:off x="6695948" y="1403604"/>
            <a:ext cx="552704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6695948" y="1403604"/>
            <a:ext cx="5527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9189720" y="1641348"/>
            <a:ext cx="36576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72" name="Shape 70"/>
          <p:cNvSpPr/>
          <p:nvPr/>
        </p:nvSpPr>
        <p:spPr>
          <a:xfrm>
            <a:off x="9078389" y="1403604"/>
            <a:ext cx="58842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9078389" y="1403604"/>
            <a:ext cx="58842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</a:t>
            </a:r>
            <a:endParaRPr lang="ko-KR" sz="800" dirty="0"/>
          </a:p>
        </p:txBody>
      </p:sp>
      <p:sp>
        <p:nvSpPr>
          <p:cNvPr id="74" name="Shape 72"/>
          <p:cNvSpPr/>
          <p:nvPr/>
        </p:nvSpPr>
        <p:spPr>
          <a:xfrm>
            <a:off x="10515600" y="189280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75" name="Shape 73"/>
          <p:cNvSpPr/>
          <p:nvPr/>
        </p:nvSpPr>
        <p:spPr>
          <a:xfrm flipH="1">
            <a:off x="8503920" y="2084832"/>
            <a:ext cx="20116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76" name="Shape 74"/>
          <p:cNvSpPr/>
          <p:nvPr/>
        </p:nvSpPr>
        <p:spPr>
          <a:xfrm flipV="1">
            <a:off x="8503920" y="1892808"/>
            <a:ext cx="0" cy="192024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77" name="Shape 75"/>
          <p:cNvSpPr/>
          <p:nvPr/>
        </p:nvSpPr>
        <p:spPr>
          <a:xfrm>
            <a:off x="9315879" y="1993392"/>
            <a:ext cx="1667923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315879" y="1993392"/>
            <a:ext cx="1667923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 · 별도 수검자로 계속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7863840" y="1892808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80" name="Shape 78"/>
          <p:cNvSpPr/>
          <p:nvPr/>
        </p:nvSpPr>
        <p:spPr>
          <a:xfrm flipH="1">
            <a:off x="6537960" y="2231136"/>
            <a:ext cx="132588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none"/>
          </a:ln>
        </p:spPr>
      </p:sp>
      <p:sp>
        <p:nvSpPr>
          <p:cNvPr id="81" name="Shape 79"/>
          <p:cNvSpPr/>
          <p:nvPr/>
        </p:nvSpPr>
        <p:spPr>
          <a:xfrm flipV="1">
            <a:off x="6537960" y="1892808"/>
            <a:ext cx="0" cy="338328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82" name="Shape 80"/>
          <p:cNvSpPr/>
          <p:nvPr/>
        </p:nvSpPr>
        <p:spPr>
          <a:xfrm>
            <a:off x="6646418" y="2139696"/>
            <a:ext cx="1429004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646418" y="2139696"/>
            <a:ext cx="1429004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신규저장 · 기존 수검자 확정</a:t>
            </a:r>
            <a:endParaRPr lang="ko-KR" sz="800" dirty="0"/>
          </a:p>
        </p:txBody>
      </p:sp>
      <p:sp>
        <p:nvSpPr>
          <p:cNvPr id="84" name="Shape 82"/>
          <p:cNvSpPr/>
          <p:nvPr/>
        </p:nvSpPr>
        <p:spPr>
          <a:xfrm>
            <a:off x="4343400" y="4690872"/>
            <a:ext cx="7470648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5" name="Shape 83"/>
          <p:cNvSpPr/>
          <p:nvPr/>
        </p:nvSpPr>
        <p:spPr>
          <a:xfrm flipV="1">
            <a:off x="11814048" y="786384"/>
            <a:ext cx="0" cy="3904488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6" name="Shape 84"/>
          <p:cNvSpPr/>
          <p:nvPr/>
        </p:nvSpPr>
        <p:spPr>
          <a:xfrm flipH="1">
            <a:off x="4983480" y="786384"/>
            <a:ext cx="6830568" cy="0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4983480" y="786384"/>
            <a:ext cx="0" cy="603504"/>
          </a:xfrm>
          <a:prstGeom prst="line">
            <a:avLst/>
          </a:prstGeom>
          <a:noFill/>
          <a:ln w="1905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88" name="Shape 86"/>
          <p:cNvSpPr/>
          <p:nvPr/>
        </p:nvSpPr>
        <p:spPr>
          <a:xfrm>
            <a:off x="6393961" y="694944"/>
            <a:ext cx="2939758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6393961" y="694944"/>
            <a:ext cx="2939758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   →   수검자 확정 → WalkIn 신규예약 → 접수</a:t>
            </a:r>
            <a:endParaRPr lang="ko-KR" sz="800" dirty="0"/>
          </a:p>
        </p:txBody>
      </p:sp>
      <p:sp>
        <p:nvSpPr>
          <p:cNvPr id="90" name="Shape 88"/>
          <p:cNvSpPr/>
          <p:nvPr/>
        </p:nvSpPr>
        <p:spPr>
          <a:xfrm>
            <a:off x="3451860" y="5084064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1" name="Shape 89"/>
          <p:cNvSpPr/>
          <p:nvPr/>
        </p:nvSpPr>
        <p:spPr>
          <a:xfrm>
            <a:off x="3451860" y="5230368"/>
            <a:ext cx="1943100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2" name="Shape 90"/>
          <p:cNvSpPr/>
          <p:nvPr/>
        </p:nvSpPr>
        <p:spPr>
          <a:xfrm>
            <a:off x="5394960" y="5230368"/>
            <a:ext cx="5705856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none"/>
          </a:ln>
        </p:spPr>
      </p:sp>
      <p:sp>
        <p:nvSpPr>
          <p:cNvPr id="93" name="Shape 91"/>
          <p:cNvSpPr/>
          <p:nvPr/>
        </p:nvSpPr>
        <p:spPr>
          <a:xfrm>
            <a:off x="5394960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4" name="Shape 92"/>
          <p:cNvSpPr/>
          <p:nvPr/>
        </p:nvSpPr>
        <p:spPr>
          <a:xfrm>
            <a:off x="6821424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5" name="Shape 93"/>
          <p:cNvSpPr/>
          <p:nvPr/>
        </p:nvSpPr>
        <p:spPr>
          <a:xfrm>
            <a:off x="8247888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6" name="Shape 94"/>
          <p:cNvSpPr/>
          <p:nvPr/>
        </p:nvSpPr>
        <p:spPr>
          <a:xfrm>
            <a:off x="9674352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7" name="Shape 95"/>
          <p:cNvSpPr/>
          <p:nvPr/>
        </p:nvSpPr>
        <p:spPr>
          <a:xfrm>
            <a:off x="11100816" y="5230368"/>
            <a:ext cx="0" cy="146304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98" name="Shape 96"/>
          <p:cNvSpPr/>
          <p:nvPr/>
        </p:nvSpPr>
        <p:spPr>
          <a:xfrm>
            <a:off x="3567573" y="4992624"/>
            <a:ext cx="1313910" cy="182880"/>
          </a:xfrm>
          <a:prstGeom prst="rect">
            <a:avLst/>
          </a:prstGeom>
          <a:solidFill>
            <a:srgbClr val="FFFFFF"/>
          </a:solidFill>
          <a:ln w="3175">
            <a:solidFill>
              <a:srgbClr val="FFFFFF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3567573" y="4992624"/>
            <a:ext cx="131391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Work + RowVersion</a:t>
            </a:r>
            <a:endParaRPr lang="ko-KR" sz="800" dirty="0"/>
          </a:p>
        </p:txBody>
      </p:sp>
      <p:sp>
        <p:nvSpPr>
          <p:cNvPr id="100" name="Shape 98"/>
          <p:cNvSpPr/>
          <p:nvPr/>
        </p:nvSpPr>
        <p:spPr>
          <a:xfrm>
            <a:off x="548640" y="6382512"/>
            <a:ext cx="384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solid"/>
            <a:tailEnd type="triangle"/>
          </a:ln>
        </p:spPr>
      </p:sp>
      <p:sp>
        <p:nvSpPr>
          <p:cNvPr id="101" name="Text 99"/>
          <p:cNvSpPr/>
          <p:nvPr/>
        </p:nvSpPr>
        <p:spPr>
          <a:xfrm>
            <a:off x="1005840" y="6291072"/>
            <a:ext cx="10972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 경로</a:t>
            </a:r>
            <a:endParaRPr lang="ko-KR" sz="800" dirty="0"/>
          </a:p>
        </p:txBody>
      </p:sp>
      <p:sp>
        <p:nvSpPr>
          <p:cNvPr id="102" name="Shape 100"/>
          <p:cNvSpPr/>
          <p:nvPr/>
        </p:nvSpPr>
        <p:spPr>
          <a:xfrm>
            <a:off x="2103120" y="6382512"/>
            <a:ext cx="384048" cy="0"/>
          </a:xfrm>
          <a:prstGeom prst="line">
            <a:avLst/>
          </a:prstGeom>
          <a:noFill/>
          <a:ln w="12700">
            <a:solidFill>
              <a:srgbClr val="1F3864"/>
            </a:solidFill>
            <a:prstDash val="dash"/>
            <a:tailEnd type="triangle"/>
          </a:ln>
        </p:spPr>
      </p:sp>
      <p:sp>
        <p:nvSpPr>
          <p:cNvPr id="103" name="Text 101"/>
          <p:cNvSpPr/>
          <p:nvPr/>
        </p:nvSpPr>
        <p:spPr>
          <a:xfrm>
            <a:off x="2560320" y="6291072"/>
            <a:ext cx="219456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복귀 · 보조 경로</a:t>
            </a:r>
            <a:endParaRPr lang="ko-KR" sz="800" dirty="0"/>
          </a:p>
        </p:txBody>
      </p:sp>
      <p:sp>
        <p:nvSpPr>
          <p:cNvPr id="104" name="Text 102"/>
          <p:cNvSpPr/>
          <p:nvPr/>
        </p:nvSpPr>
        <p:spPr>
          <a:xfrm>
            <a:off x="548640" y="6547104"/>
            <a:ext cx="11155680" cy="182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전달키는 PatientId 또는 WorkId 두 가지뿐이며 화면에 노출하지 않는다. WorkId를 전달받으면 조회조건과 무관하게 최신 한 건을 직접 조회해 자동 선택한다.</a:t>
            </a:r>
            <a:endParaRPr lang="ko-KR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239166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업무 Action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251200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51200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08330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4183888" y="1243584"/>
            <a:ext cx="7569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18388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18388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×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299923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299923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  ×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530352" y="2048256"/>
            <a:ext cx="8220456" cy="3941064"/>
          </a:xfrm>
          <a:prstGeom prst="rect">
            <a:avLst/>
          </a:prstGeom>
          <a:ln w="19050">
            <a:solidFill>
              <a:srgbClr val="8C9BB5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530352" y="3653028"/>
            <a:ext cx="822045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2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선택된 업무 Tab의 View</a:t>
            </a:r>
            <a:endParaRPr lang="ko-KR" sz="1200" dirty="0"/>
          </a:p>
        </p:txBody>
      </p:sp>
      <p:sp>
        <p:nvSpPr>
          <p:cNvPr id="41" name="Text 39"/>
          <p:cNvSpPr/>
          <p:nvPr/>
        </p:nvSpPr>
        <p:spPr>
          <a:xfrm>
            <a:off x="530352" y="4000500"/>
            <a:ext cx="822045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/  신규 예약  /  예약·접수 공통 Workbench</a:t>
            </a:r>
            <a:endParaRPr lang="ko-KR" sz="950" dirty="0"/>
          </a:p>
        </p:txBody>
      </p:sp>
      <p:sp>
        <p:nvSpPr>
          <p:cNvPr id="42" name="Text 40"/>
          <p:cNvSpPr/>
          <p:nvPr/>
        </p:nvSpPr>
        <p:spPr>
          <a:xfrm>
            <a:off x="530352" y="4293108"/>
            <a:ext cx="8220456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변경은 Main View에서 직접 편집하지 않고 Modal · Confirm으로 분리한다</a:t>
            </a:r>
            <a:endParaRPr lang="ko-KR" sz="800" dirty="0"/>
          </a:p>
        </p:txBody>
      </p:sp>
      <p:sp>
        <p:nvSpPr>
          <p:cNvPr id="43" name="Text 41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구조</a:t>
            </a:r>
            <a:endParaRPr lang="ko-KR" sz="3000" dirty="0"/>
          </a:p>
        </p:txBody>
      </p:sp>
      <p:sp>
        <p:nvSpPr>
          <p:cNvPr id="44" name="Shape 42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WF-00  MainForm Shell · MainForm · P00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</a:t>
            </a:r>
            <a:endParaRPr lang="ko-KR" sz="1000" dirty="0"/>
          </a:p>
        </p:txBody>
      </p:sp>
      <p:sp>
        <p:nvSpPr>
          <p:cNvPr id="47" name="Shape 45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50" name="Text 48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진입점 5개. 예약 관리·접수 관리는 같은 Tab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공유하고 휴무일 관리는 Tab 없이 Modal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연다</a:t>
            </a:r>
            <a:endParaRPr lang="ko-KR" sz="1000" dirty="0"/>
          </a:p>
        </p:txBody>
      </p:sp>
      <p:sp>
        <p:nvSpPr>
          <p:cNvPr id="51" name="Shape 49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54" name="Text 52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 Group 순서는 검색 → 현재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→ 보기</a:t>
            </a:r>
            <a:endParaRPr lang="ko-KR" sz="1000" dirty="0"/>
          </a:p>
        </p:txBody>
      </p:sp>
      <p:sp>
        <p:nvSpPr>
          <p:cNvPr id="55" name="Shape 53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58" name="Text 56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Tab은 중복 생성하지 않는다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(Single Instance)</a:t>
            </a:r>
            <a:endParaRPr lang="ko-KR" sz="1000" dirty="0"/>
          </a:p>
        </p:txBody>
      </p:sp>
      <p:sp>
        <p:nvSpPr>
          <p:cNvPr id="59" name="Shape 57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9262872" y="285532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62" name="Text 60"/>
          <p:cNvSpPr/>
          <p:nvPr/>
        </p:nvSpPr>
        <p:spPr>
          <a:xfrm>
            <a:off x="9313164" y="290562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주요 Action은 하단이 아니라 Context Ribbon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둔다</a:t>
            </a:r>
            <a:endParaRPr lang="ko-KR" sz="1000" dirty="0"/>
          </a:p>
        </p:txBody>
      </p:sp>
      <p:sp>
        <p:nvSpPr>
          <p:cNvPr id="63" name="Shape 61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9262872" y="329375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66" name="Text 64"/>
          <p:cNvSpPr/>
          <p:nvPr/>
        </p:nvSpPr>
        <p:spPr>
          <a:xfrm>
            <a:off x="9313164" y="334405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· 운영시간 외(09:00~18:00)면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 전체 비활성</a:t>
            </a:r>
            <a:endParaRPr lang="ko-KR" sz="1000" dirty="0"/>
          </a:p>
        </p:txBody>
      </p:sp>
      <p:sp>
        <p:nvSpPr>
          <p:cNvPr id="67" name="Shape 65"/>
          <p:cNvSpPr/>
          <p:nvPr/>
        </p:nvSpPr>
        <p:spPr>
          <a:xfrm>
            <a:off x="8897112" y="3732187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9262872" y="3732187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9313164" y="3782479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 표시는 안내값이며 저장 성공을 보장하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않는다. 저장·상태전이는 Stored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Procedure/Transaction이 현재 조건을 다시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검증한다.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274320" y="17465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74320" y="17465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384048" y="39090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84048" y="39090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241706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42112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정보수정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25120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25120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10870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7" name="Text 25"/>
          <p:cNvSpPr/>
          <p:nvPr/>
        </p:nvSpPr>
        <p:spPr>
          <a:xfrm>
            <a:off x="4209288" y="1243584"/>
            <a:ext cx="1586992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20928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20928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503936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3936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530352" y="2029968"/>
            <a:ext cx="8220456" cy="8595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603504" y="2057400"/>
            <a:ext cx="807415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530352" y="2240280"/>
            <a:ext cx="822045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42" name="Text 40"/>
          <p:cNvSpPr/>
          <p:nvPr/>
        </p:nvSpPr>
        <p:spPr>
          <a:xfrm>
            <a:off x="621792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1243584" y="2276856"/>
            <a:ext cx="11430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532888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3154680" y="2276856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261104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4882896" y="2276856"/>
            <a:ext cx="14630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21792" y="256946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1243584" y="2569464"/>
            <a:ext cx="11430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2532888" y="256946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154680" y="2569464"/>
            <a:ext cx="14173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30352" y="2944368"/>
            <a:ext cx="5039990" cy="30815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603504" y="2971800"/>
            <a:ext cx="489368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목록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530352" y="3154680"/>
            <a:ext cx="503999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55" name="Shape 53"/>
          <p:cNvSpPr/>
          <p:nvPr/>
        </p:nvSpPr>
        <p:spPr>
          <a:xfrm>
            <a:off x="621792" y="3191256"/>
            <a:ext cx="10515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76656" y="3191256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1673352" y="3191256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673352" y="319125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2404872" y="3191256"/>
            <a:ext cx="9144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2404872" y="3191256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3319272" y="3191256"/>
            <a:ext cx="5029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3319272" y="3191256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822192" y="3191256"/>
            <a:ext cx="165671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822192" y="3191256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휴대전화번호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621792" y="3369564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676656" y="3369564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1673352" y="336956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1673352" y="336956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2404872" y="3369564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2404872" y="3369564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1980-05-11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319272" y="3369564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319272" y="3369564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3822192" y="3369564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3822192" y="3369564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010-0000-0001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621792" y="3547872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676656" y="3547872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2026-000122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1673352" y="3547872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673352" y="3547872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수검자2</a:t>
            </a:r>
            <a:endParaRPr lang="ko-KR" sz="900" dirty="0"/>
          </a:p>
        </p:txBody>
      </p:sp>
      <p:sp>
        <p:nvSpPr>
          <p:cNvPr id="79" name="Shape 77"/>
          <p:cNvSpPr/>
          <p:nvPr/>
        </p:nvSpPr>
        <p:spPr>
          <a:xfrm>
            <a:off x="2404872" y="3547872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404872" y="3547872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1972-11-03</a:t>
            </a:r>
            <a:endParaRPr lang="ko-KR" sz="900" dirty="0"/>
          </a:p>
        </p:txBody>
      </p:sp>
      <p:sp>
        <p:nvSpPr>
          <p:cNvPr id="81" name="Shape 79"/>
          <p:cNvSpPr/>
          <p:nvPr/>
        </p:nvSpPr>
        <p:spPr>
          <a:xfrm>
            <a:off x="3319272" y="3547872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3319272" y="3547872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83" name="Shape 81"/>
          <p:cNvSpPr/>
          <p:nvPr/>
        </p:nvSpPr>
        <p:spPr>
          <a:xfrm>
            <a:off x="3822192" y="3547872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822192" y="3547872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010-0000-0002</a:t>
            </a:r>
            <a:endParaRPr lang="ko-KR" sz="900" dirty="0"/>
          </a:p>
        </p:txBody>
      </p:sp>
      <p:sp>
        <p:nvSpPr>
          <p:cNvPr id="85" name="Shape 83"/>
          <p:cNvSpPr/>
          <p:nvPr/>
        </p:nvSpPr>
        <p:spPr>
          <a:xfrm>
            <a:off x="621792" y="3726180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676656" y="3726180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87" name="Shape 85"/>
          <p:cNvSpPr/>
          <p:nvPr/>
        </p:nvSpPr>
        <p:spPr>
          <a:xfrm>
            <a:off x="1673352" y="3726180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1673352" y="3726180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89" name="Shape 87"/>
          <p:cNvSpPr/>
          <p:nvPr/>
        </p:nvSpPr>
        <p:spPr>
          <a:xfrm>
            <a:off x="2404872" y="3726180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2404872" y="3726180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91" name="Shape 89"/>
          <p:cNvSpPr/>
          <p:nvPr/>
        </p:nvSpPr>
        <p:spPr>
          <a:xfrm>
            <a:off x="3319272" y="3726180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319272" y="3726180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3822192" y="3726180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3822192" y="3726180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621792" y="3904488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676656" y="3904488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2026-000124</a:t>
            </a:r>
            <a:endParaRPr lang="ko-KR" sz="900" dirty="0"/>
          </a:p>
        </p:txBody>
      </p:sp>
      <p:sp>
        <p:nvSpPr>
          <p:cNvPr id="97" name="Shape 95"/>
          <p:cNvSpPr/>
          <p:nvPr/>
        </p:nvSpPr>
        <p:spPr>
          <a:xfrm>
            <a:off x="1673352" y="3904488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1673352" y="390448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수검자4</a:t>
            </a:r>
            <a:endParaRPr lang="ko-KR" sz="900" dirty="0"/>
          </a:p>
        </p:txBody>
      </p:sp>
      <p:sp>
        <p:nvSpPr>
          <p:cNvPr id="99" name="Shape 97"/>
          <p:cNvSpPr/>
          <p:nvPr/>
        </p:nvSpPr>
        <p:spPr>
          <a:xfrm>
            <a:off x="2404872" y="3904488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404872" y="3904488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1995-08-27</a:t>
            </a:r>
            <a:endParaRPr lang="ko-KR" sz="900" dirty="0"/>
          </a:p>
        </p:txBody>
      </p:sp>
      <p:sp>
        <p:nvSpPr>
          <p:cNvPr id="101" name="Shape 99"/>
          <p:cNvSpPr/>
          <p:nvPr/>
        </p:nvSpPr>
        <p:spPr>
          <a:xfrm>
            <a:off x="3319272" y="3904488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3319272" y="3904488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103" name="Shape 101"/>
          <p:cNvSpPr/>
          <p:nvPr/>
        </p:nvSpPr>
        <p:spPr>
          <a:xfrm>
            <a:off x="3822192" y="3904488"/>
            <a:ext cx="165671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822192" y="3904488"/>
            <a:ext cx="165671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010-0000-0004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621792" y="3726180"/>
            <a:ext cx="4857110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5661782" y="2944368"/>
            <a:ext cx="3089026" cy="30815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734934" y="2971800"/>
            <a:ext cx="294272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상세 · ReadOnly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5661782" y="3154680"/>
            <a:ext cx="308902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09" name="Text 107"/>
          <p:cNvSpPr/>
          <p:nvPr/>
        </p:nvSpPr>
        <p:spPr>
          <a:xfrm>
            <a:off x="5753222" y="3191256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기본정보 ]</a:t>
            </a:r>
            <a:endParaRPr lang="ko-KR" sz="800" dirty="0"/>
          </a:p>
        </p:txBody>
      </p:sp>
      <p:sp>
        <p:nvSpPr>
          <p:cNvPr id="110" name="Text 108"/>
          <p:cNvSpPr/>
          <p:nvPr/>
        </p:nvSpPr>
        <p:spPr>
          <a:xfrm>
            <a:off x="5753222" y="3374136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6685910" y="3374136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685910" y="3374136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113" name="Text 111"/>
          <p:cNvSpPr/>
          <p:nvPr/>
        </p:nvSpPr>
        <p:spPr>
          <a:xfrm>
            <a:off x="5753222" y="3611880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6685910" y="3611880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6685910" y="3611880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116" name="Text 114"/>
          <p:cNvSpPr/>
          <p:nvPr/>
        </p:nvSpPr>
        <p:spPr>
          <a:xfrm>
            <a:off x="5753222" y="3849624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6685910" y="3849624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6685910" y="3849624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</a:t>
            </a:r>
            <a:endParaRPr lang="ko-KR" sz="900" dirty="0"/>
          </a:p>
        </p:txBody>
      </p:sp>
      <p:sp>
        <p:nvSpPr>
          <p:cNvPr id="119" name="Text 117"/>
          <p:cNvSpPr/>
          <p:nvPr/>
        </p:nvSpPr>
        <p:spPr>
          <a:xfrm>
            <a:off x="5753222" y="4087368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20" name="Shape 118"/>
          <p:cNvSpPr/>
          <p:nvPr/>
        </p:nvSpPr>
        <p:spPr>
          <a:xfrm>
            <a:off x="6685910" y="4087368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6685910" y="4087368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122" name="Text 120"/>
          <p:cNvSpPr/>
          <p:nvPr/>
        </p:nvSpPr>
        <p:spPr>
          <a:xfrm>
            <a:off x="5753222" y="4325112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연락처 ]</a:t>
            </a:r>
            <a:endParaRPr lang="ko-KR" sz="800" dirty="0"/>
          </a:p>
        </p:txBody>
      </p:sp>
      <p:sp>
        <p:nvSpPr>
          <p:cNvPr id="123" name="Text 121"/>
          <p:cNvSpPr/>
          <p:nvPr/>
        </p:nvSpPr>
        <p:spPr>
          <a:xfrm>
            <a:off x="5753222" y="4507992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124" name="Shape 122"/>
          <p:cNvSpPr/>
          <p:nvPr/>
        </p:nvSpPr>
        <p:spPr>
          <a:xfrm>
            <a:off x="6685910" y="4507992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685910" y="4507992"/>
            <a:ext cx="197345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126" name="Text 124"/>
          <p:cNvSpPr/>
          <p:nvPr/>
        </p:nvSpPr>
        <p:spPr>
          <a:xfrm>
            <a:off x="5753222" y="4745736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 / E-mail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6685910" y="4745736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753222" y="4983480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주소 ]</a:t>
            </a:r>
            <a:endParaRPr lang="ko-KR" sz="800" dirty="0"/>
          </a:p>
        </p:txBody>
      </p:sp>
      <p:sp>
        <p:nvSpPr>
          <p:cNvPr id="129" name="Text 127"/>
          <p:cNvSpPr/>
          <p:nvPr/>
        </p:nvSpPr>
        <p:spPr>
          <a:xfrm>
            <a:off x="5753222" y="5166360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우편번호 / 주소</a:t>
            </a:r>
            <a:endParaRPr lang="ko-KR" sz="800" dirty="0"/>
          </a:p>
        </p:txBody>
      </p:sp>
      <p:sp>
        <p:nvSpPr>
          <p:cNvPr id="130" name="Shape 128"/>
          <p:cNvSpPr/>
          <p:nvPr/>
        </p:nvSpPr>
        <p:spPr>
          <a:xfrm>
            <a:off x="6685910" y="5166360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753222" y="5404104"/>
            <a:ext cx="93268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상세주소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>
            <a:off x="6685910" y="5404104"/>
            <a:ext cx="1973458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753222" y="5641848"/>
            <a:ext cx="290614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메모 ]</a:t>
            </a:r>
            <a:endParaRPr lang="ko-KR" sz="800" dirty="0"/>
          </a:p>
        </p:txBody>
      </p:sp>
      <p:sp>
        <p:nvSpPr>
          <p:cNvPr id="134" name="Shape 132"/>
          <p:cNvSpPr/>
          <p:nvPr/>
        </p:nvSpPr>
        <p:spPr>
          <a:xfrm>
            <a:off x="5753222" y="5824728"/>
            <a:ext cx="2906146" cy="274320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3000" dirty="0"/>
          </a:p>
        </p:txBody>
      </p:sp>
      <p:sp>
        <p:nvSpPr>
          <p:cNvPr id="136" name="Shape 134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WF-PAT-01  수검자 관리 · Main Tab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P01-01~05 · F-PAT-001~003</a:t>
            </a:r>
            <a:endParaRPr lang="ko-KR" sz="1000" dirty="0"/>
          </a:p>
        </p:txBody>
      </p:sp>
      <p:sp>
        <p:nvSpPr>
          <p:cNvPr id="139" name="Shape 137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42" name="Text 140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미선택이면 [정보수정]·[신규예약]·[변경이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력] 비활성</a:t>
            </a:r>
            <a:endParaRPr lang="ko-KR" sz="1000" dirty="0"/>
          </a:p>
        </p:txBody>
      </p:sp>
      <p:sp>
        <p:nvSpPr>
          <p:cNvPr id="143" name="Shape 141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[변경이력]은 조회 Action이라 공통 업무불가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에도 열린다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247976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247976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897112" y="2247976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9" name="Text 147"/>
          <p:cNvSpPr/>
          <p:nvPr/>
        </p:nvSpPr>
        <p:spPr>
          <a:xfrm>
            <a:off x="9313164" y="2298268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1개 조건 필요. 조건은 AND 결합</a:t>
            </a:r>
            <a:endParaRPr lang="ko-KR" sz="1000" dirty="0"/>
          </a:p>
        </p:txBody>
      </p:sp>
      <p:sp>
        <p:nvSpPr>
          <p:cNvPr id="150" name="Shape 148"/>
          <p:cNvSpPr/>
          <p:nvPr/>
        </p:nvSpPr>
        <p:spPr>
          <a:xfrm>
            <a:off x="8897112" y="252229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262872" y="252229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897112" y="252229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3" name="Text 151"/>
          <p:cNvSpPr/>
          <p:nvPr/>
        </p:nvSpPr>
        <p:spPr>
          <a:xfrm>
            <a:off x="9313164" y="257258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차트번호·주민번호·생년월일·휴대전화는 정확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검색, 이름은 앞부분 일치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8897112" y="296072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262872" y="296072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8897112" y="296072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57" name="Text 155"/>
          <p:cNvSpPr/>
          <p:nvPr/>
        </p:nvSpPr>
        <p:spPr>
          <a:xfrm>
            <a:off x="9313164" y="301101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재조회 시 선택행과 상세를 초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기화한다</a:t>
            </a:r>
            <a:endParaRPr lang="ko-KR" sz="1000" dirty="0"/>
          </a:p>
        </p:txBody>
      </p:sp>
      <p:sp>
        <p:nvSpPr>
          <p:cNvPr id="158" name="Shape 156"/>
          <p:cNvSpPr/>
          <p:nvPr/>
        </p:nvSpPr>
        <p:spPr>
          <a:xfrm>
            <a:off x="8897112" y="339915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262872" y="339915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8897112" y="3399155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61" name="Text 159"/>
          <p:cNvSpPr/>
          <p:nvPr/>
        </p:nvSpPr>
        <p:spPr>
          <a:xfrm>
            <a:off x="9313164" y="344944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주민등록번호는 마스킹 없이 전체값을 표시한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 (SocialNumber)</a:t>
            </a:r>
            <a:endParaRPr lang="ko-KR" sz="1000" dirty="0"/>
          </a:p>
        </p:txBody>
      </p:sp>
      <p:sp>
        <p:nvSpPr>
          <p:cNvPr id="162" name="Shape 160"/>
          <p:cNvSpPr/>
          <p:nvPr/>
        </p:nvSpPr>
        <p:spPr>
          <a:xfrm>
            <a:off x="8897112" y="383758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262872" y="383758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8897112" y="383758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65" name="Text 163"/>
          <p:cNvSpPr/>
          <p:nvPr/>
        </p:nvSpPr>
        <p:spPr>
          <a:xfrm>
            <a:off x="9313164" y="388787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삭제는 제공하지 않는다. 정보 오류는 [정보수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정]으로 처리 (EP-10)</a:t>
            </a:r>
            <a:endParaRPr lang="ko-KR" sz="1000" dirty="0"/>
          </a:p>
        </p:txBody>
      </p:sp>
      <p:sp>
        <p:nvSpPr>
          <p:cNvPr id="166" name="Shape 164"/>
          <p:cNvSpPr/>
          <p:nvPr/>
        </p:nvSpPr>
        <p:spPr>
          <a:xfrm>
            <a:off x="8897112" y="427601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9262872" y="427601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8897112" y="427601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9" name="Text 167"/>
          <p:cNvSpPr/>
          <p:nvPr/>
        </p:nvSpPr>
        <p:spPr>
          <a:xfrm>
            <a:off x="9313164" y="432630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PatientId·정규화 컬럼·생성/수정시각은 Grid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노출하지 않는다</a:t>
            </a:r>
            <a:endParaRPr lang="ko-KR" sz="1000" dirty="0"/>
          </a:p>
        </p:txBody>
      </p:sp>
      <p:sp>
        <p:nvSpPr>
          <p:cNvPr id="170" name="Shape 168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72" name="Shape 170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74" name="Shape 172"/>
          <p:cNvSpPr/>
          <p:nvPr/>
        </p:nvSpPr>
        <p:spPr>
          <a:xfrm>
            <a:off x="384048" y="23500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384048" y="23500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76" name="Shape 174"/>
          <p:cNvSpPr/>
          <p:nvPr/>
        </p:nvSpPr>
        <p:spPr>
          <a:xfrm>
            <a:off x="384048" y="43754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384048" y="43754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78" name="Shape 176"/>
          <p:cNvSpPr/>
          <p:nvPr/>
        </p:nvSpPr>
        <p:spPr>
          <a:xfrm>
            <a:off x="5515478" y="43754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5515478" y="43754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80" name="Shape 178"/>
          <p:cNvSpPr/>
          <p:nvPr/>
        </p:nvSpPr>
        <p:spPr>
          <a:xfrm>
            <a:off x="6539606" y="384962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1" name="Text 179"/>
          <p:cNvSpPr/>
          <p:nvPr/>
        </p:nvSpPr>
        <p:spPr>
          <a:xfrm>
            <a:off x="6539606" y="384962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82" name="Shape 180"/>
          <p:cNvSpPr/>
          <p:nvPr/>
        </p:nvSpPr>
        <p:spPr>
          <a:xfrm>
            <a:off x="5606918" y="58521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3" name="Text 181"/>
          <p:cNvSpPr/>
          <p:nvPr/>
        </p:nvSpPr>
        <p:spPr>
          <a:xfrm>
            <a:off x="5606918" y="58521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(WF-RSV-01)  ·  접수 관리 (WF-WRK-01)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1165860" y="1641348"/>
            <a:ext cx="694944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00887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00887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95731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5731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1312164" y="1879092"/>
            <a:ext cx="6656832" cy="8595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385316" y="1906524"/>
            <a:ext cx="65105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1312164" y="2089404"/>
            <a:ext cx="66568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Shape 13"/>
          <p:cNvSpPr/>
          <p:nvPr/>
        </p:nvSpPr>
        <p:spPr>
          <a:xfrm>
            <a:off x="7029196" y="2125980"/>
            <a:ext cx="811784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29196" y="2125980"/>
            <a:ext cx="811784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950" dirty="0"/>
          </a:p>
        </p:txBody>
      </p:sp>
      <p:sp>
        <p:nvSpPr>
          <p:cNvPr id="17" name="Shape 15"/>
          <p:cNvSpPr/>
          <p:nvPr/>
        </p:nvSpPr>
        <p:spPr>
          <a:xfrm>
            <a:off x="6224524" y="2125980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224524" y="2125980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9" name="Text 17"/>
          <p:cNvSpPr/>
          <p:nvPr/>
        </p:nvSpPr>
        <p:spPr>
          <a:xfrm>
            <a:off x="1403604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2025396" y="2125980"/>
            <a:ext cx="9144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086100" y="2125980"/>
            <a:ext cx="457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3543300" y="2125980"/>
            <a:ext cx="749808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39412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5061204" y="2125980"/>
            <a:ext cx="1024128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1403604" y="24185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6" name="Shape 24"/>
          <p:cNvSpPr/>
          <p:nvPr/>
        </p:nvSpPr>
        <p:spPr>
          <a:xfrm>
            <a:off x="2025396" y="2418588"/>
            <a:ext cx="10515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223260" y="24185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3845052" y="2418588"/>
            <a:ext cx="12344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312164" y="2811780"/>
            <a:ext cx="6656832" cy="22128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385316" y="2839212"/>
            <a:ext cx="65105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 결과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1312164" y="3022092"/>
            <a:ext cx="66568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2" name="Shape 30"/>
          <p:cNvSpPr/>
          <p:nvPr/>
        </p:nvSpPr>
        <p:spPr>
          <a:xfrm>
            <a:off x="1403604" y="3058668"/>
            <a:ext cx="10515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458468" y="3058668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2455164" y="3058668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455164" y="305866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3186684" y="3058668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186684" y="3058668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4421124" y="3058668"/>
            <a:ext cx="9144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421124" y="3058668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5335524" y="3058668"/>
            <a:ext cx="4572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335524" y="3058668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5792724" y="3058668"/>
            <a:ext cx="208483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792724" y="3058668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1403604" y="3236976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458468" y="3236976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2455164" y="3236976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455164" y="323697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3186684" y="3236976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186684" y="3236976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4421124" y="3236976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21124" y="3236976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5335524" y="3236976"/>
            <a:ext cx="4572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35524" y="3236976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5792724" y="3236976"/>
            <a:ext cx="208483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5792724" y="3236976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010-0000-0003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1403604" y="3415284"/>
            <a:ext cx="10515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458468" y="3415284"/>
            <a:ext cx="9966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2455164" y="341528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455164" y="341528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3186684" y="3415284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3186684" y="3415284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800511-1000015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4421124" y="3415284"/>
            <a:ext cx="9144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421124" y="3415284"/>
            <a:ext cx="9144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1980-05-11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5335524" y="3415284"/>
            <a:ext cx="4572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5335524" y="3415284"/>
            <a:ext cx="4572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5792724" y="3415284"/>
            <a:ext cx="208483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5792724" y="3415284"/>
            <a:ext cx="20848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010-0000-0001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1403604" y="3236976"/>
            <a:ext cx="6473952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3000" dirty="0"/>
          </a:p>
        </p:txBody>
      </p:sp>
      <p:sp>
        <p:nvSpPr>
          <p:cNvPr id="70" name="Shape 68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DLG-PAT-02  수검자 선택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P01-01~03 · F-PAT-001~002</a:t>
            </a:r>
            <a:endParaRPr lang="ko-KR" sz="1000" dirty="0"/>
          </a:p>
        </p:txBody>
      </p:sp>
      <p:sp>
        <p:nvSpPr>
          <p:cNvPr id="73" name="Shape 7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6" name="Text 74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조회계약은 수검자 관리 화면과 동일하다</a:t>
            </a:r>
            <a:endParaRPr lang="ko-KR" sz="1000" dirty="0"/>
          </a:p>
        </p:txBody>
      </p:sp>
      <p:sp>
        <p:nvSpPr>
          <p:cNvPr id="77" name="Shape 75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80" name="Text 78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결과가 없으면 [신규등록]으로 DLG-PAT-01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Mode 진입</a:t>
            </a:r>
            <a:endParaRPr lang="ko-KR" sz="1000" dirty="0"/>
          </a:p>
        </p:txBody>
      </p:sp>
      <p:sp>
        <p:nvSpPr>
          <p:cNvPr id="81" name="Shape 79"/>
          <p:cNvSpPr/>
          <p:nvPr/>
        </p:nvSpPr>
        <p:spPr>
          <a:xfrm>
            <a:off x="8897112" y="208386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9262872" y="208386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9313164" y="213415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신규저장 또는 동일 기존수검자 확정 후 재검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색을 요구하지 않고 PatientId를 즉시 호출 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면에 반환한다.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269121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269121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897112" y="269121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87" name="Text 85"/>
          <p:cNvSpPr/>
          <p:nvPr/>
        </p:nvSpPr>
        <p:spPr>
          <a:xfrm>
            <a:off x="9313164" y="274151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주민등록번호는 전체값을 표시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8897112" y="312964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262872" y="312964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8897112" y="3129648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91" name="Text 89"/>
          <p:cNvSpPr/>
          <p:nvPr/>
        </p:nvSpPr>
        <p:spPr>
          <a:xfrm>
            <a:off x="9313164" y="317994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[선택]으로 PatientId를 호출 화면에 반환한다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340396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340396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345426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DLG-PAT-01을 취소해도 이 창은 유지된다.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1165860" y="21991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1165860" y="21991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6862572" y="215341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6862572" y="215341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1165860" y="380847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1165860" y="380847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5811012" y="52075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5811012" y="52075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(WF-PAT-01)  ·  수검자 선택 (DLG-PAT-02)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1805940" y="1074420"/>
            <a:ext cx="5669280" cy="5065776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18476" y="937260"/>
            <a:ext cx="2044207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618476" y="937260"/>
            <a:ext cx="2044207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신규등록  /  정보수정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6368796" y="5756148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68796" y="5756148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317236" y="5756148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317236" y="5756148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1952244" y="1312164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기본정보 ]</a:t>
            </a:r>
            <a:endParaRPr lang="ko-KR" sz="800" dirty="0"/>
          </a:p>
        </p:txBody>
      </p:sp>
      <p:sp>
        <p:nvSpPr>
          <p:cNvPr id="13" name="Text 11"/>
          <p:cNvSpPr/>
          <p:nvPr/>
        </p:nvSpPr>
        <p:spPr>
          <a:xfrm>
            <a:off x="1952244" y="14950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방식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3140964" y="1495044"/>
            <a:ext cx="10972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140964" y="149504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자동발급</a:t>
            </a:r>
            <a:endParaRPr lang="ko-KR" sz="900" dirty="0"/>
          </a:p>
        </p:txBody>
      </p:sp>
      <p:sp>
        <p:nvSpPr>
          <p:cNvPr id="16" name="Shape 14"/>
          <p:cNvSpPr/>
          <p:nvPr/>
        </p:nvSpPr>
        <p:spPr>
          <a:xfrm>
            <a:off x="4311396" y="1495044"/>
            <a:ext cx="10972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11396" y="149504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수동입력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1952244" y="17556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3140964" y="1755648"/>
            <a:ext cx="4187952" cy="219456"/>
          </a:xfrm>
          <a:prstGeom prst="rect">
            <a:avLst/>
          </a:prstGeom>
          <a:ln w="12700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65876" y="175564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시 자동발급</a:t>
            </a:r>
            <a:endParaRPr lang="ko-KR" sz="800" dirty="0"/>
          </a:p>
        </p:txBody>
      </p:sp>
      <p:sp>
        <p:nvSpPr>
          <p:cNvPr id="21" name="Text 19"/>
          <p:cNvSpPr/>
          <p:nvPr/>
        </p:nvSpPr>
        <p:spPr>
          <a:xfrm>
            <a:off x="1952244" y="2016252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 *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3140964" y="2016252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52244" y="2276856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 *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3140964" y="2276856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140964" y="2276856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990707-2000018</a:t>
            </a:r>
            <a:endParaRPr lang="ko-KR" sz="900" dirty="0"/>
          </a:p>
        </p:txBody>
      </p:sp>
      <p:sp>
        <p:nvSpPr>
          <p:cNvPr id="26" name="Text 24"/>
          <p:cNvSpPr/>
          <p:nvPr/>
        </p:nvSpPr>
        <p:spPr>
          <a:xfrm>
            <a:off x="1952244" y="253746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3140964" y="2537460"/>
            <a:ext cx="4187952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140964" y="2537460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1999-07-07</a:t>
            </a:r>
            <a:endParaRPr lang="ko-KR" sz="900" dirty="0"/>
          </a:p>
        </p:txBody>
      </p:sp>
      <p:sp>
        <p:nvSpPr>
          <p:cNvPr id="29" name="Text 27"/>
          <p:cNvSpPr/>
          <p:nvPr/>
        </p:nvSpPr>
        <p:spPr>
          <a:xfrm>
            <a:off x="6231636" y="2537460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30" name="Text 28"/>
          <p:cNvSpPr/>
          <p:nvPr/>
        </p:nvSpPr>
        <p:spPr>
          <a:xfrm>
            <a:off x="1952244" y="279806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3140964" y="2798064"/>
            <a:ext cx="4187952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140964" y="2798064"/>
            <a:ext cx="418795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33" name="Text 31"/>
          <p:cNvSpPr/>
          <p:nvPr/>
        </p:nvSpPr>
        <p:spPr>
          <a:xfrm>
            <a:off x="6231636" y="2798064"/>
            <a:ext cx="109728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34" name="Text 32"/>
          <p:cNvSpPr/>
          <p:nvPr/>
        </p:nvSpPr>
        <p:spPr>
          <a:xfrm>
            <a:off x="1952244" y="3058668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연락처 ]</a:t>
            </a:r>
            <a:endParaRPr lang="ko-KR" sz="800" dirty="0"/>
          </a:p>
        </p:txBody>
      </p:sp>
      <p:sp>
        <p:nvSpPr>
          <p:cNvPr id="35" name="Text 33"/>
          <p:cNvSpPr/>
          <p:nvPr/>
        </p:nvSpPr>
        <p:spPr>
          <a:xfrm>
            <a:off x="1952244" y="32415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36" name="Shape 34"/>
          <p:cNvSpPr/>
          <p:nvPr/>
        </p:nvSpPr>
        <p:spPr>
          <a:xfrm>
            <a:off x="3140964" y="3241548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952244" y="3502152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전화번호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3140964" y="3502152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52244" y="3762756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E-mail</a:t>
            </a:r>
            <a:endParaRPr lang="ko-KR" sz="800" dirty="0"/>
          </a:p>
        </p:txBody>
      </p:sp>
      <p:sp>
        <p:nvSpPr>
          <p:cNvPr id="40" name="Shape 38"/>
          <p:cNvSpPr/>
          <p:nvPr/>
        </p:nvSpPr>
        <p:spPr>
          <a:xfrm>
            <a:off x="3140964" y="3762756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952244" y="4023360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주소 ]</a:t>
            </a:r>
            <a:endParaRPr lang="ko-KR" sz="800" dirty="0"/>
          </a:p>
        </p:txBody>
      </p:sp>
      <p:sp>
        <p:nvSpPr>
          <p:cNvPr id="42" name="Text 40"/>
          <p:cNvSpPr/>
          <p:nvPr/>
        </p:nvSpPr>
        <p:spPr>
          <a:xfrm>
            <a:off x="1952244" y="4206240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우편번호 / 주소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3140964" y="4206240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1952244" y="4466844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상세주소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3140964" y="4466844"/>
            <a:ext cx="418795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952244" y="4727448"/>
            <a:ext cx="11887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검사 제외 ]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3140964" y="4727448"/>
            <a:ext cx="14630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140964" y="472744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  B형간염 검사 제외</a:t>
            </a:r>
            <a:endParaRPr lang="ko-KR" sz="900" dirty="0"/>
          </a:p>
        </p:txBody>
      </p:sp>
      <p:sp>
        <p:nvSpPr>
          <p:cNvPr id="49" name="Text 47"/>
          <p:cNvSpPr/>
          <p:nvPr/>
        </p:nvSpPr>
        <p:spPr>
          <a:xfrm>
            <a:off x="1952244" y="4988052"/>
            <a:ext cx="5376672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메모 ]</a:t>
            </a:r>
            <a:endParaRPr lang="ko-KR" sz="800" dirty="0"/>
          </a:p>
        </p:txBody>
      </p:sp>
      <p:sp>
        <p:nvSpPr>
          <p:cNvPr id="50" name="Shape 48"/>
          <p:cNvSpPr/>
          <p:nvPr/>
        </p:nvSpPr>
        <p:spPr>
          <a:xfrm>
            <a:off x="1952244" y="5170932"/>
            <a:ext cx="5376672" cy="438912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· 정보수정</a:t>
            </a:r>
            <a:endParaRPr lang="ko-KR" sz="3000" dirty="0"/>
          </a:p>
        </p:txBody>
      </p:sp>
      <p:sp>
        <p:nvSpPr>
          <p:cNvPr id="52" name="Shape 50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DLG-PAT-01  수검자 등록 / 정보수정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· P01-02~05 · F-PAT-002~003</a:t>
            </a:r>
            <a:endParaRPr lang="ko-KR" sz="1000" dirty="0"/>
          </a:p>
        </p:txBody>
      </p:sp>
      <p:sp>
        <p:nvSpPr>
          <p:cNvPr id="55" name="Shape 53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그림은 New Mode 기준. Edit Mode는 자동발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급 전환 없이 기존 차트번호 수동수정만 허용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한다.</a:t>
            </a:r>
            <a:endParaRPr lang="ko-KR" sz="1000" dirty="0"/>
          </a:p>
        </p:txBody>
      </p:sp>
      <p:sp>
        <p:nvSpPr>
          <p:cNvPr id="58" name="Shape 56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61" name="Text 59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New는 자동발급이 기본값. Edit에서는 이 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택이 없다</a:t>
            </a:r>
            <a:endParaRPr lang="ko-KR" sz="1000" dirty="0"/>
          </a:p>
        </p:txBody>
      </p:sp>
      <p:sp>
        <p:nvSpPr>
          <p:cNvPr id="62" name="Shape 60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65" name="Text 63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자동발급 번호는 화면 진입 시 점유하지 않고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Transaction에서 확정</a:t>
            </a:r>
            <a:endParaRPr lang="ko-KR" sz="1000" dirty="0"/>
          </a:p>
        </p:txBody>
      </p:sp>
      <p:sp>
        <p:nvSpPr>
          <p:cNvPr id="66" name="Shape 64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262872" y="285532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897112" y="285532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69" name="Text 67"/>
          <p:cNvSpPr/>
          <p:nvPr/>
        </p:nvSpPr>
        <p:spPr>
          <a:xfrm>
            <a:off x="9313164" y="290562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이름·주민등록번호가 필수. 미입력이면 저장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비활성 (EP-04)</a:t>
            </a:r>
            <a:endParaRPr lang="ko-KR" sz="1000" dirty="0"/>
          </a:p>
        </p:txBody>
      </p:sp>
      <p:sp>
        <p:nvSpPr>
          <p:cNvPr id="70" name="Shape 68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9262872" y="329375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8897112" y="329375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73" name="Text 71"/>
          <p:cNvSpPr/>
          <p:nvPr/>
        </p:nvSpPr>
        <p:spPr>
          <a:xfrm>
            <a:off x="9313164" y="334405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전체값 표시. `-` 제거 후 숫자 13자리로 정규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화하여 저장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9262872" y="3732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77" name="Text 75"/>
          <p:cNvSpPr/>
          <p:nvPr/>
        </p:nvSpPr>
        <p:spPr>
          <a:xfrm>
            <a:off x="9313164" y="3782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주민등록번호에서 자동 산출. 형식·날짜·파생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 시 Clear + 저장 차단</a:t>
            </a:r>
            <a:endParaRPr lang="ko-KR" sz="1000" dirty="0"/>
          </a:p>
        </p:txBody>
      </p:sp>
      <p:sp>
        <p:nvSpPr>
          <p:cNvPr id="78" name="Shape 76"/>
          <p:cNvSpPr/>
          <p:nvPr/>
        </p:nvSpPr>
        <p:spPr>
          <a:xfrm>
            <a:off x="8897112" y="41706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9262872" y="41706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8897112" y="41706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81" name="Text 79"/>
          <p:cNvSpPr/>
          <p:nvPr/>
        </p:nvSpPr>
        <p:spPr>
          <a:xfrm>
            <a:off x="9313164" y="42209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체크 = 제외. 신규 기본값은 해제 (NEX-03)</a:t>
            </a:r>
            <a:endParaRPr lang="ko-KR" sz="1000" dirty="0"/>
          </a:p>
        </p:txBody>
      </p:sp>
      <p:sp>
        <p:nvSpPr>
          <p:cNvPr id="82" name="Shape 80"/>
          <p:cNvSpPr/>
          <p:nvPr/>
        </p:nvSpPr>
        <p:spPr>
          <a:xfrm>
            <a:off x="8897112" y="44449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9262872" y="44449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8897112" y="44449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85" name="Text 83"/>
          <p:cNvSpPr/>
          <p:nvPr/>
        </p:nvSpPr>
        <p:spPr>
          <a:xfrm>
            <a:off x="9313164" y="44952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주민번호·차트번호 고유성은 저장 SP가 최종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재검증한다 (EP-03, EP-05)</a:t>
            </a:r>
            <a:endParaRPr lang="ko-KR" sz="1000" dirty="0"/>
          </a:p>
        </p:txBody>
      </p:sp>
      <p:sp>
        <p:nvSpPr>
          <p:cNvPr id="86" name="Shape 84"/>
          <p:cNvSpPr/>
          <p:nvPr/>
        </p:nvSpPr>
        <p:spPr>
          <a:xfrm>
            <a:off x="8897112" y="4883366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9262872" y="4883366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9313164" y="4933658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변경은 해당 수검자에게 예약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(RSV)·접수완료(RCP) 업무가 하나라도 있으면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차단된다. 차트번호 변경에는 이 조건을 적용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하지 않는다 (EP-08).</a:t>
            </a:r>
            <a:endParaRPr lang="ko-KR" sz="1000" dirty="0"/>
          </a:p>
        </p:txBody>
      </p:sp>
      <p:sp>
        <p:nvSpPr>
          <p:cNvPr id="89" name="Shape 87"/>
          <p:cNvSpPr/>
          <p:nvPr/>
        </p:nvSpPr>
        <p:spPr>
          <a:xfrm>
            <a:off x="8897112" y="5659641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262872" y="5659641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313164" y="5709933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저장된 예약·접수의 검사구성은 다시 만들지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않는다. 다음 예약부터 적용된다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6098070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6098070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6148362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사유는 입력받지 않는다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2994660" y="14950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994660" y="14950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7" name="Shape 95"/>
          <p:cNvSpPr/>
          <p:nvPr/>
        </p:nvSpPr>
        <p:spPr>
          <a:xfrm>
            <a:off x="2994660" y="17556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2994660" y="17556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2994660" y="20162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2994660" y="20162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2994660" y="227685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2994660" y="227685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2994660" y="27020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994660" y="27020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05" name="Shape 103"/>
          <p:cNvSpPr/>
          <p:nvPr/>
        </p:nvSpPr>
        <p:spPr>
          <a:xfrm>
            <a:off x="2994660" y="47274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2994660" y="47274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5170932" y="577443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5170932" y="577443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등록 / 정보수정 (DLG-PAT-01)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891540" y="1961388"/>
            <a:ext cx="749808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8242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8242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283196" y="48691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283196" y="48691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5775964" y="4869180"/>
            <a:ext cx="141579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775964" y="4869180"/>
            <a:ext cx="1415792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별도 수검자로 계속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4673098" y="4869180"/>
            <a:ext cx="1011426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73098" y="4869180"/>
            <a:ext cx="101142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 수정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1037844" y="2199132"/>
            <a:ext cx="7205472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10996" y="2226564"/>
            <a:ext cx="70591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입력값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037844" y="2409444"/>
            <a:ext cx="720547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7" name="Text 15"/>
          <p:cNvSpPr/>
          <p:nvPr/>
        </p:nvSpPr>
        <p:spPr>
          <a:xfrm>
            <a:off x="112928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1732788" y="2446020"/>
            <a:ext cx="82296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68376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3287268" y="2446020"/>
            <a:ext cx="91440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32968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4933188" y="2446020"/>
            <a:ext cx="123444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95644" y="2446020"/>
            <a:ext cx="6035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800" dirty="0"/>
          </a:p>
        </p:txBody>
      </p:sp>
      <p:sp>
        <p:nvSpPr>
          <p:cNvPr id="24" name="Shape 22"/>
          <p:cNvSpPr/>
          <p:nvPr/>
        </p:nvSpPr>
        <p:spPr>
          <a:xfrm>
            <a:off x="6899148" y="2446020"/>
            <a:ext cx="1097280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37844" y="2857500"/>
            <a:ext cx="7205472" cy="12984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1110996" y="2884932"/>
            <a:ext cx="705916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 ·  이름 + 생년월일 동일 / 주민등록번호 상이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1037844" y="3067812"/>
            <a:ext cx="720547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8" name="Shape 26"/>
          <p:cNvSpPr/>
          <p:nvPr/>
        </p:nvSpPr>
        <p:spPr>
          <a:xfrm>
            <a:off x="1129284" y="3104388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1184148" y="3104388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2226564" y="3104388"/>
            <a:ext cx="7315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226564" y="3104388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2958084" y="3104388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58084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3918204" y="3104388"/>
            <a:ext cx="5029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918204" y="3104388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4421124" y="3104388"/>
            <a:ext cx="12801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21124" y="3104388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5701284" y="3104388"/>
            <a:ext cx="24505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701284" y="3104388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1129284" y="328269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4148" y="3282696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2026-000098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2226564" y="3282696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226564" y="3282696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2958084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2958084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3918204" y="3282696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918204" y="3282696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4421124" y="3282696"/>
            <a:ext cx="12801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421124" y="3282696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660312-2000035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5701284" y="3282696"/>
            <a:ext cx="24505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701284" y="3282696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010-0000-0098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1129284" y="34610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184148" y="3461004"/>
            <a:ext cx="104241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2026-000114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2226564" y="3461004"/>
            <a:ext cx="7315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226564" y="3461004"/>
            <a:ext cx="7315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2958084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958084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918204" y="3461004"/>
            <a:ext cx="5029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918204" y="3461004"/>
            <a:ext cx="5029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4421124" y="3461004"/>
            <a:ext cx="12801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421124" y="3461004"/>
            <a:ext cx="12801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660312-2000043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5701284" y="3461004"/>
            <a:ext cx="24505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01284" y="3461004"/>
            <a:ext cx="245059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010-0000-0114</a:t>
            </a:r>
            <a:endParaRPr lang="ko-KR" sz="900" dirty="0"/>
          </a:p>
        </p:txBody>
      </p:sp>
      <p:sp>
        <p:nvSpPr>
          <p:cNvPr id="64" name="Text 62"/>
          <p:cNvSpPr/>
          <p:nvPr/>
        </p:nvSpPr>
        <p:spPr>
          <a:xfrm>
            <a:off x="1037844" y="4247388"/>
            <a:ext cx="7205472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오입력 여부를 확인하십시오.</a:t>
            </a:r>
            <a:endParaRPr lang="ko-KR" sz="950" dirty="0"/>
          </a:p>
        </p:txBody>
      </p:sp>
      <p:sp>
        <p:nvSpPr>
          <p:cNvPr id="65" name="Text 63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중복 후보 확인</a:t>
            </a:r>
            <a:endParaRPr lang="ko-KR" sz="3000" dirty="0"/>
          </a:p>
        </p:txBody>
      </p:sp>
      <p:sp>
        <p:nvSpPr>
          <p:cNvPr id="66" name="Shape 64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  중복 후보 확인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P01-03 · F-COM-002</a:t>
            </a:r>
            <a:endParaRPr lang="ko-KR" sz="1000" dirty="0"/>
          </a:p>
        </p:txBody>
      </p:sp>
      <p:sp>
        <p:nvSpPr>
          <p:cNvPr id="69" name="Shape 67"/>
          <p:cNvSpPr/>
          <p:nvPr/>
        </p:nvSpPr>
        <p:spPr>
          <a:xfrm>
            <a:off x="8897112" y="137111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262872" y="137111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313164" y="142140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주민등록번호는 이 창을 거치지 않는다.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이름이 달라도 신규등록 없이 기존 PatientId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반환한다 (EP-05, EP-06).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262872" y="197847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897112" y="197847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75" name="Text 73"/>
          <p:cNvSpPr/>
          <p:nvPr/>
        </p:nvSpPr>
        <p:spPr>
          <a:xfrm>
            <a:off x="9313164" y="202876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 + 생년월일이 같고 주민등록번호가 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를 때만 표시된다 (EP-07)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62872" y="241689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897112" y="241689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9" name="Text 77"/>
          <p:cNvSpPr/>
          <p:nvPr/>
        </p:nvSpPr>
        <p:spPr>
          <a:xfrm>
            <a:off x="9313164" y="246719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경고·확인 대상이지 자동 동일인 확정조건이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아니다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897112" y="2855328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262872" y="2855328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897112" y="2855328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83" name="Text 81"/>
          <p:cNvSpPr/>
          <p:nvPr/>
        </p:nvSpPr>
        <p:spPr>
          <a:xfrm>
            <a:off x="9313164" y="2905620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[입력값 수정] → Editor로 복귀 후 다시 검증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312964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312964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8897112" y="312964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87" name="Text 85"/>
          <p:cNvSpPr/>
          <p:nvPr/>
        </p:nvSpPr>
        <p:spPr>
          <a:xfrm>
            <a:off x="9313164" y="317994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[별도 수검자로 계속] → 현재 이름+생년월일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+주민번호 조합에만 유효</a:t>
            </a:r>
            <a:endParaRPr lang="ko-KR" sz="1000" dirty="0"/>
          </a:p>
        </p:txBody>
      </p:sp>
      <p:sp>
        <p:nvSpPr>
          <p:cNvPr id="88" name="Shape 86"/>
          <p:cNvSpPr/>
          <p:nvPr/>
        </p:nvSpPr>
        <p:spPr>
          <a:xfrm>
            <a:off x="8897112" y="3568078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9262872" y="3568078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313164" y="3618370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값 중 하나라도 바뀌면 확인상태를 해제하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 다시 후보검증한다. 같은 확인값으로 저장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을 재시도하면 이 창을 반복 표시하지 않는다.</a:t>
            </a:r>
            <a:endParaRPr lang="ko-KR" sz="1000" dirty="0"/>
          </a:p>
        </p:txBody>
      </p:sp>
      <p:sp>
        <p:nvSpPr>
          <p:cNvPr id="91" name="Shape 89"/>
          <p:cNvSpPr/>
          <p:nvPr/>
        </p:nvSpPr>
        <p:spPr>
          <a:xfrm>
            <a:off x="8897112" y="417543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9262872" y="417543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9313164" y="422572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최종 고유성은 저장 Transaction이 수검자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.SocialNumber 정확값으로 다시 판정한다.</a:t>
            </a:r>
            <a:endParaRPr lang="ko-KR" sz="1000" dirty="0"/>
          </a:p>
        </p:txBody>
      </p:sp>
      <p:sp>
        <p:nvSpPr>
          <p:cNvPr id="94" name="Shape 92"/>
          <p:cNvSpPr/>
          <p:nvPr/>
        </p:nvSpPr>
        <p:spPr>
          <a:xfrm>
            <a:off x="891540" y="23728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891540" y="23728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91540" y="33969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91540" y="33969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8" name="Shape 96"/>
          <p:cNvSpPr/>
          <p:nvPr/>
        </p:nvSpPr>
        <p:spPr>
          <a:xfrm>
            <a:off x="4526794" y="48874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526794" y="48874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0" name="Shape 98"/>
          <p:cNvSpPr/>
          <p:nvPr/>
        </p:nvSpPr>
        <p:spPr>
          <a:xfrm>
            <a:off x="5629660" y="48874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629660" y="48874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569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예약저장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ln w="9525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 ×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76479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  ×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30352" y="2029968"/>
            <a:ext cx="3658057" cy="126187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03504" y="2057400"/>
            <a:ext cx="351175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530352" y="2240280"/>
            <a:ext cx="3658057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8" name="Text 26"/>
          <p:cNvSpPr/>
          <p:nvPr/>
        </p:nvSpPr>
        <p:spPr>
          <a:xfrm>
            <a:off x="621792" y="231343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1207008" y="231343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1207008" y="231343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31" name="Text 29"/>
          <p:cNvSpPr/>
          <p:nvPr/>
        </p:nvSpPr>
        <p:spPr>
          <a:xfrm>
            <a:off x="2386813" y="231343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2972029" y="231343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2972029" y="231343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34" name="Text 32"/>
          <p:cNvSpPr/>
          <p:nvPr/>
        </p:nvSpPr>
        <p:spPr>
          <a:xfrm>
            <a:off x="621792" y="258775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1207008" y="258775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1207008" y="258775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</a:t>
            </a:r>
            <a:endParaRPr lang="ko-KR" sz="900" dirty="0"/>
          </a:p>
        </p:txBody>
      </p:sp>
      <p:sp>
        <p:nvSpPr>
          <p:cNvPr id="37" name="Text 35"/>
          <p:cNvSpPr/>
          <p:nvPr/>
        </p:nvSpPr>
        <p:spPr>
          <a:xfrm>
            <a:off x="2386813" y="2587752"/>
            <a:ext cx="5852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00" dirty="0"/>
          </a:p>
        </p:txBody>
      </p:sp>
      <p:sp>
        <p:nvSpPr>
          <p:cNvPr id="38" name="Shape 36"/>
          <p:cNvSpPr/>
          <p:nvPr/>
        </p:nvSpPr>
        <p:spPr>
          <a:xfrm>
            <a:off x="2972029" y="2587752"/>
            <a:ext cx="1124941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972029" y="2587752"/>
            <a:ext cx="1124941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621792" y="29260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21792" y="29260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선택</a:t>
            </a:r>
            <a:endParaRPr lang="ko-KR" sz="950" dirty="0"/>
          </a:p>
        </p:txBody>
      </p:sp>
      <p:sp>
        <p:nvSpPr>
          <p:cNvPr id="42" name="Shape 40"/>
          <p:cNvSpPr/>
          <p:nvPr/>
        </p:nvSpPr>
        <p:spPr>
          <a:xfrm>
            <a:off x="4279849" y="2029968"/>
            <a:ext cx="4470959" cy="126187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353001" y="2057400"/>
            <a:ext cx="432465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일정</a:t>
            </a:r>
            <a:endParaRPr lang="ko-KR" sz="800" dirty="0"/>
          </a:p>
        </p:txBody>
      </p:sp>
      <p:sp>
        <p:nvSpPr>
          <p:cNvPr id="44" name="Shape 42"/>
          <p:cNvSpPr/>
          <p:nvPr/>
        </p:nvSpPr>
        <p:spPr>
          <a:xfrm>
            <a:off x="4279849" y="2240280"/>
            <a:ext cx="447095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5" name="Text 43"/>
          <p:cNvSpPr/>
          <p:nvPr/>
        </p:nvSpPr>
        <p:spPr>
          <a:xfrm>
            <a:off x="4371289" y="2313432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</a:t>
            </a:r>
            <a:endParaRPr lang="ko-KR" sz="800" dirty="0"/>
          </a:p>
        </p:txBody>
      </p:sp>
      <p:sp>
        <p:nvSpPr>
          <p:cNvPr id="46" name="Shape 44"/>
          <p:cNvSpPr/>
          <p:nvPr/>
        </p:nvSpPr>
        <p:spPr>
          <a:xfrm>
            <a:off x="4993081" y="2313432"/>
            <a:ext cx="14173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93081" y="2313432"/>
            <a:ext cx="14173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6428689" y="2313432"/>
            <a:ext cx="237744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6428689" y="2313432"/>
            <a:ext cx="2377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</a:t>
            </a:r>
            <a:endParaRPr lang="ko-KR" sz="800" dirty="0"/>
          </a:p>
        </p:txBody>
      </p:sp>
      <p:sp>
        <p:nvSpPr>
          <p:cNvPr id="50" name="Text 48"/>
          <p:cNvSpPr/>
          <p:nvPr/>
        </p:nvSpPr>
        <p:spPr>
          <a:xfrm>
            <a:off x="4371289" y="262432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993081" y="2624328"/>
            <a:ext cx="89611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993081" y="2624328"/>
            <a:ext cx="89611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오전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5980633" y="2624328"/>
            <a:ext cx="1645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20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4993081" y="2898648"/>
            <a:ext cx="896112" cy="219456"/>
          </a:xfrm>
          <a:prstGeom prst="rect">
            <a:avLst/>
          </a:prstGeom>
          <a:ln w="12700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993081" y="2898648"/>
            <a:ext cx="89611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오후</a:t>
            </a:r>
            <a:endParaRPr lang="ko-KR" sz="900" dirty="0"/>
          </a:p>
        </p:txBody>
      </p:sp>
      <p:sp>
        <p:nvSpPr>
          <p:cNvPr id="56" name="Text 54"/>
          <p:cNvSpPr/>
          <p:nvPr/>
        </p:nvSpPr>
        <p:spPr>
          <a:xfrm>
            <a:off x="5980633" y="2898648"/>
            <a:ext cx="1645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 / 20      마감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530352" y="3346704"/>
            <a:ext cx="8220456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8368" y="3346704"/>
            <a:ext cx="54864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:   대상 — 최근 완료연도 2024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530352" y="3675888"/>
            <a:ext cx="4470959" cy="238658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03504" y="3703320"/>
            <a:ext cx="432465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국가검진 검사항목 (NEX) · ReadOnly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530352" y="3886200"/>
            <a:ext cx="447095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62" name="Shape 60"/>
          <p:cNvSpPr/>
          <p:nvPr/>
        </p:nvSpPr>
        <p:spPr>
          <a:xfrm>
            <a:off x="621792" y="3922776"/>
            <a:ext cx="3190799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676656" y="392277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3812591" y="392277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812591" y="392277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621792" y="4101084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676656" y="4101084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3812591" y="410108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812591" y="410108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621792" y="4279392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76656" y="4279392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3812591" y="427939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3812591" y="427939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621792" y="4457700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76656" y="4457700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3812591" y="445770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812591" y="445770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621792" y="4636008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76656" y="4636008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3812591" y="4636008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812591" y="463600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621792" y="4814316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676656" y="481431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3812591" y="481431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3812591" y="481431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621792" y="4992624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76656" y="4992624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3812591" y="499262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812591" y="499262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21792" y="5170932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76656" y="5170932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92" name="Shape 90"/>
          <p:cNvSpPr/>
          <p:nvPr/>
        </p:nvSpPr>
        <p:spPr>
          <a:xfrm>
            <a:off x="3812591" y="517093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3812591" y="517093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4" name="Shape 92"/>
          <p:cNvSpPr/>
          <p:nvPr/>
        </p:nvSpPr>
        <p:spPr>
          <a:xfrm>
            <a:off x="621792" y="5349240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676656" y="5349240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96" name="Shape 94"/>
          <p:cNvSpPr/>
          <p:nvPr/>
        </p:nvSpPr>
        <p:spPr>
          <a:xfrm>
            <a:off x="3812591" y="534924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812591" y="534924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621792" y="5527548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76656" y="5527548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3812591" y="5527548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3812591" y="552754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621792" y="5705856"/>
            <a:ext cx="3190799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676656" y="5705856"/>
            <a:ext cx="3135935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04" name="Shape 102"/>
          <p:cNvSpPr/>
          <p:nvPr/>
        </p:nvSpPr>
        <p:spPr>
          <a:xfrm>
            <a:off x="3812591" y="570585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3812591" y="570585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106" name="Shape 104"/>
          <p:cNvSpPr/>
          <p:nvPr/>
        </p:nvSpPr>
        <p:spPr>
          <a:xfrm>
            <a:off x="5092751" y="3675888"/>
            <a:ext cx="3658057" cy="238658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5165903" y="3703320"/>
            <a:ext cx="3511753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(AEX) · 본인부담 · 선택</a:t>
            </a:r>
            <a:endParaRPr lang="ko-KR" sz="800" dirty="0"/>
          </a:p>
        </p:txBody>
      </p:sp>
      <p:sp>
        <p:nvSpPr>
          <p:cNvPr id="108" name="Shape 106"/>
          <p:cNvSpPr/>
          <p:nvPr/>
        </p:nvSpPr>
        <p:spPr>
          <a:xfrm>
            <a:off x="5092751" y="3886200"/>
            <a:ext cx="3658057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09" name="Shape 107"/>
          <p:cNvSpPr/>
          <p:nvPr/>
        </p:nvSpPr>
        <p:spPr>
          <a:xfrm>
            <a:off x="5184191" y="3922776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184191" y="392277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111" name="Shape 109"/>
          <p:cNvSpPr/>
          <p:nvPr/>
        </p:nvSpPr>
        <p:spPr>
          <a:xfrm>
            <a:off x="5586527" y="3922776"/>
            <a:ext cx="1024128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641391" y="3922776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113" name="Shape 111"/>
          <p:cNvSpPr/>
          <p:nvPr/>
        </p:nvSpPr>
        <p:spPr>
          <a:xfrm>
            <a:off x="6610655" y="3922776"/>
            <a:ext cx="2048713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6665519" y="3922776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115" name="Shape 113"/>
          <p:cNvSpPr/>
          <p:nvPr/>
        </p:nvSpPr>
        <p:spPr>
          <a:xfrm>
            <a:off x="5184191" y="410108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184191" y="410108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17" name="Shape 115"/>
          <p:cNvSpPr/>
          <p:nvPr/>
        </p:nvSpPr>
        <p:spPr>
          <a:xfrm>
            <a:off x="5586527" y="4101084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5641391" y="4101084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119" name="Shape 117"/>
          <p:cNvSpPr/>
          <p:nvPr/>
        </p:nvSpPr>
        <p:spPr>
          <a:xfrm>
            <a:off x="6610655" y="4101084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5184191" y="427939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184191" y="427939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5586527" y="4279392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641391" y="4279392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6610655" y="4279392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5184191" y="445770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5184191" y="445770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7" name="Shape 125"/>
          <p:cNvSpPr/>
          <p:nvPr/>
        </p:nvSpPr>
        <p:spPr>
          <a:xfrm>
            <a:off x="5586527" y="4457700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641391" y="4457700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29" name="Shape 127"/>
          <p:cNvSpPr/>
          <p:nvPr/>
        </p:nvSpPr>
        <p:spPr>
          <a:xfrm>
            <a:off x="6610655" y="4457700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5184191" y="463600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5184191" y="463600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32" name="Shape 130"/>
          <p:cNvSpPr/>
          <p:nvPr/>
        </p:nvSpPr>
        <p:spPr>
          <a:xfrm>
            <a:off x="5586527" y="4636008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641391" y="4636008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34" name="Shape 132"/>
          <p:cNvSpPr/>
          <p:nvPr/>
        </p:nvSpPr>
        <p:spPr>
          <a:xfrm>
            <a:off x="6610655" y="4636008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6665519" y="4636008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36" name="Shape 134"/>
          <p:cNvSpPr/>
          <p:nvPr/>
        </p:nvSpPr>
        <p:spPr>
          <a:xfrm>
            <a:off x="5184191" y="481431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5184191" y="481431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38" name="Shape 136"/>
          <p:cNvSpPr/>
          <p:nvPr/>
        </p:nvSpPr>
        <p:spPr>
          <a:xfrm>
            <a:off x="5586527" y="4814316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5641391" y="4814316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40" name="Shape 138"/>
          <p:cNvSpPr/>
          <p:nvPr/>
        </p:nvSpPr>
        <p:spPr>
          <a:xfrm>
            <a:off x="6610655" y="4814316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6665519" y="4814316"/>
            <a:ext cx="1993849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42" name="Shape 140"/>
          <p:cNvSpPr/>
          <p:nvPr/>
        </p:nvSpPr>
        <p:spPr>
          <a:xfrm>
            <a:off x="5184191" y="499262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5184191" y="499262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44" name="Shape 142"/>
          <p:cNvSpPr/>
          <p:nvPr/>
        </p:nvSpPr>
        <p:spPr>
          <a:xfrm>
            <a:off x="5586527" y="4992624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5641391" y="4992624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46" name="Shape 144"/>
          <p:cNvSpPr/>
          <p:nvPr/>
        </p:nvSpPr>
        <p:spPr>
          <a:xfrm>
            <a:off x="6610655" y="4992624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5184191" y="517093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5184191" y="517093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49" name="Shape 147"/>
          <p:cNvSpPr/>
          <p:nvPr/>
        </p:nvSpPr>
        <p:spPr>
          <a:xfrm>
            <a:off x="5586527" y="5170932"/>
            <a:ext cx="1024128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641391" y="5170932"/>
            <a:ext cx="969264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51" name="Shape 149"/>
          <p:cNvSpPr/>
          <p:nvPr/>
        </p:nvSpPr>
        <p:spPr>
          <a:xfrm>
            <a:off x="6610655" y="5170932"/>
            <a:ext cx="2048713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3000" dirty="0"/>
          </a:p>
        </p:txBody>
      </p:sp>
      <p:sp>
        <p:nvSpPr>
          <p:cNvPr id="153" name="Shape 151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WF-RSV-01  신규 예약 · Main Tab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P02-01~04 · F-RSV-001</a:t>
            </a:r>
            <a:endParaRPr lang="ko-KR" sz="1000" dirty="0"/>
          </a:p>
        </p:txBody>
      </p:sp>
      <p:sp>
        <p:nvSpPr>
          <p:cNvPr id="156" name="Shape 154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59" name="Text 157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상단 업무 Navigation. 각 업무 Tab은 1개만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열린다</a:t>
            </a:r>
            <a:endParaRPr lang="ko-KR" sz="1000" dirty="0"/>
          </a:p>
        </p:txBody>
      </p:sp>
      <p:sp>
        <p:nvSpPr>
          <p:cNvPr id="160" name="Shape 158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63" name="Text 161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준비상태 충족 시 활성. 저장 후 DB가 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 재검증</a:t>
            </a:r>
            <a:endParaRPr lang="ko-KR" sz="1000" dirty="0"/>
          </a:p>
        </p:txBody>
      </p:sp>
      <p:sp>
        <p:nvSpPr>
          <p:cNvPr id="164" name="Shape 162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67" name="Text 165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[수검자 선택]으로 확정. 전달받은 경우 즉시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(ReadOnly)</a:t>
            </a:r>
            <a:endParaRPr lang="ko-KR" sz="1000" dirty="0"/>
          </a:p>
        </p:txBody>
      </p:sp>
      <p:sp>
        <p:nvSpPr>
          <p:cNvPr id="168" name="Shape 166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71" name="Text 169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과거일·일요일·휴무일은 선택 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(CP-01~03, HOL, RP-04)</a:t>
            </a:r>
            <a:endParaRPr lang="ko-KR" sz="1000" dirty="0"/>
          </a:p>
        </p:txBody>
      </p:sp>
      <p:sp>
        <p:nvSpPr>
          <p:cNvPr id="172" name="Shape 170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9262872" y="312483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75" name="Text 173"/>
          <p:cNvSpPr/>
          <p:nvPr/>
        </p:nvSpPr>
        <p:spPr>
          <a:xfrm>
            <a:off x="9313164" y="317512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20 도달 시 선택 불가. 취소 건은 산정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 (RP-03)</a:t>
            </a:r>
            <a:endParaRPr lang="ko-KR" sz="1000" dirty="0"/>
          </a:p>
        </p:txBody>
      </p:sp>
      <p:sp>
        <p:nvSpPr>
          <p:cNvPr id="176" name="Shape 174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9262872" y="356326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79" name="Text 177"/>
          <p:cNvSpPr/>
          <p:nvPr/>
        </p:nvSpPr>
        <p:spPr>
          <a:xfrm>
            <a:off x="9313164" y="361355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확정 예약일 기준 판정. 비대상이면 저장 불가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(TGT, RP-07)</a:t>
            </a:r>
            <a:endParaRPr lang="ko-KR" sz="1000" dirty="0"/>
          </a:p>
        </p:txBody>
      </p:sp>
      <p:sp>
        <p:nvSpPr>
          <p:cNvPr id="180" name="Shape 178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9262872" y="400169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83" name="Text 181"/>
          <p:cNvSpPr/>
          <p:nvPr/>
        </p:nvSpPr>
        <p:spPr>
          <a:xfrm>
            <a:off x="9313164" y="405198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8종 + 조건부 0~3종 = 8~11행. 사용자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불가 (NEX)</a:t>
            </a:r>
            <a:endParaRPr lang="ko-KR" sz="1000" dirty="0"/>
          </a:p>
        </p:txBody>
      </p:sp>
      <p:sp>
        <p:nvSpPr>
          <p:cNvPr id="184" name="Shape 182"/>
          <p:cNvSpPr/>
          <p:nvPr/>
        </p:nvSpPr>
        <p:spPr>
          <a:xfrm>
            <a:off x="8897112" y="444012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9262872" y="444012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8897112" y="4440123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87" name="Text 185"/>
          <p:cNvSpPr/>
          <p:nvPr/>
        </p:nvSpPr>
        <p:spPr>
          <a:xfrm>
            <a:off x="9313164" y="449041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0개 이상 선택. 성별 불충족·NEX 중복은 비활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 (AEX-02~04)</a:t>
            </a:r>
            <a:endParaRPr lang="ko-KR" sz="1000" dirty="0"/>
          </a:p>
        </p:txBody>
      </p:sp>
      <p:sp>
        <p:nvSpPr>
          <p:cNvPr id="188" name="Shape 186"/>
          <p:cNvSpPr/>
          <p:nvPr/>
        </p:nvSpPr>
        <p:spPr>
          <a:xfrm>
            <a:off x="8897112" y="487855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9262872" y="487855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8897112" y="4878553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1000" dirty="0"/>
          </a:p>
        </p:txBody>
      </p:sp>
      <p:sp>
        <p:nvSpPr>
          <p:cNvPr id="191" name="Text 189"/>
          <p:cNvSpPr/>
          <p:nvPr/>
        </p:nvSpPr>
        <p:spPr>
          <a:xfrm>
            <a:off x="9313164" y="492884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휴무일·운영시간 외에는 업무 Action 전체 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활성 (CP-04)</a:t>
            </a:r>
            <a:endParaRPr lang="ko-KR" sz="1000" dirty="0"/>
          </a:p>
        </p:txBody>
      </p:sp>
      <p:sp>
        <p:nvSpPr>
          <p:cNvPr id="192" name="Shape 190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94" name="Shape 192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5" name="Text 193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96" name="Shape 194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7" name="Text 195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1000" dirty="0"/>
          </a:p>
        </p:txBody>
      </p:sp>
      <p:sp>
        <p:nvSpPr>
          <p:cNvPr id="198" name="Shape 196"/>
          <p:cNvSpPr/>
          <p:nvPr/>
        </p:nvSpPr>
        <p:spPr>
          <a:xfrm>
            <a:off x="384048" y="255117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99" name="Text 197"/>
          <p:cNvSpPr/>
          <p:nvPr/>
        </p:nvSpPr>
        <p:spPr>
          <a:xfrm>
            <a:off x="384048" y="255117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200" name="Shape 198"/>
          <p:cNvSpPr/>
          <p:nvPr/>
        </p:nvSpPr>
        <p:spPr>
          <a:xfrm>
            <a:off x="4846777" y="23134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4846777" y="23134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202" name="Shape 200"/>
          <p:cNvSpPr/>
          <p:nvPr/>
        </p:nvSpPr>
        <p:spPr>
          <a:xfrm>
            <a:off x="4846777" y="27614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3" name="Text 201"/>
          <p:cNvSpPr/>
          <p:nvPr/>
        </p:nvSpPr>
        <p:spPr>
          <a:xfrm>
            <a:off x="4846777" y="27614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204" name="Shape 202"/>
          <p:cNvSpPr/>
          <p:nvPr/>
        </p:nvSpPr>
        <p:spPr>
          <a:xfrm>
            <a:off x="384048" y="337413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5" name="Text 203"/>
          <p:cNvSpPr/>
          <p:nvPr/>
        </p:nvSpPr>
        <p:spPr>
          <a:xfrm>
            <a:off x="384048" y="337413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206" name="Shape 204"/>
          <p:cNvSpPr/>
          <p:nvPr/>
        </p:nvSpPr>
        <p:spPr>
          <a:xfrm>
            <a:off x="384048" y="47594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7" name="Text 205"/>
          <p:cNvSpPr/>
          <p:nvPr/>
        </p:nvSpPr>
        <p:spPr>
          <a:xfrm>
            <a:off x="384048" y="47594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208" name="Shape 206"/>
          <p:cNvSpPr/>
          <p:nvPr/>
        </p:nvSpPr>
        <p:spPr>
          <a:xfrm>
            <a:off x="4946447" y="47594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209" name="Text 207"/>
          <p:cNvSpPr/>
          <p:nvPr/>
        </p:nvSpPr>
        <p:spPr>
          <a:xfrm>
            <a:off x="4946447" y="47594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25400">
            <a:solidFill>
              <a:srgbClr val="1F386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30352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950" dirty="0"/>
          </a:p>
        </p:txBody>
      </p:sp>
      <p:sp>
        <p:nvSpPr>
          <p:cNvPr id="6" name="Shape 4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755648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예약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80944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206240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31536" y="969264"/>
            <a:ext cx="1170432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20624" y="1207008"/>
            <a:ext cx="8439912" cy="53035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1243584"/>
            <a:ext cx="731520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58368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18" name="Shape 16"/>
          <p:cNvSpPr/>
          <p:nvPr/>
        </p:nvSpPr>
        <p:spPr>
          <a:xfrm>
            <a:off x="1490472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Text 17"/>
          <p:cNvSpPr/>
          <p:nvPr/>
        </p:nvSpPr>
        <p:spPr>
          <a:xfrm>
            <a:off x="1591056" y="1243584"/>
            <a:ext cx="4576824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업무</a:t>
            </a:r>
            <a:endParaRPr lang="ko-KR" sz="800" dirty="0"/>
          </a:p>
        </p:txBody>
      </p:sp>
      <p:sp>
        <p:nvSpPr>
          <p:cNvPr id="20" name="Shape 18"/>
          <p:cNvSpPr/>
          <p:nvPr/>
        </p:nvSpPr>
        <p:spPr>
          <a:xfrm>
            <a:off x="1591056" y="1408176"/>
            <a:ext cx="1040636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591056" y="1408176"/>
            <a:ext cx="1040636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</a:t>
            </a:r>
            <a:endParaRPr lang="ko-KR" sz="950" dirty="0"/>
          </a:p>
        </p:txBody>
      </p:sp>
      <p:sp>
        <p:nvSpPr>
          <p:cNvPr id="22" name="Shape 20"/>
          <p:cNvSpPr/>
          <p:nvPr/>
        </p:nvSpPr>
        <p:spPr>
          <a:xfrm>
            <a:off x="2704844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704844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950" dirty="0"/>
          </a:p>
        </p:txBody>
      </p:sp>
      <p:sp>
        <p:nvSpPr>
          <p:cNvPr id="24" name="Shape 22"/>
          <p:cNvSpPr/>
          <p:nvPr/>
        </p:nvSpPr>
        <p:spPr>
          <a:xfrm>
            <a:off x="3534916" y="1408176"/>
            <a:ext cx="7315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534916" y="1408176"/>
            <a:ext cx="7315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950" dirty="0"/>
          </a:p>
        </p:txBody>
      </p:sp>
      <p:sp>
        <p:nvSpPr>
          <p:cNvPr id="26" name="Shape 24"/>
          <p:cNvSpPr/>
          <p:nvPr/>
        </p:nvSpPr>
        <p:spPr>
          <a:xfrm>
            <a:off x="4339588" y="1408176"/>
            <a:ext cx="9982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339588" y="1408176"/>
            <a:ext cx="9982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추가검사변경</a:t>
            </a:r>
            <a:endParaRPr lang="ko-KR" sz="950" dirty="0"/>
          </a:p>
        </p:txBody>
      </p:sp>
      <p:sp>
        <p:nvSpPr>
          <p:cNvPr id="28" name="Shape 26"/>
          <p:cNvSpPr/>
          <p:nvPr/>
        </p:nvSpPr>
        <p:spPr>
          <a:xfrm>
            <a:off x="541096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1096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30" name="Shape 28"/>
          <p:cNvSpPr/>
          <p:nvPr/>
        </p:nvSpPr>
        <p:spPr>
          <a:xfrm>
            <a:off x="6268464" y="1261872"/>
            <a:ext cx="0" cy="420624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1" name="Text 29"/>
          <p:cNvSpPr/>
          <p:nvPr/>
        </p:nvSpPr>
        <p:spPr>
          <a:xfrm>
            <a:off x="6369048" y="1243584"/>
            <a:ext cx="1586992" cy="14630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보기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6369048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369048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950" dirty="0"/>
          </a:p>
        </p:txBody>
      </p:sp>
      <p:sp>
        <p:nvSpPr>
          <p:cNvPr id="34" name="Shape 32"/>
          <p:cNvSpPr/>
          <p:nvPr/>
        </p:nvSpPr>
        <p:spPr>
          <a:xfrm>
            <a:off x="7199120" y="1408176"/>
            <a:ext cx="756920" cy="274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199120" y="1408176"/>
            <a:ext cx="75692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950" dirty="0"/>
          </a:p>
        </p:txBody>
      </p:sp>
      <p:sp>
        <p:nvSpPr>
          <p:cNvPr id="36" name="Shape 34"/>
          <p:cNvSpPr/>
          <p:nvPr/>
        </p:nvSpPr>
        <p:spPr>
          <a:xfrm>
            <a:off x="420624" y="1737360"/>
            <a:ext cx="8439912" cy="237744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30352" y="1755648"/>
            <a:ext cx="1188720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관리  ×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6062472"/>
            <a:ext cx="8439912" cy="219456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58368" y="6062472"/>
            <a:ext cx="45720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상태 :  업무 가능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530352" y="2029968"/>
            <a:ext cx="8220456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03504" y="2057400"/>
            <a:ext cx="807415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530352" y="2240280"/>
            <a:ext cx="822045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4" name="Shape 42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7891272" y="2276856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46" name="Text 44"/>
          <p:cNvSpPr/>
          <p:nvPr/>
        </p:nvSpPr>
        <p:spPr>
          <a:xfrm>
            <a:off x="621792" y="2276856"/>
            <a:ext cx="731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1353312" y="2276856"/>
            <a:ext cx="8686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368296" y="2276856"/>
            <a:ext cx="12801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2496312" y="2276856"/>
            <a:ext cx="86868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511296" y="2276856"/>
            <a:ext cx="40233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3913632" y="2276856"/>
            <a:ext cx="804672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913632" y="2276856"/>
            <a:ext cx="80467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ko-KR" sz="900" dirty="0"/>
          </a:p>
        </p:txBody>
      </p:sp>
      <p:sp>
        <p:nvSpPr>
          <p:cNvPr id="53" name="Text 51"/>
          <p:cNvSpPr/>
          <p:nvPr/>
        </p:nvSpPr>
        <p:spPr>
          <a:xfrm>
            <a:off x="4864608" y="2276856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800" dirty="0"/>
          </a:p>
        </p:txBody>
      </p:sp>
      <p:sp>
        <p:nvSpPr>
          <p:cNvPr id="54" name="Shape 52"/>
          <p:cNvSpPr/>
          <p:nvPr/>
        </p:nvSpPr>
        <p:spPr>
          <a:xfrm>
            <a:off x="5486400" y="2276856"/>
            <a:ext cx="9144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6547104" y="2276856"/>
            <a:ext cx="4572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800" dirty="0"/>
          </a:p>
        </p:txBody>
      </p:sp>
      <p:sp>
        <p:nvSpPr>
          <p:cNvPr id="56" name="Shape 54"/>
          <p:cNvSpPr/>
          <p:nvPr/>
        </p:nvSpPr>
        <p:spPr>
          <a:xfrm>
            <a:off x="7004304" y="2276856"/>
            <a:ext cx="731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530352" y="2651760"/>
            <a:ext cx="4877410" cy="33741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03504" y="2679192"/>
            <a:ext cx="473110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업무내역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530352" y="2862072"/>
            <a:ext cx="487741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60" name="Shape 58"/>
          <p:cNvSpPr/>
          <p:nvPr/>
        </p:nvSpPr>
        <p:spPr>
          <a:xfrm>
            <a:off x="621792" y="2898648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621792" y="2898648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1719072" y="2898648"/>
            <a:ext cx="6858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1719072" y="2898648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2404872" y="2898648"/>
            <a:ext cx="8229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2404872" y="2898648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3227832" y="2898648"/>
            <a:ext cx="7772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227832" y="2898648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4005072" y="2898648"/>
            <a:ext cx="131125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005072" y="2898648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621792" y="3076956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621792" y="307695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1719072" y="3076956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719072" y="3076956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2404872" y="3076956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2404872" y="3076956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3227832" y="3076956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227832" y="3076956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수검자1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4005072" y="3076956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005072" y="3076956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2026-000121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621792" y="325526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621792" y="325526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1719072" y="3255264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1719072" y="3255264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2404872" y="3255264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404872" y="3255264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3227832" y="3255264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3227832" y="3255264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홍길동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4005072" y="3255264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005072" y="3255264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21792" y="343357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621792" y="343357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</a:t>
            </a:r>
            <a:endParaRPr lang="ko-KR" sz="900" dirty="0"/>
          </a:p>
        </p:txBody>
      </p:sp>
      <p:sp>
        <p:nvSpPr>
          <p:cNvPr id="92" name="Shape 90"/>
          <p:cNvSpPr/>
          <p:nvPr/>
        </p:nvSpPr>
        <p:spPr>
          <a:xfrm>
            <a:off x="1719072" y="3433572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719072" y="3433572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</a:t>
            </a:r>
            <a:endParaRPr lang="ko-KR" sz="900" dirty="0"/>
          </a:p>
        </p:txBody>
      </p:sp>
      <p:sp>
        <p:nvSpPr>
          <p:cNvPr id="94" name="Shape 92"/>
          <p:cNvSpPr/>
          <p:nvPr/>
        </p:nvSpPr>
        <p:spPr>
          <a:xfrm>
            <a:off x="2404872" y="3433572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404872" y="3433572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00" dirty="0"/>
          </a:p>
        </p:txBody>
      </p:sp>
      <p:sp>
        <p:nvSpPr>
          <p:cNvPr id="96" name="Shape 94"/>
          <p:cNvSpPr/>
          <p:nvPr/>
        </p:nvSpPr>
        <p:spPr>
          <a:xfrm>
            <a:off x="3227832" y="3433572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3227832" y="3433572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수검자4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4005072" y="3433572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005072" y="3433572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2026-000124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621792" y="361188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21792" y="361188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2026-09-16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1719072" y="3611880"/>
            <a:ext cx="6858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1719072" y="3611880"/>
            <a:ext cx="68580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</a:t>
            </a:r>
            <a:endParaRPr lang="ko-KR" sz="900" dirty="0"/>
          </a:p>
        </p:txBody>
      </p:sp>
      <p:sp>
        <p:nvSpPr>
          <p:cNvPr id="104" name="Shape 102"/>
          <p:cNvSpPr/>
          <p:nvPr/>
        </p:nvSpPr>
        <p:spPr>
          <a:xfrm>
            <a:off x="2404872" y="3611880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2404872" y="3611880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</a:t>
            </a:r>
            <a:endParaRPr lang="ko-KR" sz="900" dirty="0"/>
          </a:p>
        </p:txBody>
      </p:sp>
      <p:sp>
        <p:nvSpPr>
          <p:cNvPr id="106" name="Shape 104"/>
          <p:cNvSpPr/>
          <p:nvPr/>
        </p:nvSpPr>
        <p:spPr>
          <a:xfrm>
            <a:off x="3227832" y="3611880"/>
            <a:ext cx="7772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3227832" y="3611880"/>
            <a:ext cx="7772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수검자2</a:t>
            </a:r>
            <a:endParaRPr lang="ko-KR" sz="900" dirty="0"/>
          </a:p>
        </p:txBody>
      </p:sp>
      <p:sp>
        <p:nvSpPr>
          <p:cNvPr id="108" name="Shape 106"/>
          <p:cNvSpPr/>
          <p:nvPr/>
        </p:nvSpPr>
        <p:spPr>
          <a:xfrm>
            <a:off x="4005072" y="3611880"/>
            <a:ext cx="131125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005072" y="3611880"/>
            <a:ext cx="131125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2026-000122</a:t>
            </a:r>
            <a:endParaRPr lang="ko-KR" sz="900" dirty="0"/>
          </a:p>
        </p:txBody>
      </p:sp>
      <p:sp>
        <p:nvSpPr>
          <p:cNvPr id="110" name="Shape 108"/>
          <p:cNvSpPr/>
          <p:nvPr/>
        </p:nvSpPr>
        <p:spPr>
          <a:xfrm>
            <a:off x="621792" y="3255264"/>
            <a:ext cx="4694530" cy="17830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499202" y="2651760"/>
            <a:ext cx="3251606" cy="337413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5572354" y="2679192"/>
            <a:ext cx="31053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상세 · ReadOnly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5499202" y="2862072"/>
            <a:ext cx="32516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14" name="Text 112"/>
          <p:cNvSpPr/>
          <p:nvPr/>
        </p:nvSpPr>
        <p:spPr>
          <a:xfrm>
            <a:off x="5590642" y="2898648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수검자 ]</a:t>
            </a:r>
            <a:endParaRPr lang="ko-KR" sz="800" dirty="0"/>
          </a:p>
        </p:txBody>
      </p:sp>
      <p:sp>
        <p:nvSpPr>
          <p:cNvPr id="115" name="Text 113"/>
          <p:cNvSpPr/>
          <p:nvPr/>
        </p:nvSpPr>
        <p:spPr>
          <a:xfrm>
            <a:off x="5590642" y="30815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16" name="Shape 114"/>
          <p:cNvSpPr/>
          <p:nvPr/>
        </p:nvSpPr>
        <p:spPr>
          <a:xfrm>
            <a:off x="6596482" y="3081528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6596482" y="3081528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18" name="Text 116"/>
          <p:cNvSpPr/>
          <p:nvPr/>
        </p:nvSpPr>
        <p:spPr>
          <a:xfrm>
            <a:off x="5590642" y="3319272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6596482" y="3319272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6596482" y="3319272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121" name="Text 119"/>
          <p:cNvSpPr/>
          <p:nvPr/>
        </p:nvSpPr>
        <p:spPr>
          <a:xfrm>
            <a:off x="5590642" y="3557016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예약 ]</a:t>
            </a:r>
            <a:endParaRPr lang="ko-KR" sz="800" dirty="0"/>
          </a:p>
        </p:txBody>
      </p:sp>
      <p:sp>
        <p:nvSpPr>
          <p:cNvPr id="122" name="Text 120"/>
          <p:cNvSpPr/>
          <p:nvPr/>
        </p:nvSpPr>
        <p:spPr>
          <a:xfrm>
            <a:off x="5590642" y="3739896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6596482" y="3739896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6596482" y="3739896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/  오전</a:t>
            </a:r>
            <a:endParaRPr lang="ko-KR" sz="900" dirty="0"/>
          </a:p>
        </p:txBody>
      </p:sp>
      <p:sp>
        <p:nvSpPr>
          <p:cNvPr id="125" name="Text 123"/>
          <p:cNvSpPr/>
          <p:nvPr/>
        </p:nvSpPr>
        <p:spPr>
          <a:xfrm>
            <a:off x="5590642" y="3977640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정원 / 상태</a:t>
            </a:r>
            <a:endParaRPr lang="ko-KR" sz="800" dirty="0"/>
          </a:p>
        </p:txBody>
      </p:sp>
      <p:sp>
        <p:nvSpPr>
          <p:cNvPr id="126" name="Shape 124"/>
          <p:cNvSpPr/>
          <p:nvPr/>
        </p:nvSpPr>
        <p:spPr>
          <a:xfrm>
            <a:off x="6596482" y="3977640"/>
            <a:ext cx="20628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6596482" y="3977640"/>
            <a:ext cx="20628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 / 20     ·     접수완료</a:t>
            </a:r>
            <a:endParaRPr lang="ko-KR" sz="900" dirty="0"/>
          </a:p>
        </p:txBody>
      </p:sp>
      <p:sp>
        <p:nvSpPr>
          <p:cNvPr id="128" name="Text 126"/>
          <p:cNvSpPr/>
          <p:nvPr/>
        </p:nvSpPr>
        <p:spPr>
          <a:xfrm>
            <a:off x="5590642" y="4215384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NEX  ·  실제 저장 구성 ]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5590642" y="4398264"/>
            <a:ext cx="3068726" cy="566928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663794" y="4416552"/>
            <a:ext cx="2922422" cy="530352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 · 신체계측 · 혈압 · 시력·청력 · 흉부 X-ray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 · 혈액검사 · 구강검진 · 이상지질혈증</a:t>
            </a:r>
            <a:endParaRPr lang="ko-KR" sz="8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        (10종)</a:t>
            </a:r>
            <a:endParaRPr lang="ko-KR" sz="800" dirty="0"/>
          </a:p>
        </p:txBody>
      </p:sp>
      <p:sp>
        <p:nvSpPr>
          <p:cNvPr id="131" name="Text 129"/>
          <p:cNvSpPr/>
          <p:nvPr/>
        </p:nvSpPr>
        <p:spPr>
          <a:xfrm>
            <a:off x="5590642" y="5001768"/>
            <a:ext cx="306872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 AEX  ·  실제 저장 구성 ]</a:t>
            </a:r>
            <a:endParaRPr lang="ko-KR" sz="800" dirty="0"/>
          </a:p>
        </p:txBody>
      </p:sp>
      <p:sp>
        <p:nvSpPr>
          <p:cNvPr id="132" name="Shape 130"/>
          <p:cNvSpPr/>
          <p:nvPr/>
        </p:nvSpPr>
        <p:spPr>
          <a:xfrm>
            <a:off x="5590642" y="5184648"/>
            <a:ext cx="3068726" cy="749808"/>
          </a:xfrm>
          <a:prstGeom prst="rect">
            <a:avLst/>
          </a:prstGeom>
          <a:solidFill>
            <a:srgbClr val="F2F2F2"/>
          </a:solidFill>
          <a:ln w="12700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5663794" y="5202936"/>
            <a:ext cx="292242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        (1종)</a:t>
            </a:r>
            <a:endParaRPr lang="ko-KR" sz="800" dirty="0"/>
          </a:p>
        </p:txBody>
      </p:sp>
      <p:sp>
        <p:nvSpPr>
          <p:cNvPr id="134" name="Text 132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· 접수 공통 Workbench</a:t>
            </a:r>
            <a:endParaRPr lang="ko-KR" sz="3000" dirty="0"/>
          </a:p>
        </p:txBody>
      </p:sp>
      <p:sp>
        <p:nvSpPr>
          <p:cNvPr id="135" name="Shape 133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WF-WRK-01  예약/접수 공통 Workbench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Tab · P02-05, P03-04 · F-COM-001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41" name="Text 139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[예약 관리]·[접수 관리]가 같은 Tab을 Context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만 바꿔 공유한다</a:t>
            </a:r>
            <a:endParaRPr lang="ko-KR" sz="1000" dirty="0"/>
          </a:p>
        </p:txBody>
      </p:sp>
      <p:sp>
        <p:nvSpPr>
          <p:cNvPr id="142" name="Shape 140"/>
          <p:cNvSpPr/>
          <p:nvPr/>
        </p:nvSpPr>
        <p:spPr>
          <a:xfrm>
            <a:off x="8897112" y="180954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262872" y="180954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8897112" y="180954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5" name="Text 143"/>
          <p:cNvSpPr/>
          <p:nvPr/>
        </p:nvSpPr>
        <p:spPr>
          <a:xfrm>
            <a:off x="9313164" y="185983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Tab Caption과 같은 접수 Context 구성이다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083867"/>
            <a:ext cx="365760" cy="1283043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083867"/>
            <a:ext cx="2697480" cy="1283043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313164" y="2134159"/>
            <a:ext cx="2596896" cy="118245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Context는 [현장 당일예약]·[추가검사변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경]·[접수취소] 없이 [예약취소]가 대신 있다. [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변경이력]은 두 Context 공통이며 조회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Action이라 공통 업무불가에도 열린다. 상태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별 활성/비활성은 부록 D 참조. 접수 Context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미선택 상태에서 활성인 것은 [조회]·[컬럼설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정]·[현장 당일예약]뿐이다.</a:t>
            </a:r>
            <a:endParaRPr lang="ko-KR" sz="1000" dirty="0"/>
          </a:p>
        </p:txBody>
      </p:sp>
      <p:sp>
        <p:nvSpPr>
          <p:cNvPr id="149" name="Shape 147"/>
          <p:cNvSpPr/>
          <p:nvPr/>
        </p:nvSpPr>
        <p:spPr>
          <a:xfrm>
            <a:off x="8897112" y="3366910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9262872" y="3366910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8897112" y="3366910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2" name="Text 150"/>
          <p:cNvSpPr/>
          <p:nvPr/>
        </p:nvSpPr>
        <p:spPr>
          <a:xfrm>
            <a:off x="9313164" y="3417202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1개 실질 조건 필요. 상태 `전체`만은 조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건으로 보지 않는다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8897112" y="380533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9262872" y="380533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8897112" y="380533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56" name="Text 154"/>
          <p:cNvSpPr/>
          <p:nvPr/>
        </p:nvSpPr>
        <p:spPr>
          <a:xfrm>
            <a:off x="9313164" y="385563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날짜는 양끝 포함. From&gt;To는 Inline 오류. 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간대는 조회조건 제외</a:t>
            </a:r>
            <a:endParaRPr lang="ko-KR" sz="1000" dirty="0"/>
          </a:p>
        </p:txBody>
      </p:sp>
      <p:sp>
        <p:nvSpPr>
          <p:cNvPr id="157" name="Shape 155"/>
          <p:cNvSpPr/>
          <p:nvPr/>
        </p:nvSpPr>
        <p:spPr>
          <a:xfrm>
            <a:off x="8897112" y="424376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9262872" y="424376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8897112" y="4243769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60" name="Text 158"/>
          <p:cNvSpPr/>
          <p:nvPr/>
        </p:nvSpPr>
        <p:spPr>
          <a:xfrm>
            <a:off x="9313164" y="429406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단일 행 선택. 재조회 시 선택·상세·Action을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모두 초기화</a:t>
            </a:r>
            <a:endParaRPr lang="ko-KR" sz="1000" dirty="0"/>
          </a:p>
        </p:txBody>
      </p:sp>
      <p:sp>
        <p:nvSpPr>
          <p:cNvPr id="161" name="Shape 159"/>
          <p:cNvSpPr/>
          <p:nvPr/>
        </p:nvSpPr>
        <p:spPr>
          <a:xfrm>
            <a:off x="8897112" y="468219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9262872" y="468219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8897112" y="4682198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64" name="Text 162"/>
          <p:cNvSpPr/>
          <p:nvPr/>
        </p:nvSpPr>
        <p:spPr>
          <a:xfrm>
            <a:off x="9313164" y="473249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정원은 현재 조회값이며 저장 Snapshot 컬럼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아니다</a:t>
            </a:r>
            <a:endParaRPr lang="ko-KR" sz="1000" dirty="0"/>
          </a:p>
        </p:txBody>
      </p:sp>
      <p:sp>
        <p:nvSpPr>
          <p:cNvPr id="165" name="Shape 163"/>
          <p:cNvSpPr/>
          <p:nvPr/>
        </p:nvSpPr>
        <p:spPr>
          <a:xfrm>
            <a:off x="8897112" y="512062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9262872" y="512062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8897112" y="512062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8" name="Text 166"/>
          <p:cNvSpPr/>
          <p:nvPr/>
        </p:nvSpPr>
        <p:spPr>
          <a:xfrm>
            <a:off x="9313164" y="517091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NEX/AEX는 실제 저장된 구성. 이 화면에서는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1000" dirty="0"/>
          </a:p>
        </p:txBody>
      </p:sp>
      <p:sp>
        <p:nvSpPr>
          <p:cNvPr id="169" name="Shape 167"/>
          <p:cNvSpPr/>
          <p:nvPr/>
        </p:nvSpPr>
        <p:spPr>
          <a:xfrm>
            <a:off x="8897112" y="555905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9262872" y="555905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8897112" y="555905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72" name="Text 170"/>
          <p:cNvSpPr/>
          <p:nvPr/>
        </p:nvSpPr>
        <p:spPr>
          <a:xfrm>
            <a:off x="9313164" y="560934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WorkId·PatientId·주민등록번호는 이 Grid에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노출하지 않는다</a:t>
            </a:r>
            <a:endParaRPr lang="ko-KR" sz="1000" dirty="0"/>
          </a:p>
        </p:txBody>
      </p:sp>
      <p:sp>
        <p:nvSpPr>
          <p:cNvPr id="173" name="Shape 171"/>
          <p:cNvSpPr/>
          <p:nvPr/>
        </p:nvSpPr>
        <p:spPr>
          <a:xfrm>
            <a:off x="384048" y="9601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384048" y="9601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75" name="Shape 173"/>
          <p:cNvSpPr/>
          <p:nvPr/>
        </p:nvSpPr>
        <p:spPr>
          <a:xfrm>
            <a:off x="512064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512064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77" name="Shape 175"/>
          <p:cNvSpPr/>
          <p:nvPr/>
        </p:nvSpPr>
        <p:spPr>
          <a:xfrm>
            <a:off x="274320" y="606247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274320" y="606247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1000" dirty="0"/>
          </a:p>
        </p:txBody>
      </p:sp>
      <p:sp>
        <p:nvSpPr>
          <p:cNvPr id="179" name="Shape 177"/>
          <p:cNvSpPr/>
          <p:nvPr/>
        </p:nvSpPr>
        <p:spPr>
          <a:xfrm>
            <a:off x="384048" y="22037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0" name="Text 178"/>
          <p:cNvSpPr/>
          <p:nvPr/>
        </p:nvSpPr>
        <p:spPr>
          <a:xfrm>
            <a:off x="384048" y="22037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81" name="Shape 179"/>
          <p:cNvSpPr/>
          <p:nvPr/>
        </p:nvSpPr>
        <p:spPr>
          <a:xfrm>
            <a:off x="384048" y="422910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2" name="Text 180"/>
          <p:cNvSpPr/>
          <p:nvPr/>
        </p:nvSpPr>
        <p:spPr>
          <a:xfrm>
            <a:off x="384048" y="422910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83" name="Shape 181"/>
          <p:cNvSpPr/>
          <p:nvPr/>
        </p:nvSpPr>
        <p:spPr>
          <a:xfrm>
            <a:off x="5352898" y="281635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5352898" y="281635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85" name="Shape 183"/>
          <p:cNvSpPr/>
          <p:nvPr/>
        </p:nvSpPr>
        <p:spPr>
          <a:xfrm>
            <a:off x="6450178" y="397764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6" name="Text 184"/>
          <p:cNvSpPr/>
          <p:nvPr/>
        </p:nvSpPr>
        <p:spPr>
          <a:xfrm>
            <a:off x="6450178" y="397764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87" name="Shape 185"/>
          <p:cNvSpPr/>
          <p:nvPr/>
        </p:nvSpPr>
        <p:spPr>
          <a:xfrm>
            <a:off x="5444338" y="457200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88" name="Text 186"/>
          <p:cNvSpPr/>
          <p:nvPr/>
        </p:nvSpPr>
        <p:spPr>
          <a:xfrm>
            <a:off x="5444338" y="457200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예약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184148"/>
            <a:ext cx="7863840" cy="48463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0469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0469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6464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6464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6464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6464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421892"/>
            <a:ext cx="3141513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449324"/>
            <a:ext cx="2995209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632204"/>
            <a:ext cx="3141513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68706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687068"/>
            <a:ext cx="1952793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687068"/>
            <a:ext cx="1952793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196138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1961388"/>
            <a:ext cx="1952793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1961388"/>
            <a:ext cx="1952793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087917" y="1421892"/>
            <a:ext cx="4338279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161069" y="1449324"/>
            <a:ext cx="4191975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· 시간대 · Editable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087917" y="1632204"/>
            <a:ext cx="4338279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179357" y="168706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4801149" y="1687068"/>
            <a:ext cx="137160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01149" y="1687068"/>
            <a:ext cx="137160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2026-09-22 (화)</a:t>
            </a:r>
            <a:endParaRPr lang="ko-KR" sz="900" dirty="0"/>
          </a:p>
        </p:txBody>
      </p:sp>
      <p:sp>
        <p:nvSpPr>
          <p:cNvPr id="27" name="Shape 25"/>
          <p:cNvSpPr/>
          <p:nvPr/>
        </p:nvSpPr>
        <p:spPr>
          <a:xfrm>
            <a:off x="6191037" y="1687068"/>
            <a:ext cx="237744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91037" y="1687068"/>
            <a:ext cx="23774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▦</a:t>
            </a:r>
            <a:endParaRPr lang="ko-KR" sz="800" dirty="0"/>
          </a:p>
        </p:txBody>
      </p:sp>
      <p:sp>
        <p:nvSpPr>
          <p:cNvPr id="29" name="Text 27"/>
          <p:cNvSpPr/>
          <p:nvPr/>
        </p:nvSpPr>
        <p:spPr>
          <a:xfrm>
            <a:off x="4179357" y="1961388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</a:t>
            </a:r>
            <a:endParaRPr lang="ko-KR" sz="800" dirty="0"/>
          </a:p>
        </p:txBody>
      </p:sp>
      <p:sp>
        <p:nvSpPr>
          <p:cNvPr id="30" name="Shape 28"/>
          <p:cNvSpPr/>
          <p:nvPr/>
        </p:nvSpPr>
        <p:spPr>
          <a:xfrm>
            <a:off x="4801149" y="1961388"/>
            <a:ext cx="8229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01149" y="1961388"/>
            <a:ext cx="822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◉  오전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5660685" y="1961388"/>
            <a:ext cx="8229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60685" y="1961388"/>
            <a:ext cx="8229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○  오후</a:t>
            </a:r>
            <a:endParaRPr lang="ko-KR" sz="900" dirty="0"/>
          </a:p>
        </p:txBody>
      </p:sp>
      <p:sp>
        <p:nvSpPr>
          <p:cNvPr id="34" name="Text 32"/>
          <p:cNvSpPr/>
          <p:nvPr/>
        </p:nvSpPr>
        <p:spPr>
          <a:xfrm>
            <a:off x="6556797" y="1961388"/>
            <a:ext cx="14630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 / 20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854964" y="2409444"/>
            <a:ext cx="757123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82980" y="2409444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대상판정 :   대상 — 최근 완료연도 2024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854964" y="2720340"/>
            <a:ext cx="3889492" cy="279806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28116" y="2747772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854964" y="2930652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0" name="Shape 38"/>
          <p:cNvSpPr/>
          <p:nvPr/>
        </p:nvSpPr>
        <p:spPr>
          <a:xfrm>
            <a:off x="946404" y="2967228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001268" y="29672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3692896" y="2967228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692896" y="29672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946404" y="31455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01268" y="31455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3692896" y="31455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692896" y="31455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8" name="Shape 46"/>
          <p:cNvSpPr/>
          <p:nvPr/>
        </p:nvSpPr>
        <p:spPr>
          <a:xfrm>
            <a:off x="946404" y="33238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1001268" y="33238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50" name="Shape 48"/>
          <p:cNvSpPr/>
          <p:nvPr/>
        </p:nvSpPr>
        <p:spPr>
          <a:xfrm>
            <a:off x="3692896" y="33238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3692896" y="33238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2" name="Shape 50"/>
          <p:cNvSpPr/>
          <p:nvPr/>
        </p:nvSpPr>
        <p:spPr>
          <a:xfrm>
            <a:off x="946404" y="35021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1001268" y="35021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54" name="Shape 52"/>
          <p:cNvSpPr/>
          <p:nvPr/>
        </p:nvSpPr>
        <p:spPr>
          <a:xfrm>
            <a:off x="3692896" y="35021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3692896" y="35021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946404" y="368046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01268" y="368046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692896" y="368046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692896" y="368046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946404" y="385876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001268" y="385876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3692896" y="385876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3692896" y="385876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946404" y="403707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1001268" y="403707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3692896" y="403707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3692896" y="403707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946404" y="421538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1001268" y="421538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3692896" y="421538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692896" y="421538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946404" y="439369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1001268" y="439369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74" name="Shape 72"/>
          <p:cNvSpPr/>
          <p:nvPr/>
        </p:nvSpPr>
        <p:spPr>
          <a:xfrm>
            <a:off x="3692896" y="439369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3692896" y="439369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76" name="Shape 74"/>
          <p:cNvSpPr/>
          <p:nvPr/>
        </p:nvSpPr>
        <p:spPr>
          <a:xfrm>
            <a:off x="946404" y="457200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1001268" y="457200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8" name="Shape 76"/>
          <p:cNvSpPr/>
          <p:nvPr/>
        </p:nvSpPr>
        <p:spPr>
          <a:xfrm>
            <a:off x="3692896" y="457200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3692896" y="457200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80" name="Shape 78"/>
          <p:cNvSpPr/>
          <p:nvPr/>
        </p:nvSpPr>
        <p:spPr>
          <a:xfrm>
            <a:off x="946404" y="475030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1001268" y="475030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3692896" y="475030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692896" y="475030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4835896" y="2720340"/>
            <a:ext cx="3590300" cy="279806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09048" y="2747772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Editable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4835896" y="2930652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7" name="Shape 85"/>
          <p:cNvSpPr/>
          <p:nvPr/>
        </p:nvSpPr>
        <p:spPr>
          <a:xfrm>
            <a:off x="4927336" y="2967228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927336" y="296722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9" name="Shape 87"/>
          <p:cNvSpPr/>
          <p:nvPr/>
        </p:nvSpPr>
        <p:spPr>
          <a:xfrm>
            <a:off x="5329672" y="2967228"/>
            <a:ext cx="10058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384536" y="296722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91" name="Shape 89"/>
          <p:cNvSpPr/>
          <p:nvPr/>
        </p:nvSpPr>
        <p:spPr>
          <a:xfrm>
            <a:off x="6335512" y="2967228"/>
            <a:ext cx="199924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6390376" y="2967228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4927336" y="314553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927336" y="314553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5329672" y="314553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5384536" y="314553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97" name="Shape 95"/>
          <p:cNvSpPr/>
          <p:nvPr/>
        </p:nvSpPr>
        <p:spPr>
          <a:xfrm>
            <a:off x="6335512" y="314553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4927336" y="332384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927336" y="332384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5329672" y="332384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384536" y="332384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102" name="Shape 100"/>
          <p:cNvSpPr/>
          <p:nvPr/>
        </p:nvSpPr>
        <p:spPr>
          <a:xfrm>
            <a:off x="6335512" y="332384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4927336" y="350215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4927336" y="350215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5329672" y="3502152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384536" y="350215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07" name="Shape 105"/>
          <p:cNvSpPr/>
          <p:nvPr/>
        </p:nvSpPr>
        <p:spPr>
          <a:xfrm>
            <a:off x="6335512" y="3502152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4927336" y="368046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927336" y="368046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10" name="Shape 108"/>
          <p:cNvSpPr/>
          <p:nvPr/>
        </p:nvSpPr>
        <p:spPr>
          <a:xfrm>
            <a:off x="5329672" y="368046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5384536" y="368046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12" name="Shape 110"/>
          <p:cNvSpPr/>
          <p:nvPr/>
        </p:nvSpPr>
        <p:spPr>
          <a:xfrm>
            <a:off x="6335512" y="368046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6390376" y="3680460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14" name="Shape 112"/>
          <p:cNvSpPr/>
          <p:nvPr/>
        </p:nvSpPr>
        <p:spPr>
          <a:xfrm>
            <a:off x="4927336" y="385876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4927336" y="385876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16" name="Shape 114"/>
          <p:cNvSpPr/>
          <p:nvPr/>
        </p:nvSpPr>
        <p:spPr>
          <a:xfrm>
            <a:off x="5329672" y="385876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5384536" y="385876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18" name="Shape 116"/>
          <p:cNvSpPr/>
          <p:nvPr/>
        </p:nvSpPr>
        <p:spPr>
          <a:xfrm>
            <a:off x="6335512" y="385876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6390376" y="3858768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20" name="Shape 118"/>
          <p:cNvSpPr/>
          <p:nvPr/>
        </p:nvSpPr>
        <p:spPr>
          <a:xfrm>
            <a:off x="4927336" y="403707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927336" y="403707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5329672" y="403707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5384536" y="403707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24" name="Shape 122"/>
          <p:cNvSpPr/>
          <p:nvPr/>
        </p:nvSpPr>
        <p:spPr>
          <a:xfrm>
            <a:off x="6335512" y="403707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4927336" y="421538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927336" y="421538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7" name="Shape 125"/>
          <p:cNvSpPr/>
          <p:nvPr/>
        </p:nvSpPr>
        <p:spPr>
          <a:xfrm>
            <a:off x="5329672" y="421538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5384536" y="421538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29" name="Shape 127"/>
          <p:cNvSpPr/>
          <p:nvPr/>
        </p:nvSpPr>
        <p:spPr>
          <a:xfrm>
            <a:off x="6335512" y="421538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변경</a:t>
            </a:r>
            <a:endParaRPr lang="ko-KR" sz="3000" dirty="0"/>
          </a:p>
        </p:txBody>
      </p:sp>
      <p:sp>
        <p:nvSpPr>
          <p:cNvPr id="131" name="Shape 129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DLG-RSV-01  예약 변경 · Modal · P02-06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F-RSV-002</a:t>
            </a:r>
            <a:endParaRPr lang="ko-KR" sz="1000" dirty="0"/>
          </a:p>
        </p:txBody>
      </p:sp>
      <p:sp>
        <p:nvSpPr>
          <p:cNvPr id="134" name="Shape 132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7" name="Text 135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상태에서만 진입한다. 수검자는 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경할 수 없다 (RP-09)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41" name="Text 139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→ 일정 → TGT → NEX → AEX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순으로 전부 재평가</a:t>
            </a:r>
            <a:endParaRPr lang="ko-KR" sz="1000" dirty="0"/>
          </a:p>
        </p:txBody>
      </p:sp>
      <p:sp>
        <p:nvSpPr>
          <p:cNvPr id="142" name="Shape 140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45" name="Text 143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 → 일정·마감·정원만 재평가.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TGT/NEX/AEX는 유지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49" name="Text 147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 후 비대상이면 저장하지 않고 기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존 예약을 유지한다</a:t>
            </a:r>
            <a:endParaRPr lang="ko-KR" sz="1000" dirty="0"/>
          </a:p>
        </p:txBody>
      </p:sp>
      <p:sp>
        <p:nvSpPr>
          <p:cNvPr id="150" name="Shape 148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9262872" y="312483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8897112" y="3124835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53" name="Text 151"/>
          <p:cNvSpPr/>
          <p:nvPr/>
        </p:nvSpPr>
        <p:spPr>
          <a:xfrm>
            <a:off x="9313164" y="317512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예약일이 바뀌면 자동 재구성된다. 사용자 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 불가 (NEX-07)</a:t>
            </a:r>
            <a:endParaRPr lang="ko-KR" sz="1000" dirty="0"/>
          </a:p>
        </p:txBody>
      </p:sp>
      <p:sp>
        <p:nvSpPr>
          <p:cNvPr id="154" name="Shape 152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9262872" y="356326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8897112" y="356326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57" name="Text 155"/>
          <p:cNvSpPr/>
          <p:nvPr/>
        </p:nvSpPr>
        <p:spPr>
          <a:xfrm>
            <a:off x="9313164" y="361355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AEX만 변경해도 Work의 RowVersion이 갱신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된다</a:t>
            </a:r>
            <a:endParaRPr lang="ko-KR" sz="1000" dirty="0"/>
          </a:p>
        </p:txBody>
      </p:sp>
      <p:sp>
        <p:nvSpPr>
          <p:cNvPr id="158" name="Shape 156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9262872" y="400169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8897112" y="4001694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  <p:sp>
        <p:nvSpPr>
          <p:cNvPr id="161" name="Text 159"/>
          <p:cNvSpPr/>
          <p:nvPr/>
        </p:nvSpPr>
        <p:spPr>
          <a:xfrm>
            <a:off x="9313164" y="405198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보관했다가 저장 시 함께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전달한다</a:t>
            </a:r>
            <a:endParaRPr lang="ko-KR" sz="1000" dirty="0"/>
          </a:p>
        </p:txBody>
      </p:sp>
      <p:sp>
        <p:nvSpPr>
          <p:cNvPr id="162" name="Shape 160"/>
          <p:cNvSpPr/>
          <p:nvPr/>
        </p:nvSpPr>
        <p:spPr>
          <a:xfrm>
            <a:off x="8897112" y="4440123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9262872" y="4440123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9313164" y="4490415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일정·중복 검증에서 현재 WorkId 자체는 제외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하고 다른 RSV/RCP 업무만 충돌로 판단한다.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변경이 없으면 No-op으로 처리한다.</a:t>
            </a:r>
            <a:endParaRPr lang="ko-KR" sz="1000" dirty="0"/>
          </a:p>
        </p:txBody>
      </p:sp>
      <p:sp>
        <p:nvSpPr>
          <p:cNvPr id="165" name="Shape 163"/>
          <p:cNvSpPr/>
          <p:nvPr/>
        </p:nvSpPr>
        <p:spPr>
          <a:xfrm>
            <a:off x="708660" y="17785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708660" y="17785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67" name="Shape 165"/>
          <p:cNvSpPr/>
          <p:nvPr/>
        </p:nvSpPr>
        <p:spPr>
          <a:xfrm>
            <a:off x="4654845" y="16870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4654845" y="16870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69" name="Shape 167"/>
          <p:cNvSpPr/>
          <p:nvPr/>
        </p:nvSpPr>
        <p:spPr>
          <a:xfrm>
            <a:off x="4654845" y="19613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4654845" y="19613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71" name="Shape 169"/>
          <p:cNvSpPr/>
          <p:nvPr/>
        </p:nvSpPr>
        <p:spPr>
          <a:xfrm>
            <a:off x="708660" y="242773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2" name="Text 170"/>
          <p:cNvSpPr/>
          <p:nvPr/>
        </p:nvSpPr>
        <p:spPr>
          <a:xfrm>
            <a:off x="708660" y="242773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73" name="Shape 171"/>
          <p:cNvSpPr/>
          <p:nvPr/>
        </p:nvSpPr>
        <p:spPr>
          <a:xfrm>
            <a:off x="708660" y="40096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4" name="Text 172"/>
          <p:cNvSpPr/>
          <p:nvPr/>
        </p:nvSpPr>
        <p:spPr>
          <a:xfrm>
            <a:off x="708660" y="40096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75" name="Shape 173"/>
          <p:cNvSpPr/>
          <p:nvPr/>
        </p:nvSpPr>
        <p:spPr>
          <a:xfrm>
            <a:off x="4689592" y="400964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6" name="Text 174"/>
          <p:cNvSpPr/>
          <p:nvPr/>
        </p:nvSpPr>
        <p:spPr>
          <a:xfrm>
            <a:off x="4689592" y="400964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77" name="Shape 175"/>
          <p:cNvSpPr/>
          <p:nvPr/>
        </p:nvSpPr>
        <p:spPr>
          <a:xfrm>
            <a:off x="6268212" y="56647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78" name="Text 176"/>
          <p:cNvSpPr/>
          <p:nvPr/>
        </p:nvSpPr>
        <p:spPr>
          <a:xfrm>
            <a:off x="6268212" y="56647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64008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예약 Context   —   비활성(Confirm)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ln w="9525">
            <a:solidFill>
              <a:srgbClr val="C8C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950" dirty="0"/>
          </a:p>
        </p:txBody>
      </p:sp>
      <p:sp>
        <p:nvSpPr>
          <p:cNvPr id="7" name="Text 5"/>
          <p:cNvSpPr/>
          <p:nvPr/>
        </p:nvSpPr>
        <p:spPr>
          <a:xfrm>
            <a:off x="1837944" y="1408176"/>
            <a:ext cx="292608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선택행 상태 = 예약(RSV) 일 때만 활성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2217420" y="2738628"/>
            <a:ext cx="484632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</a:t>
            </a:r>
            <a:endParaRPr lang="ko-KR" sz="950" dirty="0"/>
          </a:p>
        </p:txBody>
      </p:sp>
      <p:sp>
        <p:nvSpPr>
          <p:cNvPr id="11" name="Text 9"/>
          <p:cNvSpPr/>
          <p:nvPr/>
        </p:nvSpPr>
        <p:spPr>
          <a:xfrm>
            <a:off x="2382012" y="3049524"/>
            <a:ext cx="451713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예약을 취소하시겠습니까?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2382012" y="3264865"/>
            <a:ext cx="451713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후 기존 예약으로 복원할 수 없습니다.</a:t>
            </a:r>
            <a:endParaRPr lang="ko-KR" sz="950" dirty="0"/>
          </a:p>
        </p:txBody>
      </p:sp>
      <p:sp>
        <p:nvSpPr>
          <p:cNvPr id="13" name="Shape 11"/>
          <p:cNvSpPr/>
          <p:nvPr/>
        </p:nvSpPr>
        <p:spPr>
          <a:xfrm>
            <a:off x="609447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09447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5" name="Shape 13"/>
          <p:cNvSpPr/>
          <p:nvPr/>
        </p:nvSpPr>
        <p:spPr>
          <a:xfrm>
            <a:off x="518007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18007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ko-KR" sz="950" dirty="0"/>
          </a:p>
        </p:txBody>
      </p:sp>
      <p:sp>
        <p:nvSpPr>
          <p:cNvPr id="17" name="Text 15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취소 확인</a:t>
            </a:r>
            <a:endParaRPr lang="ko-KR" sz="3000" dirty="0"/>
          </a:p>
        </p:txBody>
      </p:sp>
      <p:sp>
        <p:nvSpPr>
          <p:cNvPr id="18" name="Shape 16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CNF-RSV-01  예약 취소 확인 · Confirm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P02-07 · F-RSV-003</a:t>
            </a:r>
            <a:endParaRPr lang="ko-KR" sz="1000" dirty="0"/>
          </a:p>
        </p:txBody>
      </p:sp>
      <p:sp>
        <p:nvSpPr>
          <p:cNvPr id="21" name="Shape 19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24" name="Text 22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상태에서만 호출된다 (RP-10)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62872" y="164543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28" name="Text 26"/>
          <p:cNvSpPr/>
          <p:nvPr/>
        </p:nvSpPr>
        <p:spPr>
          <a:xfrm>
            <a:off x="9313164" y="169572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문구는 원문 확정본을 그대로 사용한다</a:t>
            </a:r>
            <a:endParaRPr lang="ko-KR" sz="1000" dirty="0"/>
          </a:p>
        </p:txBody>
      </p:sp>
      <p:sp>
        <p:nvSpPr>
          <p:cNvPr id="29" name="Shape 27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62872" y="191975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32" name="Text 30"/>
          <p:cNvSpPr/>
          <p:nvPr/>
        </p:nvSpPr>
        <p:spPr>
          <a:xfrm>
            <a:off x="9313164" y="197004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[확인] 시 DB에서 상태·RowVersion을 재확인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후 CNR로 전이</a:t>
            </a:r>
            <a:endParaRPr lang="ko-KR" sz="1000" dirty="0"/>
          </a:p>
        </p:txBody>
      </p:sp>
      <p:sp>
        <p:nvSpPr>
          <p:cNvPr id="33" name="Shape 31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62872" y="2358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13164" y="2408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업무 행을 취소 상태로 바꾸며 Work와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 Detail을 물리 삭제하지 않는다 (CP-05).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8897112" y="279661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62872" y="279661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13164" y="284690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상태에서 복원하지 않는다. 재진행은 신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규 예약을 생성한다.</a:t>
            </a:r>
            <a:endParaRPr lang="ko-KR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2071116" y="304038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071116" y="304038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43" name="Shape 41"/>
          <p:cNvSpPr/>
          <p:nvPr/>
        </p:nvSpPr>
        <p:spPr>
          <a:xfrm>
            <a:off x="4997196" y="41102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997196" y="41102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275588"/>
            <a:ext cx="7863840" cy="4663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접수처리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513332"/>
            <a:ext cx="336590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540764"/>
            <a:ext cx="32196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723644"/>
            <a:ext cx="33659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312310" y="1513332"/>
            <a:ext cx="411388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5462" y="1540764"/>
            <a:ext cx="39675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정보 · ReadOnly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312310" y="1723644"/>
            <a:ext cx="411388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403750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 /   오전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4403750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00884"/>
            <a:ext cx="3889492" cy="2560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8116" y="2528316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854964" y="2711196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46404" y="2747772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1268" y="274777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946404" y="292608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1268" y="292608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946404" y="310438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1268" y="310438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28269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1268" y="328269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946404" y="346100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1268" y="346100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946404" y="363931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01268" y="363931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946404" y="381762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1268" y="381762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946404" y="399592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1268" y="39959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946404" y="41742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1268" y="41742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946404" y="43525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01268" y="43525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946404" y="45308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1268" y="45308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4835896" y="2500884"/>
            <a:ext cx="3590300" cy="256032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09048" y="2528316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ReadOnly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835896" y="2711196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5329672" y="2747772"/>
            <a:ext cx="300508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384536" y="2747772"/>
            <a:ext cx="29502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5329672" y="2926080"/>
            <a:ext cx="300508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384536" y="2926080"/>
            <a:ext cx="29502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88" name="Text 86"/>
          <p:cNvSpPr/>
          <p:nvPr/>
        </p:nvSpPr>
        <p:spPr>
          <a:xfrm>
            <a:off x="4927336" y="3195828"/>
            <a:ext cx="34074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단계에서는 검사구성을 수정하지 않는다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854964" y="5116068"/>
            <a:ext cx="7571232" cy="31089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982980" y="5116068"/>
            <a:ext cx="7315200" cy="31089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가능 여부 :   가능</a:t>
            </a:r>
            <a:endParaRPr lang="ko-KR" sz="950" dirty="0"/>
          </a:p>
        </p:txBody>
      </p:sp>
      <p:sp>
        <p:nvSpPr>
          <p:cNvPr id="91" name="Text 89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처리</a:t>
            </a:r>
            <a:endParaRPr lang="ko-KR" sz="3000" dirty="0"/>
          </a:p>
        </p:txBody>
      </p:sp>
      <p:sp>
        <p:nvSpPr>
          <p:cNvPr id="92" name="Shape 90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DLG-RCP-01  접수 처리 · Modal · P03-01~03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F-RCP-001, F-COM-006</a:t>
            </a:r>
            <a:endParaRPr lang="ko-KR" sz="1000" dirty="0"/>
          </a:p>
        </p:txBody>
      </p:sp>
      <p:sp>
        <p:nvSpPr>
          <p:cNvPr id="95" name="Shape 93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8" name="Text 96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· 예약일 · 시간대 · NEX · AEX 전 영역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ReadOnly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02" name="Text 100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 상태의 당일 업무만 접수 대상이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된다 (RCP-01~03)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6" name="Text 104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성공 시 예약일·시간대·검사구성은 그대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 유지된다 (RCP-04)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10" name="Text 108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전 AEX 변경이 필요하면 예약변경을 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 완료한다</a:t>
            </a:r>
            <a:endParaRPr lang="ko-KR" sz="1000" dirty="0"/>
          </a:p>
        </p:txBody>
      </p:sp>
      <p:sp>
        <p:nvSpPr>
          <p:cNvPr id="111" name="Shape 109"/>
          <p:cNvSpPr/>
          <p:nvPr/>
        </p:nvSpPr>
        <p:spPr>
          <a:xfrm>
            <a:off x="8897112" y="3124835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9262872" y="3124835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8897112" y="3124835"/>
            <a:ext cx="365760" cy="60735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14" name="Text 112"/>
          <p:cNvSpPr/>
          <p:nvPr/>
        </p:nvSpPr>
        <p:spPr>
          <a:xfrm>
            <a:off x="9313164" y="3175127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상태=RSV · 예약일=DB 현재일 · 업무 가능일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09:00~18:00 · 해당 시간대 접수 마감 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(RCP-02, CP-01~04, HOL)</a:t>
            </a:r>
            <a:endParaRPr lang="ko-KR" sz="1000" dirty="0"/>
          </a:p>
        </p:txBody>
      </p:sp>
      <p:sp>
        <p:nvSpPr>
          <p:cNvPr id="115" name="Shape 113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262872" y="3732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8897112" y="3732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  <p:sp>
        <p:nvSpPr>
          <p:cNvPr id="118" name="Text 116"/>
          <p:cNvSpPr/>
          <p:nvPr/>
        </p:nvSpPr>
        <p:spPr>
          <a:xfrm>
            <a:off x="9313164" y="3782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 사유가 있으면 사유를 표시하고 [접수처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리]를 비활성한다</a:t>
            </a:r>
            <a:endParaRPr lang="ko-KR" sz="1000" dirty="0"/>
          </a:p>
        </p:txBody>
      </p:sp>
      <p:sp>
        <p:nvSpPr>
          <p:cNvPr id="119" name="Shape 117"/>
          <p:cNvSpPr/>
          <p:nvPr/>
        </p:nvSpPr>
        <p:spPr>
          <a:xfrm>
            <a:off x="8897112" y="4170617"/>
            <a:ext cx="36576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9262872" y="4170617"/>
            <a:ext cx="2697480" cy="776275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9313164" y="4220909"/>
            <a:ext cx="2596896" cy="675691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화면에 접수 가능으로 보였더라도 저장 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Stored Procedure가 상태·시각·RowVersion을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확인한다. 동시에 두 사용자가 접수해도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하나만 성공한다.</a:t>
            </a:r>
            <a:endParaRPr lang="ko-KR" sz="1000" dirty="0"/>
          </a:p>
        </p:txBody>
      </p:sp>
      <p:sp>
        <p:nvSpPr>
          <p:cNvPr id="122" name="Shape 120"/>
          <p:cNvSpPr/>
          <p:nvPr/>
        </p:nvSpPr>
        <p:spPr>
          <a:xfrm>
            <a:off x="708660" y="18699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708660" y="18699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4166006" y="186994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4166006" y="186994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26" name="Shape 124"/>
          <p:cNvSpPr/>
          <p:nvPr/>
        </p:nvSpPr>
        <p:spPr>
          <a:xfrm>
            <a:off x="708660" y="367131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708660" y="367131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28" name="Shape 126"/>
          <p:cNvSpPr/>
          <p:nvPr/>
        </p:nvSpPr>
        <p:spPr>
          <a:xfrm>
            <a:off x="4689592" y="367131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4689592" y="367131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30" name="Shape 128"/>
          <p:cNvSpPr/>
          <p:nvPr/>
        </p:nvSpPr>
        <p:spPr>
          <a:xfrm>
            <a:off x="708660" y="516178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08660" y="516178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32" name="Shape 130"/>
          <p:cNvSpPr/>
          <p:nvPr/>
        </p:nvSpPr>
        <p:spPr>
          <a:xfrm>
            <a:off x="6268212" y="55732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6268212" y="55732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10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275588"/>
            <a:ext cx="7863840" cy="46634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13842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5549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854964" y="1513332"/>
            <a:ext cx="336590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28116" y="1540764"/>
            <a:ext cx="321960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정보 · ReadOnly</a:t>
            </a:r>
            <a:endParaRPr lang="ko-KR" sz="800" dirty="0"/>
          </a:p>
        </p:txBody>
      </p:sp>
      <p:sp>
        <p:nvSpPr>
          <p:cNvPr id="14" name="Shape 12"/>
          <p:cNvSpPr/>
          <p:nvPr/>
        </p:nvSpPr>
        <p:spPr>
          <a:xfrm>
            <a:off x="854964" y="1723644"/>
            <a:ext cx="336590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5" name="Text 13"/>
          <p:cNvSpPr/>
          <p:nvPr/>
        </p:nvSpPr>
        <p:spPr>
          <a:xfrm>
            <a:off x="946404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</a:t>
            </a:r>
            <a:endParaRPr lang="ko-KR" sz="800" dirty="0"/>
          </a:p>
        </p:txBody>
      </p:sp>
      <p:sp>
        <p:nvSpPr>
          <p:cNvPr id="16" name="Shape 14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952244" y="177850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2026-000123 / 홍길동</a:t>
            </a:r>
            <a:endParaRPr lang="ko-KR" sz="900" dirty="0"/>
          </a:p>
        </p:txBody>
      </p:sp>
      <p:sp>
        <p:nvSpPr>
          <p:cNvPr id="18" name="Text 16"/>
          <p:cNvSpPr/>
          <p:nvPr/>
        </p:nvSpPr>
        <p:spPr>
          <a:xfrm>
            <a:off x="946404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생년월일 / 성별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1952244" y="2052828"/>
            <a:ext cx="217718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1966-03-12  /  여</a:t>
            </a:r>
            <a:endParaRPr lang="ko-KR" sz="900" dirty="0"/>
          </a:p>
        </p:txBody>
      </p:sp>
      <p:sp>
        <p:nvSpPr>
          <p:cNvPr id="21" name="Shape 19"/>
          <p:cNvSpPr/>
          <p:nvPr/>
        </p:nvSpPr>
        <p:spPr>
          <a:xfrm>
            <a:off x="4312310" y="1513332"/>
            <a:ext cx="4113886" cy="93268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85462" y="1540764"/>
            <a:ext cx="3967582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정보 · ReadOnly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312310" y="1723644"/>
            <a:ext cx="4113886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24" name="Text 22"/>
          <p:cNvSpPr/>
          <p:nvPr/>
        </p:nvSpPr>
        <p:spPr>
          <a:xfrm>
            <a:off x="4403750" y="177850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/ 시간대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09590" y="177850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2026-09-15 (화)   /   오전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4403750" y="2052828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상태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solidFill>
            <a:srgbClr val="F2F2F2"/>
          </a:solidFill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09590" y="2052828"/>
            <a:ext cx="292516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00884"/>
            <a:ext cx="3889492" cy="29260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28116" y="2528316"/>
            <a:ext cx="374318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 · ReadOnly</a:t>
            </a:r>
            <a:endParaRPr lang="ko-KR" sz="800" dirty="0"/>
          </a:p>
        </p:txBody>
      </p:sp>
      <p:sp>
        <p:nvSpPr>
          <p:cNvPr id="32" name="Shape 30"/>
          <p:cNvSpPr/>
          <p:nvPr/>
        </p:nvSpPr>
        <p:spPr>
          <a:xfrm>
            <a:off x="854964" y="2711196"/>
            <a:ext cx="388949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3" name="Shape 31"/>
          <p:cNvSpPr/>
          <p:nvPr/>
        </p:nvSpPr>
        <p:spPr>
          <a:xfrm>
            <a:off x="946404" y="2747772"/>
            <a:ext cx="274649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1268" y="274777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35" name="Shape 33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92896" y="274777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946404" y="292608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1001268" y="292608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문진/진찰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92896" y="292608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946404" y="310438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001268" y="310438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신체계측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692896" y="310438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28269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001268" y="328269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혈압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692896" y="328269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946404" y="346100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001268" y="346100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시력·청력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92896" y="346100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946404" y="363931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001268" y="363931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흉부 X-ray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692896" y="363931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946404" y="3817620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1001268" y="3817620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요검사</a:t>
            </a:r>
            <a:endParaRPr lang="ko-KR" sz="900" dirty="0"/>
          </a:p>
        </p:txBody>
      </p:sp>
      <p:sp>
        <p:nvSpPr>
          <p:cNvPr id="59" name="Shape 57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692896" y="3817620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1" name="Shape 59"/>
          <p:cNvSpPr/>
          <p:nvPr/>
        </p:nvSpPr>
        <p:spPr>
          <a:xfrm>
            <a:off x="946404" y="3995928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1001268" y="3995928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혈액검사</a:t>
            </a:r>
            <a:endParaRPr lang="ko-KR" sz="900" dirty="0"/>
          </a:p>
        </p:txBody>
      </p:sp>
      <p:sp>
        <p:nvSpPr>
          <p:cNvPr id="63" name="Shape 61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692896" y="3995928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5" name="Shape 63"/>
          <p:cNvSpPr/>
          <p:nvPr/>
        </p:nvSpPr>
        <p:spPr>
          <a:xfrm>
            <a:off x="946404" y="4174236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1001268" y="4174236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구강검진</a:t>
            </a:r>
            <a:endParaRPr lang="ko-KR" sz="900" dirty="0"/>
          </a:p>
        </p:txBody>
      </p:sp>
      <p:sp>
        <p:nvSpPr>
          <p:cNvPr id="67" name="Shape 65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692896" y="4174236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</a:t>
            </a:r>
            <a:endParaRPr lang="ko-KR" sz="900" dirty="0"/>
          </a:p>
        </p:txBody>
      </p:sp>
      <p:sp>
        <p:nvSpPr>
          <p:cNvPr id="69" name="Shape 67"/>
          <p:cNvSpPr/>
          <p:nvPr/>
        </p:nvSpPr>
        <p:spPr>
          <a:xfrm>
            <a:off x="946404" y="4352544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1001268" y="4352544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이상지질혈증</a:t>
            </a:r>
            <a:endParaRPr lang="ko-KR" sz="900" dirty="0"/>
          </a:p>
        </p:txBody>
      </p:sp>
      <p:sp>
        <p:nvSpPr>
          <p:cNvPr id="71" name="Shape 69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692896" y="4352544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3" name="Shape 71"/>
          <p:cNvSpPr/>
          <p:nvPr/>
        </p:nvSpPr>
        <p:spPr>
          <a:xfrm>
            <a:off x="946404" y="4530852"/>
            <a:ext cx="274649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1001268" y="4530852"/>
            <a:ext cx="269162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75" name="Shape 73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692896" y="4530852"/>
            <a:ext cx="96012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</a:t>
            </a:r>
            <a:endParaRPr lang="ko-KR" sz="900" dirty="0"/>
          </a:p>
        </p:txBody>
      </p:sp>
      <p:sp>
        <p:nvSpPr>
          <p:cNvPr id="77" name="Shape 75"/>
          <p:cNvSpPr/>
          <p:nvPr/>
        </p:nvSpPr>
        <p:spPr>
          <a:xfrm>
            <a:off x="4835896" y="2500884"/>
            <a:ext cx="3590300" cy="29260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909048" y="2528316"/>
            <a:ext cx="3443996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· Editable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4835896" y="2711196"/>
            <a:ext cx="3590300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80" name="Shape 78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927336" y="274777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900" dirty="0"/>
          </a:p>
        </p:txBody>
      </p:sp>
      <p:sp>
        <p:nvSpPr>
          <p:cNvPr id="82" name="Shape 80"/>
          <p:cNvSpPr/>
          <p:nvPr/>
        </p:nvSpPr>
        <p:spPr>
          <a:xfrm>
            <a:off x="5329672" y="2747772"/>
            <a:ext cx="10058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5384536" y="274777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검사명</a:t>
            </a:r>
            <a:endParaRPr lang="ko-KR" sz="900" dirty="0"/>
          </a:p>
        </p:txBody>
      </p:sp>
      <p:sp>
        <p:nvSpPr>
          <p:cNvPr id="84" name="Shape 82"/>
          <p:cNvSpPr/>
          <p:nvPr/>
        </p:nvSpPr>
        <p:spPr>
          <a:xfrm>
            <a:off x="6335512" y="2747772"/>
            <a:ext cx="1999244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6390376" y="2747772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선택불가 사유</a:t>
            </a:r>
            <a:endParaRPr lang="ko-KR" sz="900" dirty="0"/>
          </a:p>
        </p:txBody>
      </p:sp>
      <p:sp>
        <p:nvSpPr>
          <p:cNvPr id="86" name="Shape 84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927336" y="292608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88" name="Shape 86"/>
          <p:cNvSpPr/>
          <p:nvPr/>
        </p:nvSpPr>
        <p:spPr>
          <a:xfrm>
            <a:off x="5329672" y="292608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5384536" y="292608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복부초음파</a:t>
            </a:r>
            <a:endParaRPr lang="ko-KR" sz="900" dirty="0"/>
          </a:p>
        </p:txBody>
      </p:sp>
      <p:sp>
        <p:nvSpPr>
          <p:cNvPr id="90" name="Shape 88"/>
          <p:cNvSpPr/>
          <p:nvPr/>
        </p:nvSpPr>
        <p:spPr>
          <a:xfrm>
            <a:off x="6335512" y="292608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4927336" y="310438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927336" y="310438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☑</a:t>
            </a:r>
            <a:endParaRPr lang="ko-KR" sz="900" dirty="0"/>
          </a:p>
        </p:txBody>
      </p:sp>
      <p:sp>
        <p:nvSpPr>
          <p:cNvPr id="93" name="Shape 91"/>
          <p:cNvSpPr/>
          <p:nvPr/>
        </p:nvSpPr>
        <p:spPr>
          <a:xfrm>
            <a:off x="5329672" y="310438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5384536" y="310438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갑상선초음파</a:t>
            </a:r>
            <a:endParaRPr lang="ko-KR" sz="900" dirty="0"/>
          </a:p>
        </p:txBody>
      </p:sp>
      <p:sp>
        <p:nvSpPr>
          <p:cNvPr id="95" name="Shape 93"/>
          <p:cNvSpPr/>
          <p:nvPr/>
        </p:nvSpPr>
        <p:spPr>
          <a:xfrm>
            <a:off x="6335512" y="310438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4927336" y="3282696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927336" y="3282696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98" name="Shape 96"/>
          <p:cNvSpPr/>
          <p:nvPr/>
        </p:nvSpPr>
        <p:spPr>
          <a:xfrm>
            <a:off x="5329672" y="3282696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5384536" y="3282696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유방초음파</a:t>
            </a:r>
            <a:endParaRPr lang="ko-KR" sz="900" dirty="0"/>
          </a:p>
        </p:txBody>
      </p:sp>
      <p:sp>
        <p:nvSpPr>
          <p:cNvPr id="100" name="Shape 98"/>
          <p:cNvSpPr/>
          <p:nvPr/>
        </p:nvSpPr>
        <p:spPr>
          <a:xfrm>
            <a:off x="6335512" y="3282696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4927336" y="3461004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927336" y="3461004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03" name="Shape 101"/>
          <p:cNvSpPr/>
          <p:nvPr/>
        </p:nvSpPr>
        <p:spPr>
          <a:xfrm>
            <a:off x="5329672" y="3461004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5384536" y="3461004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골밀도검사</a:t>
            </a:r>
            <a:endParaRPr lang="ko-KR" sz="900" dirty="0"/>
          </a:p>
        </p:txBody>
      </p:sp>
      <p:sp>
        <p:nvSpPr>
          <p:cNvPr id="105" name="Shape 103"/>
          <p:cNvSpPr/>
          <p:nvPr/>
        </p:nvSpPr>
        <p:spPr>
          <a:xfrm>
            <a:off x="6335512" y="3461004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6390376" y="3461004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일반건강검진에 포함된 검사입니다.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927336" y="3639312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927336" y="3639312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✕</a:t>
            </a:r>
            <a:endParaRPr lang="ko-KR" sz="900" dirty="0"/>
          </a:p>
        </p:txBody>
      </p:sp>
      <p:sp>
        <p:nvSpPr>
          <p:cNvPr id="109" name="Shape 107"/>
          <p:cNvSpPr/>
          <p:nvPr/>
        </p:nvSpPr>
        <p:spPr>
          <a:xfrm>
            <a:off x="5329672" y="3639312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5384536" y="3639312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PSA</a:t>
            </a:r>
            <a:endParaRPr lang="ko-KR" sz="900" dirty="0"/>
          </a:p>
        </p:txBody>
      </p:sp>
      <p:sp>
        <p:nvSpPr>
          <p:cNvPr id="111" name="Shape 109"/>
          <p:cNvSpPr/>
          <p:nvPr/>
        </p:nvSpPr>
        <p:spPr>
          <a:xfrm>
            <a:off x="6335512" y="3639312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6390376" y="3639312"/>
            <a:ext cx="19443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조건 불충족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4927336" y="3817620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927336" y="3817620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15" name="Shape 113"/>
          <p:cNvSpPr/>
          <p:nvPr/>
        </p:nvSpPr>
        <p:spPr>
          <a:xfrm>
            <a:off x="5329672" y="3817620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5384536" y="3817620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HbA1c</a:t>
            </a:r>
            <a:endParaRPr lang="ko-KR" sz="900" dirty="0"/>
          </a:p>
        </p:txBody>
      </p:sp>
      <p:sp>
        <p:nvSpPr>
          <p:cNvPr id="117" name="Shape 115"/>
          <p:cNvSpPr/>
          <p:nvPr/>
        </p:nvSpPr>
        <p:spPr>
          <a:xfrm>
            <a:off x="6335512" y="3817620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4927336" y="3995928"/>
            <a:ext cx="40233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927336" y="3995928"/>
            <a:ext cx="4023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☐</a:t>
            </a:r>
            <a:endParaRPr lang="ko-KR" sz="900" dirty="0"/>
          </a:p>
        </p:txBody>
      </p:sp>
      <p:sp>
        <p:nvSpPr>
          <p:cNvPr id="120" name="Shape 118"/>
          <p:cNvSpPr/>
          <p:nvPr/>
        </p:nvSpPr>
        <p:spPr>
          <a:xfrm>
            <a:off x="5329672" y="3995928"/>
            <a:ext cx="10058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5384536" y="3995928"/>
            <a:ext cx="95097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HPV 검사</a:t>
            </a:r>
            <a:endParaRPr lang="ko-KR" sz="900" dirty="0"/>
          </a:p>
        </p:txBody>
      </p:sp>
      <p:sp>
        <p:nvSpPr>
          <p:cNvPr id="122" name="Shape 120"/>
          <p:cNvSpPr/>
          <p:nvPr/>
        </p:nvSpPr>
        <p:spPr>
          <a:xfrm>
            <a:off x="6335512" y="3995928"/>
            <a:ext cx="1999244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 변경</a:t>
            </a:r>
            <a:endParaRPr lang="ko-KR" sz="3000" dirty="0"/>
          </a:p>
        </p:txBody>
      </p:sp>
      <p:sp>
        <p:nvSpPr>
          <p:cNvPr id="124" name="Shape 122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DLG-RCP-02  접수완료 추가검사 변경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· P03-05 · F-RCP-002, F-COM-004</a:t>
            </a:r>
            <a:endParaRPr lang="ko-KR" sz="1000" dirty="0"/>
          </a:p>
        </p:txBody>
      </p:sp>
      <p:sp>
        <p:nvSpPr>
          <p:cNvPr id="127" name="Shape 125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0" name="Text 128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접수완료(RCP) 상태에서만 진입한다 (RCP-05)</a:t>
            </a:r>
            <a:endParaRPr lang="ko-KR" sz="1000" dirty="0"/>
          </a:p>
        </p:txBody>
      </p:sp>
      <p:sp>
        <p:nvSpPr>
          <p:cNvPr id="131" name="Shape 129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34" name="Text 132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· 시간대 · NEX는 변경할 수 없다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(RCP-05)</a:t>
            </a:r>
            <a:endParaRPr lang="ko-KR" sz="1000" dirty="0"/>
          </a:p>
        </p:txBody>
      </p:sp>
      <p:sp>
        <p:nvSpPr>
          <p:cNvPr id="135" name="Shape 133"/>
          <p:cNvSpPr/>
          <p:nvPr/>
        </p:nvSpPr>
        <p:spPr>
          <a:xfrm>
            <a:off x="8897112" y="208386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9262872" y="208386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8897112" y="208386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38" name="Text 136"/>
          <p:cNvSpPr/>
          <p:nvPr/>
        </p:nvSpPr>
        <p:spPr>
          <a:xfrm>
            <a:off x="9313164" y="213415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상태와 동일한 AEX-01~05 Rule을 적용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한다</a:t>
            </a:r>
            <a:endParaRPr lang="ko-KR" sz="1000" dirty="0"/>
          </a:p>
        </p:txBody>
      </p:sp>
      <p:sp>
        <p:nvSpPr>
          <p:cNvPr id="139" name="Shape 137"/>
          <p:cNvSpPr/>
          <p:nvPr/>
        </p:nvSpPr>
        <p:spPr>
          <a:xfrm>
            <a:off x="8897112" y="252229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9262872" y="252229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8897112" y="252229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42" name="Text 140"/>
          <p:cNvSpPr/>
          <p:nvPr/>
        </p:nvSpPr>
        <p:spPr>
          <a:xfrm>
            <a:off x="9313164" y="257258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시 상태는 RCP를 유지하고 Work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RowVersion만 갱신</a:t>
            </a:r>
            <a:endParaRPr lang="ko-KR" sz="1000" dirty="0"/>
          </a:p>
        </p:txBody>
      </p:sp>
      <p:sp>
        <p:nvSpPr>
          <p:cNvPr id="143" name="Shape 141"/>
          <p:cNvSpPr/>
          <p:nvPr/>
        </p:nvSpPr>
        <p:spPr>
          <a:xfrm>
            <a:off x="8897112" y="296072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9262872" y="296072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9313164" y="301101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선택집합이 동일하면 Detail과 Work를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갱신하지 않고 No-op으로 처리한다.</a:t>
            </a:r>
            <a:endParaRPr lang="ko-KR" sz="1000" dirty="0"/>
          </a:p>
        </p:txBody>
      </p:sp>
      <p:sp>
        <p:nvSpPr>
          <p:cNvPr id="146" name="Shape 144"/>
          <p:cNvSpPr/>
          <p:nvPr/>
        </p:nvSpPr>
        <p:spPr>
          <a:xfrm>
            <a:off x="8897112" y="339915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9262872" y="339915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9313164" y="344944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가격·할인·수납·결제는 이 시스템의 범위가 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니다 (AEX-05).</a:t>
            </a:r>
            <a:endParaRPr lang="ko-KR" sz="1000" dirty="0"/>
          </a:p>
        </p:txBody>
      </p:sp>
      <p:sp>
        <p:nvSpPr>
          <p:cNvPr id="149" name="Shape 147"/>
          <p:cNvSpPr/>
          <p:nvPr/>
        </p:nvSpPr>
        <p:spPr>
          <a:xfrm>
            <a:off x="5263286" y="20528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5263286" y="20528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51" name="Shape 149"/>
          <p:cNvSpPr/>
          <p:nvPr/>
        </p:nvSpPr>
        <p:spPr>
          <a:xfrm>
            <a:off x="708660" y="38541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708660" y="38541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53" name="Shape 151"/>
          <p:cNvSpPr/>
          <p:nvPr/>
        </p:nvSpPr>
        <p:spPr>
          <a:xfrm>
            <a:off x="4689592" y="3854196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689592" y="3854196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55" name="Shape 153"/>
          <p:cNvSpPr/>
          <p:nvPr/>
        </p:nvSpPr>
        <p:spPr>
          <a:xfrm>
            <a:off x="6268212" y="557326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6268212" y="557326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64008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 공통 Workbench (WF-WRK-01)  ·  접수 Context   —   비활성(Confirm)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ln w="9525">
            <a:solidFill>
              <a:srgbClr val="C8C8C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94944" y="1408176"/>
            <a:ext cx="10515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950" dirty="0"/>
          </a:p>
        </p:txBody>
      </p:sp>
      <p:sp>
        <p:nvSpPr>
          <p:cNvPr id="7" name="Text 5"/>
          <p:cNvSpPr/>
          <p:nvPr/>
        </p:nvSpPr>
        <p:spPr>
          <a:xfrm>
            <a:off x="1837944" y="1408176"/>
            <a:ext cx="32918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← 선택행 상태 = 접수완료(RCP) 일 때만 활성</a:t>
            </a:r>
            <a:endParaRPr lang="ko-KR" sz="800" dirty="0"/>
          </a:p>
        </p:txBody>
      </p:sp>
      <p:sp>
        <p:nvSpPr>
          <p:cNvPr id="8" name="Shape 6"/>
          <p:cNvSpPr/>
          <p:nvPr/>
        </p:nvSpPr>
        <p:spPr>
          <a:xfrm>
            <a:off x="1943100" y="2738628"/>
            <a:ext cx="5394960" cy="173736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54780" y="2601468"/>
            <a:ext cx="13716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</a:t>
            </a:r>
            <a:endParaRPr lang="ko-KR" sz="950" dirty="0"/>
          </a:p>
        </p:txBody>
      </p:sp>
      <p:sp>
        <p:nvSpPr>
          <p:cNvPr id="11" name="Text 9"/>
          <p:cNvSpPr/>
          <p:nvPr/>
        </p:nvSpPr>
        <p:spPr>
          <a:xfrm>
            <a:off x="2107692" y="3049524"/>
            <a:ext cx="506577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선택한 접수를 취소하시겠습니까?</a:t>
            </a:r>
            <a:endParaRPr lang="ko-KR" sz="950" dirty="0"/>
          </a:p>
        </p:txBody>
      </p:sp>
      <p:sp>
        <p:nvSpPr>
          <p:cNvPr id="12" name="Text 10"/>
          <p:cNvSpPr/>
          <p:nvPr/>
        </p:nvSpPr>
        <p:spPr>
          <a:xfrm>
            <a:off x="2107692" y="3264865"/>
            <a:ext cx="5065776" cy="160477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상태로 되돌아가지 않으며 해당 업무 전체가 취소됩니다.</a:t>
            </a:r>
            <a:endParaRPr lang="ko-KR" sz="950" dirty="0"/>
          </a:p>
        </p:txBody>
      </p:sp>
      <p:sp>
        <p:nvSpPr>
          <p:cNvPr id="13" name="Shape 11"/>
          <p:cNvSpPr/>
          <p:nvPr/>
        </p:nvSpPr>
        <p:spPr>
          <a:xfrm>
            <a:off x="636879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36879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5" name="Shape 13"/>
          <p:cNvSpPr/>
          <p:nvPr/>
        </p:nvSpPr>
        <p:spPr>
          <a:xfrm>
            <a:off x="5454396" y="4091940"/>
            <a:ext cx="82296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54396" y="4091940"/>
            <a:ext cx="82296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ko-KR" sz="950" dirty="0"/>
          </a:p>
        </p:txBody>
      </p:sp>
      <p:sp>
        <p:nvSpPr>
          <p:cNvPr id="17" name="Text 15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취소 확인</a:t>
            </a:r>
            <a:endParaRPr lang="ko-KR" sz="3000" dirty="0"/>
          </a:p>
        </p:txBody>
      </p:sp>
      <p:sp>
        <p:nvSpPr>
          <p:cNvPr id="18" name="Shape 16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CNF-RCP-01  접수 취소 확인 · Confirm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P03-06 · F-RCP-003</a:t>
            </a:r>
            <a:endParaRPr lang="ko-KR" sz="1000" dirty="0"/>
          </a:p>
        </p:txBody>
      </p:sp>
      <p:sp>
        <p:nvSpPr>
          <p:cNvPr id="21" name="Shape 19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24" name="Text 22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접수완료(RCP) 상태에서만 호출된다 (RCP-06)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62872" y="164543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8897112" y="164543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28" name="Text 26"/>
          <p:cNvSpPr/>
          <p:nvPr/>
        </p:nvSpPr>
        <p:spPr>
          <a:xfrm>
            <a:off x="9313164" y="169572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문구는 원문 확정본을 그대로 사용한다</a:t>
            </a:r>
            <a:endParaRPr lang="ko-KR" sz="1000" dirty="0"/>
          </a:p>
        </p:txBody>
      </p:sp>
      <p:sp>
        <p:nvSpPr>
          <p:cNvPr id="29" name="Shape 27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9262872" y="191975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8897112" y="191975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32" name="Text 30"/>
          <p:cNvSpPr/>
          <p:nvPr/>
        </p:nvSpPr>
        <p:spPr>
          <a:xfrm>
            <a:off x="9313164" y="197004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[확인] 시 DB에서 상태·RowVersion을 재확인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후 CNC로 전이</a:t>
            </a:r>
            <a:endParaRPr lang="ko-KR" sz="1000" dirty="0"/>
          </a:p>
        </p:txBody>
      </p:sp>
      <p:sp>
        <p:nvSpPr>
          <p:cNvPr id="33" name="Shape 31"/>
          <p:cNvSpPr/>
          <p:nvPr/>
        </p:nvSpPr>
        <p:spPr>
          <a:xfrm>
            <a:off x="8897112" y="2358187"/>
            <a:ext cx="36576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9262872" y="2358187"/>
            <a:ext cx="2697480" cy="607352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313164" y="2408479"/>
            <a:ext cx="2596896" cy="50676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예약(RSV)으로 되돌리지 않는다. 해당 예약·접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 업무 전체가 취소된 것으로 판단한다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(RCP-06).</a:t>
            </a:r>
            <a:endParaRPr lang="ko-KR" sz="1000" dirty="0"/>
          </a:p>
        </p:txBody>
      </p:sp>
      <p:sp>
        <p:nvSpPr>
          <p:cNvPr id="36" name="Shape 34"/>
          <p:cNvSpPr/>
          <p:nvPr/>
        </p:nvSpPr>
        <p:spPr>
          <a:xfrm>
            <a:off x="8897112" y="2965539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9262872" y="2965539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313164" y="3015831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건은 보존·조회하되 후속 변경 Action을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허용하지 않는다 (CP-05).</a:t>
            </a:r>
            <a:endParaRPr lang="ko-KR" sz="1000" dirty="0"/>
          </a:p>
        </p:txBody>
      </p:sp>
      <p:sp>
        <p:nvSpPr>
          <p:cNvPr id="39" name="Shape 37"/>
          <p:cNvSpPr/>
          <p:nvPr/>
        </p:nvSpPr>
        <p:spPr>
          <a:xfrm>
            <a:off x="548640" y="14356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48640" y="14356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1796796" y="304038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1796796" y="304038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43" name="Shape 41"/>
          <p:cNvSpPr/>
          <p:nvPr/>
        </p:nvSpPr>
        <p:spPr>
          <a:xfrm>
            <a:off x="5271516" y="41102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271516" y="41102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 (WF-PAT-01)  ·  예약/접수 공통 Workbench (WF-WRK-01)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961388"/>
            <a:ext cx="7863840" cy="329184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268250" y="1824228"/>
            <a:ext cx="274466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268250" y="1824228"/>
            <a:ext cx="27446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— 수검자 홍길동 (2026-000123)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486918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486918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854964" y="2199132"/>
            <a:ext cx="7571232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82980" y="2199132"/>
            <a:ext cx="374904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대상 :   TargetTable = 수검자     TargetKey = PatientId</a:t>
            </a:r>
            <a:endParaRPr lang="ko-KR" sz="900" dirty="0"/>
          </a:p>
        </p:txBody>
      </p:sp>
      <p:sp>
        <p:nvSpPr>
          <p:cNvPr id="12" name="Text 10"/>
          <p:cNvSpPr/>
          <p:nvPr/>
        </p:nvSpPr>
        <p:spPr>
          <a:xfrm>
            <a:off x="4786884" y="2199132"/>
            <a:ext cx="3511296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행에서 열면  TargetTable = 예약접수 · TargetKey = WorkId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854964" y="2546604"/>
            <a:ext cx="7571232" cy="1133856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28116" y="2574036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변경기록  ·  읽기 전용  ·  기록일시 최신순 고정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854964" y="2756916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946404" y="2793492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46404" y="2793492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기록일시</a:t>
            </a:r>
            <a:endParaRPr lang="ko-KR" sz="900" dirty="0"/>
          </a:p>
        </p:txBody>
      </p:sp>
      <p:sp>
        <p:nvSpPr>
          <p:cNvPr id="18" name="Shape 16"/>
          <p:cNvSpPr/>
          <p:nvPr/>
        </p:nvSpPr>
        <p:spPr>
          <a:xfrm>
            <a:off x="2180844" y="2793492"/>
            <a:ext cx="13716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235708" y="2793492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조작자(자기신고)</a:t>
            </a:r>
            <a:endParaRPr lang="ko-KR" sz="900" dirty="0"/>
          </a:p>
        </p:txBody>
      </p:sp>
      <p:sp>
        <p:nvSpPr>
          <p:cNvPr id="20" name="Shape 18"/>
          <p:cNvSpPr/>
          <p:nvPr/>
        </p:nvSpPr>
        <p:spPr>
          <a:xfrm>
            <a:off x="3552444" y="2793492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607308" y="2793492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900" dirty="0"/>
          </a:p>
        </p:txBody>
      </p:sp>
      <p:sp>
        <p:nvSpPr>
          <p:cNvPr id="22" name="Shape 20"/>
          <p:cNvSpPr/>
          <p:nvPr/>
        </p:nvSpPr>
        <p:spPr>
          <a:xfrm>
            <a:off x="4512564" y="2793492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67428" y="2793492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변경전</a:t>
            </a:r>
            <a:endParaRPr lang="ko-KR" sz="900" dirty="0"/>
          </a:p>
        </p:txBody>
      </p:sp>
      <p:sp>
        <p:nvSpPr>
          <p:cNvPr id="24" name="Shape 22"/>
          <p:cNvSpPr/>
          <p:nvPr/>
        </p:nvSpPr>
        <p:spPr>
          <a:xfrm>
            <a:off x="6423660" y="2793492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78524" y="2793492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변경후</a:t>
            </a:r>
            <a:endParaRPr lang="ko-KR" sz="900" dirty="0"/>
          </a:p>
        </p:txBody>
      </p:sp>
      <p:sp>
        <p:nvSpPr>
          <p:cNvPr id="26" name="Shape 24"/>
          <p:cNvSpPr/>
          <p:nvPr/>
        </p:nvSpPr>
        <p:spPr>
          <a:xfrm>
            <a:off x="946404" y="2971800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46404" y="2971800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2026-09-07 14:20</a:t>
            </a:r>
            <a:endParaRPr lang="ko-KR" sz="900" dirty="0"/>
          </a:p>
        </p:txBody>
      </p:sp>
      <p:sp>
        <p:nvSpPr>
          <p:cNvPr id="28" name="Shape 26"/>
          <p:cNvSpPr/>
          <p:nvPr/>
        </p:nvSpPr>
        <p:spPr>
          <a:xfrm>
            <a:off x="2180844" y="2971800"/>
            <a:ext cx="13716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235708" y="2971800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접수1번데스크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3552444" y="2971800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07308" y="2971800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휴대전화</a:t>
            </a:r>
            <a:endParaRPr lang="ko-KR" sz="900" dirty="0"/>
          </a:p>
        </p:txBody>
      </p:sp>
      <p:sp>
        <p:nvSpPr>
          <p:cNvPr id="32" name="Shape 30"/>
          <p:cNvSpPr/>
          <p:nvPr/>
        </p:nvSpPr>
        <p:spPr>
          <a:xfrm>
            <a:off x="4512564" y="2971800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67428" y="2971800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010-0000-0098</a:t>
            </a:r>
            <a:endParaRPr lang="ko-KR" sz="900" dirty="0"/>
          </a:p>
        </p:txBody>
      </p:sp>
      <p:sp>
        <p:nvSpPr>
          <p:cNvPr id="34" name="Shape 32"/>
          <p:cNvSpPr/>
          <p:nvPr/>
        </p:nvSpPr>
        <p:spPr>
          <a:xfrm>
            <a:off x="6423660" y="2971800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78524" y="2971800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010-0000-0123</a:t>
            </a:r>
            <a:endParaRPr lang="ko-KR" sz="900" dirty="0"/>
          </a:p>
        </p:txBody>
      </p:sp>
      <p:sp>
        <p:nvSpPr>
          <p:cNvPr id="36" name="Shape 34"/>
          <p:cNvSpPr/>
          <p:nvPr/>
        </p:nvSpPr>
        <p:spPr>
          <a:xfrm>
            <a:off x="946404" y="3150108"/>
            <a:ext cx="123444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46404" y="3150108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2026-09-06 09:11</a:t>
            </a:r>
            <a:endParaRPr lang="ko-KR" sz="900" dirty="0"/>
          </a:p>
        </p:txBody>
      </p:sp>
      <p:sp>
        <p:nvSpPr>
          <p:cNvPr id="38" name="Shape 36"/>
          <p:cNvSpPr/>
          <p:nvPr/>
        </p:nvSpPr>
        <p:spPr>
          <a:xfrm>
            <a:off x="2180844" y="3150108"/>
            <a:ext cx="137160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235708" y="3150108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접수1번데스크</a:t>
            </a:r>
            <a:endParaRPr lang="ko-KR" sz="900" dirty="0"/>
          </a:p>
        </p:txBody>
      </p:sp>
      <p:sp>
        <p:nvSpPr>
          <p:cNvPr id="40" name="Shape 38"/>
          <p:cNvSpPr/>
          <p:nvPr/>
        </p:nvSpPr>
        <p:spPr>
          <a:xfrm>
            <a:off x="3552444" y="3150108"/>
            <a:ext cx="96012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607308" y="3150108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주소</a:t>
            </a:r>
            <a:endParaRPr lang="ko-KR" sz="900" dirty="0"/>
          </a:p>
        </p:txBody>
      </p:sp>
      <p:sp>
        <p:nvSpPr>
          <p:cNvPr id="42" name="Shape 40"/>
          <p:cNvSpPr/>
          <p:nvPr/>
        </p:nvSpPr>
        <p:spPr>
          <a:xfrm>
            <a:off x="4512564" y="3150108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567428" y="3150108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서울특별시 …</a:t>
            </a:r>
            <a:endParaRPr lang="ko-KR" sz="900" dirty="0"/>
          </a:p>
        </p:txBody>
      </p:sp>
      <p:sp>
        <p:nvSpPr>
          <p:cNvPr id="44" name="Shape 42"/>
          <p:cNvSpPr/>
          <p:nvPr/>
        </p:nvSpPr>
        <p:spPr>
          <a:xfrm>
            <a:off x="6423660" y="3150108"/>
            <a:ext cx="1911096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6478524" y="3150108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경기도 …</a:t>
            </a:r>
            <a:endParaRPr lang="ko-KR" sz="900" dirty="0"/>
          </a:p>
        </p:txBody>
      </p:sp>
      <p:sp>
        <p:nvSpPr>
          <p:cNvPr id="46" name="Shape 44"/>
          <p:cNvSpPr/>
          <p:nvPr/>
        </p:nvSpPr>
        <p:spPr>
          <a:xfrm>
            <a:off x="854964" y="3790188"/>
            <a:ext cx="7571232" cy="84124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28116" y="3817620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 0건일 때</a:t>
            </a:r>
            <a:endParaRPr lang="ko-KR" sz="800" dirty="0"/>
          </a:p>
        </p:txBody>
      </p:sp>
      <p:sp>
        <p:nvSpPr>
          <p:cNvPr id="48" name="Shape 46"/>
          <p:cNvSpPr/>
          <p:nvPr/>
        </p:nvSpPr>
        <p:spPr>
          <a:xfrm>
            <a:off x="854964" y="4000500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49" name="Shape 47"/>
          <p:cNvSpPr/>
          <p:nvPr/>
        </p:nvSpPr>
        <p:spPr>
          <a:xfrm>
            <a:off x="946404" y="4037076"/>
            <a:ext cx="123444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46404" y="4037076"/>
            <a:ext cx="123444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기록일시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2180844" y="4037076"/>
            <a:ext cx="137160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235708" y="4037076"/>
            <a:ext cx="131673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조작자(자기신고)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3552444" y="4037076"/>
            <a:ext cx="96012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607308" y="4037076"/>
            <a:ext cx="90525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900" dirty="0"/>
          </a:p>
        </p:txBody>
      </p:sp>
      <p:sp>
        <p:nvSpPr>
          <p:cNvPr id="55" name="Shape 53"/>
          <p:cNvSpPr/>
          <p:nvPr/>
        </p:nvSpPr>
        <p:spPr>
          <a:xfrm>
            <a:off x="4512564" y="4037076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567428" y="4037076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변경전</a:t>
            </a:r>
            <a:endParaRPr lang="ko-KR" sz="900" dirty="0"/>
          </a:p>
        </p:txBody>
      </p:sp>
      <p:sp>
        <p:nvSpPr>
          <p:cNvPr id="57" name="Shape 55"/>
          <p:cNvSpPr/>
          <p:nvPr/>
        </p:nvSpPr>
        <p:spPr>
          <a:xfrm>
            <a:off x="6423660" y="4037076"/>
            <a:ext cx="1911096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478524" y="4037076"/>
            <a:ext cx="1856232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변경후</a:t>
            </a:r>
            <a:endParaRPr lang="ko-KR" sz="900" dirty="0"/>
          </a:p>
        </p:txBody>
      </p:sp>
      <p:sp>
        <p:nvSpPr>
          <p:cNvPr id="59" name="Text 57"/>
          <p:cNvSpPr/>
          <p:nvPr/>
        </p:nvSpPr>
        <p:spPr>
          <a:xfrm>
            <a:off x="946404" y="4270248"/>
            <a:ext cx="7388352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표시할 변경기록이 없습니다.</a:t>
            </a:r>
            <a:endParaRPr lang="ko-KR" sz="950" dirty="0"/>
          </a:p>
        </p:txBody>
      </p:sp>
      <p:sp>
        <p:nvSpPr>
          <p:cNvPr id="60" name="Text 58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 열람</a:t>
            </a:r>
            <a:endParaRPr lang="ko-KR" sz="3000" dirty="0"/>
          </a:p>
        </p:txBody>
      </p:sp>
      <p:sp>
        <p:nvSpPr>
          <p:cNvPr id="61" name="Shape 59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DLG-LOG-01  변경이력 열람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F-COM-008</a:t>
            </a:r>
            <a:endParaRPr lang="ko-KR" sz="1000" dirty="0"/>
          </a:p>
        </p:txBody>
      </p:sp>
      <p:sp>
        <p:nvSpPr>
          <p:cNvPr id="64" name="Shape 62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262872" y="137111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897112" y="137111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67" name="Text 65"/>
          <p:cNvSpPr/>
          <p:nvPr/>
        </p:nvSpPr>
        <p:spPr>
          <a:xfrm>
            <a:off x="9313164" y="142140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진입점이 같은 Modal을 연다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9262872" y="164543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897112" y="164543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71" name="Text 69"/>
          <p:cNvSpPr/>
          <p:nvPr/>
        </p:nvSpPr>
        <p:spPr>
          <a:xfrm>
            <a:off x="9313164" y="169572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SP-LOG-01 RS1 그대로. LogId는 표시하지 않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는다</a:t>
            </a:r>
            <a:endParaRPr lang="ko-KR" sz="1000" dirty="0"/>
          </a:p>
        </p:txBody>
      </p:sp>
      <p:sp>
        <p:nvSpPr>
          <p:cNvPr id="72" name="Shape 70"/>
          <p:cNvSpPr/>
          <p:nvPr/>
        </p:nvSpPr>
        <p:spPr>
          <a:xfrm>
            <a:off x="8897112" y="2083867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262872" y="2083867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8897112" y="2083867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75" name="Text 73"/>
          <p:cNvSpPr/>
          <p:nvPr/>
        </p:nvSpPr>
        <p:spPr>
          <a:xfrm>
            <a:off x="9313164" y="2134159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인증되지 않은 자기신고 값이다</a:t>
            </a:r>
            <a:endParaRPr lang="ko-KR" sz="1000" dirty="0"/>
          </a:p>
        </p:txBody>
      </p:sp>
      <p:sp>
        <p:nvSpPr>
          <p:cNvPr id="76" name="Shape 74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262872" y="235818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8897112" y="235818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79" name="Text 77"/>
          <p:cNvSpPr/>
          <p:nvPr/>
        </p:nvSpPr>
        <p:spPr>
          <a:xfrm>
            <a:off x="9313164" y="240847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4000자에서 잘렸을 수 있다. 복원 근거가 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니다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8897112" y="2796616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9262872" y="2796616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8897112" y="2796616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83" name="Text 81"/>
          <p:cNvSpPr/>
          <p:nvPr/>
        </p:nvSpPr>
        <p:spPr>
          <a:xfrm>
            <a:off x="9313164" y="2846908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0건은 오류가 아니다. Code=0을 돌려준다</a:t>
            </a:r>
            <a:endParaRPr lang="ko-KR" sz="1000" dirty="0"/>
          </a:p>
        </p:txBody>
      </p:sp>
      <p:sp>
        <p:nvSpPr>
          <p:cNvPr id="84" name="Shape 82"/>
          <p:cNvSpPr/>
          <p:nvPr/>
        </p:nvSpPr>
        <p:spPr>
          <a:xfrm>
            <a:off x="8897112" y="307093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9262872" y="307093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313164" y="312122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읽기 전용이다. 편집·삭제·재적용 Action이 없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다.</a:t>
            </a:r>
            <a:endParaRPr lang="ko-KR" sz="1000" dirty="0"/>
          </a:p>
        </p:txBody>
      </p:sp>
      <p:sp>
        <p:nvSpPr>
          <p:cNvPr id="87" name="Shape 85"/>
          <p:cNvSpPr/>
          <p:nvPr/>
        </p:nvSpPr>
        <p:spPr>
          <a:xfrm>
            <a:off x="8897112" y="350936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9262872" y="350936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9313164" y="355965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정렬은 기록일시 최신순 고정이고 사용자 정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렬이 없다.</a:t>
            </a:r>
            <a:endParaRPr lang="ko-KR" sz="1000" dirty="0"/>
          </a:p>
        </p:txBody>
      </p:sp>
      <p:sp>
        <p:nvSpPr>
          <p:cNvPr id="90" name="Shape 88"/>
          <p:cNvSpPr/>
          <p:nvPr/>
        </p:nvSpPr>
        <p:spPr>
          <a:xfrm>
            <a:off x="8897112" y="394779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262872" y="394779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9313164" y="399808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페이징을 두지 않는다. SP-LOG-01만 호출한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다.</a:t>
            </a:r>
            <a:endParaRPr lang="ko-KR" sz="1000" dirty="0"/>
          </a:p>
        </p:txBody>
      </p:sp>
      <p:sp>
        <p:nvSpPr>
          <p:cNvPr id="93" name="Shape 91"/>
          <p:cNvSpPr/>
          <p:nvPr/>
        </p:nvSpPr>
        <p:spPr>
          <a:xfrm>
            <a:off x="8897112" y="4386224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9262872" y="4386224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9313164" y="4436516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행에서는 수검자 변경만 보인다.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897112" y="4660544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262872" y="4660544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9313164" y="4710836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열람은 변경이력을 남기지 않는다.</a:t>
            </a:r>
            <a:endParaRPr lang="ko-KR" sz="1000" dirty="0"/>
          </a:p>
        </p:txBody>
      </p:sp>
      <p:sp>
        <p:nvSpPr>
          <p:cNvPr id="99" name="Shape 97"/>
          <p:cNvSpPr/>
          <p:nvPr/>
        </p:nvSpPr>
        <p:spPr>
          <a:xfrm>
            <a:off x="708660" y="221742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708660" y="221742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01" name="Shape 99"/>
          <p:cNvSpPr/>
          <p:nvPr/>
        </p:nvSpPr>
        <p:spPr>
          <a:xfrm>
            <a:off x="708660" y="300380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708660" y="300380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03" name="Shape 101"/>
          <p:cNvSpPr/>
          <p:nvPr/>
        </p:nvSpPr>
        <p:spPr>
          <a:xfrm>
            <a:off x="2034540" y="277291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034540" y="277291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5" name="Shape 103"/>
          <p:cNvSpPr/>
          <p:nvPr/>
        </p:nvSpPr>
        <p:spPr>
          <a:xfrm>
            <a:off x="4366260" y="277291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366260" y="277291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7" name="Shape 105"/>
          <p:cNvSpPr/>
          <p:nvPr/>
        </p:nvSpPr>
        <p:spPr>
          <a:xfrm>
            <a:off x="708660" y="4101084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708660" y="4101084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20624" y="932688"/>
            <a:ext cx="8439912" cy="5349240"/>
          </a:xfrm>
          <a:prstGeom prst="rect">
            <a:avLst/>
          </a:prstGeom>
          <a:ln w="19050">
            <a:solidFill>
              <a:srgbClr val="C8C8C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20624" y="932688"/>
            <a:ext cx="8439912" cy="256032"/>
          </a:xfrm>
          <a:prstGeom prst="rect">
            <a:avLst/>
          </a:prstGeom>
          <a:solidFill>
            <a:srgbClr val="F2F2F2"/>
          </a:solidFill>
          <a:ln w="9525">
            <a:solidFill>
              <a:srgbClr val="C8C8C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48640" y="932688"/>
            <a:ext cx="548640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 상단 Navigation [휴무일 관리] (WF-00)   —   비활성(Modal)</a:t>
            </a:r>
            <a:endParaRPr lang="ko-KR" sz="800" dirty="0"/>
          </a:p>
        </p:txBody>
      </p:sp>
      <p:sp>
        <p:nvSpPr>
          <p:cNvPr id="5" name="Shape 3"/>
          <p:cNvSpPr/>
          <p:nvPr/>
        </p:nvSpPr>
        <p:spPr>
          <a:xfrm>
            <a:off x="708660" y="1641348"/>
            <a:ext cx="7863840" cy="3931920"/>
          </a:xfrm>
          <a:prstGeom prst="rect">
            <a:avLst/>
          </a:prstGeom>
          <a:solidFill>
            <a:srgbClr val="FFFFFF"/>
          </a:solidFill>
          <a:ln w="25400">
            <a:solidFill>
              <a:srgbClr val="1F386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solidFill>
            <a:srgbClr val="FFFFFF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09060" y="1504188"/>
            <a:ext cx="146304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950" dirty="0"/>
          </a:p>
        </p:txBody>
      </p:sp>
      <p:sp>
        <p:nvSpPr>
          <p:cNvPr id="8" name="Shape 6"/>
          <p:cNvSpPr/>
          <p:nvPr/>
        </p:nvSpPr>
        <p:spPr>
          <a:xfrm>
            <a:off x="746607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46607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닫기</a:t>
            </a:r>
            <a:endParaRPr lang="ko-KR" sz="950" dirty="0"/>
          </a:p>
        </p:txBody>
      </p:sp>
      <p:sp>
        <p:nvSpPr>
          <p:cNvPr id="10" name="Shape 8"/>
          <p:cNvSpPr/>
          <p:nvPr/>
        </p:nvSpPr>
        <p:spPr>
          <a:xfrm>
            <a:off x="641451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1451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</a:t>
            </a:r>
            <a:endParaRPr lang="ko-KR" sz="950" dirty="0"/>
          </a:p>
        </p:txBody>
      </p:sp>
      <p:sp>
        <p:nvSpPr>
          <p:cNvPr id="12" name="Shape 10"/>
          <p:cNvSpPr/>
          <p:nvPr/>
        </p:nvSpPr>
        <p:spPr>
          <a:xfrm>
            <a:off x="536295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6295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</a:t>
            </a:r>
            <a:endParaRPr lang="ko-KR" sz="950" dirty="0"/>
          </a:p>
        </p:txBody>
      </p:sp>
      <p:sp>
        <p:nvSpPr>
          <p:cNvPr id="14" name="Shape 12"/>
          <p:cNvSpPr/>
          <p:nvPr/>
        </p:nvSpPr>
        <p:spPr>
          <a:xfrm>
            <a:off x="4311396" y="5189220"/>
            <a:ext cx="960120" cy="256032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11396" y="5189220"/>
            <a:ext cx="960120" cy="25603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</a:t>
            </a:r>
            <a:endParaRPr lang="ko-KR" sz="950" dirty="0"/>
          </a:p>
        </p:txBody>
      </p:sp>
      <p:sp>
        <p:nvSpPr>
          <p:cNvPr id="16" name="Shape 14"/>
          <p:cNvSpPr/>
          <p:nvPr/>
        </p:nvSpPr>
        <p:spPr>
          <a:xfrm>
            <a:off x="854964" y="1879092"/>
            <a:ext cx="7571232" cy="566928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8116" y="1906524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00" dirty="0"/>
          </a:p>
        </p:txBody>
      </p:sp>
      <p:sp>
        <p:nvSpPr>
          <p:cNvPr id="18" name="Shape 16"/>
          <p:cNvSpPr/>
          <p:nvPr/>
        </p:nvSpPr>
        <p:spPr>
          <a:xfrm>
            <a:off x="854964" y="2089404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19" name="Shape 17"/>
          <p:cNvSpPr/>
          <p:nvPr/>
        </p:nvSpPr>
        <p:spPr>
          <a:xfrm>
            <a:off x="7566660" y="2125980"/>
            <a:ext cx="731520" cy="237744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566660" y="2125980"/>
            <a:ext cx="731520" cy="23774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50" dirty="0">
                <a:solidFill>
                  <a:srgbClr val="1F386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950" dirty="0"/>
          </a:p>
        </p:txBody>
      </p:sp>
      <p:sp>
        <p:nvSpPr>
          <p:cNvPr id="21" name="Text 19"/>
          <p:cNvSpPr/>
          <p:nvPr/>
        </p:nvSpPr>
        <p:spPr>
          <a:xfrm>
            <a:off x="946404" y="21259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조회기간</a:t>
            </a:r>
            <a:endParaRPr lang="ko-KR" sz="800" dirty="0"/>
          </a:p>
        </p:txBody>
      </p:sp>
      <p:sp>
        <p:nvSpPr>
          <p:cNvPr id="22" name="Shape 20"/>
          <p:cNvSpPr/>
          <p:nvPr/>
        </p:nvSpPr>
        <p:spPr>
          <a:xfrm>
            <a:off x="1568196" y="2125980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568196" y="2125980"/>
            <a:ext cx="9601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2026-01-01</a:t>
            </a:r>
            <a:endParaRPr lang="ko-KR" sz="900" dirty="0"/>
          </a:p>
        </p:txBody>
      </p:sp>
      <p:sp>
        <p:nvSpPr>
          <p:cNvPr id="24" name="Text 22"/>
          <p:cNvSpPr/>
          <p:nvPr/>
        </p:nvSpPr>
        <p:spPr>
          <a:xfrm>
            <a:off x="2674620" y="2125980"/>
            <a:ext cx="146304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~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2820924" y="2125980"/>
            <a:ext cx="9601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820924" y="2125980"/>
            <a:ext cx="9601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2027-12-31</a:t>
            </a:r>
            <a:endParaRPr lang="ko-KR" sz="900" dirty="0"/>
          </a:p>
        </p:txBody>
      </p:sp>
      <p:sp>
        <p:nvSpPr>
          <p:cNvPr id="27" name="Text 25"/>
          <p:cNvSpPr/>
          <p:nvPr/>
        </p:nvSpPr>
        <p:spPr>
          <a:xfrm>
            <a:off x="3927348" y="2125980"/>
            <a:ext cx="384048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00" dirty="0"/>
          </a:p>
        </p:txBody>
      </p:sp>
      <p:sp>
        <p:nvSpPr>
          <p:cNvPr id="28" name="Shape 26"/>
          <p:cNvSpPr/>
          <p:nvPr/>
        </p:nvSpPr>
        <p:spPr>
          <a:xfrm>
            <a:off x="4311396" y="2125980"/>
            <a:ext cx="100584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311396" y="2125980"/>
            <a:ext cx="100584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</a:t>
            </a:r>
            <a:endParaRPr lang="ko-KR" sz="900" dirty="0"/>
          </a:p>
        </p:txBody>
      </p:sp>
      <p:sp>
        <p:nvSpPr>
          <p:cNvPr id="30" name="Shape 28"/>
          <p:cNvSpPr/>
          <p:nvPr/>
        </p:nvSpPr>
        <p:spPr>
          <a:xfrm>
            <a:off x="854964" y="2537460"/>
            <a:ext cx="7571232" cy="274320"/>
          </a:xfrm>
          <a:prstGeom prst="rect">
            <a:avLst/>
          </a:prstGeom>
          <a:solidFill>
            <a:srgbClr val="F2F2F2"/>
          </a:solidFill>
          <a:ln w="19050">
            <a:solidFill>
              <a:srgbClr val="1F386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82980" y="2537460"/>
            <a:ext cx="731520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!   공휴일 등재가 2027-12-27 에 끝납니다.  남은 기간 120일 — 갱신이 필요합니다</a:t>
            </a:r>
            <a:endParaRPr lang="ko-KR" sz="950" dirty="0"/>
          </a:p>
        </p:txBody>
      </p:sp>
      <p:sp>
        <p:nvSpPr>
          <p:cNvPr id="32" name="Shape 30"/>
          <p:cNvSpPr/>
          <p:nvPr/>
        </p:nvSpPr>
        <p:spPr>
          <a:xfrm>
            <a:off x="854964" y="2921508"/>
            <a:ext cx="7571232" cy="105156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28116" y="2948940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목록  ·  휴무일자 오름차순 고정</a:t>
            </a:r>
            <a:endParaRPr lang="ko-KR" sz="800" dirty="0"/>
          </a:p>
        </p:txBody>
      </p:sp>
      <p:sp>
        <p:nvSpPr>
          <p:cNvPr id="34" name="Shape 32"/>
          <p:cNvSpPr/>
          <p:nvPr/>
        </p:nvSpPr>
        <p:spPr>
          <a:xfrm>
            <a:off x="854964" y="3131820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35" name="Shape 33"/>
          <p:cNvSpPr/>
          <p:nvPr/>
        </p:nvSpPr>
        <p:spPr>
          <a:xfrm>
            <a:off x="946404" y="316839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946404" y="316839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</a:t>
            </a:r>
            <a:endParaRPr lang="ko-KR" sz="900" dirty="0"/>
          </a:p>
        </p:txBody>
      </p:sp>
      <p:sp>
        <p:nvSpPr>
          <p:cNvPr id="37" name="Shape 35"/>
          <p:cNvSpPr/>
          <p:nvPr/>
        </p:nvSpPr>
        <p:spPr>
          <a:xfrm>
            <a:off x="2043684" y="3168396"/>
            <a:ext cx="17373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098548" y="3168396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</a:t>
            </a:r>
            <a:endParaRPr lang="ko-KR" sz="900" dirty="0"/>
          </a:p>
        </p:txBody>
      </p:sp>
      <p:sp>
        <p:nvSpPr>
          <p:cNvPr id="39" name="Shape 37"/>
          <p:cNvSpPr/>
          <p:nvPr/>
        </p:nvSpPr>
        <p:spPr>
          <a:xfrm>
            <a:off x="3781044" y="3168396"/>
            <a:ext cx="109728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781044" y="3168396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휴무구분</a:t>
            </a:r>
            <a:endParaRPr lang="ko-KR" sz="900" dirty="0"/>
          </a:p>
        </p:txBody>
      </p:sp>
      <p:sp>
        <p:nvSpPr>
          <p:cNvPr id="41" name="Shape 39"/>
          <p:cNvSpPr/>
          <p:nvPr/>
        </p:nvSpPr>
        <p:spPr>
          <a:xfrm>
            <a:off x="4878324" y="3168396"/>
            <a:ext cx="822960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878324" y="3168396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ko-KR" sz="900" dirty="0"/>
          </a:p>
        </p:txBody>
      </p:sp>
      <p:sp>
        <p:nvSpPr>
          <p:cNvPr id="43" name="Shape 41"/>
          <p:cNvSpPr/>
          <p:nvPr/>
        </p:nvSpPr>
        <p:spPr>
          <a:xfrm>
            <a:off x="5701284" y="3168396"/>
            <a:ext cx="2633472" cy="17830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5756148" y="3168396"/>
            <a:ext cx="257860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900" dirty="0"/>
          </a:p>
        </p:txBody>
      </p:sp>
      <p:sp>
        <p:nvSpPr>
          <p:cNvPr id="45" name="Shape 43"/>
          <p:cNvSpPr/>
          <p:nvPr/>
        </p:nvSpPr>
        <p:spPr>
          <a:xfrm>
            <a:off x="946404" y="33467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46404" y="334670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2026-12-25</a:t>
            </a:r>
            <a:endParaRPr lang="ko-KR" sz="900" dirty="0"/>
          </a:p>
        </p:txBody>
      </p:sp>
      <p:sp>
        <p:nvSpPr>
          <p:cNvPr id="47" name="Shape 45"/>
          <p:cNvSpPr/>
          <p:nvPr/>
        </p:nvSpPr>
        <p:spPr>
          <a:xfrm>
            <a:off x="2043684" y="3346704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098548" y="3346704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성탄절</a:t>
            </a:r>
            <a:endParaRPr lang="ko-KR" sz="900" dirty="0"/>
          </a:p>
        </p:txBody>
      </p:sp>
      <p:sp>
        <p:nvSpPr>
          <p:cNvPr id="49" name="Shape 47"/>
          <p:cNvSpPr/>
          <p:nvPr/>
        </p:nvSpPr>
        <p:spPr>
          <a:xfrm>
            <a:off x="3781044" y="3346704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781044" y="3346704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</a:t>
            </a:r>
            <a:endParaRPr lang="ko-KR" sz="900" dirty="0"/>
          </a:p>
        </p:txBody>
      </p:sp>
      <p:sp>
        <p:nvSpPr>
          <p:cNvPr id="51" name="Shape 49"/>
          <p:cNvSpPr/>
          <p:nvPr/>
        </p:nvSpPr>
        <p:spPr>
          <a:xfrm>
            <a:off x="4878324" y="3346704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78324" y="3346704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53" name="Shape 51"/>
          <p:cNvSpPr/>
          <p:nvPr/>
        </p:nvSpPr>
        <p:spPr>
          <a:xfrm>
            <a:off x="5701284" y="3346704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946404" y="352501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46404" y="352501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2026-12-26</a:t>
            </a:r>
            <a:endParaRPr lang="ko-KR" sz="900" dirty="0"/>
          </a:p>
        </p:txBody>
      </p:sp>
      <p:sp>
        <p:nvSpPr>
          <p:cNvPr id="56" name="Shape 54"/>
          <p:cNvSpPr/>
          <p:nvPr/>
        </p:nvSpPr>
        <p:spPr>
          <a:xfrm>
            <a:off x="2043684" y="3525012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2098548" y="3525012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휴진일</a:t>
            </a:r>
            <a:endParaRPr lang="ko-KR" sz="900" dirty="0"/>
          </a:p>
        </p:txBody>
      </p:sp>
      <p:sp>
        <p:nvSpPr>
          <p:cNvPr id="58" name="Shape 56"/>
          <p:cNvSpPr/>
          <p:nvPr/>
        </p:nvSpPr>
        <p:spPr>
          <a:xfrm>
            <a:off x="3781044" y="3525012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3781044" y="3525012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자체휴무일</a:t>
            </a:r>
            <a:endParaRPr lang="ko-KR" sz="900" dirty="0"/>
          </a:p>
        </p:txBody>
      </p:sp>
      <p:sp>
        <p:nvSpPr>
          <p:cNvPr id="60" name="Shape 58"/>
          <p:cNvSpPr/>
          <p:nvPr/>
        </p:nvSpPr>
        <p:spPr>
          <a:xfrm>
            <a:off x="4878324" y="3525012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78324" y="3525012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62" name="Shape 60"/>
          <p:cNvSpPr/>
          <p:nvPr/>
        </p:nvSpPr>
        <p:spPr>
          <a:xfrm>
            <a:off x="5701284" y="3525012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5756148" y="3525012"/>
            <a:ext cx="2578608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정기 휴진</a:t>
            </a:r>
            <a:endParaRPr lang="ko-KR" sz="900" dirty="0"/>
          </a:p>
        </p:txBody>
      </p:sp>
      <p:sp>
        <p:nvSpPr>
          <p:cNvPr id="64" name="Shape 62"/>
          <p:cNvSpPr/>
          <p:nvPr/>
        </p:nvSpPr>
        <p:spPr>
          <a:xfrm>
            <a:off x="946404" y="370332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46404" y="370332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2027-01-01</a:t>
            </a:r>
            <a:endParaRPr lang="ko-KR" sz="900" dirty="0"/>
          </a:p>
        </p:txBody>
      </p:sp>
      <p:sp>
        <p:nvSpPr>
          <p:cNvPr id="66" name="Shape 64"/>
          <p:cNvSpPr/>
          <p:nvPr/>
        </p:nvSpPr>
        <p:spPr>
          <a:xfrm>
            <a:off x="2043684" y="3703320"/>
            <a:ext cx="17373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2098548" y="3703320"/>
            <a:ext cx="1682496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신정</a:t>
            </a:r>
            <a:endParaRPr lang="ko-KR" sz="900" dirty="0"/>
          </a:p>
        </p:txBody>
      </p:sp>
      <p:sp>
        <p:nvSpPr>
          <p:cNvPr id="68" name="Shape 66"/>
          <p:cNvSpPr/>
          <p:nvPr/>
        </p:nvSpPr>
        <p:spPr>
          <a:xfrm>
            <a:off x="3781044" y="3703320"/>
            <a:ext cx="109728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3781044" y="3703320"/>
            <a:ext cx="109728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</a:t>
            </a:r>
            <a:endParaRPr lang="ko-KR" sz="900" dirty="0"/>
          </a:p>
        </p:txBody>
      </p:sp>
      <p:sp>
        <p:nvSpPr>
          <p:cNvPr id="70" name="Shape 68"/>
          <p:cNvSpPr/>
          <p:nvPr/>
        </p:nvSpPr>
        <p:spPr>
          <a:xfrm>
            <a:off x="4878324" y="3703320"/>
            <a:ext cx="822960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4878324" y="3703320"/>
            <a:ext cx="822960" cy="1783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76767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72" name="Shape 70"/>
          <p:cNvSpPr/>
          <p:nvPr/>
        </p:nvSpPr>
        <p:spPr>
          <a:xfrm>
            <a:off x="5701284" y="3703320"/>
            <a:ext cx="2633472" cy="178308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854964" y="4082796"/>
            <a:ext cx="7571232" cy="868680"/>
          </a:xfrm>
          <a:prstGeom prst="rect">
            <a:avLst/>
          </a:prstGeom>
          <a:ln w="19050">
            <a:solidFill>
              <a:srgbClr val="1F3864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928116" y="4110228"/>
            <a:ext cx="7424928" cy="164592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b="1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자체휴무일 입력  ·  법정·대체 공휴일 행을 고르면 비활성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854964" y="4293108"/>
            <a:ext cx="7571232" cy="0"/>
          </a:xfrm>
          <a:prstGeom prst="line">
            <a:avLst/>
          </a:prstGeom>
          <a:noFill/>
          <a:ln w="9525">
            <a:solidFill>
              <a:srgbClr val="8C9BB5"/>
            </a:solidFill>
            <a:prstDash val="solid"/>
            <a:tailEnd type="none"/>
          </a:ln>
        </p:spPr>
      </p:sp>
      <p:sp>
        <p:nvSpPr>
          <p:cNvPr id="76" name="Text 74"/>
          <p:cNvSpPr/>
          <p:nvPr/>
        </p:nvSpPr>
        <p:spPr>
          <a:xfrm>
            <a:off x="946404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1568196" y="4329684"/>
            <a:ext cx="105156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1568196" y="4329684"/>
            <a:ext cx="105156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2027-03-14</a:t>
            </a:r>
            <a:endParaRPr lang="ko-KR" sz="900" dirty="0"/>
          </a:p>
        </p:txBody>
      </p:sp>
      <p:sp>
        <p:nvSpPr>
          <p:cNvPr id="79" name="Text 77"/>
          <p:cNvSpPr/>
          <p:nvPr/>
        </p:nvSpPr>
        <p:spPr>
          <a:xfrm>
            <a:off x="2784348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</a:t>
            </a:r>
            <a:endParaRPr lang="ko-KR" sz="800" dirty="0"/>
          </a:p>
        </p:txBody>
      </p:sp>
      <p:sp>
        <p:nvSpPr>
          <p:cNvPr id="80" name="Shape 78"/>
          <p:cNvSpPr/>
          <p:nvPr/>
        </p:nvSpPr>
        <p:spPr>
          <a:xfrm>
            <a:off x="3406140" y="4329684"/>
            <a:ext cx="1874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3406140" y="4329684"/>
            <a:ext cx="1874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센터 정기 휴진일</a:t>
            </a:r>
            <a:endParaRPr lang="ko-KR" sz="900" dirty="0"/>
          </a:p>
        </p:txBody>
      </p:sp>
      <p:sp>
        <p:nvSpPr>
          <p:cNvPr id="82" name="Text 80"/>
          <p:cNvSpPr/>
          <p:nvPr/>
        </p:nvSpPr>
        <p:spPr>
          <a:xfrm>
            <a:off x="5445252" y="4329684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사용여부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6067044" y="4329684"/>
            <a:ext cx="5029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6067044" y="4329684"/>
            <a:ext cx="5029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Y</a:t>
            </a:r>
            <a:endParaRPr lang="ko-KR" sz="900" dirty="0"/>
          </a:p>
        </p:txBody>
      </p:sp>
      <p:sp>
        <p:nvSpPr>
          <p:cNvPr id="85" name="Text 83"/>
          <p:cNvSpPr/>
          <p:nvPr/>
        </p:nvSpPr>
        <p:spPr>
          <a:xfrm>
            <a:off x="946404" y="4640580"/>
            <a:ext cx="621792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비고</a:t>
            </a:r>
            <a:endParaRPr lang="ko-KR" sz="800" dirty="0"/>
          </a:p>
        </p:txBody>
      </p:sp>
      <p:sp>
        <p:nvSpPr>
          <p:cNvPr id="86" name="Shape 84"/>
          <p:cNvSpPr/>
          <p:nvPr/>
        </p:nvSpPr>
        <p:spPr>
          <a:xfrm>
            <a:off x="1568196" y="4640580"/>
            <a:ext cx="4160520" cy="219456"/>
          </a:xfrm>
          <a:prstGeom prst="rect">
            <a:avLst/>
          </a:prstGeom>
          <a:ln w="12700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1568196" y="4640580"/>
            <a:ext cx="4160520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9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점검</a:t>
            </a:r>
            <a:endParaRPr lang="ko-KR" sz="900" dirty="0"/>
          </a:p>
        </p:txBody>
      </p:sp>
      <p:sp>
        <p:nvSpPr>
          <p:cNvPr id="88" name="Text 86"/>
          <p:cNvSpPr/>
          <p:nvPr/>
        </p:nvSpPr>
        <p:spPr>
          <a:xfrm>
            <a:off x="420624" y="164592"/>
            <a:ext cx="841248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관리</a:t>
            </a:r>
            <a:endParaRPr lang="ko-KR" sz="3000" dirty="0"/>
          </a:p>
        </p:txBody>
      </p:sp>
      <p:sp>
        <p:nvSpPr>
          <p:cNvPr id="89" name="Shape 87"/>
          <p:cNvSpPr/>
          <p:nvPr/>
        </p:nvSpPr>
        <p:spPr>
          <a:xfrm>
            <a:off x="8897112" y="932688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262872" y="932688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313164" y="982980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  휴무일 관리 · Modal ·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F-COM-009</a:t>
            </a:r>
            <a:endParaRPr lang="ko-KR" sz="1000" dirty="0"/>
          </a:p>
        </p:txBody>
      </p:sp>
      <p:sp>
        <p:nvSpPr>
          <p:cNvPr id="92" name="Shape 90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9262872" y="137111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8897112" y="137111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95" name="Text 93"/>
          <p:cNvSpPr/>
          <p:nvPr/>
        </p:nvSpPr>
        <p:spPr>
          <a:xfrm>
            <a:off x="9313164" y="142140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기간은 업무정책이 정한 공휴일 등재 범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위다</a:t>
            </a:r>
            <a:endParaRPr lang="ko-KR" sz="1000" dirty="0"/>
          </a:p>
        </p:txBody>
      </p:sp>
      <p:sp>
        <p:nvSpPr>
          <p:cNvPr id="96" name="Shape 94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262872" y="1809547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8897112" y="1809547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99" name="Text 97"/>
          <p:cNvSpPr/>
          <p:nvPr/>
        </p:nvSpPr>
        <p:spPr>
          <a:xfrm>
            <a:off x="9313164" y="1859839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잔여가 임계 미만일 때만 나타난다. 편집을 막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 않는다</a:t>
            </a:r>
            <a:endParaRPr lang="ko-KR" sz="1000" dirty="0"/>
          </a:p>
        </p:txBody>
      </p:sp>
      <p:sp>
        <p:nvSpPr>
          <p:cNvPr id="100" name="Shape 98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9262872" y="224797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8897112" y="224797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03" name="Text 101"/>
          <p:cNvSpPr/>
          <p:nvPr/>
        </p:nvSpPr>
        <p:spPr>
          <a:xfrm>
            <a:off x="9313164" y="229826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SP-HOL-01 RS1 의 다섯 컬럼. 일요일은 목록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 없다</a:t>
            </a:r>
            <a:endParaRPr lang="ko-KR" sz="1000" dirty="0"/>
          </a:p>
        </p:txBody>
      </p:sp>
      <p:sp>
        <p:nvSpPr>
          <p:cNvPr id="104" name="Shape 102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9262872" y="2686406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8897112" y="2686406"/>
            <a:ext cx="365760" cy="438429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07" name="Text 105"/>
          <p:cNvSpPr/>
          <p:nvPr/>
        </p:nvSpPr>
        <p:spPr>
          <a:xfrm>
            <a:off x="9313164" y="2736698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법정공휴일 · 대체공휴일 · 자체휴무일 세 값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</a:t>
            </a:r>
            <a:endParaRPr lang="ko-KR" sz="1000" dirty="0"/>
          </a:p>
        </p:txBody>
      </p:sp>
      <p:sp>
        <p:nvSpPr>
          <p:cNvPr id="108" name="Shape 106"/>
          <p:cNvSpPr/>
          <p:nvPr/>
        </p:nvSpPr>
        <p:spPr>
          <a:xfrm>
            <a:off x="8897112" y="3124835"/>
            <a:ext cx="36576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9262872" y="3124835"/>
            <a:ext cx="2697480" cy="274320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8897112" y="3124835"/>
            <a:ext cx="365760" cy="274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  <p:sp>
        <p:nvSpPr>
          <p:cNvPr id="111" name="Text 109"/>
          <p:cNvSpPr/>
          <p:nvPr/>
        </p:nvSpPr>
        <p:spPr>
          <a:xfrm>
            <a:off x="9313164" y="3175127"/>
            <a:ext cx="2596896" cy="173736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추가하면 휴무구분은 항상 자체휴무일이다</a:t>
            </a:r>
            <a:endParaRPr lang="ko-KR" sz="1000" dirty="0"/>
          </a:p>
        </p:txBody>
      </p:sp>
      <p:sp>
        <p:nvSpPr>
          <p:cNvPr id="112" name="Shape 110"/>
          <p:cNvSpPr/>
          <p:nvPr/>
        </p:nvSpPr>
        <p:spPr>
          <a:xfrm>
            <a:off x="8897112" y="3399155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9262872" y="3399155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9313164" y="3449447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 · 대체 공휴일 행은 회색이며 선택해도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입력행에 싣지 않는다.</a:t>
            </a:r>
            <a:endParaRPr lang="ko-KR" sz="1000" dirty="0"/>
          </a:p>
        </p:txBody>
      </p:sp>
      <p:sp>
        <p:nvSpPr>
          <p:cNvPr id="115" name="Shape 113"/>
          <p:cNvSpPr/>
          <p:nvPr/>
        </p:nvSpPr>
        <p:spPr>
          <a:xfrm>
            <a:off x="8897112" y="383758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9262872" y="383758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9313164" y="388787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수정은 휴무일명 · 사용여부 · 비고만 바꾼다.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휴무일자는 바꾸지 않는다.</a:t>
            </a:r>
            <a:endParaRPr lang="ko-KR" sz="1000" dirty="0"/>
          </a:p>
        </p:txBody>
      </p:sp>
      <p:sp>
        <p:nvSpPr>
          <p:cNvPr id="118" name="Shape 116"/>
          <p:cNvSpPr/>
          <p:nvPr/>
        </p:nvSpPr>
        <p:spPr>
          <a:xfrm>
            <a:off x="8897112" y="4276014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9262872" y="4276014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9313164" y="4326306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삭제는 물리 삭제다. 사용여부 0 은 일시 무효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화이며 날짜를 계속 점유한다.</a:t>
            </a:r>
            <a:endParaRPr lang="ko-KR" sz="1000" dirty="0"/>
          </a:p>
        </p:txBody>
      </p:sp>
      <p:sp>
        <p:nvSpPr>
          <p:cNvPr id="121" name="Shape 119"/>
          <p:cNvSpPr/>
          <p:nvPr/>
        </p:nvSpPr>
        <p:spPr>
          <a:xfrm>
            <a:off x="8897112" y="471444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9262872" y="471444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9313164" y="476473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중복과 공백 휴무일명의 최종 판단은 저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장 프로시저가 한다.</a:t>
            </a:r>
            <a:endParaRPr lang="ko-KR" sz="1000" dirty="0"/>
          </a:p>
        </p:txBody>
      </p:sp>
      <p:sp>
        <p:nvSpPr>
          <p:cNvPr id="124" name="Shape 122"/>
          <p:cNvSpPr/>
          <p:nvPr/>
        </p:nvSpPr>
        <p:spPr>
          <a:xfrm>
            <a:off x="8897112" y="5152873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9262872" y="5152873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313164" y="5203165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Tab 을 열지 않으므로 열려 있는 업무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화면의 상태를 바꾸지 않는다.</a:t>
            </a:r>
            <a:endParaRPr lang="ko-KR" sz="1000" dirty="0"/>
          </a:p>
        </p:txBody>
      </p:sp>
      <p:sp>
        <p:nvSpPr>
          <p:cNvPr id="127" name="Shape 125"/>
          <p:cNvSpPr/>
          <p:nvPr/>
        </p:nvSpPr>
        <p:spPr>
          <a:xfrm>
            <a:off x="8897112" y="5591302"/>
            <a:ext cx="36576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9262872" y="5591302"/>
            <a:ext cx="2697480" cy="438429"/>
          </a:xfrm>
          <a:prstGeom prst="rect">
            <a:avLst/>
          </a:prstGeom>
          <a:ln w="9525">
            <a:solidFill>
              <a:srgbClr val="000000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9313164" y="5641594"/>
            <a:ext cx="2596896" cy="337845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 은 표시하지 않고 들고만 있는다.</a:t>
            </a:r>
            <a:endParaRPr lang="ko-KR" sz="10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· 삭제가 그 값을 함께 보낸다.</a:t>
            </a:r>
            <a:endParaRPr lang="ko-KR" sz="1000" dirty="0"/>
          </a:p>
        </p:txBody>
      </p:sp>
      <p:sp>
        <p:nvSpPr>
          <p:cNvPr id="130" name="Shape 128"/>
          <p:cNvSpPr/>
          <p:nvPr/>
        </p:nvSpPr>
        <p:spPr>
          <a:xfrm>
            <a:off x="708660" y="205282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08660" y="205282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1000" dirty="0"/>
          </a:p>
        </p:txBody>
      </p:sp>
      <p:sp>
        <p:nvSpPr>
          <p:cNvPr id="132" name="Shape 130"/>
          <p:cNvSpPr/>
          <p:nvPr/>
        </p:nvSpPr>
        <p:spPr>
          <a:xfrm>
            <a:off x="708660" y="256489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708660" y="256489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1000" dirty="0"/>
          </a:p>
        </p:txBody>
      </p:sp>
      <p:sp>
        <p:nvSpPr>
          <p:cNvPr id="134" name="Shape 132"/>
          <p:cNvSpPr/>
          <p:nvPr/>
        </p:nvSpPr>
        <p:spPr>
          <a:xfrm>
            <a:off x="708660" y="3337560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708660" y="3337560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1000" dirty="0"/>
          </a:p>
        </p:txBody>
      </p:sp>
      <p:sp>
        <p:nvSpPr>
          <p:cNvPr id="136" name="Shape 134"/>
          <p:cNvSpPr/>
          <p:nvPr/>
        </p:nvSpPr>
        <p:spPr>
          <a:xfrm>
            <a:off x="3634740" y="3147822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3634740" y="3147822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1000" dirty="0"/>
          </a:p>
        </p:txBody>
      </p:sp>
      <p:sp>
        <p:nvSpPr>
          <p:cNvPr id="138" name="Shape 136"/>
          <p:cNvSpPr/>
          <p:nvPr/>
        </p:nvSpPr>
        <p:spPr>
          <a:xfrm>
            <a:off x="708660" y="4407408"/>
            <a:ext cx="219456" cy="219456"/>
          </a:xfrm>
          <a:prstGeom prst="ellipse">
            <a:avLst/>
          </a:prstGeom>
          <a:solidFill>
            <a:srgbClr val="FF0000"/>
          </a:solidFill>
          <a:ln w="9525">
            <a:solidFill>
              <a:srgbClr val="FF0000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708660" y="4407408"/>
            <a:ext cx="219456" cy="219456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10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 화면 동작 규칙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A-1.  검증 표현 원칙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4261104" y="1170432"/>
            <a:ext cx="7507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302252" y="1211580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판단 가능한 선택불가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261104" y="1396312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302252" y="1437460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 + 사유 표시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입력필드 오류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4261104" y="162219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302252" y="166334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 오류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/ 상태전이 최종차단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261104" y="184807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302252" y="188922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Message + 중단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동시성 충돌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4261104" y="2073953"/>
            <a:ext cx="75072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02252" y="2115101"/>
            <a:ext cx="7424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Message + 최신값 Refresh</a:t>
            </a:r>
            <a:endParaRPr lang="ko-KR" sz="850" dirty="0"/>
          </a:p>
        </p:txBody>
      </p:sp>
      <p:sp>
        <p:nvSpPr>
          <p:cNvPr id="24" name="Text 22"/>
          <p:cNvSpPr/>
          <p:nvPr/>
        </p:nvSpPr>
        <p:spPr>
          <a:xfrm>
            <a:off x="420624" y="2409561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A-2.  화면별 NEX / AEX 편집 가부</a:t>
            </a:r>
            <a:endParaRPr lang="ko-KR" sz="1000" dirty="0"/>
          </a:p>
        </p:txBody>
      </p:sp>
      <p:sp>
        <p:nvSpPr>
          <p:cNvPr id="25" name="Shape 23"/>
          <p:cNvSpPr/>
          <p:nvPr/>
        </p:nvSpPr>
        <p:spPr>
          <a:xfrm>
            <a:off x="420624" y="2629017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1772" y="2670165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27" name="Shape 25"/>
          <p:cNvSpPr/>
          <p:nvPr/>
        </p:nvSpPr>
        <p:spPr>
          <a:xfrm>
            <a:off x="4261104" y="2629017"/>
            <a:ext cx="3753612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302252" y="2670165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850" dirty="0"/>
          </a:p>
        </p:txBody>
      </p:sp>
      <p:sp>
        <p:nvSpPr>
          <p:cNvPr id="29" name="Shape 27"/>
          <p:cNvSpPr/>
          <p:nvPr/>
        </p:nvSpPr>
        <p:spPr>
          <a:xfrm>
            <a:off x="8014716" y="2629017"/>
            <a:ext cx="3753612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8055864" y="2670165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850" dirty="0"/>
          </a:p>
        </p:txBody>
      </p:sp>
      <p:sp>
        <p:nvSpPr>
          <p:cNvPr id="31" name="Shape 29"/>
          <p:cNvSpPr/>
          <p:nvPr/>
        </p:nvSpPr>
        <p:spPr>
          <a:xfrm>
            <a:off x="420624" y="285489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1772" y="289604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Workbench 상세 (WF-WRK-01)</a:t>
            </a:r>
            <a:endParaRPr lang="ko-KR" sz="850" dirty="0"/>
          </a:p>
        </p:txBody>
      </p:sp>
      <p:sp>
        <p:nvSpPr>
          <p:cNvPr id="33" name="Shape 31"/>
          <p:cNvSpPr/>
          <p:nvPr/>
        </p:nvSpPr>
        <p:spPr>
          <a:xfrm>
            <a:off x="4261104" y="285489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302252" y="289604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35" name="Shape 33"/>
          <p:cNvSpPr/>
          <p:nvPr/>
        </p:nvSpPr>
        <p:spPr>
          <a:xfrm>
            <a:off x="8014716" y="285489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8055864" y="289604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37" name="Shape 35"/>
          <p:cNvSpPr/>
          <p:nvPr/>
        </p:nvSpPr>
        <p:spPr>
          <a:xfrm>
            <a:off x="420624" y="308077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12192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(WF-RSV-01)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261104" y="308077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302252" y="312192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8014716" y="308077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8055864" y="312192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3306658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334780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(DLG-RSV-01)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61104" y="330665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302252" y="334780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8014716" y="3306658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8055864" y="3347806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53253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357368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접수처리 (DLG-RCP-01)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4261104" y="353253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302252" y="357368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8014716" y="353253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055864" y="357368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420624" y="375841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461772" y="379956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추가검사변경 (DLG-RCP-02)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261104" y="375841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302252" y="379956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8014716" y="375841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8055864" y="379956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Editable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420624" y="3984299"/>
            <a:ext cx="38404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1772" y="4025447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 상태(CNR·CNC)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4261104" y="398429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302252" y="402544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8014716" y="3984299"/>
            <a:ext cx="3753612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055864" y="4025447"/>
            <a:ext cx="367131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50" dirty="0"/>
          </a:p>
        </p:txBody>
      </p:sp>
      <p:sp>
        <p:nvSpPr>
          <p:cNvPr id="67" name="Text 65"/>
          <p:cNvSpPr/>
          <p:nvPr/>
        </p:nvSpPr>
        <p:spPr>
          <a:xfrm>
            <a:off x="420624" y="4319908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A-3.  업무 상태별 Action 가부</a:t>
            </a:r>
            <a:endParaRPr lang="ko-KR" sz="1000" dirty="0"/>
          </a:p>
        </p:txBody>
      </p:sp>
      <p:sp>
        <p:nvSpPr>
          <p:cNvPr id="68" name="Shape 66"/>
          <p:cNvSpPr/>
          <p:nvPr/>
        </p:nvSpPr>
        <p:spPr>
          <a:xfrm>
            <a:off x="420624" y="4539364"/>
            <a:ext cx="20116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61772" y="458051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</a:t>
            </a:r>
            <a:endParaRPr lang="ko-KR" sz="850" dirty="0"/>
          </a:p>
        </p:txBody>
      </p:sp>
      <p:sp>
        <p:nvSpPr>
          <p:cNvPr id="70" name="Shape 68"/>
          <p:cNvSpPr/>
          <p:nvPr/>
        </p:nvSpPr>
        <p:spPr>
          <a:xfrm>
            <a:off x="2432304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2473452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4299509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340657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6166714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6207862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8033918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8075066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AEX 변경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9901123" y="4539364"/>
            <a:ext cx="1867205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9942271" y="458051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420624" y="476524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61772" y="480639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2432304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473452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4299509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40657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6166714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207862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8033918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075066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9901123" y="476524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9942271" y="480639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420624" y="499112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461772" y="503227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2432304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2473452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4299509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340657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6166714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6207862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8033918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8075066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9901123" y="499112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9942271" y="503227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420624" y="5217004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461772" y="5258152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2432304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2473452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4299509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340657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0" name="Shape 108"/>
          <p:cNvSpPr/>
          <p:nvPr/>
        </p:nvSpPr>
        <p:spPr>
          <a:xfrm>
            <a:off x="6166714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6207862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2" name="Shape 110"/>
          <p:cNvSpPr/>
          <p:nvPr/>
        </p:nvSpPr>
        <p:spPr>
          <a:xfrm>
            <a:off x="8033918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8075066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4" name="Shape 112"/>
          <p:cNvSpPr/>
          <p:nvPr/>
        </p:nvSpPr>
        <p:spPr>
          <a:xfrm>
            <a:off x="9901123" y="5217004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9942271" y="5258152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6" name="Shape 114"/>
          <p:cNvSpPr/>
          <p:nvPr/>
        </p:nvSpPr>
        <p:spPr>
          <a:xfrm>
            <a:off x="420624" y="5442885"/>
            <a:ext cx="20116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461772" y="5484033"/>
            <a:ext cx="19293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118" name="Shape 116"/>
          <p:cNvSpPr/>
          <p:nvPr/>
        </p:nvSpPr>
        <p:spPr>
          <a:xfrm>
            <a:off x="2432304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2473452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0" name="Shape 118"/>
          <p:cNvSpPr/>
          <p:nvPr/>
        </p:nvSpPr>
        <p:spPr>
          <a:xfrm>
            <a:off x="4299509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4340657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2" name="Shape 120"/>
          <p:cNvSpPr/>
          <p:nvPr/>
        </p:nvSpPr>
        <p:spPr>
          <a:xfrm>
            <a:off x="6166714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6207862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4" name="Shape 122"/>
          <p:cNvSpPr/>
          <p:nvPr/>
        </p:nvSpPr>
        <p:spPr>
          <a:xfrm>
            <a:off x="8033918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8075066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6" name="Shape 124"/>
          <p:cNvSpPr/>
          <p:nvPr/>
        </p:nvSpPr>
        <p:spPr>
          <a:xfrm>
            <a:off x="9901123" y="5442885"/>
            <a:ext cx="1867205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9942271" y="5484033"/>
            <a:ext cx="1784909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A.  화면 동작 규칙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A-4.  Refresh · 동시성 · No-op 계약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3346704" y="1170432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7852" y="121158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Edit Modal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3346704" y="1396312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7852" y="143746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숨은 값으로 유지한다.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관련 Modal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346704" y="162219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7852" y="166334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원본 RowVersion을 숨은 값으로 유지한다.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성공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3346704" y="184807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7852" y="188922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응답의 새 동시성값으로 화면 모델을 교체한다.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실패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3346704" y="207395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7852" y="211510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RowVersion으로 재시도하지 않는다.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9983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34098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실제 변경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346704" y="229983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7852" y="234098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RowVersion이 변경된 것으로 처리한다.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52571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56686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변경 없음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3346704" y="252571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7852" y="256686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성공적인 No-op 안내 후 불필요한 Refresh를 최소화한다.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75159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9274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Targeted Navigation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3346704" y="275159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7852" y="279274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항상 최신 DB 데이터를 조회한다.</a:t>
            </a:r>
            <a:endParaRPr lang="ko-KR" sz="850" dirty="0"/>
          </a:p>
        </p:txBody>
      </p:sp>
      <p:sp>
        <p:nvSpPr>
          <p:cNvPr id="36" name="Text 34"/>
          <p:cNvSpPr/>
          <p:nvPr/>
        </p:nvSpPr>
        <p:spPr>
          <a:xfrm>
            <a:off x="420624" y="3087202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A-5.  DB 실패 후 UI 처리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420624" y="3306658"/>
            <a:ext cx="1134770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347806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420624" y="353253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61772" y="357368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오류 ResultCode를 화면 업무문구로 매핑한다.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420624" y="375841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79956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실패한 입력을 무조건 폐기하지 않는다.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420624" y="3984299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1772" y="4025447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· 마감 · 상태 · 동시성처럼 최신값이 필요한 실패는 관련 영역을 Refresh한다.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0624" y="4210180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4251328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Transaction이 실패하면 성공 메시지나 로컬 상태전이를 적용하지 않는다.</a:t>
            </a:r>
            <a:endParaRPr lang="ko-KR" sz="8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 조회 · 검색 계약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B-1.  수검자 조회 (WF-PAT-01 · DLG-PAT-02)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3346704" y="1170432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387852" y="121158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396312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437460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3346704" y="1396312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87852" y="1437460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/ 이름 / 주민번호 / 생년월일 / 휴대전화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62219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66334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조건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3346704" y="162219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387852" y="166334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1개 조건이 있어야 조회한다.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84807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188922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3346704" y="184807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387852" y="188922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입력된 조건은 AND로 결합한다.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207395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11510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정확검색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3346704" y="207395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87852" y="211510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· 주민번호 · 생년월일 · 휴대전화는 정규화 후 정확검색한다.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99833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340981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접두검색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3346704" y="2299833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387852" y="2340981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이름은 앞부분 일치(Name LIKE @Name + '%')로 검색한다.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52571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56686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값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3346704" y="252571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387852" y="256686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빈 문자열은 미입력으로 처리한다.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75159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9274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정규화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3346704" y="275159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387852" y="279274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주민번호와 전화번호는 `-`를 제거하여 조회한다.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977474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1772" y="3018622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3346704" y="2977474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387852" y="3018622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 시 선택행과 우측 상세를 초기화한다.</a:t>
            </a:r>
            <a:endParaRPr lang="ko-KR" sz="850" dirty="0"/>
          </a:p>
        </p:txBody>
      </p:sp>
      <p:sp>
        <p:nvSpPr>
          <p:cNvPr id="40" name="Text 38"/>
          <p:cNvSpPr/>
          <p:nvPr/>
        </p:nvSpPr>
        <p:spPr>
          <a:xfrm>
            <a:off x="420624" y="3313083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B-2.  예약·접수 업무내역 조회 (WF-WRK-01)</a:t>
            </a:r>
            <a:endParaRPr lang="ko-KR" sz="1000" dirty="0"/>
          </a:p>
        </p:txBody>
      </p:sp>
      <p:sp>
        <p:nvSpPr>
          <p:cNvPr id="41" name="Shape 39"/>
          <p:cNvSpPr/>
          <p:nvPr/>
        </p:nvSpPr>
        <p:spPr>
          <a:xfrm>
            <a:off x="420624" y="3532539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57368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3346704" y="3532539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87852" y="357368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계약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0624" y="3758419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379956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조회조건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3346704" y="3758419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7852" y="379956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 From ~ To  ·  상태(전체 / 예약 / 접수완료 / 예약취소 / 접수취소)  ·  차트번호  ·  이름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984299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4025447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조건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3346704" y="3984299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87852" y="4025447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하나의 실질 조건이 필요하다. 상태 `전체`만 선택한 경우는 조건으로 보지 않는다.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421018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425132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결합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3346704" y="421018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7852" y="425132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입력조건은 AND로 결합한다.</a:t>
            </a:r>
            <a:endParaRPr lang="ko-KR" sz="850" dirty="0"/>
          </a:p>
        </p:txBody>
      </p:sp>
      <p:sp>
        <p:nvSpPr>
          <p:cNvPr id="57" name="Shape 55"/>
          <p:cNvSpPr/>
          <p:nvPr/>
        </p:nvSpPr>
        <p:spPr>
          <a:xfrm>
            <a:off x="420624" y="443606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61772" y="447720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 범위</a:t>
            </a:r>
            <a:endParaRPr lang="ko-KR" sz="850" dirty="0"/>
          </a:p>
        </p:txBody>
      </p:sp>
      <p:sp>
        <p:nvSpPr>
          <p:cNvPr id="59" name="Shape 57"/>
          <p:cNvSpPr/>
          <p:nvPr/>
        </p:nvSpPr>
        <p:spPr>
          <a:xfrm>
            <a:off x="3346704" y="443606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3387852" y="447720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양끝을 포함한다. From만 있으면 이후, To만 있으면 이전. From &gt; To는 Inline 오류.</a:t>
            </a:r>
            <a:endParaRPr lang="ko-KR" sz="850" dirty="0"/>
          </a:p>
        </p:txBody>
      </p:sp>
      <p:sp>
        <p:nvSpPr>
          <p:cNvPr id="61" name="Shape 59"/>
          <p:cNvSpPr/>
          <p:nvPr/>
        </p:nvSpPr>
        <p:spPr>
          <a:xfrm>
            <a:off x="420624" y="466194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461772" y="470308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검색 방식</a:t>
            </a:r>
            <a:endParaRPr lang="ko-KR" sz="850" dirty="0"/>
          </a:p>
        </p:txBody>
      </p:sp>
      <p:sp>
        <p:nvSpPr>
          <p:cNvPr id="63" name="Shape 61"/>
          <p:cNvSpPr/>
          <p:nvPr/>
        </p:nvSpPr>
        <p:spPr>
          <a:xfrm>
            <a:off x="3346704" y="466194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3387852" y="470308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차트번호는 정확검색, 이름은 접두검색.</a:t>
            </a:r>
            <a:endParaRPr lang="ko-KR" sz="850" dirty="0"/>
          </a:p>
        </p:txBody>
      </p:sp>
      <p:sp>
        <p:nvSpPr>
          <p:cNvPr id="65" name="Shape 63"/>
          <p:cNvSpPr/>
          <p:nvPr/>
        </p:nvSpPr>
        <p:spPr>
          <a:xfrm>
            <a:off x="420624" y="4887820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61772" y="4928968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3346704" y="4887820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387852" y="4928968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시간대는 조회조건에서 제외한다.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20624" y="5113701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61772" y="5154849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3346704" y="5113701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387852" y="5154849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· 현재 · 미래를 모두 조회할 수 있다.</a:t>
            </a:r>
            <a:endParaRPr lang="ko-KR" sz="850" dirty="0"/>
          </a:p>
        </p:txBody>
      </p:sp>
      <p:sp>
        <p:nvSpPr>
          <p:cNvPr id="73" name="Text 71"/>
          <p:cNvSpPr/>
          <p:nvPr/>
        </p:nvSpPr>
        <p:spPr>
          <a:xfrm>
            <a:off x="420624" y="5449309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B-3.  Grid 컬럼</a:t>
            </a:r>
            <a:endParaRPr lang="ko-KR" sz="1000" dirty="0"/>
          </a:p>
        </p:txBody>
      </p:sp>
      <p:sp>
        <p:nvSpPr>
          <p:cNvPr id="74" name="Shape 72"/>
          <p:cNvSpPr/>
          <p:nvPr/>
        </p:nvSpPr>
        <p:spPr>
          <a:xfrm>
            <a:off x="420624" y="5668765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61772" y="5709913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2798064" y="5668765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2839212" y="5709913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컬럼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6638544" y="5668765"/>
            <a:ext cx="21945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6679692" y="5709913"/>
            <a:ext cx="21122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컬럼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8833104" y="5668765"/>
            <a:ext cx="2935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8874252" y="5709913"/>
            <a:ext cx="2852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Grid 제외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420624" y="5894645"/>
            <a:ext cx="237744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461772" y="5935793"/>
            <a:ext cx="229514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관리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(WF-PAT-01)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2798064" y="5894645"/>
            <a:ext cx="384048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2839212" y="5935793"/>
            <a:ext cx="375818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→ 이름 → 생년월일 → 성별 → 휴대전화번호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6638544" y="5894645"/>
            <a:ext cx="2194560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6679692" y="5935793"/>
            <a:ext cx="2112264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 / 전화번호 / E-mail / 우편번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호 / 주소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8833104" y="5894645"/>
            <a:ext cx="2935224" cy="369465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8874252" y="5935793"/>
            <a:ext cx="2852928" cy="287169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내부키(PatientId · WorkId), 정규화 컬럼, 동시성값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(RowVersion), 생성·수정시각, 업무 미사용 컬럼</a:t>
            </a:r>
            <a:endParaRPr lang="ko-KR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B.  조회 · 검색 계약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23774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61772" y="973836"/>
            <a:ext cx="22951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2798064" y="932688"/>
            <a:ext cx="38404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839212" y="973836"/>
            <a:ext cx="37581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 컬럼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6638544" y="932688"/>
            <a:ext cx="21945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679692" y="973836"/>
            <a:ext cx="21122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컬럼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8833104" y="932688"/>
            <a:ext cx="29352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874252" y="973836"/>
            <a:ext cx="28529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 Grid 제외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158568"/>
            <a:ext cx="237744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61772" y="1199716"/>
            <a:ext cx="229514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예약·접수 Workbench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(WF-WRK-01)</a:t>
            </a:r>
            <a:endParaRPr lang="ko-KR" sz="850" dirty="0"/>
          </a:p>
        </p:txBody>
      </p:sp>
      <p:sp>
        <p:nvSpPr>
          <p:cNvPr id="13" name="Shape 11"/>
          <p:cNvSpPr/>
          <p:nvPr/>
        </p:nvSpPr>
        <p:spPr>
          <a:xfrm>
            <a:off x="2798064" y="1158568"/>
            <a:ext cx="384048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839212" y="1199716"/>
            <a:ext cx="375818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예약/접수일 → 시간대 → 상태 → 이름 → 차트번호</a:t>
            </a:r>
            <a:endParaRPr lang="ko-KR" sz="850" dirty="0"/>
          </a:p>
        </p:txBody>
      </p:sp>
      <p:sp>
        <p:nvSpPr>
          <p:cNvPr id="15" name="Shape 13"/>
          <p:cNvSpPr/>
          <p:nvPr/>
        </p:nvSpPr>
        <p:spPr>
          <a:xfrm>
            <a:off x="6638544" y="1158568"/>
            <a:ext cx="2194560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679692" y="1199716"/>
            <a:ext cx="2112264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 / 생년월일 / 휴대전화번호</a:t>
            </a:r>
            <a:endParaRPr lang="ko-KR" sz="850" dirty="0"/>
          </a:p>
        </p:txBody>
      </p:sp>
      <p:sp>
        <p:nvSpPr>
          <p:cNvPr id="17" name="Shape 15"/>
          <p:cNvSpPr/>
          <p:nvPr/>
        </p:nvSpPr>
        <p:spPr>
          <a:xfrm>
            <a:off x="8833104" y="1158568"/>
            <a:ext cx="2935224" cy="513049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74252" y="1199716"/>
            <a:ext cx="2852928" cy="430753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위와 동일. Workbench에는 주민등록번호를 표시하지 않으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 선택 컬럼 후보로도 제공하지 않는다. 정원현황</a:t>
            </a:r>
            <a:endParaRPr lang="ko-KR" sz="8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·NEX/AEX 상세·주소·E-mail·메모도 제외.</a:t>
            </a:r>
            <a:endParaRPr lang="ko-KR" sz="850" dirty="0"/>
          </a:p>
        </p:txBody>
      </p:sp>
      <p:sp>
        <p:nvSpPr>
          <p:cNvPr id="19" name="Text 17"/>
          <p:cNvSpPr/>
          <p:nvPr/>
        </p:nvSpPr>
        <p:spPr>
          <a:xfrm>
            <a:off x="420624" y="178134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B-4.  Column Chooser 정책</a:t>
            </a:r>
            <a:endParaRPr lang="ko-KR" sz="1000" dirty="0"/>
          </a:p>
        </p:txBody>
      </p:sp>
      <p:sp>
        <p:nvSpPr>
          <p:cNvPr id="20" name="Shape 18"/>
          <p:cNvSpPr/>
          <p:nvPr/>
        </p:nvSpPr>
        <p:spPr>
          <a:xfrm>
            <a:off x="420624" y="2000801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2041949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1883664" y="2000801"/>
            <a:ext cx="988466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24812" y="2041949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420624" y="2226681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61772" y="2267829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제공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1883664" y="2226681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924812" y="2267829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표시 / 숨김,  기본값 복원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245256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249371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1883664" y="2452562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24812" y="2493710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사용자별 Layout DB 저장,  로그인별 개인화,  복잡한 Column Profile 관리자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267844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61772" y="271959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1883664" y="2678442"/>
            <a:ext cx="988466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924812" y="2719590"/>
            <a:ext cx="980236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허용 컬럼 후보만 제공한다. 수검자 관리에서는 SocialNumber를 선택 컬럼으로 허용하고, Workbench에서는 후보로 제공하지 않는다.</a:t>
            </a:r>
            <a:endParaRPr lang="ko-KR" sz="850" dirty="0"/>
          </a:p>
        </p:txBody>
      </p:sp>
      <p:sp>
        <p:nvSpPr>
          <p:cNvPr id="36" name="Text 34"/>
          <p:cNvSpPr/>
          <p:nvPr/>
        </p:nvSpPr>
        <p:spPr>
          <a:xfrm>
            <a:off x="420624" y="3014050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B-5.  Grid 공통 동작</a:t>
            </a:r>
            <a:endParaRPr lang="ko-KR" sz="1000" dirty="0"/>
          </a:p>
        </p:txBody>
      </p:sp>
      <p:sp>
        <p:nvSpPr>
          <p:cNvPr id="37" name="Shape 35"/>
          <p:cNvSpPr/>
          <p:nvPr/>
        </p:nvSpPr>
        <p:spPr>
          <a:xfrm>
            <a:off x="420624" y="3233506"/>
            <a:ext cx="29260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1772" y="3274654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항목</a:t>
            </a:r>
            <a:endParaRPr lang="ko-KR" sz="850" dirty="0"/>
          </a:p>
        </p:txBody>
      </p:sp>
      <p:sp>
        <p:nvSpPr>
          <p:cNvPr id="39" name="Shape 37"/>
          <p:cNvSpPr/>
          <p:nvPr/>
        </p:nvSpPr>
        <p:spPr>
          <a:xfrm>
            <a:off x="3346704" y="3233506"/>
            <a:ext cx="842162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387852" y="3274654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동작</a:t>
            </a:r>
            <a:endParaRPr lang="ko-KR" sz="850" dirty="0"/>
          </a:p>
        </p:txBody>
      </p:sp>
      <p:sp>
        <p:nvSpPr>
          <p:cNvPr id="41" name="Shape 39"/>
          <p:cNvSpPr/>
          <p:nvPr/>
        </p:nvSpPr>
        <p:spPr>
          <a:xfrm>
            <a:off x="420624" y="3459387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61772" y="3500535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</a:t>
            </a:r>
            <a:endParaRPr lang="ko-KR" sz="850" dirty="0"/>
          </a:p>
        </p:txBody>
      </p:sp>
      <p:sp>
        <p:nvSpPr>
          <p:cNvPr id="43" name="Shape 41"/>
          <p:cNvSpPr/>
          <p:nvPr/>
        </p:nvSpPr>
        <p:spPr>
          <a:xfrm>
            <a:off x="3346704" y="3459387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3387852" y="3500535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 Row Selection. Multi-Select는 사용하지 않는다.</a:t>
            </a:r>
            <a:endParaRPr lang="ko-KR" sz="850" dirty="0"/>
          </a:p>
        </p:txBody>
      </p:sp>
      <p:sp>
        <p:nvSpPr>
          <p:cNvPr id="45" name="Shape 43"/>
          <p:cNvSpPr/>
          <p:nvPr/>
        </p:nvSpPr>
        <p:spPr>
          <a:xfrm>
            <a:off x="420624" y="3685267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61772" y="3726415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선택</a:t>
            </a:r>
            <a:endParaRPr lang="ko-KR" sz="850" dirty="0"/>
          </a:p>
        </p:txBody>
      </p:sp>
      <p:sp>
        <p:nvSpPr>
          <p:cNvPr id="47" name="Shape 45"/>
          <p:cNvSpPr/>
          <p:nvPr/>
        </p:nvSpPr>
        <p:spPr>
          <a:xfrm>
            <a:off x="3346704" y="3685267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3387852" y="3726415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행을 선택하면 즉시 우측 상세를 갱신한다.</a:t>
            </a:r>
            <a:endParaRPr lang="ko-KR" sz="850" dirty="0"/>
          </a:p>
        </p:txBody>
      </p:sp>
      <p:sp>
        <p:nvSpPr>
          <p:cNvPr id="49" name="Shape 47"/>
          <p:cNvSpPr/>
          <p:nvPr/>
        </p:nvSpPr>
        <p:spPr>
          <a:xfrm>
            <a:off x="420624" y="3911147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1772" y="3952295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Double Click</a:t>
            </a:r>
            <a:endParaRPr lang="ko-KR" sz="850" dirty="0"/>
          </a:p>
        </p:txBody>
      </p:sp>
      <p:sp>
        <p:nvSpPr>
          <p:cNvPr id="51" name="Shape 49"/>
          <p:cNvSpPr/>
          <p:nvPr/>
        </p:nvSpPr>
        <p:spPr>
          <a:xfrm>
            <a:off x="3346704" y="3911147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387852" y="3952295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 Action을 실행하지 않는다.</a:t>
            </a:r>
            <a:endParaRPr lang="ko-KR" sz="850" dirty="0"/>
          </a:p>
        </p:txBody>
      </p:sp>
      <p:sp>
        <p:nvSpPr>
          <p:cNvPr id="53" name="Shape 51"/>
          <p:cNvSpPr/>
          <p:nvPr/>
        </p:nvSpPr>
        <p:spPr>
          <a:xfrm>
            <a:off x="420624" y="4137028"/>
            <a:ext cx="29260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61772" y="4178176"/>
            <a:ext cx="28437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재조회</a:t>
            </a:r>
            <a:endParaRPr lang="ko-KR" sz="850" dirty="0"/>
          </a:p>
        </p:txBody>
      </p:sp>
      <p:sp>
        <p:nvSpPr>
          <p:cNvPr id="55" name="Shape 53"/>
          <p:cNvSpPr/>
          <p:nvPr/>
        </p:nvSpPr>
        <p:spPr>
          <a:xfrm>
            <a:off x="3346704" y="4137028"/>
            <a:ext cx="842162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3387852" y="4178176"/>
            <a:ext cx="833932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SelectedRow를 해제하고 상세와 Transaction Action을 모두 Clear한다.</a:t>
            </a:r>
            <a:endParaRPr lang="ko-KR" sz="8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 Validation Matrix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Validation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416966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9709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7918704" y="932688"/>
            <a:ext cx="384962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46136" y="960120"/>
            <a:ext cx="379476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2062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필수정보 누락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16966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9709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Control 인접 Inline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7918704" y="113113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46136" y="115856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062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13자리/날짜/파생 오류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16966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Inline, Birthday/Gender Clear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918704" y="132113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46136" y="134857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420624" y="151114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48056" y="153857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중복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4169664" y="151114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197096" y="153857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 + 기존 수검자 확인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7918704" y="151114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946136" y="153857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신규등록/수정 중단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420624" y="170114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" y="172857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차트번호 중복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4169664" y="170114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197096" y="172857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7918704" y="1701143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946136" y="1728575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중단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420624" y="189114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48056" y="191857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동일 주민번호+이름 불일치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169664" y="189114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197096" y="191857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전체값 확인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7918704" y="1891145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7946136" y="1918577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 없이 기존 PatientId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420624" y="208114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48056" y="210857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이름+생년월일 후보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4169664" y="208114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197096" y="210857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DLG-PAT-03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7918704" y="208114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946136" y="210857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수정/별도등록/중단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420624" y="227114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48056" y="229858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변경+RSV/RCP 존재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4169664" y="227114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197096" y="229858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7918704" y="227114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7946136" y="229858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주민번호 변경 불가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20624" y="246115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8056" y="248858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수검자 RowVersion 불일치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4169664" y="246115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197096" y="248858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Blocking+최신 수검자 Refresh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7918704" y="246115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7946136" y="248858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수정 Rollback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420624" y="265115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48056" y="267858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유효예약 존재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4169664" y="265115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197096" y="267858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안내+WorkId 연결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7918704" y="265115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7946136" y="267858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 중단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420624" y="284115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48056" y="286858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 다른 유효업무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4169664" y="284115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197096" y="286858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현재 WorkId 제외 후 DB 재검증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7918704" y="284115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946136" y="286858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자기 자신은 충돌로 판단하지 않음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420624" y="303115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48056" y="305859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과거 예약일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4169664" y="303115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4197096" y="305859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 Inline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7918704" y="303115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7946136" y="305859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420624" y="322116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48056" y="324859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일요일/HOL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4169664" y="322116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197096" y="324859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날짜/일정 Disabled+사유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7918704" y="3221160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7946136" y="3248592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불가</a:t>
            </a:r>
            <a:endParaRPr lang="ko-KR" sz="800" dirty="0"/>
          </a:p>
        </p:txBody>
      </p:sp>
      <p:sp>
        <p:nvSpPr>
          <p:cNvPr id="81" name="Shape 79"/>
          <p:cNvSpPr/>
          <p:nvPr/>
        </p:nvSpPr>
        <p:spPr>
          <a:xfrm>
            <a:off x="420624" y="341116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48056" y="343859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 PM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169664" y="341116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197096" y="343859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</a:t>
            </a:r>
            <a:endParaRPr lang="ko-KR" sz="800" dirty="0"/>
          </a:p>
        </p:txBody>
      </p:sp>
      <p:sp>
        <p:nvSpPr>
          <p:cNvPr id="85" name="Shape 83"/>
          <p:cNvSpPr/>
          <p:nvPr/>
        </p:nvSpPr>
        <p:spPr>
          <a:xfrm>
            <a:off x="7918704" y="341116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7946136" y="343859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87" name="Shape 85"/>
          <p:cNvSpPr/>
          <p:nvPr/>
        </p:nvSpPr>
        <p:spPr>
          <a:xfrm>
            <a:off x="420624" y="360116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48056" y="362859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정원 20/20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4169664" y="360116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197096" y="362859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Disabled+정원 마감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7918704" y="360116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7946136" y="362859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420624" y="379116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48056" y="381859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Normal 당일예약 마감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4169664" y="379116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4197096" y="381859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 Disabled+사유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7918704" y="379116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7946136" y="381859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  <p:sp>
        <p:nvSpPr>
          <p:cNvPr id="99" name="Shape 97"/>
          <p:cNvSpPr/>
          <p:nvPr/>
        </p:nvSpPr>
        <p:spPr>
          <a:xfrm>
            <a:off x="420624" y="398116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8056" y="400860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WalkIn 접수마감</a:t>
            </a:r>
            <a:endParaRPr lang="ko-KR" sz="800" dirty="0"/>
          </a:p>
        </p:txBody>
      </p:sp>
      <p:sp>
        <p:nvSpPr>
          <p:cNvPr id="101" name="Shape 99"/>
          <p:cNvSpPr/>
          <p:nvPr/>
        </p:nvSpPr>
        <p:spPr>
          <a:xfrm>
            <a:off x="4169664" y="398116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197096" y="400860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Inline/Blocking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7918704" y="398116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7946136" y="400860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현장예약 불가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>
            <a:off x="420624" y="417117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48056" y="419860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 비대상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169664" y="4171171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197096" y="4198603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판정결과+저장 Disabled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7918704" y="4171171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7946136" y="4198603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불가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420624" y="436117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48056" y="438860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성별 제한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4169664" y="4361173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4197096" y="4388605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Checkbox Disabled+사유</a:t>
            </a:r>
            <a:endParaRPr lang="ko-KR" sz="800" dirty="0"/>
          </a:p>
        </p:txBody>
      </p:sp>
      <p:sp>
        <p:nvSpPr>
          <p:cNvPr id="115" name="Shape 113"/>
          <p:cNvSpPr/>
          <p:nvPr/>
        </p:nvSpPr>
        <p:spPr>
          <a:xfrm>
            <a:off x="7918704" y="4361173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7946136" y="4388605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420624" y="455117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448056" y="457860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 NEX 중복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4169664" y="4551175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4197096" y="4578607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Disabled+국가검진 포함 사유</a:t>
            </a:r>
            <a:endParaRPr lang="ko-KR" sz="800" dirty="0"/>
          </a:p>
        </p:txBody>
      </p:sp>
      <p:sp>
        <p:nvSpPr>
          <p:cNvPr id="121" name="Shape 119"/>
          <p:cNvSpPr/>
          <p:nvPr/>
        </p:nvSpPr>
        <p:spPr>
          <a:xfrm>
            <a:off x="7918704" y="4551175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7946136" y="4578607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불가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420624" y="474117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48056" y="476860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접수일 불일치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>
            <a:off x="4169664" y="4741177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4197096" y="4768609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사유+버튼 Disabled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7918704" y="4741177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7946136" y="4768609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420624" y="493117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448056" y="495861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접수마감</a:t>
            </a:r>
            <a:endParaRPr lang="ko-KR" sz="800" dirty="0"/>
          </a:p>
        </p:txBody>
      </p:sp>
      <p:sp>
        <p:nvSpPr>
          <p:cNvPr id="131" name="Shape 129"/>
          <p:cNvSpPr/>
          <p:nvPr/>
        </p:nvSpPr>
        <p:spPr>
          <a:xfrm>
            <a:off x="4169664" y="4931179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197096" y="4958611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 사유+버튼 Disabled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7918704" y="4931179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7946136" y="4958611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35" name="Shape 133"/>
          <p:cNvSpPr/>
          <p:nvPr/>
        </p:nvSpPr>
        <p:spPr>
          <a:xfrm>
            <a:off x="420624" y="512118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448056" y="514861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RCP/CNR/CNC 재접수</a:t>
            </a:r>
            <a:endParaRPr lang="ko-KR" sz="800" dirty="0"/>
          </a:p>
        </p:txBody>
      </p:sp>
      <p:sp>
        <p:nvSpPr>
          <p:cNvPr id="137" name="Shape 135"/>
          <p:cNvSpPr/>
          <p:nvPr/>
        </p:nvSpPr>
        <p:spPr>
          <a:xfrm>
            <a:off x="4169664" y="512118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197096" y="514861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Action/Modal 차단</a:t>
            </a:r>
            <a:endParaRPr lang="ko-KR" sz="800" dirty="0"/>
          </a:p>
        </p:txBody>
      </p:sp>
      <p:sp>
        <p:nvSpPr>
          <p:cNvPr id="139" name="Shape 137"/>
          <p:cNvSpPr/>
          <p:nvPr/>
        </p:nvSpPr>
        <p:spPr>
          <a:xfrm>
            <a:off x="7918704" y="512118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7946136" y="514861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 불가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>
            <a:off x="420624" y="531118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448056" y="533861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Work RowVersion 불일치</a:t>
            </a:r>
            <a:endParaRPr lang="ko-KR" sz="800" dirty="0"/>
          </a:p>
        </p:txBody>
      </p:sp>
      <p:sp>
        <p:nvSpPr>
          <p:cNvPr id="143" name="Shape 141"/>
          <p:cNvSpPr/>
          <p:nvPr/>
        </p:nvSpPr>
        <p:spPr>
          <a:xfrm>
            <a:off x="4169664" y="5311184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4197096" y="5338616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Blocking+최신 Work Refresh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7918704" y="5311184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7946136" y="5338616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Rollback</a:t>
            </a:r>
            <a:endParaRPr lang="ko-KR" sz="800" dirty="0"/>
          </a:p>
        </p:txBody>
      </p:sp>
      <p:sp>
        <p:nvSpPr>
          <p:cNvPr id="147" name="Shape 145"/>
          <p:cNvSpPr/>
          <p:nvPr/>
        </p:nvSpPr>
        <p:spPr>
          <a:xfrm>
            <a:off x="420624" y="550118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8" name="Text 146"/>
          <p:cNvSpPr/>
          <p:nvPr/>
        </p:nvSpPr>
        <p:spPr>
          <a:xfrm>
            <a:off x="448056" y="552861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Single Instance 재호출+Dirty</a:t>
            </a:r>
            <a:endParaRPr lang="ko-KR" sz="800" dirty="0"/>
          </a:p>
        </p:txBody>
      </p:sp>
      <p:sp>
        <p:nvSpPr>
          <p:cNvPr id="149" name="Shape 147"/>
          <p:cNvSpPr/>
          <p:nvPr/>
        </p:nvSpPr>
        <p:spPr>
          <a:xfrm>
            <a:off x="4169664" y="550118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0" name="Text 148"/>
          <p:cNvSpPr/>
          <p:nvPr/>
        </p:nvSpPr>
        <p:spPr>
          <a:xfrm>
            <a:off x="4197096" y="552861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폐기 Confirm</a:t>
            </a:r>
            <a:endParaRPr lang="ko-KR" sz="800" dirty="0"/>
          </a:p>
        </p:txBody>
      </p:sp>
      <p:sp>
        <p:nvSpPr>
          <p:cNvPr id="151" name="Shape 149"/>
          <p:cNvSpPr/>
          <p:nvPr/>
        </p:nvSpPr>
        <p:spPr>
          <a:xfrm>
            <a:off x="7918704" y="550118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2" name="Text 150"/>
          <p:cNvSpPr/>
          <p:nvPr/>
        </p:nvSpPr>
        <p:spPr>
          <a:xfrm>
            <a:off x="7946136" y="552861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 Reset / 취소 유지</a:t>
            </a:r>
            <a:endParaRPr lang="ko-KR" sz="800" dirty="0"/>
          </a:p>
        </p:txBody>
      </p:sp>
      <p:sp>
        <p:nvSpPr>
          <p:cNvPr id="153" name="Shape 151"/>
          <p:cNvSpPr/>
          <p:nvPr/>
        </p:nvSpPr>
        <p:spPr>
          <a:xfrm>
            <a:off x="420624" y="569118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4" name="Text 152"/>
          <p:cNvSpPr/>
          <p:nvPr/>
        </p:nvSpPr>
        <p:spPr>
          <a:xfrm>
            <a:off x="448056" y="571862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직전 정원·중복·상태 변경</a:t>
            </a:r>
            <a:endParaRPr lang="ko-KR" sz="800" dirty="0"/>
          </a:p>
        </p:txBody>
      </p:sp>
      <p:sp>
        <p:nvSpPr>
          <p:cNvPr id="155" name="Shape 153"/>
          <p:cNvSpPr/>
          <p:nvPr/>
        </p:nvSpPr>
        <p:spPr>
          <a:xfrm>
            <a:off x="4169664" y="569118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6" name="Text 154"/>
          <p:cNvSpPr/>
          <p:nvPr/>
        </p:nvSpPr>
        <p:spPr>
          <a:xfrm>
            <a:off x="4197096" y="571862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Blocking+Refresh</a:t>
            </a:r>
            <a:endParaRPr lang="ko-KR" sz="800" dirty="0"/>
          </a:p>
        </p:txBody>
      </p:sp>
      <p:sp>
        <p:nvSpPr>
          <p:cNvPr id="157" name="Shape 155"/>
          <p:cNvSpPr/>
          <p:nvPr/>
        </p:nvSpPr>
        <p:spPr>
          <a:xfrm>
            <a:off x="7918704" y="569118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7946136" y="571862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Transaction Rollback</a:t>
            </a:r>
            <a:endParaRPr lang="ko-KR" sz="800" dirty="0"/>
          </a:p>
        </p:txBody>
      </p:sp>
      <p:sp>
        <p:nvSpPr>
          <p:cNvPr id="159" name="Shape 157"/>
          <p:cNvSpPr/>
          <p:nvPr/>
        </p:nvSpPr>
        <p:spPr>
          <a:xfrm>
            <a:off x="420624" y="588119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0" name="Text 158"/>
          <p:cNvSpPr/>
          <p:nvPr/>
        </p:nvSpPr>
        <p:spPr>
          <a:xfrm>
            <a:off x="448056" y="590862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취소</a:t>
            </a:r>
            <a:endParaRPr lang="ko-KR" sz="800" dirty="0"/>
          </a:p>
        </p:txBody>
      </p:sp>
      <p:sp>
        <p:nvSpPr>
          <p:cNvPr id="161" name="Shape 159"/>
          <p:cNvSpPr/>
          <p:nvPr/>
        </p:nvSpPr>
        <p:spPr>
          <a:xfrm>
            <a:off x="4169664" y="5881190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2" name="Text 160"/>
          <p:cNvSpPr/>
          <p:nvPr/>
        </p:nvSpPr>
        <p:spPr>
          <a:xfrm>
            <a:off x="4197096" y="5908622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Confirm 후 DB 재검증</a:t>
            </a:r>
            <a:endParaRPr lang="ko-KR" sz="800" dirty="0"/>
          </a:p>
        </p:txBody>
      </p:sp>
      <p:sp>
        <p:nvSpPr>
          <p:cNvPr id="163" name="Shape 161"/>
          <p:cNvSpPr/>
          <p:nvPr/>
        </p:nvSpPr>
        <p:spPr>
          <a:xfrm>
            <a:off x="7918704" y="5881190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4" name="Text 162"/>
          <p:cNvSpPr/>
          <p:nvPr/>
        </p:nvSpPr>
        <p:spPr>
          <a:xfrm>
            <a:off x="7946136" y="5908622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CNR/CNC 상태전이</a:t>
            </a:r>
            <a:endParaRPr lang="ko-KR" sz="800" dirty="0"/>
          </a:p>
        </p:txBody>
      </p:sp>
      <p:sp>
        <p:nvSpPr>
          <p:cNvPr id="165" name="Shape 163"/>
          <p:cNvSpPr/>
          <p:nvPr/>
        </p:nvSpPr>
        <p:spPr>
          <a:xfrm>
            <a:off x="420624" y="607119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6" name="Text 164"/>
          <p:cNvSpPr/>
          <p:nvPr/>
        </p:nvSpPr>
        <p:spPr>
          <a:xfrm>
            <a:off x="448056" y="609862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 날짜 중복</a:t>
            </a:r>
            <a:endParaRPr lang="ko-KR" sz="800" dirty="0"/>
          </a:p>
        </p:txBody>
      </p:sp>
      <p:sp>
        <p:nvSpPr>
          <p:cNvPr id="167" name="Shape 165"/>
          <p:cNvSpPr/>
          <p:nvPr/>
        </p:nvSpPr>
        <p:spPr>
          <a:xfrm>
            <a:off x="4169664" y="6071192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8" name="Text 166"/>
          <p:cNvSpPr/>
          <p:nvPr/>
        </p:nvSpPr>
        <p:spPr>
          <a:xfrm>
            <a:off x="4197096" y="6098624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DLG-HOL-01 Blocking</a:t>
            </a:r>
            <a:endParaRPr lang="ko-KR" sz="800" dirty="0"/>
          </a:p>
        </p:txBody>
      </p:sp>
      <p:sp>
        <p:nvSpPr>
          <p:cNvPr id="169" name="Shape 167"/>
          <p:cNvSpPr/>
          <p:nvPr/>
        </p:nvSpPr>
        <p:spPr>
          <a:xfrm>
            <a:off x="7918704" y="6071192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0" name="Text 168"/>
          <p:cNvSpPr/>
          <p:nvPr/>
        </p:nvSpPr>
        <p:spPr>
          <a:xfrm>
            <a:off x="7946136" y="6098624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 불가</a:t>
            </a:r>
            <a:endParaRPr lang="ko-KR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C.  Validation Matrix  (계속)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Validation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4169664" y="932688"/>
            <a:ext cx="37490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197096" y="960120"/>
            <a:ext cx="36941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표현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7918704" y="932688"/>
            <a:ext cx="384962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46136" y="960120"/>
            <a:ext cx="379476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42062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805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법정·대체 공휴일 행 선택</a:t>
            </a:r>
            <a:endParaRPr lang="ko-KR" sz="800" dirty="0"/>
          </a:p>
        </p:txBody>
      </p:sp>
      <p:sp>
        <p:nvSpPr>
          <p:cNvPr id="11" name="Shape 9"/>
          <p:cNvSpPr/>
          <p:nvPr/>
        </p:nvSpPr>
        <p:spPr>
          <a:xfrm>
            <a:off x="4169664" y="1131136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197096" y="1158568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입력행·[수정][삭제] Disabled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7918704" y="1131136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46136" y="1158568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 불가 (HOL-05)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42062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805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휴무일명 공백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4169664" y="1321138"/>
            <a:ext cx="37490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97096" y="1348570"/>
            <a:ext cx="36941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Inline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7918704" y="1321138"/>
            <a:ext cx="384962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946136" y="1348570"/>
            <a:ext cx="379476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불가</a:t>
            </a:r>
            <a:endParaRPr lang="ko-KR" sz="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 Ribbon Action · 마감 Matrix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75488" y="98755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관리와 접수 관리는 같은 Workbench 화면을 Context만 바꿔 공유한다. 두 Context의 Ribbon 구성이 다르므로 아래 두 표를 함께 읽어야 한다. Reception이 Reservation의 상위집합이 아니다 — [예약취소]는 예약 Context 전용</a:t>
            </a:r>
            <a:endParaRPr lang="ko-KR" sz="850" dirty="0"/>
          </a:p>
        </p:txBody>
      </p:sp>
      <p:sp>
        <p:nvSpPr>
          <p:cNvPr id="4" name="Text 2"/>
          <p:cNvSpPr/>
          <p:nvPr/>
        </p:nvSpPr>
        <p:spPr>
          <a:xfrm>
            <a:off x="475488" y="1131136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이다.</a:t>
            </a:r>
            <a:endParaRPr lang="ko-KR" sz="850" dirty="0"/>
          </a:p>
        </p:txBody>
      </p:sp>
      <p:sp>
        <p:nvSpPr>
          <p:cNvPr id="5" name="Text 3"/>
          <p:cNvSpPr/>
          <p:nvPr/>
        </p:nvSpPr>
        <p:spPr>
          <a:xfrm>
            <a:off x="420624" y="1329585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D-1.  예약 Context Ribbon  ·  [조회] [예약변경] [예약취소] [접수] [변경이력] [컬럼설정]</a:t>
            </a:r>
            <a:endParaRPr lang="ko-KR" sz="1000" dirty="0"/>
          </a:p>
        </p:txBody>
      </p:sp>
      <p:sp>
        <p:nvSpPr>
          <p:cNvPr id="6" name="Shape 4"/>
          <p:cNvSpPr/>
          <p:nvPr/>
        </p:nvSpPr>
        <p:spPr>
          <a:xfrm>
            <a:off x="420624" y="1549041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2628" y="1581045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2798064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30068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5040630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2634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7283196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0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9525762" y="1549041"/>
            <a:ext cx="2242566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557766" y="1581045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1756633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2628" y="1788637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미선택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2798064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830068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5040630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72634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7283196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0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9525762" y="1756633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557766" y="1788637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420624" y="1964225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2628" y="1996229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2798064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830068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5040630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72634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7283196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7315200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9525762" y="1964225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9557766" y="1996229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171817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52628" y="2203821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2798064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830068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5040630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072634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7283196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315200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9525762" y="2171817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57766" y="2203821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420624" y="237941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2628" y="241141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2798064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830068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5040630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5072634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7283196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7315200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9525762" y="2379410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9557766" y="2411414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420624" y="2587002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52628" y="2619006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2798064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2830068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0" name="Shape 58"/>
          <p:cNvSpPr/>
          <p:nvPr/>
        </p:nvSpPr>
        <p:spPr>
          <a:xfrm>
            <a:off x="5040630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5072634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2" name="Shape 60"/>
          <p:cNvSpPr/>
          <p:nvPr/>
        </p:nvSpPr>
        <p:spPr>
          <a:xfrm>
            <a:off x="7283196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7315200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64" name="Shape 62"/>
          <p:cNvSpPr/>
          <p:nvPr/>
        </p:nvSpPr>
        <p:spPr>
          <a:xfrm>
            <a:off x="9525762" y="2587002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9557766" y="2619006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66" name="Shape 64"/>
          <p:cNvSpPr/>
          <p:nvPr/>
        </p:nvSpPr>
        <p:spPr>
          <a:xfrm>
            <a:off x="420624" y="2794594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52628" y="2826598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</a:t>
            </a:r>
            <a:endParaRPr lang="ko-KR" sz="850" dirty="0"/>
          </a:p>
        </p:txBody>
      </p:sp>
      <p:sp>
        <p:nvSpPr>
          <p:cNvPr id="68" name="Shape 66"/>
          <p:cNvSpPr/>
          <p:nvPr/>
        </p:nvSpPr>
        <p:spPr>
          <a:xfrm>
            <a:off x="2798064" y="2794594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2830068" y="2826598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70" name="Shape 68"/>
          <p:cNvSpPr/>
          <p:nvPr/>
        </p:nvSpPr>
        <p:spPr>
          <a:xfrm>
            <a:off x="5040630" y="2794594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5072634" y="2826598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7283196" y="2794594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315200" y="2826598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9525762" y="2794594"/>
            <a:ext cx="2242566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9557766" y="2826598"/>
            <a:ext cx="217855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76" name="Text 74"/>
          <p:cNvSpPr/>
          <p:nvPr/>
        </p:nvSpPr>
        <p:spPr>
          <a:xfrm>
            <a:off x="475488" y="3148491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[접수]는 상태변경 버튼이 아니라 접수 Context / P03으로 연결하는 Shortcut이다.</a:t>
            </a:r>
            <a:endParaRPr lang="ko-KR" sz="850" dirty="0"/>
          </a:p>
        </p:txBody>
      </p:sp>
      <p:sp>
        <p:nvSpPr>
          <p:cNvPr id="77" name="Text 75"/>
          <p:cNvSpPr/>
          <p:nvPr/>
        </p:nvSpPr>
        <p:spPr>
          <a:xfrm>
            <a:off x="475488" y="3292075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[변경이력]은 상태와 무관하게 행이 선택되면 열린다 — 취소된 업무의 변경 내역도 남아 있고 그것을 보는 것이 열람의 목적이다. 조회 Action이라 데이터를 바꾸지 않으므로 308/309의 차단 대상이 아니고, 그래서 공통 업무불가에</a:t>
            </a:r>
            <a:endParaRPr lang="ko-KR" sz="850" dirty="0"/>
          </a:p>
        </p:txBody>
      </p:sp>
      <p:sp>
        <p:nvSpPr>
          <p:cNvPr id="78" name="Text 76"/>
          <p:cNvSpPr/>
          <p:nvPr/>
        </p:nvSpPr>
        <p:spPr>
          <a:xfrm>
            <a:off x="475488" y="3435659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 열린다.</a:t>
            </a:r>
            <a:endParaRPr lang="ko-KR" sz="850" dirty="0"/>
          </a:p>
        </p:txBody>
      </p:sp>
      <p:sp>
        <p:nvSpPr>
          <p:cNvPr id="79" name="Text 77"/>
          <p:cNvSpPr/>
          <p:nvPr/>
        </p:nvSpPr>
        <p:spPr>
          <a:xfrm>
            <a:off x="420624" y="3634108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D-2.  접수 Context Ribbon  ·  [조회] [현장 당일예약] [예약변경] [접수] [추가검사변경] [접수취소] [변경이력] [컬럼설정]</a:t>
            </a:r>
            <a:endParaRPr lang="ko-KR" sz="1000" dirty="0"/>
          </a:p>
        </p:txBody>
      </p:sp>
      <p:sp>
        <p:nvSpPr>
          <p:cNvPr id="80" name="Shape 78"/>
          <p:cNvSpPr/>
          <p:nvPr/>
        </p:nvSpPr>
        <p:spPr>
          <a:xfrm>
            <a:off x="420624" y="3853564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52628" y="3885568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2798064" y="3853564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2830068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4293108" y="3853564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325112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예약변경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5788152" y="3853564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5820156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7283196" y="3853564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7315200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추가검사변경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8778240" y="3853564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8810244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</a:t>
            </a:r>
            <a:endParaRPr lang="ko-KR" sz="850" dirty="0"/>
          </a:p>
        </p:txBody>
      </p:sp>
      <p:sp>
        <p:nvSpPr>
          <p:cNvPr id="92" name="Shape 90"/>
          <p:cNvSpPr/>
          <p:nvPr/>
        </p:nvSpPr>
        <p:spPr>
          <a:xfrm>
            <a:off x="10273284" y="3853564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10305288" y="388556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94" name="Shape 92"/>
          <p:cNvSpPr/>
          <p:nvPr/>
        </p:nvSpPr>
        <p:spPr>
          <a:xfrm>
            <a:off x="420624" y="4061156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52628" y="4093160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미선택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2798064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830068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4293108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25112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5788152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5820156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7283196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7315200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8778240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8810244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10273284" y="4061156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10305288" y="4093160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420624" y="4268748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452628" y="4300752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 (RSV)</a:t>
            </a:r>
            <a:endParaRPr lang="ko-KR" sz="850" dirty="0"/>
          </a:p>
        </p:txBody>
      </p:sp>
      <p:sp>
        <p:nvSpPr>
          <p:cNvPr id="110" name="Shape 108"/>
          <p:cNvSpPr/>
          <p:nvPr/>
        </p:nvSpPr>
        <p:spPr>
          <a:xfrm>
            <a:off x="2798064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2830068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12" name="Shape 110"/>
          <p:cNvSpPr/>
          <p:nvPr/>
        </p:nvSpPr>
        <p:spPr>
          <a:xfrm>
            <a:off x="4293108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4325112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14" name="Shape 112"/>
          <p:cNvSpPr/>
          <p:nvPr/>
        </p:nvSpPr>
        <p:spPr>
          <a:xfrm>
            <a:off x="5788152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820156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조건부 O</a:t>
            </a:r>
            <a:endParaRPr lang="ko-KR" sz="850" dirty="0"/>
          </a:p>
        </p:txBody>
      </p:sp>
      <p:sp>
        <p:nvSpPr>
          <p:cNvPr id="116" name="Shape 114"/>
          <p:cNvSpPr/>
          <p:nvPr/>
        </p:nvSpPr>
        <p:spPr>
          <a:xfrm>
            <a:off x="7283196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7315200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18" name="Shape 116"/>
          <p:cNvSpPr/>
          <p:nvPr/>
        </p:nvSpPr>
        <p:spPr>
          <a:xfrm>
            <a:off x="8778240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8810244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0" name="Shape 118"/>
          <p:cNvSpPr/>
          <p:nvPr/>
        </p:nvSpPr>
        <p:spPr>
          <a:xfrm>
            <a:off x="10273284" y="4268748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10305288" y="4300752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2" name="Shape 120"/>
          <p:cNvSpPr/>
          <p:nvPr/>
        </p:nvSpPr>
        <p:spPr>
          <a:xfrm>
            <a:off x="420624" y="4476340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52628" y="4508344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접수완료 (RCP)</a:t>
            </a:r>
            <a:endParaRPr lang="ko-KR" sz="850" dirty="0"/>
          </a:p>
        </p:txBody>
      </p:sp>
      <p:sp>
        <p:nvSpPr>
          <p:cNvPr id="124" name="Shape 122"/>
          <p:cNvSpPr/>
          <p:nvPr/>
        </p:nvSpPr>
        <p:spPr>
          <a:xfrm>
            <a:off x="2798064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2830068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26" name="Shape 124"/>
          <p:cNvSpPr/>
          <p:nvPr/>
        </p:nvSpPr>
        <p:spPr>
          <a:xfrm>
            <a:off x="4293108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4325112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28" name="Shape 126"/>
          <p:cNvSpPr/>
          <p:nvPr/>
        </p:nvSpPr>
        <p:spPr>
          <a:xfrm>
            <a:off x="5788152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5820156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30" name="Shape 128"/>
          <p:cNvSpPr/>
          <p:nvPr/>
        </p:nvSpPr>
        <p:spPr>
          <a:xfrm>
            <a:off x="7283196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7315200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32" name="Shape 130"/>
          <p:cNvSpPr/>
          <p:nvPr/>
        </p:nvSpPr>
        <p:spPr>
          <a:xfrm>
            <a:off x="8778240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8810244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34" name="Shape 132"/>
          <p:cNvSpPr/>
          <p:nvPr/>
        </p:nvSpPr>
        <p:spPr>
          <a:xfrm>
            <a:off x="10273284" y="4476340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10305288" y="4508344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36" name="Shape 134"/>
          <p:cNvSpPr/>
          <p:nvPr/>
        </p:nvSpPr>
        <p:spPr>
          <a:xfrm>
            <a:off x="420624" y="4683933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452628" y="4715937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예약취소 (CNR)</a:t>
            </a:r>
            <a:endParaRPr lang="ko-KR" sz="850" dirty="0"/>
          </a:p>
        </p:txBody>
      </p:sp>
      <p:sp>
        <p:nvSpPr>
          <p:cNvPr id="138" name="Shape 136"/>
          <p:cNvSpPr/>
          <p:nvPr/>
        </p:nvSpPr>
        <p:spPr>
          <a:xfrm>
            <a:off x="2798064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2830068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40" name="Shape 138"/>
          <p:cNvSpPr/>
          <p:nvPr/>
        </p:nvSpPr>
        <p:spPr>
          <a:xfrm>
            <a:off x="4293108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4325112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42" name="Shape 140"/>
          <p:cNvSpPr/>
          <p:nvPr/>
        </p:nvSpPr>
        <p:spPr>
          <a:xfrm>
            <a:off x="5788152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5820156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44" name="Shape 142"/>
          <p:cNvSpPr/>
          <p:nvPr/>
        </p:nvSpPr>
        <p:spPr>
          <a:xfrm>
            <a:off x="7283196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7315200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46" name="Shape 144"/>
          <p:cNvSpPr/>
          <p:nvPr/>
        </p:nvSpPr>
        <p:spPr>
          <a:xfrm>
            <a:off x="8778240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8810244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48" name="Shape 146"/>
          <p:cNvSpPr/>
          <p:nvPr/>
        </p:nvSpPr>
        <p:spPr>
          <a:xfrm>
            <a:off x="10273284" y="4683933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10305288" y="4715937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50" name="Shape 148"/>
          <p:cNvSpPr/>
          <p:nvPr/>
        </p:nvSpPr>
        <p:spPr>
          <a:xfrm>
            <a:off x="420624" y="4891525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452628" y="4923529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접수취소 (CNC)</a:t>
            </a:r>
            <a:endParaRPr lang="ko-KR" sz="850" dirty="0"/>
          </a:p>
        </p:txBody>
      </p:sp>
      <p:sp>
        <p:nvSpPr>
          <p:cNvPr id="152" name="Shape 150"/>
          <p:cNvSpPr/>
          <p:nvPr/>
        </p:nvSpPr>
        <p:spPr>
          <a:xfrm>
            <a:off x="2798064" y="4891525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2830068" y="4923529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54" name="Shape 152"/>
          <p:cNvSpPr/>
          <p:nvPr/>
        </p:nvSpPr>
        <p:spPr>
          <a:xfrm>
            <a:off x="4293108" y="4891525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325112" y="4923529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56" name="Shape 154"/>
          <p:cNvSpPr/>
          <p:nvPr/>
        </p:nvSpPr>
        <p:spPr>
          <a:xfrm>
            <a:off x="5788152" y="4891525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5820156" y="4923529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58" name="Shape 156"/>
          <p:cNvSpPr/>
          <p:nvPr/>
        </p:nvSpPr>
        <p:spPr>
          <a:xfrm>
            <a:off x="7283196" y="4891525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7315200" y="4923529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60" name="Shape 158"/>
          <p:cNvSpPr/>
          <p:nvPr/>
        </p:nvSpPr>
        <p:spPr>
          <a:xfrm>
            <a:off x="8778240" y="4891525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8810244" y="4923529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62" name="Shape 160"/>
          <p:cNvSpPr/>
          <p:nvPr/>
        </p:nvSpPr>
        <p:spPr>
          <a:xfrm>
            <a:off x="10273284" y="4891525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10305288" y="4923529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64" name="Shape 162"/>
          <p:cNvSpPr/>
          <p:nvPr/>
        </p:nvSpPr>
        <p:spPr>
          <a:xfrm>
            <a:off x="420624" y="5099117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452628" y="5131121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</a:t>
            </a:r>
            <a:endParaRPr lang="ko-KR" sz="850" dirty="0"/>
          </a:p>
        </p:txBody>
      </p:sp>
      <p:sp>
        <p:nvSpPr>
          <p:cNvPr id="166" name="Shape 164"/>
          <p:cNvSpPr/>
          <p:nvPr/>
        </p:nvSpPr>
        <p:spPr>
          <a:xfrm>
            <a:off x="2798064" y="50991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7" name="Text 165"/>
          <p:cNvSpPr/>
          <p:nvPr/>
        </p:nvSpPr>
        <p:spPr>
          <a:xfrm>
            <a:off x="2830068" y="51311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68" name="Shape 166"/>
          <p:cNvSpPr/>
          <p:nvPr/>
        </p:nvSpPr>
        <p:spPr>
          <a:xfrm>
            <a:off x="4293108" y="50991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4325112" y="51311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70" name="Shape 168"/>
          <p:cNvSpPr/>
          <p:nvPr/>
        </p:nvSpPr>
        <p:spPr>
          <a:xfrm>
            <a:off x="5788152" y="50991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5820156" y="51311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72" name="Shape 170"/>
          <p:cNvSpPr/>
          <p:nvPr/>
        </p:nvSpPr>
        <p:spPr>
          <a:xfrm>
            <a:off x="7283196" y="50991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3" name="Text 171"/>
          <p:cNvSpPr/>
          <p:nvPr/>
        </p:nvSpPr>
        <p:spPr>
          <a:xfrm>
            <a:off x="7315200" y="51311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74" name="Shape 172"/>
          <p:cNvSpPr/>
          <p:nvPr/>
        </p:nvSpPr>
        <p:spPr>
          <a:xfrm>
            <a:off x="8778240" y="50991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8810244" y="51311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176" name="Shape 174"/>
          <p:cNvSpPr/>
          <p:nvPr/>
        </p:nvSpPr>
        <p:spPr>
          <a:xfrm>
            <a:off x="10273284" y="50991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10305288" y="51311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178" name="Text 176"/>
          <p:cNvSpPr/>
          <p:nvPr/>
        </p:nvSpPr>
        <p:spPr>
          <a:xfrm>
            <a:off x="475488" y="5453014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[현장 당일예약]은 선택행과 무관한 독립 Action이다. 이 버튼 하나가 「수검자 확정 → 당일 업무 확인 → 신규예약 WalkIn(예약일 = 오늘 ReadOnly) → Workbench 자동선택 → 접수 처리」 흐름의 유일한 진입점이다.</a:t>
            </a:r>
            <a:endParaRPr lang="ko-KR" sz="850" dirty="0"/>
          </a:p>
        </p:txBody>
      </p:sp>
      <p:sp>
        <p:nvSpPr>
          <p:cNvPr id="179" name="Text 177"/>
          <p:cNvSpPr/>
          <p:nvPr/>
        </p:nvSpPr>
        <p:spPr>
          <a:xfrm>
            <a:off x="475488" y="559659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[변경이력]은 예약 Context Ribbon과 같다 — 상태와 무관하게 행이 선택되면 열리고, 조회 Action이라 공통 업무불가에도 열린다.</a:t>
            </a:r>
            <a:endParaRPr lang="ko-KR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D.  Ribbon Action · 마감 Matrix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D-3.  수검자 관리 Ribbon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237744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2628" y="1202436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 상태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2798064" y="1170432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830068" y="120243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조회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93108" y="1170432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325112" y="120243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신규등록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5788152" y="1170432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820156" y="120243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정보수정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7283196" y="1170432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0" y="120243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신규예약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8778240" y="1170432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810244" y="120243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변경이력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10273284" y="1170432"/>
            <a:ext cx="1495044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0305288" y="1202436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컬럼설정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20624" y="1378024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2628" y="1410028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미선택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2798064" y="137802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30068" y="141002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4293108" y="137802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25112" y="141002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5788152" y="137802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820156" y="141002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7283196" y="137802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315200" y="141002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8778240" y="137802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810244" y="141002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10273284" y="1378024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0305288" y="1410028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420624" y="1585617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2628" y="1617621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행 선택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2798064" y="15856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830068" y="16176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93108" y="15856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325112" y="16176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5788152" y="15856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820156" y="16176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7283196" y="15856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7315200" y="16176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8778240" y="15856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8810244" y="16176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10273284" y="1585617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10305288" y="1617621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420624" y="1793209"/>
            <a:ext cx="237744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52628" y="1825213"/>
            <a:ext cx="231343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 업무불가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2798064" y="1793209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2830068" y="1825213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4293108" y="1793209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325112" y="1825213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5788152" y="1793209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820156" y="1825213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7283196" y="1793209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7315200" y="1825213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8778240" y="1793209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810244" y="1825213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10273284" y="1793209"/>
            <a:ext cx="1495044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10305288" y="1825213"/>
            <a:ext cx="14310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O</a:t>
            </a:r>
            <a:endParaRPr lang="ko-KR" sz="850" dirty="0"/>
          </a:p>
        </p:txBody>
      </p:sp>
      <p:sp>
        <p:nvSpPr>
          <p:cNvPr id="60" name="Text 58"/>
          <p:cNvSpPr/>
          <p:nvPr/>
        </p:nvSpPr>
        <p:spPr>
          <a:xfrm>
            <a:off x="475488" y="2147105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[변경이력]은 조회 Action이라 공통 업무불가에도 열린다 — 데이터를 바꾸지 않으므로 308/309의 차단 대상이 아니다. 행 미선택에서는 대상 행이 없으므로 닫힌다.</a:t>
            </a:r>
            <a:endParaRPr lang="ko-KR" sz="850" dirty="0"/>
          </a:p>
        </p:txBody>
      </p:sp>
      <p:sp>
        <p:nvSpPr>
          <p:cNvPr id="61" name="Text 59"/>
          <p:cNvSpPr/>
          <p:nvPr/>
        </p:nvSpPr>
        <p:spPr>
          <a:xfrm>
            <a:off x="420624" y="2345553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D-4.  당일 예약 · 접수 마감</a:t>
            </a:r>
            <a:endParaRPr lang="ko-KR" sz="1000" dirty="0"/>
          </a:p>
        </p:txBody>
      </p:sp>
      <p:sp>
        <p:nvSpPr>
          <p:cNvPr id="62" name="Shape 60"/>
          <p:cNvSpPr/>
          <p:nvPr/>
        </p:nvSpPr>
        <p:spPr>
          <a:xfrm>
            <a:off x="420624" y="2565009"/>
            <a:ext cx="274320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452628" y="2597013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구분</a:t>
            </a:r>
            <a:endParaRPr lang="ko-KR" sz="850" dirty="0"/>
          </a:p>
        </p:txBody>
      </p:sp>
      <p:sp>
        <p:nvSpPr>
          <p:cNvPr id="64" name="Shape 62"/>
          <p:cNvSpPr/>
          <p:nvPr/>
        </p:nvSpPr>
        <p:spPr>
          <a:xfrm>
            <a:off x="3163824" y="2565009"/>
            <a:ext cx="4302252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3195828" y="2597013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오전 (AM)</a:t>
            </a:r>
            <a:endParaRPr lang="ko-KR" sz="850" dirty="0"/>
          </a:p>
        </p:txBody>
      </p:sp>
      <p:sp>
        <p:nvSpPr>
          <p:cNvPr id="66" name="Shape 64"/>
          <p:cNvSpPr/>
          <p:nvPr/>
        </p:nvSpPr>
        <p:spPr>
          <a:xfrm>
            <a:off x="7466076" y="2565009"/>
            <a:ext cx="4302252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7498080" y="2597013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오후 (PM)</a:t>
            </a:r>
            <a:endParaRPr lang="ko-KR" sz="850" dirty="0"/>
          </a:p>
        </p:txBody>
      </p:sp>
      <p:sp>
        <p:nvSpPr>
          <p:cNvPr id="68" name="Shape 66"/>
          <p:cNvSpPr/>
          <p:nvPr/>
        </p:nvSpPr>
        <p:spPr>
          <a:xfrm>
            <a:off x="420624" y="2772602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9" name="Text 67"/>
          <p:cNvSpPr/>
          <p:nvPr/>
        </p:nvSpPr>
        <p:spPr>
          <a:xfrm>
            <a:off x="452628" y="2804606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당일예약  ·  평일</a:t>
            </a:r>
            <a:endParaRPr lang="ko-KR" sz="850" dirty="0"/>
          </a:p>
        </p:txBody>
      </p:sp>
      <p:sp>
        <p:nvSpPr>
          <p:cNvPr id="70" name="Shape 68"/>
          <p:cNvSpPr/>
          <p:nvPr/>
        </p:nvSpPr>
        <p:spPr>
          <a:xfrm>
            <a:off x="3163824" y="2772602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3195828" y="2804606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 전</a:t>
            </a:r>
            <a:endParaRPr lang="ko-KR" sz="850" dirty="0"/>
          </a:p>
        </p:txBody>
      </p:sp>
      <p:sp>
        <p:nvSpPr>
          <p:cNvPr id="72" name="Shape 70"/>
          <p:cNvSpPr/>
          <p:nvPr/>
        </p:nvSpPr>
        <p:spPr>
          <a:xfrm>
            <a:off x="7466076" y="2772602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7498080" y="2804606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15:00 전</a:t>
            </a:r>
            <a:endParaRPr lang="ko-KR" sz="850" dirty="0"/>
          </a:p>
        </p:txBody>
      </p:sp>
      <p:sp>
        <p:nvSpPr>
          <p:cNvPr id="74" name="Shape 72"/>
          <p:cNvSpPr/>
          <p:nvPr/>
        </p:nvSpPr>
        <p:spPr>
          <a:xfrm>
            <a:off x="420624" y="2980194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5" name="Text 73"/>
          <p:cNvSpPr/>
          <p:nvPr/>
        </p:nvSpPr>
        <p:spPr>
          <a:xfrm>
            <a:off x="452628" y="3012198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당일예약(WalkIn)  ·  평일</a:t>
            </a:r>
            <a:endParaRPr lang="ko-KR" sz="850" dirty="0"/>
          </a:p>
        </p:txBody>
      </p:sp>
      <p:sp>
        <p:nvSpPr>
          <p:cNvPr id="76" name="Shape 74"/>
          <p:cNvSpPr/>
          <p:nvPr/>
        </p:nvSpPr>
        <p:spPr>
          <a:xfrm>
            <a:off x="3163824" y="2980194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7" name="Text 75"/>
          <p:cNvSpPr/>
          <p:nvPr/>
        </p:nvSpPr>
        <p:spPr>
          <a:xfrm>
            <a:off x="3195828" y="3012198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11:00 전</a:t>
            </a:r>
            <a:endParaRPr lang="ko-KR" sz="850" dirty="0"/>
          </a:p>
        </p:txBody>
      </p:sp>
      <p:sp>
        <p:nvSpPr>
          <p:cNvPr id="78" name="Shape 76"/>
          <p:cNvSpPr/>
          <p:nvPr/>
        </p:nvSpPr>
        <p:spPr>
          <a:xfrm>
            <a:off x="7466076" y="2980194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7498080" y="3012198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16:00 전</a:t>
            </a:r>
            <a:endParaRPr lang="ko-KR" sz="850" dirty="0"/>
          </a:p>
        </p:txBody>
      </p:sp>
      <p:sp>
        <p:nvSpPr>
          <p:cNvPr id="80" name="Shape 78"/>
          <p:cNvSpPr/>
          <p:nvPr/>
        </p:nvSpPr>
        <p:spPr>
          <a:xfrm>
            <a:off x="420624" y="3187786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452628" y="3219790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당일예약  ·  토요일</a:t>
            </a:r>
            <a:endParaRPr lang="ko-KR" sz="850" dirty="0"/>
          </a:p>
        </p:txBody>
      </p:sp>
      <p:sp>
        <p:nvSpPr>
          <p:cNvPr id="82" name="Shape 80"/>
          <p:cNvSpPr/>
          <p:nvPr/>
        </p:nvSpPr>
        <p:spPr>
          <a:xfrm>
            <a:off x="3163824" y="3187786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3" name="Text 81"/>
          <p:cNvSpPr/>
          <p:nvPr/>
        </p:nvSpPr>
        <p:spPr>
          <a:xfrm>
            <a:off x="3195828" y="3219790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10:00 전</a:t>
            </a:r>
            <a:endParaRPr lang="ko-KR" sz="850" dirty="0"/>
          </a:p>
        </p:txBody>
      </p:sp>
      <p:sp>
        <p:nvSpPr>
          <p:cNvPr id="84" name="Shape 82"/>
          <p:cNvSpPr/>
          <p:nvPr/>
        </p:nvSpPr>
        <p:spPr>
          <a:xfrm>
            <a:off x="7466076" y="3187786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7498080" y="3219790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</a:t>
            </a:r>
            <a:endParaRPr lang="ko-KR" sz="850" dirty="0"/>
          </a:p>
        </p:txBody>
      </p:sp>
      <p:sp>
        <p:nvSpPr>
          <p:cNvPr id="86" name="Shape 84"/>
          <p:cNvSpPr/>
          <p:nvPr/>
        </p:nvSpPr>
        <p:spPr>
          <a:xfrm>
            <a:off x="420624" y="3395379"/>
            <a:ext cx="274320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7" name="Text 85"/>
          <p:cNvSpPr/>
          <p:nvPr/>
        </p:nvSpPr>
        <p:spPr>
          <a:xfrm>
            <a:off x="452628" y="3427383"/>
            <a:ext cx="267919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현장 당일예약(WalkIn)  ·  토요일</a:t>
            </a:r>
            <a:endParaRPr lang="ko-KR" sz="850" dirty="0"/>
          </a:p>
        </p:txBody>
      </p:sp>
      <p:sp>
        <p:nvSpPr>
          <p:cNvPr id="88" name="Shape 86"/>
          <p:cNvSpPr/>
          <p:nvPr/>
        </p:nvSpPr>
        <p:spPr>
          <a:xfrm>
            <a:off x="3163824" y="3395379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3195828" y="3427383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11:00 전</a:t>
            </a:r>
            <a:endParaRPr lang="ko-KR" sz="850" dirty="0"/>
          </a:p>
        </p:txBody>
      </p:sp>
      <p:sp>
        <p:nvSpPr>
          <p:cNvPr id="90" name="Shape 88"/>
          <p:cNvSpPr/>
          <p:nvPr/>
        </p:nvSpPr>
        <p:spPr>
          <a:xfrm>
            <a:off x="7466076" y="3395379"/>
            <a:ext cx="4302252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7498080" y="3427383"/>
            <a:ext cx="42382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불가</a:t>
            </a:r>
            <a:endParaRPr lang="ko-KR" sz="850" dirty="0"/>
          </a:p>
        </p:txBody>
      </p:sp>
      <p:sp>
        <p:nvSpPr>
          <p:cNvPr id="92" name="Text 90"/>
          <p:cNvSpPr/>
          <p:nvPr/>
        </p:nvSpPr>
        <p:spPr>
          <a:xfrm>
            <a:off x="475488" y="3749275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마감시각 이전(&lt;)만 허용하며 마감시각과 같은 시각부터 불가하다. 모든 마감은 운영시간(09:00 ≤ 현재시각 &lt; 18:00) 안에서만 적용한다.</a:t>
            </a:r>
            <a:endParaRPr lang="ko-KR" sz="850" dirty="0"/>
          </a:p>
        </p:txBody>
      </p:sp>
      <p:sp>
        <p:nvSpPr>
          <p:cNvPr id="93" name="Text 91"/>
          <p:cNvSpPr/>
          <p:nvPr/>
        </p:nvSpPr>
        <p:spPr>
          <a:xfrm>
            <a:off x="420624" y="3947723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D-5.  신규 예약 Single Instance · Reset</a:t>
            </a:r>
            <a:endParaRPr lang="ko-KR" sz="1000" dirty="0"/>
          </a:p>
        </p:txBody>
      </p:sp>
      <p:sp>
        <p:nvSpPr>
          <p:cNvPr id="94" name="Shape 92"/>
          <p:cNvSpPr/>
          <p:nvPr/>
        </p:nvSpPr>
        <p:spPr>
          <a:xfrm>
            <a:off x="420624" y="4167179"/>
            <a:ext cx="2011680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5" name="Text 93"/>
          <p:cNvSpPr/>
          <p:nvPr/>
        </p:nvSpPr>
        <p:spPr>
          <a:xfrm>
            <a:off x="452628" y="4199183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이벤트</a:t>
            </a:r>
            <a:endParaRPr lang="ko-KR" sz="850" dirty="0"/>
          </a:p>
        </p:txBody>
      </p:sp>
      <p:sp>
        <p:nvSpPr>
          <p:cNvPr id="96" name="Shape 94"/>
          <p:cNvSpPr/>
          <p:nvPr/>
        </p:nvSpPr>
        <p:spPr>
          <a:xfrm>
            <a:off x="2432304" y="4167179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2464308" y="4199183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예약일/시간대</a:t>
            </a:r>
            <a:endParaRPr lang="ko-KR" sz="850" dirty="0"/>
          </a:p>
        </p:txBody>
      </p:sp>
      <p:sp>
        <p:nvSpPr>
          <p:cNvPr id="98" name="Shape 96"/>
          <p:cNvSpPr/>
          <p:nvPr/>
        </p:nvSpPr>
        <p:spPr>
          <a:xfrm>
            <a:off x="4299509" y="4167179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9" name="Text 97"/>
          <p:cNvSpPr/>
          <p:nvPr/>
        </p:nvSpPr>
        <p:spPr>
          <a:xfrm>
            <a:off x="4331513" y="4199183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TGT</a:t>
            </a:r>
            <a:endParaRPr lang="ko-KR" sz="850" dirty="0"/>
          </a:p>
        </p:txBody>
      </p:sp>
      <p:sp>
        <p:nvSpPr>
          <p:cNvPr id="100" name="Shape 98"/>
          <p:cNvSpPr/>
          <p:nvPr/>
        </p:nvSpPr>
        <p:spPr>
          <a:xfrm>
            <a:off x="6166714" y="4167179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1" name="Text 99"/>
          <p:cNvSpPr/>
          <p:nvPr/>
        </p:nvSpPr>
        <p:spPr>
          <a:xfrm>
            <a:off x="6198718" y="4199183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NEX</a:t>
            </a:r>
            <a:endParaRPr lang="ko-KR" sz="850" dirty="0"/>
          </a:p>
        </p:txBody>
      </p:sp>
      <p:sp>
        <p:nvSpPr>
          <p:cNvPr id="102" name="Shape 100"/>
          <p:cNvSpPr/>
          <p:nvPr/>
        </p:nvSpPr>
        <p:spPr>
          <a:xfrm>
            <a:off x="8033918" y="4167179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8065922" y="4199183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AEX</a:t>
            </a:r>
            <a:endParaRPr lang="ko-KR" sz="850" dirty="0"/>
          </a:p>
        </p:txBody>
      </p:sp>
      <p:sp>
        <p:nvSpPr>
          <p:cNvPr id="104" name="Shape 102"/>
          <p:cNvSpPr/>
          <p:nvPr/>
        </p:nvSpPr>
        <p:spPr>
          <a:xfrm>
            <a:off x="9901123" y="4167179"/>
            <a:ext cx="1867205" cy="207592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9933127" y="4199183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저장상태</a:t>
            </a:r>
            <a:endParaRPr lang="ko-KR" sz="850" dirty="0"/>
          </a:p>
        </p:txBody>
      </p:sp>
      <p:sp>
        <p:nvSpPr>
          <p:cNvPr id="106" name="Shape 104"/>
          <p:cNvSpPr/>
          <p:nvPr/>
        </p:nvSpPr>
        <p:spPr>
          <a:xfrm>
            <a:off x="420624" y="4374772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7" name="Text 105"/>
          <p:cNvSpPr/>
          <p:nvPr/>
        </p:nvSpPr>
        <p:spPr>
          <a:xfrm>
            <a:off x="452628" y="4406776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 변경</a:t>
            </a:r>
            <a:endParaRPr lang="ko-KR" sz="850" dirty="0"/>
          </a:p>
        </p:txBody>
      </p:sp>
      <p:sp>
        <p:nvSpPr>
          <p:cNvPr id="108" name="Shape 106"/>
          <p:cNvSpPr/>
          <p:nvPr/>
        </p:nvSpPr>
        <p:spPr>
          <a:xfrm>
            <a:off x="2432304" y="43747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464308" y="44067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110" name="Shape 108"/>
          <p:cNvSpPr/>
          <p:nvPr/>
        </p:nvSpPr>
        <p:spPr>
          <a:xfrm>
            <a:off x="4299509" y="43747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1" name="Text 109"/>
          <p:cNvSpPr/>
          <p:nvPr/>
        </p:nvSpPr>
        <p:spPr>
          <a:xfrm>
            <a:off x="4331513" y="44067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112" name="Shape 110"/>
          <p:cNvSpPr/>
          <p:nvPr/>
        </p:nvSpPr>
        <p:spPr>
          <a:xfrm>
            <a:off x="6166714" y="43747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3" name="Text 111"/>
          <p:cNvSpPr/>
          <p:nvPr/>
        </p:nvSpPr>
        <p:spPr>
          <a:xfrm>
            <a:off x="6198718" y="44067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114" name="Shape 112"/>
          <p:cNvSpPr/>
          <p:nvPr/>
        </p:nvSpPr>
        <p:spPr>
          <a:xfrm>
            <a:off x="8033918" y="43747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8065922" y="44067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116" name="Shape 114"/>
          <p:cNvSpPr/>
          <p:nvPr/>
        </p:nvSpPr>
        <p:spPr>
          <a:xfrm>
            <a:off x="9901123" y="4374772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7" name="Text 115"/>
          <p:cNvSpPr/>
          <p:nvPr/>
        </p:nvSpPr>
        <p:spPr>
          <a:xfrm>
            <a:off x="9933127" y="4406776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118" name="Shape 116"/>
          <p:cNvSpPr/>
          <p:nvPr/>
        </p:nvSpPr>
        <p:spPr>
          <a:xfrm>
            <a:off x="420624" y="4582364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9" name="Text 117"/>
          <p:cNvSpPr/>
          <p:nvPr/>
        </p:nvSpPr>
        <p:spPr>
          <a:xfrm>
            <a:off x="452628" y="4614368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Context 전환</a:t>
            </a:r>
            <a:endParaRPr lang="ko-KR" sz="850" dirty="0"/>
          </a:p>
        </p:txBody>
      </p:sp>
      <p:sp>
        <p:nvSpPr>
          <p:cNvPr id="120" name="Shape 118"/>
          <p:cNvSpPr/>
          <p:nvPr/>
        </p:nvSpPr>
        <p:spPr>
          <a:xfrm>
            <a:off x="2432304" y="4582364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1" name="Text 119"/>
          <p:cNvSpPr/>
          <p:nvPr/>
        </p:nvSpPr>
        <p:spPr>
          <a:xfrm>
            <a:off x="2464308" y="4614368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기본값 Reset</a:t>
            </a:r>
            <a:endParaRPr lang="ko-KR" sz="850" dirty="0"/>
          </a:p>
        </p:txBody>
      </p:sp>
      <p:sp>
        <p:nvSpPr>
          <p:cNvPr id="122" name="Shape 120"/>
          <p:cNvSpPr/>
          <p:nvPr/>
        </p:nvSpPr>
        <p:spPr>
          <a:xfrm>
            <a:off x="4299509" y="4582364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3" name="Text 121"/>
          <p:cNvSpPr/>
          <p:nvPr/>
        </p:nvSpPr>
        <p:spPr>
          <a:xfrm>
            <a:off x="4331513" y="4614368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124" name="Shape 122"/>
          <p:cNvSpPr/>
          <p:nvPr/>
        </p:nvSpPr>
        <p:spPr>
          <a:xfrm>
            <a:off x="6166714" y="4582364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5" name="Text 123"/>
          <p:cNvSpPr/>
          <p:nvPr/>
        </p:nvSpPr>
        <p:spPr>
          <a:xfrm>
            <a:off x="6198718" y="4614368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126" name="Shape 124"/>
          <p:cNvSpPr/>
          <p:nvPr/>
        </p:nvSpPr>
        <p:spPr>
          <a:xfrm>
            <a:off x="8033918" y="4582364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065922" y="4614368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128" name="Shape 126"/>
          <p:cNvSpPr/>
          <p:nvPr/>
        </p:nvSpPr>
        <p:spPr>
          <a:xfrm>
            <a:off x="9901123" y="4582364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9" name="Text 127"/>
          <p:cNvSpPr/>
          <p:nvPr/>
        </p:nvSpPr>
        <p:spPr>
          <a:xfrm>
            <a:off x="9933127" y="4614368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130" name="Shape 128"/>
          <p:cNvSpPr/>
          <p:nvPr/>
        </p:nvSpPr>
        <p:spPr>
          <a:xfrm>
            <a:off x="420624" y="4789956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452628" y="4821960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예약일 변경</a:t>
            </a:r>
            <a:endParaRPr lang="ko-KR" sz="850" dirty="0"/>
          </a:p>
        </p:txBody>
      </p:sp>
      <p:sp>
        <p:nvSpPr>
          <p:cNvPr id="132" name="Shape 130"/>
          <p:cNvSpPr/>
          <p:nvPr/>
        </p:nvSpPr>
        <p:spPr>
          <a:xfrm>
            <a:off x="2432304" y="4789956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3" name="Text 131"/>
          <p:cNvSpPr/>
          <p:nvPr/>
        </p:nvSpPr>
        <p:spPr>
          <a:xfrm>
            <a:off x="2464308" y="4821960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날짜, 시간대 재선택</a:t>
            </a:r>
            <a:endParaRPr lang="ko-KR" sz="850" dirty="0"/>
          </a:p>
        </p:txBody>
      </p:sp>
      <p:sp>
        <p:nvSpPr>
          <p:cNvPr id="134" name="Shape 132"/>
          <p:cNvSpPr/>
          <p:nvPr/>
        </p:nvSpPr>
        <p:spPr>
          <a:xfrm>
            <a:off x="4299509" y="4789956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5" name="Text 133"/>
          <p:cNvSpPr/>
          <p:nvPr/>
        </p:nvSpPr>
        <p:spPr>
          <a:xfrm>
            <a:off x="4331513" y="4821960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재판정</a:t>
            </a:r>
            <a:endParaRPr lang="ko-KR" sz="850" dirty="0"/>
          </a:p>
        </p:txBody>
      </p:sp>
      <p:sp>
        <p:nvSpPr>
          <p:cNvPr id="136" name="Shape 134"/>
          <p:cNvSpPr/>
          <p:nvPr/>
        </p:nvSpPr>
        <p:spPr>
          <a:xfrm>
            <a:off x="6166714" y="4789956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7" name="Text 135"/>
          <p:cNvSpPr/>
          <p:nvPr/>
        </p:nvSpPr>
        <p:spPr>
          <a:xfrm>
            <a:off x="6198718" y="4821960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재구성</a:t>
            </a:r>
            <a:endParaRPr lang="ko-KR" sz="850" dirty="0"/>
          </a:p>
        </p:txBody>
      </p:sp>
      <p:sp>
        <p:nvSpPr>
          <p:cNvPr id="138" name="Shape 136"/>
          <p:cNvSpPr/>
          <p:nvPr/>
        </p:nvSpPr>
        <p:spPr>
          <a:xfrm>
            <a:off x="8033918" y="4789956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9" name="Text 137"/>
          <p:cNvSpPr/>
          <p:nvPr/>
        </p:nvSpPr>
        <p:spPr>
          <a:xfrm>
            <a:off x="8065922" y="4821960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유효 선택만 유지</a:t>
            </a:r>
            <a:endParaRPr lang="ko-KR" sz="850" dirty="0"/>
          </a:p>
        </p:txBody>
      </p:sp>
      <p:sp>
        <p:nvSpPr>
          <p:cNvPr id="140" name="Shape 138"/>
          <p:cNvSpPr/>
          <p:nvPr/>
        </p:nvSpPr>
        <p:spPr>
          <a:xfrm>
            <a:off x="9901123" y="4789956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1" name="Text 139"/>
          <p:cNvSpPr/>
          <p:nvPr/>
        </p:nvSpPr>
        <p:spPr>
          <a:xfrm>
            <a:off x="9933127" y="4821960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재평가</a:t>
            </a:r>
            <a:endParaRPr lang="ko-KR" sz="850" dirty="0"/>
          </a:p>
        </p:txBody>
      </p:sp>
      <p:sp>
        <p:nvSpPr>
          <p:cNvPr id="142" name="Shape 140"/>
          <p:cNvSpPr/>
          <p:nvPr/>
        </p:nvSpPr>
        <p:spPr>
          <a:xfrm>
            <a:off x="420624" y="4997548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3" name="Text 141"/>
          <p:cNvSpPr/>
          <p:nvPr/>
        </p:nvSpPr>
        <p:spPr>
          <a:xfrm>
            <a:off x="452628" y="5029552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시간대만 변경</a:t>
            </a:r>
            <a:endParaRPr lang="ko-KR" sz="850" dirty="0"/>
          </a:p>
        </p:txBody>
      </p:sp>
      <p:sp>
        <p:nvSpPr>
          <p:cNvPr id="144" name="Shape 142"/>
          <p:cNvSpPr/>
          <p:nvPr/>
        </p:nvSpPr>
        <p:spPr>
          <a:xfrm>
            <a:off x="2432304" y="4997548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5" name="Text 143"/>
          <p:cNvSpPr/>
          <p:nvPr/>
        </p:nvSpPr>
        <p:spPr>
          <a:xfrm>
            <a:off x="2464308" y="5029552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시간대</a:t>
            </a:r>
            <a:endParaRPr lang="ko-KR" sz="850" dirty="0"/>
          </a:p>
        </p:txBody>
      </p:sp>
      <p:sp>
        <p:nvSpPr>
          <p:cNvPr id="146" name="Shape 144"/>
          <p:cNvSpPr/>
          <p:nvPr/>
        </p:nvSpPr>
        <p:spPr>
          <a:xfrm>
            <a:off x="4299509" y="4997548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7" name="Text 145"/>
          <p:cNvSpPr/>
          <p:nvPr/>
        </p:nvSpPr>
        <p:spPr>
          <a:xfrm>
            <a:off x="4331513" y="5029552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148" name="Shape 146"/>
          <p:cNvSpPr/>
          <p:nvPr/>
        </p:nvSpPr>
        <p:spPr>
          <a:xfrm>
            <a:off x="6166714" y="4997548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9" name="Text 147"/>
          <p:cNvSpPr/>
          <p:nvPr/>
        </p:nvSpPr>
        <p:spPr>
          <a:xfrm>
            <a:off x="6198718" y="5029552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150" name="Shape 148"/>
          <p:cNvSpPr/>
          <p:nvPr/>
        </p:nvSpPr>
        <p:spPr>
          <a:xfrm>
            <a:off x="8033918" y="4997548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1" name="Text 149"/>
          <p:cNvSpPr/>
          <p:nvPr/>
        </p:nvSpPr>
        <p:spPr>
          <a:xfrm>
            <a:off x="8065922" y="5029552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유지</a:t>
            </a:r>
            <a:endParaRPr lang="ko-KR" sz="850" dirty="0"/>
          </a:p>
        </p:txBody>
      </p:sp>
      <p:sp>
        <p:nvSpPr>
          <p:cNvPr id="152" name="Shape 150"/>
          <p:cNvSpPr/>
          <p:nvPr/>
        </p:nvSpPr>
        <p:spPr>
          <a:xfrm>
            <a:off x="9901123" y="4997548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9933127" y="5029552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일정검증 후 재평가</a:t>
            </a:r>
            <a:endParaRPr lang="ko-KR" sz="850" dirty="0"/>
          </a:p>
        </p:txBody>
      </p:sp>
      <p:sp>
        <p:nvSpPr>
          <p:cNvPr id="154" name="Shape 152"/>
          <p:cNvSpPr/>
          <p:nvPr/>
        </p:nvSpPr>
        <p:spPr>
          <a:xfrm>
            <a:off x="420624" y="5205141"/>
            <a:ext cx="2011680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5" name="Text 153"/>
          <p:cNvSpPr/>
          <p:nvPr/>
        </p:nvSpPr>
        <p:spPr>
          <a:xfrm>
            <a:off x="452628" y="5237145"/>
            <a:ext cx="1947672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저장 성공</a:t>
            </a:r>
            <a:endParaRPr lang="ko-KR" sz="850" dirty="0"/>
          </a:p>
        </p:txBody>
      </p:sp>
      <p:sp>
        <p:nvSpPr>
          <p:cNvPr id="156" name="Shape 154"/>
          <p:cNvSpPr/>
          <p:nvPr/>
        </p:nvSpPr>
        <p:spPr>
          <a:xfrm>
            <a:off x="2432304" y="5205141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7" name="Text 155"/>
          <p:cNvSpPr/>
          <p:nvPr/>
        </p:nvSpPr>
        <p:spPr>
          <a:xfrm>
            <a:off x="2464308" y="5237145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전체 Clear</a:t>
            </a:r>
            <a:endParaRPr lang="ko-KR" sz="850" dirty="0"/>
          </a:p>
        </p:txBody>
      </p:sp>
      <p:sp>
        <p:nvSpPr>
          <p:cNvPr id="158" name="Shape 156"/>
          <p:cNvSpPr/>
          <p:nvPr/>
        </p:nvSpPr>
        <p:spPr>
          <a:xfrm>
            <a:off x="4299509" y="5205141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4331513" y="5237145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미판정</a:t>
            </a:r>
            <a:endParaRPr lang="ko-KR" sz="850" dirty="0"/>
          </a:p>
        </p:txBody>
      </p:sp>
      <p:sp>
        <p:nvSpPr>
          <p:cNvPr id="160" name="Shape 158"/>
          <p:cNvSpPr/>
          <p:nvPr/>
        </p:nvSpPr>
        <p:spPr>
          <a:xfrm>
            <a:off x="6166714" y="5205141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1" name="Text 159"/>
          <p:cNvSpPr/>
          <p:nvPr/>
        </p:nvSpPr>
        <p:spPr>
          <a:xfrm>
            <a:off x="6198718" y="5237145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</a:t>
            </a:r>
            <a:endParaRPr lang="ko-KR" sz="850" dirty="0"/>
          </a:p>
        </p:txBody>
      </p:sp>
      <p:sp>
        <p:nvSpPr>
          <p:cNvPr id="162" name="Shape 160"/>
          <p:cNvSpPr/>
          <p:nvPr/>
        </p:nvSpPr>
        <p:spPr>
          <a:xfrm>
            <a:off x="8033918" y="5205141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3" name="Text 161"/>
          <p:cNvSpPr/>
          <p:nvPr/>
        </p:nvSpPr>
        <p:spPr>
          <a:xfrm>
            <a:off x="8065922" y="5237145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Clear / Disabled</a:t>
            </a:r>
            <a:endParaRPr lang="ko-KR" sz="850" dirty="0"/>
          </a:p>
        </p:txBody>
      </p:sp>
      <p:sp>
        <p:nvSpPr>
          <p:cNvPr id="164" name="Shape 162"/>
          <p:cNvSpPr/>
          <p:nvPr/>
        </p:nvSpPr>
        <p:spPr>
          <a:xfrm>
            <a:off x="9901123" y="5205141"/>
            <a:ext cx="1867205" cy="20759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933127" y="5237145"/>
            <a:ext cx="1803197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Disabled</a:t>
            </a:r>
            <a:endParaRPr lang="ko-KR" sz="850" dirty="0"/>
          </a:p>
        </p:txBody>
      </p:sp>
      <p:sp>
        <p:nvSpPr>
          <p:cNvPr id="166" name="Text 164"/>
          <p:cNvSpPr/>
          <p:nvPr/>
        </p:nvSpPr>
        <p:spPr>
          <a:xfrm>
            <a:off x="475488" y="5559037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미저장 내용이 있는 상태에서 다른 PatientId·Context로 재호출하거나 Tab을 닫으면 폐기 확인창을 띄운다 — 「미저장 예약 내용이 있습니다. 현재 입력을 폐기하고 새 업무를 시작하시겠습니까?  [확인] [취소]」</a:t>
            </a:r>
            <a:endParaRPr lang="ko-KR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E.  수검자 17개 컬럼 UI·저장 계약</a:t>
            </a:r>
            <a:endParaRPr lang="ko-KR" sz="3000" dirty="0"/>
          </a:p>
        </p:txBody>
      </p:sp>
      <p:sp>
        <p:nvSpPr>
          <p:cNvPr id="3" name="Shape 1"/>
          <p:cNvSpPr/>
          <p:nvPr/>
        </p:nvSpPr>
        <p:spPr>
          <a:xfrm>
            <a:off x="420624" y="932688"/>
            <a:ext cx="45720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48056" y="960120"/>
            <a:ext cx="40233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No</a:t>
            </a:r>
            <a:endParaRPr lang="ko-KR" sz="850" dirty="0"/>
          </a:p>
        </p:txBody>
      </p:sp>
      <p:sp>
        <p:nvSpPr>
          <p:cNvPr id="5" name="Shape 3"/>
          <p:cNvSpPr/>
          <p:nvPr/>
        </p:nvSpPr>
        <p:spPr>
          <a:xfrm>
            <a:off x="877824" y="932688"/>
            <a:ext cx="192024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05256" y="960120"/>
            <a:ext cx="18653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컬럼</a:t>
            </a:r>
            <a:endParaRPr lang="ko-KR" sz="850" dirty="0"/>
          </a:p>
        </p:txBody>
      </p:sp>
      <p:sp>
        <p:nvSpPr>
          <p:cNvPr id="7" name="Shape 5"/>
          <p:cNvSpPr/>
          <p:nvPr/>
        </p:nvSpPr>
        <p:spPr>
          <a:xfrm>
            <a:off x="2798064" y="932688"/>
            <a:ext cx="3108960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825496" y="960120"/>
            <a:ext cx="305409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노출 / 편집</a:t>
            </a:r>
            <a:endParaRPr lang="ko-KR" sz="850" dirty="0"/>
          </a:p>
        </p:txBody>
      </p:sp>
      <p:sp>
        <p:nvSpPr>
          <p:cNvPr id="9" name="Shape 7"/>
          <p:cNvSpPr/>
          <p:nvPr/>
        </p:nvSpPr>
        <p:spPr>
          <a:xfrm>
            <a:off x="5907024" y="932688"/>
            <a:ext cx="5861304" cy="198448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934456" y="960120"/>
            <a:ext cx="5806440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생성 · 저장 기준</a:t>
            </a:r>
            <a:endParaRPr lang="ko-KR" sz="850" dirty="0"/>
          </a:p>
        </p:txBody>
      </p:sp>
      <p:sp>
        <p:nvSpPr>
          <p:cNvPr id="11" name="Shape 9"/>
          <p:cNvSpPr/>
          <p:nvPr/>
        </p:nvSpPr>
        <p:spPr>
          <a:xfrm>
            <a:off x="420624" y="1131136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48056" y="1158568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ko-KR" sz="800" dirty="0"/>
          </a:p>
        </p:txBody>
      </p:sp>
      <p:sp>
        <p:nvSpPr>
          <p:cNvPr id="13" name="Shape 11"/>
          <p:cNvSpPr/>
          <p:nvPr/>
        </p:nvSpPr>
        <p:spPr>
          <a:xfrm>
            <a:off x="877824" y="1131136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05256" y="1158568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</a:t>
            </a:r>
            <a:endParaRPr lang="ko-KR" sz="800" dirty="0"/>
          </a:p>
        </p:txBody>
      </p:sp>
      <p:sp>
        <p:nvSpPr>
          <p:cNvPr id="15" name="Shape 13"/>
          <p:cNvSpPr/>
          <p:nvPr/>
        </p:nvSpPr>
        <p:spPr>
          <a:xfrm>
            <a:off x="2798064" y="1131136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825496" y="1158568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17" name="Shape 15"/>
          <p:cNvSpPr/>
          <p:nvPr/>
        </p:nvSpPr>
        <p:spPr>
          <a:xfrm>
            <a:off x="5907024" y="1131136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934456" y="1158568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자동생성, 저장 성공 시 호출 화면 반환, 불변</a:t>
            </a:r>
            <a:endParaRPr lang="ko-KR" sz="800" dirty="0"/>
          </a:p>
        </p:txBody>
      </p:sp>
      <p:sp>
        <p:nvSpPr>
          <p:cNvPr id="19" name="Shape 17"/>
          <p:cNvSpPr/>
          <p:nvPr/>
        </p:nvSpPr>
        <p:spPr>
          <a:xfrm>
            <a:off x="420624" y="1321138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48056" y="1348570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ko-KR" sz="800" dirty="0"/>
          </a:p>
        </p:txBody>
      </p:sp>
      <p:sp>
        <p:nvSpPr>
          <p:cNvPr id="21" name="Shape 19"/>
          <p:cNvSpPr/>
          <p:nvPr/>
        </p:nvSpPr>
        <p:spPr>
          <a:xfrm>
            <a:off x="877824" y="1321138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05256" y="1348570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CreationDate</a:t>
            </a:r>
            <a:endParaRPr lang="ko-KR" sz="800" dirty="0"/>
          </a:p>
        </p:txBody>
      </p:sp>
      <p:sp>
        <p:nvSpPr>
          <p:cNvPr id="23" name="Shape 21"/>
          <p:cNvSpPr/>
          <p:nvPr/>
        </p:nvSpPr>
        <p:spPr>
          <a:xfrm>
            <a:off x="2798064" y="1321138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25496" y="1348570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25" name="Shape 23"/>
          <p:cNvSpPr/>
          <p:nvPr/>
        </p:nvSpPr>
        <p:spPr>
          <a:xfrm>
            <a:off x="5907024" y="1321138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934456" y="1348570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시 DB 서버시각</a:t>
            </a:r>
            <a:endParaRPr lang="ko-KR" sz="800" dirty="0"/>
          </a:p>
        </p:txBody>
      </p:sp>
      <p:sp>
        <p:nvSpPr>
          <p:cNvPr id="27" name="Shape 25"/>
          <p:cNvSpPr/>
          <p:nvPr/>
        </p:nvSpPr>
        <p:spPr>
          <a:xfrm>
            <a:off x="420624" y="151114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48056" y="153857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ko-KR" sz="800" dirty="0"/>
          </a:p>
        </p:txBody>
      </p:sp>
      <p:sp>
        <p:nvSpPr>
          <p:cNvPr id="29" name="Shape 27"/>
          <p:cNvSpPr/>
          <p:nvPr/>
        </p:nvSpPr>
        <p:spPr>
          <a:xfrm>
            <a:off x="877824" y="151114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905256" y="153857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LastEditDate</a:t>
            </a:r>
            <a:endParaRPr lang="ko-KR" sz="800" dirty="0"/>
          </a:p>
        </p:txBody>
      </p:sp>
      <p:sp>
        <p:nvSpPr>
          <p:cNvPr id="31" name="Shape 29"/>
          <p:cNvSpPr/>
          <p:nvPr/>
        </p:nvSpPr>
        <p:spPr>
          <a:xfrm>
            <a:off x="2798064" y="151114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825496" y="153857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33" name="Shape 31"/>
          <p:cNvSpPr/>
          <p:nvPr/>
        </p:nvSpPr>
        <p:spPr>
          <a:xfrm>
            <a:off x="5907024" y="151114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5934456" y="153857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INSERT 시 생성시각, UPDATE 성공 시 DB 서버시각. 감사 정보이며 동시성 기준이 아니다</a:t>
            </a:r>
            <a:endParaRPr lang="ko-KR" sz="800" dirty="0"/>
          </a:p>
        </p:txBody>
      </p:sp>
      <p:sp>
        <p:nvSpPr>
          <p:cNvPr id="35" name="Shape 33"/>
          <p:cNvSpPr/>
          <p:nvPr/>
        </p:nvSpPr>
        <p:spPr>
          <a:xfrm>
            <a:off x="420624" y="1701143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48056" y="1728575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ko-KR" sz="800" dirty="0"/>
          </a:p>
        </p:txBody>
      </p:sp>
      <p:sp>
        <p:nvSpPr>
          <p:cNvPr id="37" name="Shape 35"/>
          <p:cNvSpPr/>
          <p:nvPr/>
        </p:nvSpPr>
        <p:spPr>
          <a:xfrm>
            <a:off x="877824" y="1701143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05256" y="1728575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RowVersion</a:t>
            </a:r>
            <a:endParaRPr lang="ko-KR" sz="800" dirty="0"/>
          </a:p>
        </p:txBody>
      </p:sp>
      <p:sp>
        <p:nvSpPr>
          <p:cNvPr id="39" name="Shape 37"/>
          <p:cNvSpPr/>
          <p:nvPr/>
        </p:nvSpPr>
        <p:spPr>
          <a:xfrm>
            <a:off x="2798064" y="1701143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2825496" y="1728575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미표시</a:t>
            </a:r>
            <a:endParaRPr lang="ko-KR" sz="800" dirty="0"/>
          </a:p>
        </p:txBody>
      </p:sp>
      <p:sp>
        <p:nvSpPr>
          <p:cNvPr id="41" name="Shape 39"/>
          <p:cNvSpPr/>
          <p:nvPr/>
        </p:nvSpPr>
        <p:spPr>
          <a:xfrm>
            <a:off x="5907024" y="1701143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34456" y="1728575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DB 자동생성. 수정·삭제 요청에 함께 실어 보내는 동시성값</a:t>
            </a:r>
            <a:endParaRPr lang="ko-KR" sz="800" dirty="0"/>
          </a:p>
        </p:txBody>
      </p:sp>
      <p:sp>
        <p:nvSpPr>
          <p:cNvPr id="43" name="Shape 41"/>
          <p:cNvSpPr/>
          <p:nvPr/>
        </p:nvSpPr>
        <p:spPr>
          <a:xfrm>
            <a:off x="420624" y="1891145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8056" y="1918577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</a:t>
            </a:r>
            <a:endParaRPr lang="ko-KR" sz="800" dirty="0"/>
          </a:p>
        </p:txBody>
      </p:sp>
      <p:sp>
        <p:nvSpPr>
          <p:cNvPr id="45" name="Shape 43"/>
          <p:cNvSpPr/>
          <p:nvPr/>
        </p:nvSpPr>
        <p:spPr>
          <a:xfrm>
            <a:off x="877824" y="1891145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05256" y="1918577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ChartNo</a:t>
            </a:r>
            <a:endParaRPr lang="ko-KR" sz="800" dirty="0"/>
          </a:p>
        </p:txBody>
      </p:sp>
      <p:sp>
        <p:nvSpPr>
          <p:cNvPr id="47" name="Shape 45"/>
          <p:cNvSpPr/>
          <p:nvPr/>
        </p:nvSpPr>
        <p:spPr>
          <a:xfrm>
            <a:off x="2798064" y="1891145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2825496" y="1918577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 Editor</a:t>
            </a:r>
            <a:endParaRPr lang="ko-KR" sz="800" dirty="0"/>
          </a:p>
        </p:txBody>
      </p:sp>
      <p:sp>
        <p:nvSpPr>
          <p:cNvPr id="49" name="Shape 47"/>
          <p:cNvSpPr/>
          <p:nvPr/>
        </p:nvSpPr>
        <p:spPr>
          <a:xfrm>
            <a:off x="5907024" y="1891145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5934456" y="1918577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New 자동발급 또는 수동입력, Edit 수동수정, DB 최종 고유성 검증</a:t>
            </a:r>
            <a:endParaRPr lang="ko-KR" sz="800" dirty="0"/>
          </a:p>
        </p:txBody>
      </p:sp>
      <p:sp>
        <p:nvSpPr>
          <p:cNvPr id="51" name="Shape 49"/>
          <p:cNvSpPr/>
          <p:nvPr/>
        </p:nvSpPr>
        <p:spPr>
          <a:xfrm>
            <a:off x="420624" y="2081147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48056" y="2108579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</a:t>
            </a:r>
            <a:endParaRPr lang="ko-KR" sz="800" dirty="0"/>
          </a:p>
        </p:txBody>
      </p:sp>
      <p:sp>
        <p:nvSpPr>
          <p:cNvPr id="53" name="Shape 51"/>
          <p:cNvSpPr/>
          <p:nvPr/>
        </p:nvSpPr>
        <p:spPr>
          <a:xfrm>
            <a:off x="877824" y="2081147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905256" y="2108579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Name</a:t>
            </a:r>
            <a:endParaRPr lang="ko-KR" sz="800" dirty="0"/>
          </a:p>
        </p:txBody>
      </p:sp>
      <p:sp>
        <p:nvSpPr>
          <p:cNvPr id="55" name="Shape 53"/>
          <p:cNvSpPr/>
          <p:nvPr/>
        </p:nvSpPr>
        <p:spPr>
          <a:xfrm>
            <a:off x="2798064" y="2081147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2825496" y="2108579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조회/Grid/상세</a:t>
            </a:r>
            <a:endParaRPr lang="ko-KR" sz="800" dirty="0"/>
          </a:p>
        </p:txBody>
      </p:sp>
      <p:sp>
        <p:nvSpPr>
          <p:cNvPr id="57" name="Shape 55"/>
          <p:cNvSpPr/>
          <p:nvPr/>
        </p:nvSpPr>
        <p:spPr>
          <a:xfrm>
            <a:off x="5907024" y="2081147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5934456" y="2108579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필수</a:t>
            </a:r>
            <a:endParaRPr lang="ko-KR" sz="800" dirty="0"/>
          </a:p>
        </p:txBody>
      </p:sp>
      <p:sp>
        <p:nvSpPr>
          <p:cNvPr id="59" name="Shape 57"/>
          <p:cNvSpPr/>
          <p:nvPr/>
        </p:nvSpPr>
        <p:spPr>
          <a:xfrm>
            <a:off x="420624" y="2271149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448056" y="2298581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</a:t>
            </a:r>
            <a:endParaRPr lang="ko-KR" sz="800" dirty="0"/>
          </a:p>
        </p:txBody>
      </p:sp>
      <p:sp>
        <p:nvSpPr>
          <p:cNvPr id="61" name="Shape 59"/>
          <p:cNvSpPr/>
          <p:nvPr/>
        </p:nvSpPr>
        <p:spPr>
          <a:xfrm>
            <a:off x="877824" y="2271149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905256" y="2298581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</a:t>
            </a:r>
            <a:endParaRPr lang="ko-KR" sz="800" dirty="0"/>
          </a:p>
        </p:txBody>
      </p:sp>
      <p:sp>
        <p:nvSpPr>
          <p:cNvPr id="63" name="Shape 61"/>
          <p:cNvSpPr/>
          <p:nvPr/>
        </p:nvSpPr>
        <p:spPr>
          <a:xfrm>
            <a:off x="2798064" y="2271149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2825496" y="2298581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조회, 상세, 선택 컬럼</a:t>
            </a:r>
            <a:endParaRPr lang="ko-KR" sz="800" dirty="0"/>
          </a:p>
        </p:txBody>
      </p:sp>
      <p:sp>
        <p:nvSpPr>
          <p:cNvPr id="65" name="Shape 63"/>
          <p:cNvSpPr/>
          <p:nvPr/>
        </p:nvSpPr>
        <p:spPr>
          <a:xfrm>
            <a:off x="5907024" y="2271149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5934456" y="2298581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검증용 전체값 표시; '-' 제거 후 숫자 13자리 저장; DB 최종 고유성 검증</a:t>
            </a:r>
            <a:endParaRPr lang="ko-KR" sz="800" dirty="0"/>
          </a:p>
        </p:txBody>
      </p:sp>
      <p:sp>
        <p:nvSpPr>
          <p:cNvPr id="67" name="Shape 65"/>
          <p:cNvSpPr/>
          <p:nvPr/>
        </p:nvSpPr>
        <p:spPr>
          <a:xfrm>
            <a:off x="420624" y="246115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448056" y="248858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</a:t>
            </a:r>
            <a:endParaRPr lang="ko-KR" sz="800" dirty="0"/>
          </a:p>
        </p:txBody>
      </p:sp>
      <p:sp>
        <p:nvSpPr>
          <p:cNvPr id="69" name="Shape 67"/>
          <p:cNvSpPr/>
          <p:nvPr/>
        </p:nvSpPr>
        <p:spPr>
          <a:xfrm>
            <a:off x="877824" y="246115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905256" y="248858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Birthday</a:t>
            </a:r>
            <a:endParaRPr lang="ko-KR" sz="800" dirty="0"/>
          </a:p>
        </p:txBody>
      </p:sp>
      <p:sp>
        <p:nvSpPr>
          <p:cNvPr id="71" name="Shape 69"/>
          <p:cNvSpPr/>
          <p:nvPr/>
        </p:nvSpPr>
        <p:spPr>
          <a:xfrm>
            <a:off x="2798064" y="246115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2825496" y="248858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73" name="Shape 71"/>
          <p:cNvSpPr/>
          <p:nvPr/>
        </p:nvSpPr>
        <p:spPr>
          <a:xfrm>
            <a:off x="5907024" y="246115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5934456" y="248858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SocialNumber에서 yyyyMMdd 자동산출</a:t>
            </a:r>
            <a:endParaRPr lang="ko-KR" sz="800" dirty="0"/>
          </a:p>
        </p:txBody>
      </p:sp>
      <p:sp>
        <p:nvSpPr>
          <p:cNvPr id="75" name="Shape 73"/>
          <p:cNvSpPr/>
          <p:nvPr/>
        </p:nvSpPr>
        <p:spPr>
          <a:xfrm>
            <a:off x="420624" y="2651154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48056" y="2678586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800" dirty="0"/>
          </a:p>
        </p:txBody>
      </p:sp>
      <p:sp>
        <p:nvSpPr>
          <p:cNvPr id="77" name="Shape 75"/>
          <p:cNvSpPr/>
          <p:nvPr/>
        </p:nvSpPr>
        <p:spPr>
          <a:xfrm>
            <a:off x="877824" y="2651154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05256" y="2678586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Gender</a:t>
            </a:r>
            <a:endParaRPr lang="ko-KR" sz="800" dirty="0"/>
          </a:p>
        </p:txBody>
      </p:sp>
      <p:sp>
        <p:nvSpPr>
          <p:cNvPr id="79" name="Shape 77"/>
          <p:cNvSpPr/>
          <p:nvPr/>
        </p:nvSpPr>
        <p:spPr>
          <a:xfrm>
            <a:off x="2798064" y="2651154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2825496" y="2678586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ReadOnly</a:t>
            </a:r>
            <a:endParaRPr lang="ko-KR" sz="800" dirty="0"/>
          </a:p>
        </p:txBody>
      </p:sp>
      <p:sp>
        <p:nvSpPr>
          <p:cNvPr id="81" name="Shape 79"/>
          <p:cNvSpPr/>
          <p:nvPr/>
        </p:nvSpPr>
        <p:spPr>
          <a:xfrm>
            <a:off x="5907024" y="2651154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5934456" y="2678586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SocialNumber에서 M/F 자동산출; UI 남/여</a:t>
            </a:r>
            <a:endParaRPr lang="ko-KR" sz="800" dirty="0"/>
          </a:p>
        </p:txBody>
      </p:sp>
      <p:sp>
        <p:nvSpPr>
          <p:cNvPr id="83" name="Shape 81"/>
          <p:cNvSpPr/>
          <p:nvPr/>
        </p:nvSpPr>
        <p:spPr>
          <a:xfrm>
            <a:off x="420624" y="2841156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448056" y="2868588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</a:t>
            </a:r>
            <a:endParaRPr lang="ko-KR" sz="800" dirty="0"/>
          </a:p>
        </p:txBody>
      </p:sp>
      <p:sp>
        <p:nvSpPr>
          <p:cNvPr id="85" name="Shape 83"/>
          <p:cNvSpPr/>
          <p:nvPr/>
        </p:nvSpPr>
        <p:spPr>
          <a:xfrm>
            <a:off x="877824" y="2841156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905256" y="2868588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Email</a:t>
            </a:r>
            <a:endParaRPr lang="ko-KR" sz="800" dirty="0"/>
          </a:p>
        </p:txBody>
      </p:sp>
      <p:sp>
        <p:nvSpPr>
          <p:cNvPr id="87" name="Shape 85"/>
          <p:cNvSpPr/>
          <p:nvPr/>
        </p:nvSpPr>
        <p:spPr>
          <a:xfrm>
            <a:off x="2798064" y="2841156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2825496" y="2868588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89" name="Shape 87"/>
          <p:cNvSpPr/>
          <p:nvPr/>
        </p:nvSpPr>
        <p:spPr>
          <a:xfrm>
            <a:off x="5907024" y="2841156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5934456" y="2868588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91" name="Shape 89"/>
          <p:cNvSpPr/>
          <p:nvPr/>
        </p:nvSpPr>
        <p:spPr>
          <a:xfrm>
            <a:off x="420624" y="3031158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448056" y="3058590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</a:t>
            </a:r>
            <a:endParaRPr lang="ko-KR" sz="800" dirty="0"/>
          </a:p>
        </p:txBody>
      </p:sp>
      <p:sp>
        <p:nvSpPr>
          <p:cNvPr id="93" name="Shape 91"/>
          <p:cNvSpPr/>
          <p:nvPr/>
        </p:nvSpPr>
        <p:spPr>
          <a:xfrm>
            <a:off x="877824" y="3031158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905256" y="3058590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MobilePhone</a:t>
            </a:r>
            <a:endParaRPr lang="ko-KR" sz="800" dirty="0"/>
          </a:p>
        </p:txBody>
      </p:sp>
      <p:sp>
        <p:nvSpPr>
          <p:cNvPr id="95" name="Shape 93"/>
          <p:cNvSpPr/>
          <p:nvPr/>
        </p:nvSpPr>
        <p:spPr>
          <a:xfrm>
            <a:off x="2798064" y="3031158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2825496" y="3058590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조회/Grid/상세</a:t>
            </a:r>
            <a:endParaRPr lang="ko-KR" sz="800" dirty="0"/>
          </a:p>
        </p:txBody>
      </p:sp>
      <p:sp>
        <p:nvSpPr>
          <p:cNvPr id="97" name="Shape 95"/>
          <p:cNvSpPr/>
          <p:nvPr/>
        </p:nvSpPr>
        <p:spPr>
          <a:xfrm>
            <a:off x="5907024" y="3031158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5934456" y="3058590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99" name="Shape 97"/>
          <p:cNvSpPr/>
          <p:nvPr/>
        </p:nvSpPr>
        <p:spPr>
          <a:xfrm>
            <a:off x="420624" y="3221160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48056" y="3248592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</a:t>
            </a:r>
            <a:endParaRPr lang="ko-KR" sz="800" dirty="0"/>
          </a:p>
        </p:txBody>
      </p:sp>
      <p:sp>
        <p:nvSpPr>
          <p:cNvPr id="101" name="Shape 99"/>
          <p:cNvSpPr/>
          <p:nvPr/>
        </p:nvSpPr>
        <p:spPr>
          <a:xfrm>
            <a:off x="877824" y="3221160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905256" y="3248592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Phone</a:t>
            </a:r>
            <a:endParaRPr lang="ko-KR" sz="800" dirty="0"/>
          </a:p>
        </p:txBody>
      </p:sp>
      <p:sp>
        <p:nvSpPr>
          <p:cNvPr id="103" name="Shape 101"/>
          <p:cNvSpPr/>
          <p:nvPr/>
        </p:nvSpPr>
        <p:spPr>
          <a:xfrm>
            <a:off x="2798064" y="3221160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2825496" y="3248592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05" name="Shape 103"/>
          <p:cNvSpPr/>
          <p:nvPr/>
        </p:nvSpPr>
        <p:spPr>
          <a:xfrm>
            <a:off x="5907024" y="3221160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5934456" y="3248592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07" name="Shape 105"/>
          <p:cNvSpPr/>
          <p:nvPr/>
        </p:nvSpPr>
        <p:spPr>
          <a:xfrm>
            <a:off x="420624" y="3411162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8" name="Text 106"/>
          <p:cNvSpPr/>
          <p:nvPr/>
        </p:nvSpPr>
        <p:spPr>
          <a:xfrm>
            <a:off x="448056" y="3438594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</a:t>
            </a:r>
            <a:endParaRPr lang="ko-KR" sz="800" dirty="0"/>
          </a:p>
        </p:txBody>
      </p:sp>
      <p:sp>
        <p:nvSpPr>
          <p:cNvPr id="109" name="Shape 107"/>
          <p:cNvSpPr/>
          <p:nvPr/>
        </p:nvSpPr>
        <p:spPr>
          <a:xfrm>
            <a:off x="877824" y="3411162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0" name="Text 108"/>
          <p:cNvSpPr/>
          <p:nvPr/>
        </p:nvSpPr>
        <p:spPr>
          <a:xfrm>
            <a:off x="905256" y="3438594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Zipcode</a:t>
            </a:r>
            <a:endParaRPr lang="ko-KR" sz="800" dirty="0"/>
          </a:p>
        </p:txBody>
      </p:sp>
      <p:sp>
        <p:nvSpPr>
          <p:cNvPr id="111" name="Shape 109"/>
          <p:cNvSpPr/>
          <p:nvPr/>
        </p:nvSpPr>
        <p:spPr>
          <a:xfrm>
            <a:off x="2798064" y="3411162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2825496" y="3438594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13" name="Shape 111"/>
          <p:cNvSpPr/>
          <p:nvPr/>
        </p:nvSpPr>
        <p:spPr>
          <a:xfrm>
            <a:off x="5907024" y="3411162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4" name="Text 112"/>
          <p:cNvSpPr/>
          <p:nvPr/>
        </p:nvSpPr>
        <p:spPr>
          <a:xfrm>
            <a:off x="5934456" y="3438594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15" name="Shape 113"/>
          <p:cNvSpPr/>
          <p:nvPr/>
        </p:nvSpPr>
        <p:spPr>
          <a:xfrm>
            <a:off x="420624" y="3601164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6" name="Text 114"/>
          <p:cNvSpPr/>
          <p:nvPr/>
        </p:nvSpPr>
        <p:spPr>
          <a:xfrm>
            <a:off x="448056" y="3628596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14</a:t>
            </a:r>
            <a:endParaRPr lang="ko-KR" sz="800" dirty="0"/>
          </a:p>
        </p:txBody>
      </p:sp>
      <p:sp>
        <p:nvSpPr>
          <p:cNvPr id="117" name="Shape 115"/>
          <p:cNvSpPr/>
          <p:nvPr/>
        </p:nvSpPr>
        <p:spPr>
          <a:xfrm>
            <a:off x="877824" y="3601164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8" name="Text 116"/>
          <p:cNvSpPr/>
          <p:nvPr/>
        </p:nvSpPr>
        <p:spPr>
          <a:xfrm>
            <a:off x="905256" y="3628596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Address</a:t>
            </a:r>
            <a:endParaRPr lang="ko-KR" sz="800" dirty="0"/>
          </a:p>
        </p:txBody>
      </p:sp>
      <p:sp>
        <p:nvSpPr>
          <p:cNvPr id="119" name="Shape 117"/>
          <p:cNvSpPr/>
          <p:nvPr/>
        </p:nvSpPr>
        <p:spPr>
          <a:xfrm>
            <a:off x="2798064" y="3601164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2825496" y="3628596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상세/선택 컬럼</a:t>
            </a:r>
            <a:endParaRPr lang="ko-KR" sz="800" dirty="0"/>
          </a:p>
        </p:txBody>
      </p:sp>
      <p:sp>
        <p:nvSpPr>
          <p:cNvPr id="121" name="Shape 119"/>
          <p:cNvSpPr/>
          <p:nvPr/>
        </p:nvSpPr>
        <p:spPr>
          <a:xfrm>
            <a:off x="5907024" y="3601164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2" name="Text 120"/>
          <p:cNvSpPr/>
          <p:nvPr/>
        </p:nvSpPr>
        <p:spPr>
          <a:xfrm>
            <a:off x="5934456" y="3628596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23" name="Shape 121"/>
          <p:cNvSpPr/>
          <p:nvPr/>
        </p:nvSpPr>
        <p:spPr>
          <a:xfrm>
            <a:off x="420624" y="3791167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448056" y="3818599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ko-KR" sz="800" dirty="0"/>
          </a:p>
        </p:txBody>
      </p:sp>
      <p:sp>
        <p:nvSpPr>
          <p:cNvPr id="125" name="Shape 123"/>
          <p:cNvSpPr/>
          <p:nvPr/>
        </p:nvSpPr>
        <p:spPr>
          <a:xfrm>
            <a:off x="877824" y="3791167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6" name="Text 124"/>
          <p:cNvSpPr/>
          <p:nvPr/>
        </p:nvSpPr>
        <p:spPr>
          <a:xfrm>
            <a:off x="905256" y="3818599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AddressDetail</a:t>
            </a:r>
            <a:endParaRPr lang="ko-KR" sz="800" dirty="0"/>
          </a:p>
        </p:txBody>
      </p:sp>
      <p:sp>
        <p:nvSpPr>
          <p:cNvPr id="127" name="Shape 125"/>
          <p:cNvSpPr/>
          <p:nvPr/>
        </p:nvSpPr>
        <p:spPr>
          <a:xfrm>
            <a:off x="2798064" y="3791167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28" name="Text 126"/>
          <p:cNvSpPr/>
          <p:nvPr/>
        </p:nvSpPr>
        <p:spPr>
          <a:xfrm>
            <a:off x="2825496" y="3818599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</a:t>
            </a:r>
            <a:endParaRPr lang="ko-KR" sz="800" dirty="0"/>
          </a:p>
        </p:txBody>
      </p:sp>
      <p:sp>
        <p:nvSpPr>
          <p:cNvPr id="129" name="Shape 127"/>
          <p:cNvSpPr/>
          <p:nvPr/>
        </p:nvSpPr>
        <p:spPr>
          <a:xfrm>
            <a:off x="5907024" y="3791167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5934456" y="3818599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31" name="Shape 129"/>
          <p:cNvSpPr/>
          <p:nvPr/>
        </p:nvSpPr>
        <p:spPr>
          <a:xfrm>
            <a:off x="420624" y="3981169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2" name="Text 130"/>
          <p:cNvSpPr/>
          <p:nvPr/>
        </p:nvSpPr>
        <p:spPr>
          <a:xfrm>
            <a:off x="448056" y="4008601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16</a:t>
            </a:r>
            <a:endParaRPr lang="ko-KR" sz="800" dirty="0"/>
          </a:p>
        </p:txBody>
      </p:sp>
      <p:sp>
        <p:nvSpPr>
          <p:cNvPr id="133" name="Shape 131"/>
          <p:cNvSpPr/>
          <p:nvPr/>
        </p:nvSpPr>
        <p:spPr>
          <a:xfrm>
            <a:off x="877824" y="3981169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4" name="Text 132"/>
          <p:cNvSpPr/>
          <p:nvPr/>
        </p:nvSpPr>
        <p:spPr>
          <a:xfrm>
            <a:off x="905256" y="4008601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HepatitisBExcluded</a:t>
            </a:r>
            <a:endParaRPr lang="ko-KR" sz="800" dirty="0"/>
          </a:p>
        </p:txBody>
      </p:sp>
      <p:sp>
        <p:nvSpPr>
          <p:cNvPr id="135" name="Shape 133"/>
          <p:cNvSpPr/>
          <p:nvPr/>
        </p:nvSpPr>
        <p:spPr>
          <a:xfrm>
            <a:off x="2798064" y="3981169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6" name="Text 134"/>
          <p:cNvSpPr/>
          <p:nvPr/>
        </p:nvSpPr>
        <p:spPr>
          <a:xfrm>
            <a:off x="2825496" y="4008601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 Editor</a:t>
            </a:r>
            <a:endParaRPr lang="ko-KR" sz="800" dirty="0"/>
          </a:p>
        </p:txBody>
      </p:sp>
      <p:sp>
        <p:nvSpPr>
          <p:cNvPr id="137" name="Shape 135"/>
          <p:cNvSpPr/>
          <p:nvPr/>
        </p:nvSpPr>
        <p:spPr>
          <a:xfrm>
            <a:off x="5907024" y="3981169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5934456" y="4008601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신규 기본값 0; NEX-03 제외 판정 입력이며 1이 제외다. Grid·조회조건에는 제공하지 않는다</a:t>
            </a:r>
            <a:endParaRPr lang="ko-KR" sz="800" dirty="0"/>
          </a:p>
        </p:txBody>
      </p:sp>
      <p:sp>
        <p:nvSpPr>
          <p:cNvPr id="139" name="Shape 137"/>
          <p:cNvSpPr/>
          <p:nvPr/>
        </p:nvSpPr>
        <p:spPr>
          <a:xfrm>
            <a:off x="420624" y="4171171"/>
            <a:ext cx="45720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0" name="Text 138"/>
          <p:cNvSpPr/>
          <p:nvPr/>
        </p:nvSpPr>
        <p:spPr>
          <a:xfrm>
            <a:off x="448056" y="4198603"/>
            <a:ext cx="40233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</a:t>
            </a:r>
            <a:endParaRPr lang="ko-KR" sz="800" dirty="0"/>
          </a:p>
        </p:txBody>
      </p:sp>
      <p:sp>
        <p:nvSpPr>
          <p:cNvPr id="141" name="Shape 139"/>
          <p:cNvSpPr/>
          <p:nvPr/>
        </p:nvSpPr>
        <p:spPr>
          <a:xfrm>
            <a:off x="877824" y="4171171"/>
            <a:ext cx="192024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905256" y="4198603"/>
            <a:ext cx="18653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Memo</a:t>
            </a:r>
            <a:endParaRPr lang="ko-KR" sz="800" dirty="0"/>
          </a:p>
        </p:txBody>
      </p:sp>
      <p:sp>
        <p:nvSpPr>
          <p:cNvPr id="143" name="Shape 141"/>
          <p:cNvSpPr/>
          <p:nvPr/>
        </p:nvSpPr>
        <p:spPr>
          <a:xfrm>
            <a:off x="2798064" y="4171171"/>
            <a:ext cx="3108960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4" name="Text 142"/>
          <p:cNvSpPr/>
          <p:nvPr/>
        </p:nvSpPr>
        <p:spPr>
          <a:xfrm>
            <a:off x="2825496" y="4198603"/>
            <a:ext cx="305409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등록/수정, 상세</a:t>
            </a:r>
            <a:endParaRPr lang="ko-KR" sz="800" dirty="0"/>
          </a:p>
        </p:txBody>
      </p:sp>
      <p:sp>
        <p:nvSpPr>
          <p:cNvPr id="145" name="Shape 143"/>
          <p:cNvSpPr/>
          <p:nvPr/>
        </p:nvSpPr>
        <p:spPr>
          <a:xfrm>
            <a:off x="5907024" y="4171171"/>
            <a:ext cx="5861304" cy="190002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5934456" y="4198603"/>
            <a:ext cx="5806440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선택, 미입력 NULL</a:t>
            </a:r>
            <a:endParaRPr lang="ko-KR" sz="800" dirty="0"/>
          </a:p>
        </p:txBody>
      </p:sp>
      <p:sp>
        <p:nvSpPr>
          <p:cNvPr id="147" name="Text 145"/>
          <p:cNvSpPr/>
          <p:nvPr/>
        </p:nvSpPr>
        <p:spPr>
          <a:xfrm>
            <a:off x="475488" y="4507477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UI 미사용 NOT NULL 컬럼은 DB Default 또는 저장 Stored Procedure가 값을 보장한다.</a:t>
            </a:r>
            <a:endParaRPr lang="ko-KR" sz="800" dirty="0"/>
          </a:p>
        </p:txBody>
      </p:sp>
      <p:sp>
        <p:nvSpPr>
          <p:cNvPr id="148" name="Text 146"/>
          <p:cNvSpPr/>
          <p:nvPr/>
        </p:nvSpPr>
        <p:spPr>
          <a:xfrm>
            <a:off x="475488" y="4642615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PatientId는 내부 연결키이며 화면에 표시하지 않는다.</a:t>
            </a:r>
            <a:endParaRPr lang="ko-KR" sz="800" dirty="0"/>
          </a:p>
        </p:txBody>
      </p:sp>
      <p:sp>
        <p:nvSpPr>
          <p:cNvPr id="149" name="Text 147"/>
          <p:cNvSpPr/>
          <p:nvPr/>
        </p:nvSpPr>
        <p:spPr>
          <a:xfrm>
            <a:off x="475488" y="4777753"/>
            <a:ext cx="11237976" cy="13513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0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주민등록번호(SocialNumber)는 실제 값이 아닌 검증용 값으로 운용한다.</a:t>
            </a:r>
            <a:endParaRPr lang="ko-KR" sz="8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F.  구현 기준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F-1.  주민등록번호 입력 · 파생값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7번째 자리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1883664" y="1170432"/>
            <a:ext cx="146304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924812" y="121158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세기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3346704" y="1170432"/>
            <a:ext cx="109728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387852" y="1211580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성별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443984" y="1170432"/>
            <a:ext cx="732434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485132" y="1211580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예시 (입력 → 파생)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139631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143746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1883664" y="1396312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924812" y="1437460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1800년대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3346704" y="1396312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387852" y="1437460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18" name="Shape 16"/>
          <p:cNvSpPr/>
          <p:nvPr/>
        </p:nvSpPr>
        <p:spPr>
          <a:xfrm>
            <a:off x="4443984" y="1396312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5132" y="1437460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890704-9000012   →   1889-07-04  /  남</a:t>
            </a:r>
            <a:endParaRPr lang="ko-KR" sz="850" dirty="0"/>
          </a:p>
        </p:txBody>
      </p:sp>
      <p:sp>
        <p:nvSpPr>
          <p:cNvPr id="20" name="Shape 18"/>
          <p:cNvSpPr/>
          <p:nvPr/>
        </p:nvSpPr>
        <p:spPr>
          <a:xfrm>
            <a:off x="420624" y="162219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1772" y="166334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</a:t>
            </a:r>
            <a:endParaRPr lang="ko-KR" sz="850" dirty="0"/>
          </a:p>
        </p:txBody>
      </p:sp>
      <p:sp>
        <p:nvSpPr>
          <p:cNvPr id="22" name="Shape 20"/>
          <p:cNvSpPr/>
          <p:nvPr/>
        </p:nvSpPr>
        <p:spPr>
          <a:xfrm>
            <a:off x="1883664" y="162219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924812" y="166334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1800년대</a:t>
            </a:r>
            <a:endParaRPr lang="ko-KR" sz="850" dirty="0"/>
          </a:p>
        </p:txBody>
      </p:sp>
      <p:sp>
        <p:nvSpPr>
          <p:cNvPr id="24" name="Shape 22"/>
          <p:cNvSpPr/>
          <p:nvPr/>
        </p:nvSpPr>
        <p:spPr>
          <a:xfrm>
            <a:off x="3346704" y="162219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387852" y="166334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26" name="Shape 24"/>
          <p:cNvSpPr/>
          <p:nvPr/>
        </p:nvSpPr>
        <p:spPr>
          <a:xfrm>
            <a:off x="4443984" y="162219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485132" y="166334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890704-0000011   →   1889-07-04  /  여</a:t>
            </a:r>
            <a:endParaRPr lang="ko-KR" sz="850" dirty="0"/>
          </a:p>
        </p:txBody>
      </p:sp>
      <p:sp>
        <p:nvSpPr>
          <p:cNvPr id="28" name="Shape 26"/>
          <p:cNvSpPr/>
          <p:nvPr/>
        </p:nvSpPr>
        <p:spPr>
          <a:xfrm>
            <a:off x="420624" y="184807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1772" y="188922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1, 5</a:t>
            </a:r>
            <a:endParaRPr lang="ko-KR" sz="850" dirty="0"/>
          </a:p>
        </p:txBody>
      </p:sp>
      <p:sp>
        <p:nvSpPr>
          <p:cNvPr id="30" name="Shape 28"/>
          <p:cNvSpPr/>
          <p:nvPr/>
        </p:nvSpPr>
        <p:spPr>
          <a:xfrm>
            <a:off x="1883664" y="184807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924812" y="188922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1900년대</a:t>
            </a:r>
            <a:endParaRPr lang="ko-KR" sz="850" dirty="0"/>
          </a:p>
        </p:txBody>
      </p:sp>
      <p:sp>
        <p:nvSpPr>
          <p:cNvPr id="32" name="Shape 30"/>
          <p:cNvSpPr/>
          <p:nvPr/>
        </p:nvSpPr>
        <p:spPr>
          <a:xfrm>
            <a:off x="3346704" y="184807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387852" y="188922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34" name="Shape 32"/>
          <p:cNvSpPr/>
          <p:nvPr/>
        </p:nvSpPr>
        <p:spPr>
          <a:xfrm>
            <a:off x="4443984" y="184807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485132" y="188922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800511-1000015   →   1980-05-11  /  남</a:t>
            </a:r>
            <a:endParaRPr lang="ko-KR" sz="850" dirty="0"/>
          </a:p>
        </p:txBody>
      </p:sp>
      <p:sp>
        <p:nvSpPr>
          <p:cNvPr id="36" name="Shape 34"/>
          <p:cNvSpPr/>
          <p:nvPr/>
        </p:nvSpPr>
        <p:spPr>
          <a:xfrm>
            <a:off x="420624" y="207395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61772" y="211510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2, 6</a:t>
            </a:r>
            <a:endParaRPr lang="ko-KR" sz="850" dirty="0"/>
          </a:p>
        </p:txBody>
      </p:sp>
      <p:sp>
        <p:nvSpPr>
          <p:cNvPr id="38" name="Shape 36"/>
          <p:cNvSpPr/>
          <p:nvPr/>
        </p:nvSpPr>
        <p:spPr>
          <a:xfrm>
            <a:off x="1883664" y="207395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924812" y="211510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1900년대</a:t>
            </a:r>
            <a:endParaRPr lang="ko-KR" sz="850" dirty="0"/>
          </a:p>
        </p:txBody>
      </p:sp>
      <p:sp>
        <p:nvSpPr>
          <p:cNvPr id="40" name="Shape 38"/>
          <p:cNvSpPr/>
          <p:nvPr/>
        </p:nvSpPr>
        <p:spPr>
          <a:xfrm>
            <a:off x="3346704" y="207395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3387852" y="211510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42" name="Shape 40"/>
          <p:cNvSpPr/>
          <p:nvPr/>
        </p:nvSpPr>
        <p:spPr>
          <a:xfrm>
            <a:off x="4443984" y="207395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485132" y="211510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660312-2000019   →   1966-03-12  /  여</a:t>
            </a:r>
            <a:endParaRPr lang="ko-KR" sz="850" dirty="0"/>
          </a:p>
        </p:txBody>
      </p:sp>
      <p:sp>
        <p:nvSpPr>
          <p:cNvPr id="44" name="Shape 42"/>
          <p:cNvSpPr/>
          <p:nvPr/>
        </p:nvSpPr>
        <p:spPr>
          <a:xfrm>
            <a:off x="420624" y="229983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61772" y="234098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3, 7</a:t>
            </a:r>
            <a:endParaRPr lang="ko-KR" sz="850" dirty="0"/>
          </a:p>
        </p:txBody>
      </p:sp>
      <p:sp>
        <p:nvSpPr>
          <p:cNvPr id="46" name="Shape 44"/>
          <p:cNvSpPr/>
          <p:nvPr/>
        </p:nvSpPr>
        <p:spPr>
          <a:xfrm>
            <a:off x="1883664" y="2299833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1924812" y="2340981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2000년대</a:t>
            </a:r>
            <a:endParaRPr lang="ko-KR" sz="850" dirty="0"/>
          </a:p>
        </p:txBody>
      </p:sp>
      <p:sp>
        <p:nvSpPr>
          <p:cNvPr id="48" name="Shape 46"/>
          <p:cNvSpPr/>
          <p:nvPr/>
        </p:nvSpPr>
        <p:spPr>
          <a:xfrm>
            <a:off x="3346704" y="2299833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387852" y="2340981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남</a:t>
            </a:r>
            <a:endParaRPr lang="ko-KR" sz="850" dirty="0"/>
          </a:p>
        </p:txBody>
      </p:sp>
      <p:sp>
        <p:nvSpPr>
          <p:cNvPr id="50" name="Shape 48"/>
          <p:cNvSpPr/>
          <p:nvPr/>
        </p:nvSpPr>
        <p:spPr>
          <a:xfrm>
            <a:off x="4443984" y="2299833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485132" y="2340981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070704-3000013   →   2007-07-04  /  남</a:t>
            </a:r>
            <a:endParaRPr lang="ko-KR" sz="850" dirty="0"/>
          </a:p>
        </p:txBody>
      </p:sp>
      <p:sp>
        <p:nvSpPr>
          <p:cNvPr id="52" name="Shape 50"/>
          <p:cNvSpPr/>
          <p:nvPr/>
        </p:nvSpPr>
        <p:spPr>
          <a:xfrm>
            <a:off x="420624" y="2525714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461772" y="2566862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4, 8</a:t>
            </a:r>
            <a:endParaRPr lang="ko-KR" sz="850" dirty="0"/>
          </a:p>
        </p:txBody>
      </p:sp>
      <p:sp>
        <p:nvSpPr>
          <p:cNvPr id="54" name="Shape 52"/>
          <p:cNvSpPr/>
          <p:nvPr/>
        </p:nvSpPr>
        <p:spPr>
          <a:xfrm>
            <a:off x="1883664" y="2525714"/>
            <a:ext cx="146304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1924812" y="2566862"/>
            <a:ext cx="138074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2000년대</a:t>
            </a:r>
            <a:endParaRPr lang="ko-KR" sz="850" dirty="0"/>
          </a:p>
        </p:txBody>
      </p:sp>
      <p:sp>
        <p:nvSpPr>
          <p:cNvPr id="56" name="Shape 54"/>
          <p:cNvSpPr/>
          <p:nvPr/>
        </p:nvSpPr>
        <p:spPr>
          <a:xfrm>
            <a:off x="3346704" y="2525714"/>
            <a:ext cx="109728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3387852" y="2566862"/>
            <a:ext cx="101498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</a:t>
            </a:r>
            <a:endParaRPr lang="ko-KR" sz="850" dirty="0"/>
          </a:p>
        </p:txBody>
      </p:sp>
      <p:sp>
        <p:nvSpPr>
          <p:cNvPr id="58" name="Shape 56"/>
          <p:cNvSpPr/>
          <p:nvPr/>
        </p:nvSpPr>
        <p:spPr>
          <a:xfrm>
            <a:off x="4443984" y="2525714"/>
            <a:ext cx="73243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485132" y="2566862"/>
            <a:ext cx="72420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070704-4000012   →   2007-07-04  /  여</a:t>
            </a:r>
            <a:endParaRPr lang="ko-KR" sz="850" dirty="0"/>
          </a:p>
        </p:txBody>
      </p:sp>
      <p:sp>
        <p:nvSpPr>
          <p:cNvPr id="60" name="Text 58"/>
          <p:cNvSpPr/>
          <p:nvPr/>
        </p:nvSpPr>
        <p:spPr>
          <a:xfrm>
            <a:off x="475488" y="2897898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처리 순서 :   입력 / 변경  →  '-' 제거, 숫자 13자리  →  생년월일 실제 날짜 검증  →  7번째 자리 세기 · 성별 해석  →  Birthday / Gender 자동산출  →  중복 · 변경조건 검증</a:t>
            </a:r>
            <a:endParaRPr lang="ko-KR" sz="850" dirty="0"/>
          </a:p>
        </p:txBody>
      </p:sp>
      <p:sp>
        <p:nvSpPr>
          <p:cNvPr id="61" name="Text 59"/>
          <p:cNvSpPr/>
          <p:nvPr/>
        </p:nvSpPr>
        <p:spPr>
          <a:xfrm>
            <a:off x="475488" y="3041482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실제 행정번호 존재 여부와 체크디지트 검증은 하지 않는다.</a:t>
            </a:r>
            <a:endParaRPr lang="ko-KR" sz="850" dirty="0"/>
          </a:p>
        </p:txBody>
      </p:sp>
      <p:sp>
        <p:nvSpPr>
          <p:cNvPr id="62" name="Text 60"/>
          <p:cNvSpPr/>
          <p:nvPr/>
        </p:nvSpPr>
        <p:spPr>
          <a:xfrm>
            <a:off x="475488" y="3185067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형식 · 날짜 · 파생 실패 시 Birthday / Gender를 Clear하고 저장을 비활성화한다.</a:t>
            </a:r>
            <a:endParaRPr lang="ko-KR" sz="850" dirty="0"/>
          </a:p>
        </p:txBody>
      </p:sp>
      <p:sp>
        <p:nvSpPr>
          <p:cNvPr id="63" name="Text 61"/>
          <p:cNvSpPr/>
          <p:nvPr/>
        </p:nvSpPr>
        <p:spPr>
          <a:xfrm>
            <a:off x="475488" y="3328651"/>
            <a:ext cx="11237976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59595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· 화면에는 전체값을 표시하고 DB에는 - 를 제거한 숫자 13자리를 저장한다 (SocialNumber).</a:t>
            </a:r>
            <a:endParaRPr lang="ko-KR" sz="850" dirty="0"/>
          </a:p>
        </p:txBody>
      </p:sp>
      <p:sp>
        <p:nvSpPr>
          <p:cNvPr id="64" name="Text 62"/>
          <p:cNvSpPr/>
          <p:nvPr/>
        </p:nvSpPr>
        <p:spPr>
          <a:xfrm>
            <a:off x="420624" y="3527099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F-2.  DevExpress 20.2 구현 기준</a:t>
            </a:r>
            <a:endParaRPr lang="ko-KR" sz="1000" dirty="0"/>
          </a:p>
        </p:txBody>
      </p:sp>
      <p:sp>
        <p:nvSpPr>
          <p:cNvPr id="65" name="Shape 63"/>
          <p:cNvSpPr/>
          <p:nvPr/>
        </p:nvSpPr>
        <p:spPr>
          <a:xfrm>
            <a:off x="420624" y="3746555"/>
            <a:ext cx="3108960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461772" y="3787703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영역</a:t>
            </a:r>
            <a:endParaRPr lang="ko-KR" sz="850" dirty="0"/>
          </a:p>
        </p:txBody>
      </p:sp>
      <p:sp>
        <p:nvSpPr>
          <p:cNvPr id="67" name="Shape 65"/>
          <p:cNvSpPr/>
          <p:nvPr/>
        </p:nvSpPr>
        <p:spPr>
          <a:xfrm>
            <a:off x="3529584" y="3746555"/>
            <a:ext cx="823874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3570732" y="3787703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 Control / 구현 방식</a:t>
            </a:r>
            <a:endParaRPr lang="ko-KR" sz="850" dirty="0"/>
          </a:p>
        </p:txBody>
      </p:sp>
      <p:sp>
        <p:nvSpPr>
          <p:cNvPr id="69" name="Shape 67"/>
          <p:cNvSpPr/>
          <p:nvPr/>
        </p:nvSpPr>
        <p:spPr>
          <a:xfrm>
            <a:off x="420624" y="397243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61772" y="401358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</a:t>
            </a:r>
            <a:endParaRPr lang="ko-KR" sz="850" dirty="0"/>
          </a:p>
        </p:txBody>
      </p:sp>
      <p:sp>
        <p:nvSpPr>
          <p:cNvPr id="71" name="Shape 69"/>
          <p:cNvSpPr/>
          <p:nvPr/>
        </p:nvSpPr>
        <p:spPr>
          <a:xfrm>
            <a:off x="3529584" y="397243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2" name="Text 70"/>
          <p:cNvSpPr/>
          <p:nvPr/>
        </p:nvSpPr>
        <p:spPr>
          <a:xfrm>
            <a:off x="3570732" y="401358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RibbonForm + RibbonControl 1개</a:t>
            </a:r>
            <a:endParaRPr lang="ko-KR" sz="850" dirty="0"/>
          </a:p>
        </p:txBody>
      </p:sp>
      <p:sp>
        <p:nvSpPr>
          <p:cNvPr id="73" name="Shape 71"/>
          <p:cNvSpPr/>
          <p:nvPr/>
        </p:nvSpPr>
        <p:spPr>
          <a:xfrm>
            <a:off x="420624" y="419831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4" name="Text 72"/>
          <p:cNvSpPr/>
          <p:nvPr/>
        </p:nvSpPr>
        <p:spPr>
          <a:xfrm>
            <a:off x="461772" y="423946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Navigation / Context Action</a:t>
            </a:r>
            <a:endParaRPr lang="ko-KR" sz="850" dirty="0"/>
          </a:p>
        </p:txBody>
      </p:sp>
      <p:sp>
        <p:nvSpPr>
          <p:cNvPr id="75" name="Shape 73"/>
          <p:cNvSpPr/>
          <p:nvPr/>
        </p:nvSpPr>
        <p:spPr>
          <a:xfrm>
            <a:off x="3529584" y="419831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3570732" y="423946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RibbonPage, RibbonPageGroup, BarButtonItem</a:t>
            </a:r>
            <a:endParaRPr lang="ko-KR" sz="850" dirty="0"/>
          </a:p>
        </p:txBody>
      </p:sp>
      <p:sp>
        <p:nvSpPr>
          <p:cNvPr id="77" name="Shape 75"/>
          <p:cNvSpPr/>
          <p:nvPr/>
        </p:nvSpPr>
        <p:spPr>
          <a:xfrm>
            <a:off x="420624" y="442419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461772" y="446534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 업무 Tab</a:t>
            </a:r>
            <a:endParaRPr lang="ko-KR" sz="850" dirty="0"/>
          </a:p>
        </p:txBody>
      </p:sp>
      <p:sp>
        <p:nvSpPr>
          <p:cNvPr id="79" name="Shape 77"/>
          <p:cNvSpPr/>
          <p:nvPr/>
        </p:nvSpPr>
        <p:spPr>
          <a:xfrm>
            <a:off x="3529584" y="442419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3570732" y="446534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XtraTabControl + 업무별 XtraUserControl</a:t>
            </a:r>
            <a:endParaRPr lang="ko-KR" sz="850" dirty="0"/>
          </a:p>
        </p:txBody>
      </p:sp>
      <p:sp>
        <p:nvSpPr>
          <p:cNvPr id="81" name="Shape 79"/>
          <p:cNvSpPr/>
          <p:nvPr/>
        </p:nvSpPr>
        <p:spPr>
          <a:xfrm>
            <a:off x="420624" y="4650076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61772" y="4691224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화면 배치</a:t>
            </a:r>
            <a:endParaRPr lang="ko-KR" sz="850" dirty="0"/>
          </a:p>
        </p:txBody>
      </p:sp>
      <p:sp>
        <p:nvSpPr>
          <p:cNvPr id="83" name="Shape 81"/>
          <p:cNvSpPr/>
          <p:nvPr/>
        </p:nvSpPr>
        <p:spPr>
          <a:xfrm>
            <a:off x="3529584" y="4650076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4" name="Text 82"/>
          <p:cNvSpPr/>
          <p:nvPr/>
        </p:nvSpPr>
        <p:spPr>
          <a:xfrm>
            <a:off x="3570732" y="4691224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LayoutControl, SplitContainerControl, Dock</a:t>
            </a:r>
            <a:endParaRPr lang="ko-KR" sz="850" dirty="0"/>
          </a:p>
        </p:txBody>
      </p:sp>
      <p:sp>
        <p:nvSpPr>
          <p:cNvPr id="85" name="Shape 83"/>
          <p:cNvSpPr/>
          <p:nvPr/>
        </p:nvSpPr>
        <p:spPr>
          <a:xfrm>
            <a:off x="420624" y="487595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6" name="Text 84"/>
          <p:cNvSpPr/>
          <p:nvPr/>
        </p:nvSpPr>
        <p:spPr>
          <a:xfrm>
            <a:off x="461772" y="491710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목록</a:t>
            </a:r>
            <a:endParaRPr lang="ko-KR" sz="850" dirty="0"/>
          </a:p>
        </p:txBody>
      </p:sp>
      <p:sp>
        <p:nvSpPr>
          <p:cNvPr id="87" name="Shape 85"/>
          <p:cNvSpPr/>
          <p:nvPr/>
        </p:nvSpPr>
        <p:spPr>
          <a:xfrm>
            <a:off x="3529584" y="487595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3570732" y="491710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GridControl + GridView</a:t>
            </a:r>
            <a:endParaRPr lang="ko-KR" sz="850" dirty="0"/>
          </a:p>
        </p:txBody>
      </p:sp>
      <p:sp>
        <p:nvSpPr>
          <p:cNvPr id="89" name="Shape 87"/>
          <p:cNvSpPr/>
          <p:nvPr/>
        </p:nvSpPr>
        <p:spPr>
          <a:xfrm>
            <a:off x="420624" y="510183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0" name="Text 88"/>
          <p:cNvSpPr/>
          <p:nvPr/>
        </p:nvSpPr>
        <p:spPr>
          <a:xfrm>
            <a:off x="461772" y="514298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일반 입력</a:t>
            </a:r>
            <a:endParaRPr lang="ko-KR" sz="850" dirty="0"/>
          </a:p>
        </p:txBody>
      </p:sp>
      <p:sp>
        <p:nvSpPr>
          <p:cNvPr id="91" name="Shape 89"/>
          <p:cNvSpPr/>
          <p:nvPr/>
        </p:nvSpPr>
        <p:spPr>
          <a:xfrm>
            <a:off x="3529584" y="510183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2" name="Text 90"/>
          <p:cNvSpPr/>
          <p:nvPr/>
        </p:nvSpPr>
        <p:spPr>
          <a:xfrm>
            <a:off x="3570732" y="514298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TextEdit, MemoEdit, DateEdit, RadioGroup, CheckEdit</a:t>
            </a:r>
            <a:endParaRPr lang="ko-KR" sz="850" dirty="0"/>
          </a:p>
        </p:txBody>
      </p:sp>
      <p:sp>
        <p:nvSpPr>
          <p:cNvPr id="93" name="Shape 91"/>
          <p:cNvSpPr/>
          <p:nvPr/>
        </p:nvSpPr>
        <p:spPr>
          <a:xfrm>
            <a:off x="420624" y="5327717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61772" y="5368865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Modal</a:t>
            </a:r>
            <a:endParaRPr lang="ko-KR" sz="850" dirty="0"/>
          </a:p>
        </p:txBody>
      </p:sp>
      <p:sp>
        <p:nvSpPr>
          <p:cNvPr id="95" name="Shape 93"/>
          <p:cNvSpPr/>
          <p:nvPr/>
        </p:nvSpPr>
        <p:spPr>
          <a:xfrm>
            <a:off x="3529584" y="5327717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6" name="Text 94"/>
          <p:cNvSpPr/>
          <p:nvPr/>
        </p:nvSpPr>
        <p:spPr>
          <a:xfrm>
            <a:off x="3570732" y="5368865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XtraForm</a:t>
            </a:r>
            <a:endParaRPr lang="ko-KR" sz="850" dirty="0"/>
          </a:p>
        </p:txBody>
      </p:sp>
      <p:sp>
        <p:nvSpPr>
          <p:cNvPr id="97" name="Shape 95"/>
          <p:cNvSpPr/>
          <p:nvPr/>
        </p:nvSpPr>
        <p:spPr>
          <a:xfrm>
            <a:off x="420624" y="5553598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8" name="Text 96"/>
          <p:cNvSpPr/>
          <p:nvPr/>
        </p:nvSpPr>
        <p:spPr>
          <a:xfrm>
            <a:off x="461772" y="5594746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입력 검증</a:t>
            </a:r>
            <a:endParaRPr lang="ko-KR" sz="850" dirty="0"/>
          </a:p>
        </p:txBody>
      </p:sp>
      <p:sp>
        <p:nvSpPr>
          <p:cNvPr id="99" name="Shape 97"/>
          <p:cNvSpPr/>
          <p:nvPr/>
        </p:nvSpPr>
        <p:spPr>
          <a:xfrm>
            <a:off x="3529584" y="5553598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3570732" y="5594746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DXValidationProvider, DXErrorProvider, Blocking Message</a:t>
            </a:r>
            <a:endParaRPr lang="ko-KR" sz="850" dirty="0"/>
          </a:p>
        </p:txBody>
      </p:sp>
      <p:sp>
        <p:nvSpPr>
          <p:cNvPr id="101" name="Shape 99"/>
          <p:cNvSpPr/>
          <p:nvPr/>
        </p:nvSpPr>
        <p:spPr>
          <a:xfrm>
            <a:off x="420624" y="5779478"/>
            <a:ext cx="3108960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2" name="Text 100"/>
          <p:cNvSpPr/>
          <p:nvPr/>
        </p:nvSpPr>
        <p:spPr>
          <a:xfrm>
            <a:off x="461772" y="5820626"/>
            <a:ext cx="3026664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상태표시</a:t>
            </a:r>
            <a:endParaRPr lang="ko-KR" sz="850" dirty="0"/>
          </a:p>
        </p:txBody>
      </p:sp>
      <p:sp>
        <p:nvSpPr>
          <p:cNvPr id="103" name="Shape 101"/>
          <p:cNvSpPr/>
          <p:nvPr/>
        </p:nvSpPr>
        <p:spPr>
          <a:xfrm>
            <a:off x="3529584" y="5779478"/>
            <a:ext cx="823874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3570732" y="5820626"/>
            <a:ext cx="815644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RibbonStatusBar 또는 MainForm 하단 상태영역</a:t>
            </a:r>
            <a:endParaRPr lang="ko-KR" sz="8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20624" y="164592"/>
            <a:ext cx="11338560" cy="502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3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부록 F.  구현 기준  (계속)</a:t>
            </a:r>
            <a:endParaRPr lang="ko-KR" sz="3000" dirty="0"/>
          </a:p>
        </p:txBody>
      </p:sp>
      <p:sp>
        <p:nvSpPr>
          <p:cNvPr id="3" name="Text 1"/>
          <p:cNvSpPr/>
          <p:nvPr/>
        </p:nvSpPr>
        <p:spPr>
          <a:xfrm>
            <a:off x="420624" y="950976"/>
            <a:ext cx="11347704" cy="20116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100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F-3.  구현 원칙</a:t>
            </a:r>
            <a:endParaRPr lang="ko-KR" sz="1000" dirty="0"/>
          </a:p>
        </p:txBody>
      </p:sp>
      <p:sp>
        <p:nvSpPr>
          <p:cNvPr id="4" name="Shape 2"/>
          <p:cNvSpPr/>
          <p:nvPr/>
        </p:nvSpPr>
        <p:spPr>
          <a:xfrm>
            <a:off x="420624" y="1170432"/>
            <a:ext cx="11347704" cy="225880"/>
          </a:xfrm>
          <a:prstGeom prst="rect">
            <a:avLst/>
          </a:prstGeom>
          <a:solidFill>
            <a:srgbClr val="F2F2F2"/>
          </a:solidFill>
          <a:ln w="9525">
            <a:solidFill>
              <a:srgbClr val="1F386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61772" y="1211580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b="1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원칙</a:t>
            </a:r>
            <a:endParaRPr lang="ko-KR" sz="850" dirty="0"/>
          </a:p>
        </p:txBody>
      </p:sp>
      <p:sp>
        <p:nvSpPr>
          <p:cNvPr id="6" name="Shape 4"/>
          <p:cNvSpPr/>
          <p:nvPr/>
        </p:nvSpPr>
        <p:spPr>
          <a:xfrm>
            <a:off x="420624" y="1396312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61772" y="1437460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고정 Pixel 중심 배치를 피하고 Layout / Dock / Splitter를 사용한다.</a:t>
            </a:r>
            <a:endParaRPr lang="ko-KR" sz="850" dirty="0"/>
          </a:p>
        </p:txBody>
      </p:sp>
      <p:sp>
        <p:nvSpPr>
          <p:cNvPr id="8" name="Shape 6"/>
          <p:cNvSpPr/>
          <p:nvPr/>
        </p:nvSpPr>
        <p:spPr>
          <a:xfrm>
            <a:off x="420624" y="162219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772" y="166334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MainForm은 기본 크기를 권장 기준으로 열고 최대화를 지원한다. 화면이 그보다 작으면 작업 영역에 맞춘다.</a:t>
            </a:r>
            <a:endParaRPr lang="ko-KR" sz="850" dirty="0"/>
          </a:p>
        </p:txBody>
      </p:sp>
      <p:sp>
        <p:nvSpPr>
          <p:cNvPr id="10" name="Shape 8"/>
          <p:cNvSpPr/>
          <p:nvPr/>
        </p:nvSpPr>
        <p:spPr>
          <a:xfrm>
            <a:off x="420624" y="184807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" y="188922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최소 검증 해상도는 1366×768, 권장 기준은 1920×1080이다. 창의 최소 크기는 최소 검증 해상도다.</a:t>
            </a:r>
            <a:endParaRPr lang="ko-KR" sz="850" dirty="0"/>
          </a:p>
        </p:txBody>
      </p:sp>
      <p:sp>
        <p:nvSpPr>
          <p:cNvPr id="12" name="Shape 10"/>
          <p:cNvSpPr/>
          <p:nvPr/>
        </p:nvSpPr>
        <p:spPr>
          <a:xfrm>
            <a:off x="420624" y="207395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1772" y="211510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 배율 100%와 125%에서 Label · Grid Header · Modal 하단버튼 잘림을 확인한다.</a:t>
            </a:r>
            <a:endParaRPr lang="ko-KR" sz="850" dirty="0"/>
          </a:p>
        </p:txBody>
      </p:sp>
      <p:sp>
        <p:nvSpPr>
          <p:cNvPr id="14" name="Shape 12"/>
          <p:cNvSpPr/>
          <p:nvPr/>
        </p:nvSpPr>
        <p:spPr>
          <a:xfrm>
            <a:off x="420624" y="2299833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1772" y="2340981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Ribbon과 별도 Main Menu Bar를 중복 구성하지 않는다.</a:t>
            </a:r>
            <a:endParaRPr lang="ko-KR" sz="850" dirty="0"/>
          </a:p>
        </p:txBody>
      </p:sp>
      <p:sp>
        <p:nvSpPr>
          <p:cNvPr id="16" name="Shape 14"/>
          <p:cNvSpPr/>
          <p:nvPr/>
        </p:nvSpPr>
        <p:spPr>
          <a:xfrm>
            <a:off x="420624" y="2525714"/>
            <a:ext cx="11347704" cy="225880"/>
          </a:xfrm>
          <a:prstGeom prst="rect">
            <a:avLst/>
          </a:prstGeom>
          <a:ln w="9525">
            <a:solidFill>
              <a:srgbClr val="8C9BB5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" y="2566862"/>
            <a:ext cx="11265408" cy="143584"/>
          </a:xfrm>
          <a:prstGeom prst="rect">
            <a:avLst/>
          </a:prstGeom>
          <a:noFill/>
          <a:ln/>
        </p:spPr>
        <p:txBody>
          <a:bodyPr wrap="non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850" dirty="0">
                <a:solidFill>
                  <a:srgbClr val="00000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DevExpress 20.2에서 제공되지 않는 최신 API에 의존하지 않는다.</a:t>
            </a:r>
            <a:endParaRPr lang="ko-KR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28</Slides>
  <Notes>28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검진 예약·접수 화면설계서</dc:title>
  <dc:subject>PptxGenJS Presentation</dc:subject>
  <dc:creator>검진 예약·접수 관리 프로그램</dc:creator>
  <cp:lastModifiedBy>검진 예약·접수 관리 프로그램</cp:lastModifiedBy>
  <cp:revision>1</cp:revision>
  <dcterms:created xsi:type="dcterms:W3CDTF">2026-09-09T08:12:22Z</dcterms:created>
  <dcterms:modified xsi:type="dcterms:W3CDTF">2026-09-09T08:12:22Z</dcterms:modified>
</cp:coreProperties>
</file>