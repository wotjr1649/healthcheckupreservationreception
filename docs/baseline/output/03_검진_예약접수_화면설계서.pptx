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234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ID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65506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9621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화면명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032504" y="932688"/>
            <a:ext cx="9601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73652" y="97383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992624" y="932688"/>
            <a:ext cx="16459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33772" y="97383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Process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6638544" y="932688"/>
            <a:ext cx="512978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9692" y="97383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Function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420624" y="1158568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" y="119971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1655064" y="1158568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96212" y="119971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Shell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4032504" y="1158568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73652" y="119971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992624" y="1158568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3772" y="119971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6638544" y="1158568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9692" y="119971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8444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" y="142559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50" dirty="0"/>
          </a:p>
        </p:txBody>
      </p:sp>
      <p:sp>
        <p:nvSpPr>
          <p:cNvPr id="25" name="Shape 23"/>
          <p:cNvSpPr/>
          <p:nvPr/>
        </p:nvSpPr>
        <p:spPr>
          <a:xfrm>
            <a:off x="1655064" y="138444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6212" y="142559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032504" y="138444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73652" y="142559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4992624" y="138444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33772" y="142559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6638544" y="138444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9692" y="142559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F-PAT-001~003, F-COM-002, F-COM-007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0624" y="161032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" y="165147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1655064" y="161032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6212" y="165147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등록/수정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032504" y="161032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73652" y="165147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992624" y="161032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33772" y="165147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P01-02~05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6638544" y="161032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9692" y="165147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F-PAT-002~003, F-COM-002, F-COM-007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183620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187735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1655064" y="183620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696212" y="187735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4032504" y="183620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73652" y="187735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992624" y="183620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3772" y="187735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6638544" y="183620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9692" y="187735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F-PAT-001~002, F-COM-002, F-COM-007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206208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210323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1655064" y="206208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696212" y="210323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032504" y="206208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73652" y="210323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4992624" y="206208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33772" y="210323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6638544" y="206208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79692" y="210323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F-COM-002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0624" y="228797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1772" y="232911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1655064" y="228797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696212" y="232911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4032504" y="228797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73652" y="232911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992624" y="228797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033772" y="232911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6638544" y="228797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79692" y="232911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F-RSV-001, F-COM-003~005, F-COM-007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251385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255499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1655064" y="251385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696212" y="255499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032504" y="251385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073652" y="255499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4992624" y="251385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33772" y="255499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P02-05, P03-04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6638544" y="251385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679692" y="255499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F-COM-001, F-COM-007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420624" y="273973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61772" y="278087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1655064" y="273973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696212" y="278087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4032504" y="273973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073652" y="278087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992624" y="273973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33772" y="278087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6638544" y="273973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679692" y="278087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F-RSV-002, F-COM-003~005, F-COM-007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296561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300675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1655064" y="296561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696212" y="300675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032504" y="296561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073652" y="300675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4992624" y="296561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033772" y="300675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6638544" y="296561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79692" y="300675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F-RSV-003, F-COM-007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420624" y="319149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61772" y="323263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50" dirty="0"/>
          </a:p>
        </p:txBody>
      </p:sp>
      <p:sp>
        <p:nvSpPr>
          <p:cNvPr id="105" name="Shape 103"/>
          <p:cNvSpPr/>
          <p:nvPr/>
        </p:nvSpPr>
        <p:spPr>
          <a:xfrm>
            <a:off x="1655064" y="319149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696212" y="323263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107" name="Shape 105"/>
          <p:cNvSpPr/>
          <p:nvPr/>
        </p:nvSpPr>
        <p:spPr>
          <a:xfrm>
            <a:off x="4032504" y="319149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3652" y="323263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09" name="Shape 107"/>
          <p:cNvSpPr/>
          <p:nvPr/>
        </p:nvSpPr>
        <p:spPr>
          <a:xfrm>
            <a:off x="4992624" y="319149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033772" y="323263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P03-01~03</a:t>
            </a:r>
            <a:endParaRPr lang="ko-KR" sz="850" dirty="0"/>
          </a:p>
        </p:txBody>
      </p:sp>
      <p:sp>
        <p:nvSpPr>
          <p:cNvPr id="111" name="Shape 109"/>
          <p:cNvSpPr/>
          <p:nvPr/>
        </p:nvSpPr>
        <p:spPr>
          <a:xfrm>
            <a:off x="6638544" y="319149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79692" y="323263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F-RCP-001, F-COM-006~007</a:t>
            </a:r>
            <a:endParaRPr lang="ko-KR" sz="850" dirty="0"/>
          </a:p>
        </p:txBody>
      </p:sp>
      <p:sp>
        <p:nvSpPr>
          <p:cNvPr id="113" name="Shape 111"/>
          <p:cNvSpPr/>
          <p:nvPr/>
        </p:nvSpPr>
        <p:spPr>
          <a:xfrm>
            <a:off x="420624" y="341737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61772" y="345851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50" dirty="0"/>
          </a:p>
        </p:txBody>
      </p:sp>
      <p:sp>
        <p:nvSpPr>
          <p:cNvPr id="115" name="Shape 113"/>
          <p:cNvSpPr/>
          <p:nvPr/>
        </p:nvSpPr>
        <p:spPr>
          <a:xfrm>
            <a:off x="1655064" y="341737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696212" y="345851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117" name="Shape 115"/>
          <p:cNvSpPr/>
          <p:nvPr/>
        </p:nvSpPr>
        <p:spPr>
          <a:xfrm>
            <a:off x="4032504" y="341737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073652" y="345851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19" name="Shape 117"/>
          <p:cNvSpPr/>
          <p:nvPr/>
        </p:nvSpPr>
        <p:spPr>
          <a:xfrm>
            <a:off x="4992624" y="341737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033772" y="345851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850" dirty="0"/>
          </a:p>
        </p:txBody>
      </p:sp>
      <p:sp>
        <p:nvSpPr>
          <p:cNvPr id="121" name="Shape 119"/>
          <p:cNvSpPr/>
          <p:nvPr/>
        </p:nvSpPr>
        <p:spPr>
          <a:xfrm>
            <a:off x="6638544" y="341737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679692" y="345851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F-RCP-002, F-COM-004, F-COM-007</a:t>
            </a:r>
            <a:endParaRPr lang="ko-KR" sz="850" dirty="0"/>
          </a:p>
        </p:txBody>
      </p:sp>
      <p:sp>
        <p:nvSpPr>
          <p:cNvPr id="123" name="Shape 121"/>
          <p:cNvSpPr/>
          <p:nvPr/>
        </p:nvSpPr>
        <p:spPr>
          <a:xfrm>
            <a:off x="420624" y="364325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1772" y="368440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50" dirty="0"/>
          </a:p>
        </p:txBody>
      </p:sp>
      <p:sp>
        <p:nvSpPr>
          <p:cNvPr id="125" name="Shape 123"/>
          <p:cNvSpPr/>
          <p:nvPr/>
        </p:nvSpPr>
        <p:spPr>
          <a:xfrm>
            <a:off x="1655064" y="364325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696212" y="368440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850" dirty="0"/>
          </a:p>
        </p:txBody>
      </p:sp>
      <p:sp>
        <p:nvSpPr>
          <p:cNvPr id="127" name="Shape 125"/>
          <p:cNvSpPr/>
          <p:nvPr/>
        </p:nvSpPr>
        <p:spPr>
          <a:xfrm>
            <a:off x="4032504" y="364325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73652" y="368440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129" name="Shape 127"/>
          <p:cNvSpPr/>
          <p:nvPr/>
        </p:nvSpPr>
        <p:spPr>
          <a:xfrm>
            <a:off x="4992624" y="364325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033772" y="368440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850" dirty="0"/>
          </a:p>
        </p:txBody>
      </p:sp>
      <p:sp>
        <p:nvSpPr>
          <p:cNvPr id="131" name="Shape 129"/>
          <p:cNvSpPr/>
          <p:nvPr/>
        </p:nvSpPr>
        <p:spPr>
          <a:xfrm>
            <a:off x="6638544" y="364325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679692" y="368440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F-RCP-003, F-COM-007</a:t>
            </a:r>
            <a:endParaRPr lang="ko-KR" sz="850" dirty="0"/>
          </a:p>
        </p:txBody>
      </p:sp>
      <p:sp>
        <p:nvSpPr>
          <p:cNvPr id="133" name="Shape 131"/>
          <p:cNvSpPr/>
          <p:nvPr/>
        </p:nvSpPr>
        <p:spPr>
          <a:xfrm>
            <a:off x="420624" y="386913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61772" y="391028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</a:t>
            </a:r>
            <a:endParaRPr lang="ko-KR" sz="850" dirty="0"/>
          </a:p>
        </p:txBody>
      </p:sp>
      <p:sp>
        <p:nvSpPr>
          <p:cNvPr id="135" name="Shape 133"/>
          <p:cNvSpPr/>
          <p:nvPr/>
        </p:nvSpPr>
        <p:spPr>
          <a:xfrm>
            <a:off x="1655064" y="386913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696212" y="391028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850" dirty="0"/>
          </a:p>
        </p:txBody>
      </p:sp>
      <p:sp>
        <p:nvSpPr>
          <p:cNvPr id="137" name="Shape 135"/>
          <p:cNvSpPr/>
          <p:nvPr/>
        </p:nvSpPr>
        <p:spPr>
          <a:xfrm>
            <a:off x="4032504" y="386913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073652" y="391028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39" name="Shape 137"/>
          <p:cNvSpPr/>
          <p:nvPr/>
        </p:nvSpPr>
        <p:spPr>
          <a:xfrm>
            <a:off x="4992624" y="386913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033772" y="391028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P01~P03 공통</a:t>
            </a:r>
            <a:endParaRPr lang="ko-KR" sz="850" dirty="0"/>
          </a:p>
        </p:txBody>
      </p:sp>
      <p:sp>
        <p:nvSpPr>
          <p:cNvPr id="141" name="Shape 139"/>
          <p:cNvSpPr/>
          <p:nvPr/>
        </p:nvSpPr>
        <p:spPr>
          <a:xfrm>
            <a:off x="6638544" y="386913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679692" y="391028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850" dirty="0"/>
          </a:p>
        </p:txBody>
      </p:sp>
      <p:sp>
        <p:nvSpPr>
          <p:cNvPr id="143" name="Shape 141"/>
          <p:cNvSpPr/>
          <p:nvPr/>
        </p:nvSpPr>
        <p:spPr>
          <a:xfrm>
            <a:off x="420624" y="409501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61772" y="413616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</a:t>
            </a:r>
            <a:endParaRPr lang="ko-KR" sz="850" dirty="0"/>
          </a:p>
        </p:txBody>
      </p:sp>
      <p:sp>
        <p:nvSpPr>
          <p:cNvPr id="145" name="Shape 143"/>
          <p:cNvSpPr/>
          <p:nvPr/>
        </p:nvSpPr>
        <p:spPr>
          <a:xfrm>
            <a:off x="1655064" y="409501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696212" y="413616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850" dirty="0"/>
          </a:p>
        </p:txBody>
      </p:sp>
      <p:sp>
        <p:nvSpPr>
          <p:cNvPr id="147" name="Shape 145"/>
          <p:cNvSpPr/>
          <p:nvPr/>
        </p:nvSpPr>
        <p:spPr>
          <a:xfrm>
            <a:off x="4032504" y="409501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073652" y="413616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49" name="Shape 147"/>
          <p:cNvSpPr/>
          <p:nvPr/>
        </p:nvSpPr>
        <p:spPr>
          <a:xfrm>
            <a:off x="4992624" y="409501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033772" y="413616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기준정보</a:t>
            </a:r>
            <a:endParaRPr lang="ko-KR" sz="850" dirty="0"/>
          </a:p>
        </p:txBody>
      </p:sp>
      <p:sp>
        <p:nvSpPr>
          <p:cNvPr id="151" name="Shape 149"/>
          <p:cNvSpPr/>
          <p:nvPr/>
        </p:nvSpPr>
        <p:spPr>
          <a:xfrm>
            <a:off x="6638544" y="409501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79692" y="413616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850" dirty="0"/>
          </a:p>
        </p:txBody>
      </p:sp>
      <p:sp>
        <p:nvSpPr>
          <p:cNvPr id="153" name="Text 151"/>
          <p:cNvSpPr/>
          <p:nvPr/>
        </p:nvSpPr>
        <p:spPr>
          <a:xfrm>
            <a:off x="420624" y="443062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 · 전제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420624" y="4650076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61772" y="469122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1883664" y="4650076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1924812" y="469122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420624" y="4875957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61772" y="4917105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1883664" y="4875957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924812" y="4917105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 일반건강검진의 예약과 접수를 처리하는 원내 프로그램. 상단 진입점 5개(수검자 관리 / 신규 예약 / 예약 관리 / 접수 관리 / 휴무일 관리), 업무 Tab 3개, Modal 8개, 확인창 2개로 구성한다.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420624" y="5101837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461772" y="5142985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1883664" y="5101837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924812" y="5142985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「00_검진_예약접수_업무정책」 CP · EP · RP · RCP 정책과 TGT · NEX · AEX · HOL Rule의 개별 내용   /   「01_검진_예약접수_업무프로세스」 P01~P03 단계 · 분기 · 상태전이   /   「02_검진_예약접수_기능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정의」 Function ID 18개의 기능 계약   /   「03_검진_예약접수_화면설계서」 본 문서. 네 문서는 하나의 세트이며 정책 ID · 프로세스 ID · 기능 ID로 서로를 참조한다.</a:t>
            </a:r>
            <a:endParaRPr lang="ko-KR" sz="850" dirty="0"/>
          </a:p>
        </p:txBody>
      </p:sp>
      <p:sp>
        <p:nvSpPr>
          <p:cNvPr id="166" name="Shape 164"/>
          <p:cNvSpPr/>
          <p:nvPr/>
        </p:nvSpPr>
        <p:spPr>
          <a:xfrm>
            <a:off x="420624" y="5471302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61772" y="5512450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용어</a:t>
            </a:r>
            <a:endParaRPr lang="ko-KR" sz="850" dirty="0"/>
          </a:p>
        </p:txBody>
      </p:sp>
      <p:sp>
        <p:nvSpPr>
          <p:cNvPr id="168" name="Shape 166"/>
          <p:cNvSpPr/>
          <p:nvPr/>
        </p:nvSpPr>
        <p:spPr>
          <a:xfrm>
            <a:off x="1883664" y="5471302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924812" y="5512450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수검자 Master 내부 식별자   ·   WorkId 예약/접수 업무 1건의 식별자   ·   Normal 일반 신규예약 Context   ·   WalkIn 현장 당일예약 Context(예약일 = 오늘 고정 ReadOnly)   ·   RowVersion 저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시 함께 전달하는 동시성값(수검자 · 업무 공통)</a:t>
            </a:r>
            <a:endParaRPr lang="ko-KR" sz="850" dirty="0"/>
          </a:p>
        </p:txBody>
      </p:sp>
      <p:sp>
        <p:nvSpPr>
          <p:cNvPr id="170" name="Shape 168"/>
          <p:cNvSpPr/>
          <p:nvPr/>
        </p:nvSpPr>
        <p:spPr>
          <a:xfrm>
            <a:off x="420624" y="584076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461772" y="588191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상태코드</a:t>
            </a:r>
            <a:endParaRPr lang="ko-KR" sz="850" dirty="0"/>
          </a:p>
        </p:txBody>
      </p:sp>
      <p:sp>
        <p:nvSpPr>
          <p:cNvPr id="172" name="Shape 170"/>
          <p:cNvSpPr/>
          <p:nvPr/>
        </p:nvSpPr>
        <p:spPr>
          <a:xfrm>
            <a:off x="1883664" y="584076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924812" y="588191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· 접수완료(RCP) · 예약취소(CNR) · 접수취소(CNC). 취소는 물리 삭제하지 않고 같은 행의 상태만 바꾸며 복원하지 않는다. (CP-05)</a:t>
            </a:r>
            <a:endParaRPr lang="ko-KR" sz="850" dirty="0"/>
          </a:p>
        </p:txBody>
      </p:sp>
      <p:sp>
        <p:nvSpPr>
          <p:cNvPr id="174" name="Shape 172"/>
          <p:cNvSpPr/>
          <p:nvPr/>
        </p:nvSpPr>
        <p:spPr>
          <a:xfrm>
            <a:off x="420624" y="606664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461772" y="610779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표현 원칙</a:t>
            </a:r>
            <a:endParaRPr lang="ko-KR" sz="850" dirty="0"/>
          </a:p>
        </p:txBody>
      </p:sp>
      <p:sp>
        <p:nvSpPr>
          <p:cNvPr id="176" name="Shape 174"/>
          <p:cNvSpPr/>
          <p:nvPr/>
        </p:nvSpPr>
        <p:spPr>
          <a:xfrm>
            <a:off x="1883664" y="606664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924812" y="610779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 → Disabled + 사유  /  입력필드 오류 → Inline 오류  /  저장·상태전이 최종차단 → Blocking Message + 중단  /  동시성 충돌 → Blocking Message + 최신값 Refresh</a:t>
            </a:r>
            <a:endParaRPr lang="ko-KR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883664" y="932688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4812" y="97383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20624" y="1158568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" y="119971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ID 출처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1883664" y="1158568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4812" y="119971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/ EP / RP / RCP / TGT / NEX / AEX / HOL 은 「업무정책」 문서에 정의된 규칙 ID다. 각 화면 설명의 괄호 안 표기가 그 규칙을 가리킨다.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384449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425597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환경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1883664" y="1384449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24812" y="1425597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WinForms · .NET Framework 4.6.1 · DevExpress Components 20.2 · MSSQL. 최소 검증 해상도 1366×768, 권장 1920×1080. Windows 배율 100% / 125%.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420624" y="1610329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" y="1651477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업무조건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1883664" y="1610329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4812" y="1651477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휴무일이거나 운영시간(09:00~18:00) 밖이면 상태영역에 업무 불가로 표시한다. 화면은 그것으로 Action을 막지 않으며 판정은 저장 시점에 DB가 한다. 이 조건은 예약·접수 업무를 대상으로 하고 기준정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 정비(수검자·휴무일)에는 적용하지 않는다. (CP-01~04)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20624" y="1979793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1772" y="2020941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제외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1883664" y="1979793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4812" y="2020941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로그인·권한, 통계 Dashboard, 실제 검사 수행·결과 입력·판독, 공단 대상자 API, 검사 Master·AEX 관리자 CRUD, 법정·대체 공휴일 행의 화면 변경, 가격·할인·수납·결제, 수검자 삭제·복원, 출력·인쇄·엑셀 내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보내기, 사용자별 Grid Layout 저장.</a:t>
            </a:r>
            <a:endParaRPr lang="ko-KR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흐름도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572000" y="1060704"/>
            <a:ext cx="7059168" cy="1517904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475488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7" name="Shape 5"/>
          <p:cNvSpPr/>
          <p:nvPr/>
        </p:nvSpPr>
        <p:spPr>
          <a:xfrm>
            <a:off x="717804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7804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00" dirty="0"/>
          </a:p>
        </p:txBody>
      </p:sp>
      <p:sp>
        <p:nvSpPr>
          <p:cNvPr id="9" name="Text 7"/>
          <p:cNvSpPr/>
          <p:nvPr/>
        </p:nvSpPr>
        <p:spPr>
          <a:xfrm>
            <a:off x="717804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수정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9555480" y="1389888"/>
            <a:ext cx="19202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55480" y="1426464"/>
            <a:ext cx="192024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12" name="Text 10"/>
          <p:cNvSpPr/>
          <p:nvPr/>
        </p:nvSpPr>
        <p:spPr>
          <a:xfrm>
            <a:off x="9555480" y="1572768"/>
            <a:ext cx="192024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13" name="Text 11"/>
          <p:cNvSpPr/>
          <p:nvPr/>
        </p:nvSpPr>
        <p:spPr>
          <a:xfrm>
            <a:off x="4681728" y="2359152"/>
            <a:ext cx="36576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 계열  ·  Modal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3200400"/>
            <a:ext cx="1481328" cy="56692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36976"/>
            <a:ext cx="14813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3383280"/>
            <a:ext cx="148132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2560320" y="305409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0" y="309067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00" dirty="0"/>
          </a:p>
        </p:txBody>
      </p:sp>
      <p:sp>
        <p:nvSpPr>
          <p:cNvPr id="19" name="Text 17"/>
          <p:cNvSpPr/>
          <p:nvPr/>
        </p:nvSpPr>
        <p:spPr>
          <a:xfrm>
            <a:off x="2560320" y="323697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2560320" y="378561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382219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00" dirty="0"/>
          </a:p>
        </p:txBody>
      </p:sp>
      <p:sp>
        <p:nvSpPr>
          <p:cNvPr id="22" name="Text 20"/>
          <p:cNvSpPr/>
          <p:nvPr/>
        </p:nvSpPr>
        <p:spPr>
          <a:xfrm>
            <a:off x="2560320" y="396849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23" name="Shape 21"/>
          <p:cNvSpPr/>
          <p:nvPr/>
        </p:nvSpPr>
        <p:spPr>
          <a:xfrm>
            <a:off x="2560320" y="4517136"/>
            <a:ext cx="17830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0" y="455371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00" dirty="0"/>
          </a:p>
        </p:txBody>
      </p:sp>
      <p:sp>
        <p:nvSpPr>
          <p:cNvPr id="25" name="Text 23"/>
          <p:cNvSpPr/>
          <p:nvPr/>
        </p:nvSpPr>
        <p:spPr>
          <a:xfrm>
            <a:off x="2560320" y="4700016"/>
            <a:ext cx="17830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Workbench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4572000" y="5248656"/>
            <a:ext cx="7059168" cy="1042416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54880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754880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6181344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00" dirty="0"/>
          </a:p>
        </p:txBody>
      </p:sp>
      <p:sp>
        <p:nvSpPr>
          <p:cNvPr id="32" name="Text 30"/>
          <p:cNvSpPr/>
          <p:nvPr/>
        </p:nvSpPr>
        <p:spPr>
          <a:xfrm>
            <a:off x="6181344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7607808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07808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7607808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9034272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34272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00" dirty="0"/>
          </a:p>
        </p:txBody>
      </p:sp>
      <p:sp>
        <p:nvSpPr>
          <p:cNvPr id="38" name="Text 36"/>
          <p:cNvSpPr/>
          <p:nvPr/>
        </p:nvSpPr>
        <p:spPr>
          <a:xfrm>
            <a:off x="9034272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10460736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60736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00" dirty="0"/>
          </a:p>
        </p:txBody>
      </p:sp>
      <p:sp>
        <p:nvSpPr>
          <p:cNvPr id="41" name="Text 39"/>
          <p:cNvSpPr/>
          <p:nvPr/>
        </p:nvSpPr>
        <p:spPr>
          <a:xfrm>
            <a:off x="10460736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850" dirty="0"/>
          </a:p>
        </p:txBody>
      </p:sp>
      <p:sp>
        <p:nvSpPr>
          <p:cNvPr id="42" name="Text 40"/>
          <p:cNvSpPr/>
          <p:nvPr/>
        </p:nvSpPr>
        <p:spPr>
          <a:xfrm>
            <a:off x="4681728" y="6053328"/>
            <a:ext cx="6766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Transaction  ·  Modal / Confirm      선택한 Work의 상태에 따라 활성된다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984248" y="3483864"/>
            <a:ext cx="301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2286000" y="3305556"/>
            <a:ext cx="0" cy="14950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2286000" y="330555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2286000" y="403707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286000" y="4800600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3451860" y="355701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PatientId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451860" y="428853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WorkId  /  기존 유효예약 연결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4343400" y="3214116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4443984" y="914400"/>
            <a:ext cx="0" cy="2299716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4443984" y="914400"/>
            <a:ext cx="373989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7" name="Shape 55"/>
          <p:cNvSpPr/>
          <p:nvPr/>
        </p:nvSpPr>
        <p:spPr>
          <a:xfrm>
            <a:off x="8183880" y="914400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· 정보수정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343400" y="3945636"/>
            <a:ext cx="18013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 flipV="1">
            <a:off x="6144768" y="1892808"/>
            <a:ext cx="0" cy="20528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미확정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5376672" y="1892808"/>
            <a:ext cx="0" cy="22722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 flipH="1">
            <a:off x="4343400" y="4165092"/>
            <a:ext cx="10332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6766560" y="1641348"/>
            <a:ext cx="411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9189720" y="1641348"/>
            <a:ext cx="3657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1051560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5" name="Shape 73"/>
          <p:cNvSpPr/>
          <p:nvPr/>
        </p:nvSpPr>
        <p:spPr>
          <a:xfrm flipH="1">
            <a:off x="8503920" y="2084832"/>
            <a:ext cx="20116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850392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 · 별도 수검자로 계속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86384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6537960" y="2231136"/>
            <a:ext cx="1325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653796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· 기존 수검자 확정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343400" y="4690872"/>
            <a:ext cx="747064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5" name="Shape 83"/>
          <p:cNvSpPr/>
          <p:nvPr/>
        </p:nvSpPr>
        <p:spPr>
          <a:xfrm flipV="1">
            <a:off x="11814048" y="786384"/>
            <a:ext cx="0" cy="3904488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6" name="Shape 84"/>
          <p:cNvSpPr/>
          <p:nvPr/>
        </p:nvSpPr>
        <p:spPr>
          <a:xfrm flipH="1">
            <a:off x="4983480" y="786384"/>
            <a:ext cx="683056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83480" y="786384"/>
            <a:ext cx="0" cy="6035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   →   수검자 확정 → WalkIn 신규예약 → 접수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3451860" y="5084064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1" name="Shape 89"/>
          <p:cNvSpPr/>
          <p:nvPr/>
        </p:nvSpPr>
        <p:spPr>
          <a:xfrm>
            <a:off x="3451860" y="5230368"/>
            <a:ext cx="19431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5394960" y="5230368"/>
            <a:ext cx="5705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3" name="Shape 91"/>
          <p:cNvSpPr/>
          <p:nvPr/>
        </p:nvSpPr>
        <p:spPr>
          <a:xfrm>
            <a:off x="5394960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6821424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8247888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6" name="Shape 94"/>
          <p:cNvSpPr/>
          <p:nvPr/>
        </p:nvSpPr>
        <p:spPr>
          <a:xfrm>
            <a:off x="9674352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11100816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Work + RowVersion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54864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1" name="Text 99"/>
          <p:cNvSpPr/>
          <p:nvPr/>
        </p:nvSpPr>
        <p:spPr>
          <a:xfrm>
            <a:off x="1005840" y="6291072"/>
            <a:ext cx="1097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경로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210312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103" name="Text 101"/>
          <p:cNvSpPr/>
          <p:nvPr/>
        </p:nvSpPr>
        <p:spPr>
          <a:xfrm>
            <a:off x="2560320" y="6291072"/>
            <a:ext cx="2194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 · 보조 경로</a:t>
            </a:r>
            <a:endParaRPr lang="ko-KR" sz="800" dirty="0"/>
          </a:p>
        </p:txBody>
      </p:sp>
      <p:sp>
        <p:nvSpPr>
          <p:cNvPr id="104" name="Text 102"/>
          <p:cNvSpPr/>
          <p:nvPr/>
        </p:nvSpPr>
        <p:spPr>
          <a:xfrm>
            <a:off x="548640" y="6547104"/>
            <a:ext cx="11155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전달키는 PatientId 또는 WorkId 두 가지뿐이며 화면에 노출하지 않는다. WorkId를 전달받으면 조회조건과 무관하게 최신 한 건을 직접 조회해 자동 선택한다.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3916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업무 Action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0833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18388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 ×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048256"/>
            <a:ext cx="8220456" cy="3941064"/>
          </a:xfrm>
          <a:prstGeom prst="rect">
            <a:avLst/>
          </a:prstGeom>
          <a:ln w="19050">
            <a:solidFill>
              <a:srgbClr val="8C9BB5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530352" y="3653028"/>
            <a:ext cx="822045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선택된 업무 Tab의 View</a:t>
            </a:r>
            <a:endParaRPr lang="ko-KR" sz="1200" dirty="0"/>
          </a:p>
        </p:txBody>
      </p:sp>
      <p:sp>
        <p:nvSpPr>
          <p:cNvPr id="41" name="Text 39"/>
          <p:cNvSpPr/>
          <p:nvPr/>
        </p:nvSpPr>
        <p:spPr>
          <a:xfrm>
            <a:off x="530352" y="4000500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/  신규 예약  /  예약·접수 공통 Workbench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530352" y="4293108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변경은 Main View에서 직접 편집하지 않고 Modal · Confirm으로 분리한다</a:t>
            </a:r>
            <a:endParaRPr lang="ko-KR" sz="800" dirty="0"/>
          </a:p>
        </p:txBody>
      </p:sp>
      <p:sp>
        <p:nvSpPr>
          <p:cNvPr id="43" name="Text 4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구조</a:t>
            </a:r>
            <a:endParaRPr lang="ko-KR" sz="3000" dirty="0"/>
          </a:p>
        </p:txBody>
      </p:sp>
      <p:sp>
        <p:nvSpPr>
          <p:cNvPr id="44" name="Shape 4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  MainForm Shell · MainForm · P00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1000" dirty="0"/>
          </a:p>
        </p:txBody>
      </p:sp>
      <p:sp>
        <p:nvSpPr>
          <p:cNvPr id="47" name="Shape 45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50" name="Text 48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진입점 5개. 예약 관리·접수 관리는 같은 Tab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공유하고 휴무일 관리는 Tab 없이 Modal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연다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54" name="Text 52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 Group 순서는 검색 → 현재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→ 보기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58" name="Text 56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Tab은 중복 생성하지 않는다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(Single Instance)</a:t>
            </a:r>
            <a:endParaRPr lang="ko-KR" sz="1000" dirty="0"/>
          </a:p>
        </p:txBody>
      </p:sp>
      <p:sp>
        <p:nvSpPr>
          <p:cNvPr id="59" name="Shape 57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62" name="Text 60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Action은 하단이 아니라 Context Ribbon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둔다</a:t>
            </a:r>
            <a:endParaRPr lang="ko-KR" sz="1000" dirty="0"/>
          </a:p>
        </p:txBody>
      </p:sp>
      <p:sp>
        <p:nvSpPr>
          <p:cNvPr id="63" name="Shape 61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66" name="Text 64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· 운영시간 외(09:00~18:00)면 업무 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표시한다. Action은 막지 않는다</a:t>
            </a:r>
            <a:endParaRPr lang="ko-KR" sz="1000" dirty="0"/>
          </a:p>
        </p:txBody>
      </p:sp>
      <p:sp>
        <p:nvSpPr>
          <p:cNvPr id="67" name="Shape 65"/>
          <p:cNvSpPr/>
          <p:nvPr/>
        </p:nvSpPr>
        <p:spPr>
          <a:xfrm>
            <a:off x="8897112" y="373218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62872" y="373218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13164" y="378247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표시는 안내값이며 저장 성공을 보장하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 저장·상태전이는 Stored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Procedure/Transaction이 현재 조건을 다시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검증한다.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274320" y="17465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74320" y="17465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384048" y="39090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84048" y="39090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4170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1087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20928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530352" y="2029968"/>
            <a:ext cx="8220456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621792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243584" y="2276856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3288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54680" y="2276856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61104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882896" y="2276856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1792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1243584" y="2569464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32888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154680" y="2569464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0352" y="2944368"/>
            <a:ext cx="5039990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" y="2971800"/>
            <a:ext cx="48936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목록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30352" y="3154680"/>
            <a:ext cx="503999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621792" y="3191256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6656" y="319125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휴대전화번호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621792" y="336956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6656" y="336956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621792" y="3547872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76656" y="3547872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79" name="Shape 77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1972-11-03</a:t>
            </a:r>
            <a:endParaRPr lang="ko-KR" sz="900" dirty="0"/>
          </a:p>
        </p:txBody>
      </p:sp>
      <p:sp>
        <p:nvSpPr>
          <p:cNvPr id="81" name="Shape 79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83" name="Shape 81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010-0000-0002</a:t>
            </a:r>
            <a:endParaRPr lang="ko-KR" sz="900" dirty="0"/>
          </a:p>
        </p:txBody>
      </p:sp>
      <p:sp>
        <p:nvSpPr>
          <p:cNvPr id="85" name="Shape 83"/>
          <p:cNvSpPr/>
          <p:nvPr/>
        </p:nvSpPr>
        <p:spPr>
          <a:xfrm>
            <a:off x="621792" y="3726180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76656" y="3726180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87" name="Shape 85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21792" y="3904488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6656" y="390448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9" name="Shape 97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1995-08-27</a:t>
            </a:r>
            <a:endParaRPr lang="ko-KR" sz="900" dirty="0"/>
          </a:p>
        </p:txBody>
      </p:sp>
      <p:sp>
        <p:nvSpPr>
          <p:cNvPr id="101" name="Shape 99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010-0000-0004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21792" y="3726180"/>
            <a:ext cx="485711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661782" y="2944368"/>
            <a:ext cx="3089026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734934" y="2971800"/>
            <a:ext cx="29427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상세 · ReadOnly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661782" y="3154680"/>
            <a:ext cx="308902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Text 107"/>
          <p:cNvSpPr/>
          <p:nvPr/>
        </p:nvSpPr>
        <p:spPr>
          <a:xfrm>
            <a:off x="5753222" y="3191256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10" name="Text 108"/>
          <p:cNvSpPr/>
          <p:nvPr/>
        </p:nvSpPr>
        <p:spPr>
          <a:xfrm>
            <a:off x="5753222" y="33741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113" name="Text 111"/>
          <p:cNvSpPr/>
          <p:nvPr/>
        </p:nvSpPr>
        <p:spPr>
          <a:xfrm>
            <a:off x="5753222" y="361188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116" name="Text 114"/>
          <p:cNvSpPr/>
          <p:nvPr/>
        </p:nvSpPr>
        <p:spPr>
          <a:xfrm>
            <a:off x="5753222" y="384962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119" name="Text 117"/>
          <p:cNvSpPr/>
          <p:nvPr/>
        </p:nvSpPr>
        <p:spPr>
          <a:xfrm>
            <a:off x="5753222" y="4087368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2" name="Text 120"/>
          <p:cNvSpPr/>
          <p:nvPr/>
        </p:nvSpPr>
        <p:spPr>
          <a:xfrm>
            <a:off x="5753222" y="4325112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123" name="Text 121"/>
          <p:cNvSpPr/>
          <p:nvPr/>
        </p:nvSpPr>
        <p:spPr>
          <a:xfrm>
            <a:off x="5753222" y="4507992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126" name="Text 124"/>
          <p:cNvSpPr/>
          <p:nvPr/>
        </p:nvSpPr>
        <p:spPr>
          <a:xfrm>
            <a:off x="5753222" y="47457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 / E-mail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6685910" y="47457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753222" y="4983480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129" name="Text 127"/>
          <p:cNvSpPr/>
          <p:nvPr/>
        </p:nvSpPr>
        <p:spPr>
          <a:xfrm>
            <a:off x="5753222" y="516636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130" name="Shape 128"/>
          <p:cNvSpPr/>
          <p:nvPr/>
        </p:nvSpPr>
        <p:spPr>
          <a:xfrm>
            <a:off x="6685910" y="516636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753222" y="540410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6685910" y="540410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753222" y="5641848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5753222" y="5824728"/>
            <a:ext cx="2906146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3000" dirty="0"/>
          </a:p>
        </p:txBody>
      </p:sp>
      <p:sp>
        <p:nvSpPr>
          <p:cNvPr id="136" name="Shape 13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  수검자 관리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 · F-PAT-001~003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미선택이면 [정보수정]·[신규예약]·[변경이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력] 비활성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180954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180954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185983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Action을 닫지 않는다 — 상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태영역 안내이고 판정은 저장 시점에 DB가 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416899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416899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416899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467191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조건 필요. 조건은 AND 결합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269121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274151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차트번호·주민번호·생년월일·휴대전화는 정확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검색, 이름은 앞부분 일치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12964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17994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선택행과 상세를 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356807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356807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356807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361837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주민등록번호는 마스킹 없이 전체값을 표시한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(SocialNumber)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00650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00650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8897112" y="400650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5" name="Text 163"/>
          <p:cNvSpPr/>
          <p:nvPr/>
        </p:nvSpPr>
        <p:spPr>
          <a:xfrm>
            <a:off x="9313164" y="405679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제공하지 않는다. 정보 오류는 [정보수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정]으로 처리 (EP-10)</a:t>
            </a:r>
            <a:endParaRPr lang="ko-KR" sz="1000" dirty="0"/>
          </a:p>
        </p:txBody>
      </p:sp>
      <p:sp>
        <p:nvSpPr>
          <p:cNvPr id="166" name="Shape 164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62872" y="44449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9" name="Text 167"/>
          <p:cNvSpPr/>
          <p:nvPr/>
        </p:nvSpPr>
        <p:spPr>
          <a:xfrm>
            <a:off x="9313164" y="44952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PatientId·정규화 컬럼·생성/수정시각은 Grid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노출하지 않는다</a:t>
            </a:r>
            <a:endParaRPr lang="ko-KR" sz="1000" dirty="0"/>
          </a:p>
        </p:txBody>
      </p:sp>
      <p:sp>
        <p:nvSpPr>
          <p:cNvPr id="170" name="Shape 168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74" name="Shape 172"/>
          <p:cNvSpPr/>
          <p:nvPr/>
        </p:nvSpPr>
        <p:spPr>
          <a:xfrm>
            <a:off x="384048" y="23500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384048" y="23500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38404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38404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8" name="Shape 176"/>
          <p:cNvSpPr/>
          <p:nvPr/>
        </p:nvSpPr>
        <p:spPr>
          <a:xfrm>
            <a:off x="551547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551547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6539606" y="384962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6539606" y="384962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2" name="Shape 180"/>
          <p:cNvSpPr/>
          <p:nvPr/>
        </p:nvSpPr>
        <p:spPr>
          <a:xfrm>
            <a:off x="5606918" y="58521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5606918" y="58521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(WF-RSV-01)  ·  접수 관리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165860" y="1641348"/>
            <a:ext cx="69494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1312164" y="1879092"/>
            <a:ext cx="6656832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5316" y="1906524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1312164" y="2089404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9" name="Text 17"/>
          <p:cNvSpPr/>
          <p:nvPr/>
        </p:nvSpPr>
        <p:spPr>
          <a:xfrm>
            <a:off x="14036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2025396" y="2125980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86100" y="2125980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543300" y="2125980"/>
            <a:ext cx="74980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9412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5061204" y="2125980"/>
            <a:ext cx="102412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03604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6" name="Shape 24"/>
          <p:cNvSpPr/>
          <p:nvPr/>
        </p:nvSpPr>
        <p:spPr>
          <a:xfrm>
            <a:off x="2025396" y="2418588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23260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3845052" y="2418588"/>
            <a:ext cx="12344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2164" y="2811780"/>
            <a:ext cx="6656832" cy="22128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85316" y="2839212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1312164" y="3022092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403604" y="3058668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8468" y="305866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1403604" y="3236976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458468" y="323697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1403604" y="341528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458468" y="341528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1403604" y="3236976"/>
            <a:ext cx="6473952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3000" dirty="0"/>
          </a:p>
        </p:txBody>
      </p:sp>
      <p:sp>
        <p:nvSpPr>
          <p:cNvPr id="70" name="Shape 68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  수검자 선택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 · F-PAT-001~002</a:t>
            </a:r>
            <a:endParaRPr lang="ko-KR" sz="1000" dirty="0"/>
          </a:p>
        </p:txBody>
      </p:sp>
      <p:sp>
        <p:nvSpPr>
          <p:cNvPr id="73" name="Shape 7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6" name="Text 74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조회계약은 수검자 관리 화면과 동일하다</a:t>
            </a:r>
            <a:endParaRPr lang="ko-KR" sz="1000" dirty="0"/>
          </a:p>
        </p:txBody>
      </p:sp>
      <p:sp>
        <p:nvSpPr>
          <p:cNvPr id="77" name="Shape 75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80" name="Text 78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없으면 [신규등록]으로 DLG-PAT-01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Mode 진입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8897112" y="208386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262872" y="208386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313164" y="213415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또는 동일 기존수검자 확정 후 재검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색을 요구하지 않고 PatientId를 즉시 호출 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면에 반환한다.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269121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274151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주민등록번호는 전체값을 표시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12964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91" name="Text 89"/>
          <p:cNvSpPr/>
          <p:nvPr/>
        </p:nvSpPr>
        <p:spPr>
          <a:xfrm>
            <a:off x="9313164" y="317994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[선택]으로 PatientId를 호출 화면에 반환한다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340396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340396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345426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DLG-PAT-01을 취소해도 이 창은 유지된다.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165860" y="21991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165860" y="21991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6862572" y="215341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62572" y="215341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1165860" y="38084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165860" y="38084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5811012" y="5207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811012" y="5207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수검자 선택 (DLG-PAT-02)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805940" y="1074420"/>
            <a:ext cx="5669280" cy="5065776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신규등록  /  정보수정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1952244" y="1312164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3" name="Text 11"/>
          <p:cNvSpPr/>
          <p:nvPr/>
        </p:nvSpPr>
        <p:spPr>
          <a:xfrm>
            <a:off x="1952244" y="14950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자동발급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수동입력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1952244" y="17556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3140964" y="1755648"/>
            <a:ext cx="418795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5876" y="17556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시 자동발급</a:t>
            </a:r>
            <a:endParaRPr lang="ko-KR" sz="800" dirty="0"/>
          </a:p>
        </p:txBody>
      </p:sp>
      <p:sp>
        <p:nvSpPr>
          <p:cNvPr id="21" name="Text 19"/>
          <p:cNvSpPr/>
          <p:nvPr/>
        </p:nvSpPr>
        <p:spPr>
          <a:xfrm>
            <a:off x="1952244" y="20162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 *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140964" y="20162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52244" y="22768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 *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990707-2000018</a:t>
            </a:r>
            <a:endParaRPr lang="ko-KR" sz="900" dirty="0"/>
          </a:p>
        </p:txBody>
      </p:sp>
      <p:sp>
        <p:nvSpPr>
          <p:cNvPr id="26" name="Text 24"/>
          <p:cNvSpPr/>
          <p:nvPr/>
        </p:nvSpPr>
        <p:spPr>
          <a:xfrm>
            <a:off x="1952244" y="253746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1999-07-07</a:t>
            </a:r>
            <a:endParaRPr lang="ko-KR" sz="900" dirty="0"/>
          </a:p>
        </p:txBody>
      </p:sp>
      <p:sp>
        <p:nvSpPr>
          <p:cNvPr id="29" name="Text 27"/>
          <p:cNvSpPr/>
          <p:nvPr/>
        </p:nvSpPr>
        <p:spPr>
          <a:xfrm>
            <a:off x="6231636" y="2537460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0" name="Text 28"/>
          <p:cNvSpPr/>
          <p:nvPr/>
        </p:nvSpPr>
        <p:spPr>
          <a:xfrm>
            <a:off x="1952244" y="279806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33" name="Text 31"/>
          <p:cNvSpPr/>
          <p:nvPr/>
        </p:nvSpPr>
        <p:spPr>
          <a:xfrm>
            <a:off x="6231636" y="279806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4" name="Text 32"/>
          <p:cNvSpPr/>
          <p:nvPr/>
        </p:nvSpPr>
        <p:spPr>
          <a:xfrm>
            <a:off x="1952244" y="3058668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1952244" y="32415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3140964" y="3241548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244" y="35021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140964" y="35021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52244" y="37627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E-mail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3140964" y="37627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2244" y="4023360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42" name="Text 40"/>
          <p:cNvSpPr/>
          <p:nvPr/>
        </p:nvSpPr>
        <p:spPr>
          <a:xfrm>
            <a:off x="1952244" y="42062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3140964" y="4206240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4668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40964" y="4466844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7274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검사 제외 ]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 B형간염 검사 제외</a:t>
            </a:r>
            <a:endParaRPr lang="ko-KR" sz="900" dirty="0"/>
          </a:p>
        </p:txBody>
      </p:sp>
      <p:sp>
        <p:nvSpPr>
          <p:cNvPr id="49" name="Text 47"/>
          <p:cNvSpPr/>
          <p:nvPr/>
        </p:nvSpPr>
        <p:spPr>
          <a:xfrm>
            <a:off x="1952244" y="4988052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52244" y="5170932"/>
            <a:ext cx="5376672" cy="438912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· 정보수정</a:t>
            </a:r>
            <a:endParaRPr lang="ko-KR" sz="3000" dirty="0"/>
          </a:p>
        </p:txBody>
      </p:sp>
      <p:sp>
        <p:nvSpPr>
          <p:cNvPr id="52" name="Shape 5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  수검자 등록 / 정보수정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P01-02~05 · F-PAT-002~003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그림은 New Mode 기준. Edit Mode는 자동발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 전환 없이 기존 차트번호 수동수정만 허용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1" name="Text 59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New는 자동발급이 기본값. Edit에서는 이 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택이 없다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65" name="Text 63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 번호는 화면 진입 시 점유하지 않고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Transaction에서 확정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69" name="Text 67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이름·주민등록번호가 필수. 미입력이면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비활성 (EP-04)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3" name="Text 71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전체값 표시. `-` 제거 후 숫자 13자리로 정규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화하여 저장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7" name="Text 75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주민등록번호에서 자동 산출. 형식·날짜·파생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Clear + 저장 차단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262872" y="41706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81" name="Text 79"/>
          <p:cNvSpPr/>
          <p:nvPr/>
        </p:nvSpPr>
        <p:spPr>
          <a:xfrm>
            <a:off x="9313164" y="42209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= 제외. 신규 기본값은 해제 (NEX-03)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262872" y="44449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85" name="Text 83"/>
          <p:cNvSpPr/>
          <p:nvPr/>
        </p:nvSpPr>
        <p:spPr>
          <a:xfrm>
            <a:off x="9313164" y="44952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주민번호·차트번호 고유성은 저장 SP가 최종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재검증한다 (EP-03, EP-05)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897112" y="4883366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262872" y="4883366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313164" y="4933658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변경은 해당 수검자에게 예약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(RSV)·접수완료(RCP) 업무가 하나라도 있으면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차단된다. 차트번호 변경에는 이 조건을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않는다 (EP-08).</a:t>
            </a:r>
            <a:endParaRPr lang="ko-KR" sz="1000" dirty="0"/>
          </a:p>
        </p:txBody>
      </p:sp>
      <p:sp>
        <p:nvSpPr>
          <p:cNvPr id="89" name="Shape 87"/>
          <p:cNvSpPr/>
          <p:nvPr/>
        </p:nvSpPr>
        <p:spPr>
          <a:xfrm>
            <a:off x="8897112" y="565964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565964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570993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저장된 예약·접수의 검사구성은 다시 만들지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않는다. 다음 예약부터 적용된다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6098070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6098070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6148362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사유는 입력받지 않는다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2994660" y="14950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994660" y="14950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2994660" y="17556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994660" y="17556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2994660" y="20162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994660" y="20162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2994660" y="227685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994660" y="227685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994660" y="27020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994660" y="27020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2994660" y="47274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994660" y="47274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5170932" y="57744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170932" y="57744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정보수정 (DLG-PAT-01)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891540" y="1961388"/>
            <a:ext cx="749808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수검자로 계속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1037844" y="2199132"/>
            <a:ext cx="720547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0996" y="2226564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037844" y="2409444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1292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1732788" y="2446020"/>
            <a:ext cx="82296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8376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87268" y="2446020"/>
            <a:ext cx="91440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296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4933188" y="2446020"/>
            <a:ext cx="123444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564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6899148" y="2446020"/>
            <a:ext cx="109728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" y="2857500"/>
            <a:ext cx="7205472" cy="12984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0996" y="2884932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 ·  이름 + 생년월일 동일 / 주민등록번호 상이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1037844" y="3067812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129284" y="310438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84148" y="3104388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1129284" y="328269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4148" y="3282696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2026-000098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660312-2000035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1129284" y="34610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84148" y="3461004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2026-000114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660312-2000043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010-0000-0114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1037844" y="4247388"/>
            <a:ext cx="720547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오입력 여부를 확인하십시오.</a:t>
            </a:r>
            <a:endParaRPr lang="ko-KR" sz="950" dirty="0"/>
          </a:p>
        </p:txBody>
      </p:sp>
      <p:sp>
        <p:nvSpPr>
          <p:cNvPr id="65" name="Text 6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3000" dirty="0"/>
          </a:p>
        </p:txBody>
      </p:sp>
      <p:sp>
        <p:nvSpPr>
          <p:cNvPr id="66" name="Shape 6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  중복 후보 확인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· F-COM-002</a:t>
            </a:r>
            <a:endParaRPr lang="ko-KR" sz="1000" dirty="0"/>
          </a:p>
        </p:txBody>
      </p:sp>
      <p:sp>
        <p:nvSpPr>
          <p:cNvPr id="69" name="Shape 6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주민등록번호는 이 창을 거치지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달라도 신규등록 없이 기존 PatientId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반환한다 (EP-05, EP-06).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+ 생년월일이 같고 주민등록번호가 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때만 표시된다 (EP-07)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경고·확인 대상이지 자동 동일인 확정조건이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85532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90562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[입력값 수정] → Editor로 복귀 후 다시 검증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12964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317994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[별도 수검자로 계속] → 현재 이름+생년월일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+주민번호 조합에만 유효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568078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568078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313164" y="3618370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값 중 하나라도 바뀌면 확인상태를 해제하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다시 후보검증한다. 같은 확인값으로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재시도하면 이 창을 반복 표시하지 않는다.</a:t>
            </a:r>
            <a:endParaRPr lang="ko-KR" sz="1000" dirty="0"/>
          </a:p>
        </p:txBody>
      </p:sp>
      <p:sp>
        <p:nvSpPr>
          <p:cNvPr id="91" name="Shape 89"/>
          <p:cNvSpPr/>
          <p:nvPr/>
        </p:nvSpPr>
        <p:spPr>
          <a:xfrm>
            <a:off x="8897112" y="417543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262872" y="417543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313164" y="422572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고유성은 저장 Transaction이 수검자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.SocialNumber 정확값으로 다시 판정한다.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891540" y="23728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91540" y="23728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91540" y="33969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91540" y="33969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8" name="Shape 96"/>
          <p:cNvSpPr/>
          <p:nvPr/>
        </p:nvSpPr>
        <p:spPr>
          <a:xfrm>
            <a:off x="4526794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794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5629660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629660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예약저장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30352" y="2029968"/>
            <a:ext cx="3658057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3504" y="205740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530352" y="224028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621792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31" name="Text 29"/>
          <p:cNvSpPr/>
          <p:nvPr/>
        </p:nvSpPr>
        <p:spPr>
          <a:xfrm>
            <a:off x="2386813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21792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37" name="Text 35"/>
          <p:cNvSpPr/>
          <p:nvPr/>
        </p:nvSpPr>
        <p:spPr>
          <a:xfrm>
            <a:off x="2386813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4279849" y="2029968"/>
            <a:ext cx="4470959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53001" y="205740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</a:t>
            </a:r>
            <a:endParaRPr lang="ko-KR" sz="800" dirty="0"/>
          </a:p>
        </p:txBody>
      </p:sp>
      <p:sp>
        <p:nvSpPr>
          <p:cNvPr id="44" name="Shape 42"/>
          <p:cNvSpPr/>
          <p:nvPr/>
        </p:nvSpPr>
        <p:spPr>
          <a:xfrm>
            <a:off x="4279849" y="224028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5" name="Text 43"/>
          <p:cNvSpPr/>
          <p:nvPr/>
        </p:nvSpPr>
        <p:spPr>
          <a:xfrm>
            <a:off x="4371289" y="2313432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50" name="Text 48"/>
          <p:cNvSpPr/>
          <p:nvPr/>
        </p:nvSpPr>
        <p:spPr>
          <a:xfrm>
            <a:off x="4371289" y="262432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5980633" y="262432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5980633" y="289864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20      마감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530352" y="3346704"/>
            <a:ext cx="822045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8368" y="3346704"/>
            <a:ext cx="5486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530352" y="3675888"/>
            <a:ext cx="4470959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3504" y="370332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검사항목 (NEX) · ReadOnly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530352" y="388620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621792" y="3922776"/>
            <a:ext cx="3190799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6656" y="392277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621792" y="410108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6656" y="410108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427939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76656" y="427939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621792" y="445770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76656" y="445770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621792" y="463600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76656" y="463600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621792" y="481431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76656" y="481431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621792" y="499262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76656" y="499262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517093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76656" y="517093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621792" y="534924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76656" y="534924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621792" y="552754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76656" y="552754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21792" y="570585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76656" y="570585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5092751" y="3675888"/>
            <a:ext cx="3658057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165903" y="370332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(AEX) · 본인부담 · 선택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092751" y="388620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Shape 107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5586527" y="3922776"/>
            <a:ext cx="1024128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41391" y="392277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113" name="Shape 111"/>
          <p:cNvSpPr/>
          <p:nvPr/>
        </p:nvSpPr>
        <p:spPr>
          <a:xfrm>
            <a:off x="6610655" y="3922776"/>
            <a:ext cx="2048713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665519" y="392277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5586527" y="410108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641391" y="410108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119" name="Shape 117"/>
          <p:cNvSpPr/>
          <p:nvPr/>
        </p:nvSpPr>
        <p:spPr>
          <a:xfrm>
            <a:off x="6610655" y="410108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586527" y="427939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641391" y="427939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610655" y="427939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586527" y="4457700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641391" y="4457700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610655" y="4457700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2" name="Shape 130"/>
          <p:cNvSpPr/>
          <p:nvPr/>
        </p:nvSpPr>
        <p:spPr>
          <a:xfrm>
            <a:off x="5586527" y="4636008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41391" y="4636008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610655" y="4636008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665519" y="4636008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8" name="Shape 136"/>
          <p:cNvSpPr/>
          <p:nvPr/>
        </p:nvSpPr>
        <p:spPr>
          <a:xfrm>
            <a:off x="5586527" y="4814316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641391" y="481431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6610655" y="4814316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665519" y="481431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4" name="Shape 142"/>
          <p:cNvSpPr/>
          <p:nvPr/>
        </p:nvSpPr>
        <p:spPr>
          <a:xfrm>
            <a:off x="5586527" y="499262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641391" y="499262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46" name="Shape 144"/>
          <p:cNvSpPr/>
          <p:nvPr/>
        </p:nvSpPr>
        <p:spPr>
          <a:xfrm>
            <a:off x="6610655" y="499262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9" name="Shape 147"/>
          <p:cNvSpPr/>
          <p:nvPr/>
        </p:nvSpPr>
        <p:spPr>
          <a:xfrm>
            <a:off x="5586527" y="517093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641391" y="517093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51" name="Shape 149"/>
          <p:cNvSpPr/>
          <p:nvPr/>
        </p:nvSpPr>
        <p:spPr>
          <a:xfrm>
            <a:off x="6610655" y="517093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3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  신규 예약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 · F-RSV-001</a:t>
            </a:r>
            <a:endParaRPr lang="ko-KR" sz="1000" dirty="0"/>
          </a:p>
        </p:txBody>
      </p:sp>
      <p:sp>
        <p:nvSpPr>
          <p:cNvPr id="156" name="Shape 15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9" name="Text 157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업무 Navigation. 각 업무 Tab은 1개만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열린다</a:t>
            </a:r>
            <a:endParaRPr lang="ko-KR" sz="1000" dirty="0"/>
          </a:p>
        </p:txBody>
      </p:sp>
      <p:sp>
        <p:nvSpPr>
          <p:cNvPr id="160" name="Shape 15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3" name="Text 161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준비상태 충족 시 활성. 저장 후 DB가 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 재검증</a:t>
            </a:r>
            <a:endParaRPr lang="ko-KR" sz="1000" dirty="0"/>
          </a:p>
        </p:txBody>
      </p:sp>
      <p:sp>
        <p:nvSpPr>
          <p:cNvPr id="164" name="Shape 16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67" name="Text 165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[수검자 선택]으로 확정. 전달받은 경우 즉시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(ReadOnly)</a:t>
            </a:r>
            <a:endParaRPr lang="ko-KR" sz="1000" dirty="0"/>
          </a:p>
        </p:txBody>
      </p:sp>
      <p:sp>
        <p:nvSpPr>
          <p:cNvPr id="168" name="Shape 16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1" name="Text 169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과거일·일요일·휴무일은 선택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(CP-01~03, HOL, RP-04)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Text 173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 도달 시 선택 불가. 취소 건은 산정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(RP-03)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9" name="Text 177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예약일 기준 판정. 비대상이면 저장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(TGT, RP-07)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83" name="Text 181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8종 + 조건부 0~3종 = 8~11행. 사용자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(NEX)</a:t>
            </a:r>
            <a:endParaRPr lang="ko-KR" sz="1000" dirty="0"/>
          </a:p>
        </p:txBody>
      </p:sp>
      <p:sp>
        <p:nvSpPr>
          <p:cNvPr id="184" name="Shape 182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9262872" y="444012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87" name="Text 185"/>
          <p:cNvSpPr/>
          <p:nvPr/>
        </p:nvSpPr>
        <p:spPr>
          <a:xfrm>
            <a:off x="9313164" y="449041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 이상 선택. 성별 불충족·NEX 중복은 비활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 (AEX-02~04)</a:t>
            </a:r>
            <a:endParaRPr lang="ko-KR" sz="1000" dirty="0"/>
          </a:p>
        </p:txBody>
      </p:sp>
      <p:sp>
        <p:nvSpPr>
          <p:cNvPr id="188" name="Shape 186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262872" y="487855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1" name="Text 189"/>
          <p:cNvSpPr/>
          <p:nvPr/>
        </p:nvSpPr>
        <p:spPr>
          <a:xfrm>
            <a:off x="9313164" y="492884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휴무일·운영시간 외에는 업무 Action 전체 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(CP-04)</a:t>
            </a:r>
            <a:endParaRPr lang="ko-KR" sz="1000" dirty="0"/>
          </a:p>
        </p:txBody>
      </p:sp>
      <p:sp>
        <p:nvSpPr>
          <p:cNvPr id="192" name="Shape 190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94" name="Shape 192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96" name="Shape 194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384048" y="25511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84048" y="25511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200" name="Shape 198"/>
          <p:cNvSpPr/>
          <p:nvPr/>
        </p:nvSpPr>
        <p:spPr>
          <a:xfrm>
            <a:off x="4846777" y="23134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846777" y="23134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202" name="Shape 200"/>
          <p:cNvSpPr/>
          <p:nvPr/>
        </p:nvSpPr>
        <p:spPr>
          <a:xfrm>
            <a:off x="4846777" y="27614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846777" y="27614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204" name="Shape 202"/>
          <p:cNvSpPr/>
          <p:nvPr/>
        </p:nvSpPr>
        <p:spPr>
          <a:xfrm>
            <a:off x="384048" y="33741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384048" y="33741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206" name="Shape 204"/>
          <p:cNvSpPr/>
          <p:nvPr/>
        </p:nvSpPr>
        <p:spPr>
          <a:xfrm>
            <a:off x="384048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384048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208" name="Shape 206"/>
          <p:cNvSpPr/>
          <p:nvPr/>
        </p:nvSpPr>
        <p:spPr>
          <a:xfrm>
            <a:off x="4946447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4946447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457682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업무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950" dirty="0"/>
          </a:p>
        </p:txBody>
      </p:sp>
      <p:sp>
        <p:nvSpPr>
          <p:cNvPr id="28" name="Shape 26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626846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636904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  ×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30352" y="2029968"/>
            <a:ext cx="8220456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6" name="Text 44"/>
          <p:cNvSpPr/>
          <p:nvPr/>
        </p:nvSpPr>
        <p:spPr>
          <a:xfrm>
            <a:off x="621792" y="2276856"/>
            <a:ext cx="731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1353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68296" y="2276856"/>
            <a:ext cx="1280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2496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11296" y="2276856"/>
            <a:ext cx="4023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86460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486400" y="2276856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276856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7004304" y="2276856"/>
            <a:ext cx="731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0352" y="2651760"/>
            <a:ext cx="4877410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3504" y="2679192"/>
            <a:ext cx="47311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업무내역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530352" y="2862072"/>
            <a:ext cx="487741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2026-09-16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108" name="Shape 106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621792" y="3255264"/>
            <a:ext cx="469453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99202" y="2651760"/>
            <a:ext cx="3251606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72354" y="2679192"/>
            <a:ext cx="31053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상세 · ReadOnly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499202" y="2862072"/>
            <a:ext cx="32516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14" name="Text 112"/>
          <p:cNvSpPr/>
          <p:nvPr/>
        </p:nvSpPr>
        <p:spPr>
          <a:xfrm>
            <a:off x="5590642" y="289864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수검자 ]</a:t>
            </a:r>
            <a:endParaRPr lang="ko-KR" sz="800" dirty="0"/>
          </a:p>
        </p:txBody>
      </p:sp>
      <p:sp>
        <p:nvSpPr>
          <p:cNvPr id="115" name="Text 113"/>
          <p:cNvSpPr/>
          <p:nvPr/>
        </p:nvSpPr>
        <p:spPr>
          <a:xfrm>
            <a:off x="5590642" y="30815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18" name="Text 116"/>
          <p:cNvSpPr/>
          <p:nvPr/>
        </p:nvSpPr>
        <p:spPr>
          <a:xfrm>
            <a:off x="5590642" y="3319272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1" name="Text 119"/>
          <p:cNvSpPr/>
          <p:nvPr/>
        </p:nvSpPr>
        <p:spPr>
          <a:xfrm>
            <a:off x="5590642" y="3557016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예약 ]</a:t>
            </a:r>
            <a:endParaRPr lang="ko-KR" sz="800" dirty="0"/>
          </a:p>
        </p:txBody>
      </p:sp>
      <p:sp>
        <p:nvSpPr>
          <p:cNvPr id="122" name="Text 120"/>
          <p:cNvSpPr/>
          <p:nvPr/>
        </p:nvSpPr>
        <p:spPr>
          <a:xfrm>
            <a:off x="5590642" y="3739896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/  오전</a:t>
            </a:r>
            <a:endParaRPr lang="ko-KR" sz="900" dirty="0"/>
          </a:p>
        </p:txBody>
      </p:sp>
      <p:sp>
        <p:nvSpPr>
          <p:cNvPr id="125" name="Text 123"/>
          <p:cNvSpPr/>
          <p:nvPr/>
        </p:nvSpPr>
        <p:spPr>
          <a:xfrm>
            <a:off x="5590642" y="397764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정원 / 상태</a:t>
            </a:r>
            <a:endParaRPr lang="ko-KR" sz="800" dirty="0"/>
          </a:p>
        </p:txBody>
      </p:sp>
      <p:sp>
        <p:nvSpPr>
          <p:cNvPr id="126" name="Shape 124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     ·     접수완료</a:t>
            </a:r>
            <a:endParaRPr lang="ko-KR" sz="900" dirty="0"/>
          </a:p>
        </p:txBody>
      </p:sp>
      <p:sp>
        <p:nvSpPr>
          <p:cNvPr id="128" name="Text 126"/>
          <p:cNvSpPr/>
          <p:nvPr/>
        </p:nvSpPr>
        <p:spPr>
          <a:xfrm>
            <a:off x="5590642" y="4215384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NEX  ·  실제 저장 구성 ]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590642" y="4398264"/>
            <a:ext cx="3068726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663794" y="4416552"/>
            <a:ext cx="2922422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 · 신체계측 · 혈압 · 시력·청력 · 흉부 X-ray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 · 혈액검사 · 구강검진 · 이상지질혈증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        (10종)</a:t>
            </a:r>
            <a:endParaRPr lang="ko-KR" sz="800" dirty="0"/>
          </a:p>
        </p:txBody>
      </p:sp>
      <p:sp>
        <p:nvSpPr>
          <p:cNvPr id="131" name="Text 129"/>
          <p:cNvSpPr/>
          <p:nvPr/>
        </p:nvSpPr>
        <p:spPr>
          <a:xfrm>
            <a:off x="5590642" y="500176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AEX  ·  실제 저장 구성 ]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5590642" y="5184648"/>
            <a:ext cx="3068726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63794" y="5202936"/>
            <a:ext cx="292242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        (1종)</a:t>
            </a:r>
            <a:endParaRPr lang="ko-KR" sz="800" dirty="0"/>
          </a:p>
        </p:txBody>
      </p:sp>
      <p:sp>
        <p:nvSpPr>
          <p:cNvPr id="134" name="Text 132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공통 Workbench</a:t>
            </a:r>
            <a:endParaRPr lang="ko-KR" sz="3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  예약/접수 공통 Workbench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 · P02-05, P03-04 · F-COM-001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[예약 관리]·[접수 관리]가 같은 Tab을 Context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바꿔 공유한다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180954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185983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 Caption과 같은 접수 Context 구성이다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083867"/>
            <a:ext cx="365760" cy="1451966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083867"/>
            <a:ext cx="2697480" cy="1451966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2134159"/>
            <a:ext cx="2596896" cy="1351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Context는 [현장 당일예약]·[추가검사변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경]·[접수취소] 없이 [예약취소]가 대신 있다. [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변경이력]은 두 Context 공통이며 상태와 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관하게 행이 선택되면 열린다. 공통 업무불가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Action을 닫지 않는다. 상태별 활성/비활성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부록 D 참조. 접수 Context 미선택 상태에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 활성인 것은 [조회]·[컬럼설정]·[현장 당일예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약]뿐이다.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8897112" y="353583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262872" y="353583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97112" y="3535832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2" name="Text 150"/>
          <p:cNvSpPr/>
          <p:nvPr/>
        </p:nvSpPr>
        <p:spPr>
          <a:xfrm>
            <a:off x="9313164" y="358612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실질 조건 필요. 상태 `전체`만은 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건으로 보지 않는다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397426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397426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8897112" y="3974262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6" name="Text 154"/>
          <p:cNvSpPr/>
          <p:nvPr/>
        </p:nvSpPr>
        <p:spPr>
          <a:xfrm>
            <a:off x="9313164" y="402455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날짜는 양끝 포함. From&gt;To는 Inline 오류.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간대는 조회조건 제외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8897112" y="441269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9262872" y="441269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8897112" y="4412691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0" name="Text 158"/>
          <p:cNvSpPr/>
          <p:nvPr/>
        </p:nvSpPr>
        <p:spPr>
          <a:xfrm>
            <a:off x="9313164" y="446298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선택·상세·Action을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초기화</a:t>
            </a:r>
            <a:endParaRPr lang="ko-KR" sz="1000" dirty="0"/>
          </a:p>
        </p:txBody>
      </p:sp>
      <p:sp>
        <p:nvSpPr>
          <p:cNvPr id="161" name="Shape 159"/>
          <p:cNvSpPr/>
          <p:nvPr/>
        </p:nvSpPr>
        <p:spPr>
          <a:xfrm>
            <a:off x="8897112" y="485112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262872" y="485112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8897112" y="4851121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4" name="Text 162"/>
          <p:cNvSpPr/>
          <p:nvPr/>
        </p:nvSpPr>
        <p:spPr>
          <a:xfrm>
            <a:off x="9313164" y="490141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정원은 현재 조회값이며 저장 Snapshot 컬럼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8897112" y="528955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262872" y="528955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8897112" y="528955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8" name="Text 166"/>
          <p:cNvSpPr/>
          <p:nvPr/>
        </p:nvSpPr>
        <p:spPr>
          <a:xfrm>
            <a:off x="9313164" y="533984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NEX/AEX는 실제 저장된 구성. 이 화면에서는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8897112" y="572797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9262872" y="572797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8897112" y="572797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2" name="Text 170"/>
          <p:cNvSpPr/>
          <p:nvPr/>
        </p:nvSpPr>
        <p:spPr>
          <a:xfrm>
            <a:off x="9313164" y="577827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WorkId·PatientId·주민등록번호는 이 Grid에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않는다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9" name="Shape 177"/>
          <p:cNvSpPr/>
          <p:nvPr/>
        </p:nvSpPr>
        <p:spPr>
          <a:xfrm>
            <a:off x="384048" y="22037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384048" y="22037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81" name="Shape 179"/>
          <p:cNvSpPr/>
          <p:nvPr/>
        </p:nvSpPr>
        <p:spPr>
          <a:xfrm>
            <a:off x="384048" y="42291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384048" y="42291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3" name="Shape 181"/>
          <p:cNvSpPr/>
          <p:nvPr/>
        </p:nvSpPr>
        <p:spPr>
          <a:xfrm>
            <a:off x="5352898" y="28163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5352898" y="28163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5" name="Shape 183"/>
          <p:cNvSpPr/>
          <p:nvPr/>
        </p:nvSpPr>
        <p:spPr>
          <a:xfrm>
            <a:off x="6450178" y="397764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450178" y="397764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87" name="Shape 185"/>
          <p:cNvSpPr/>
          <p:nvPr/>
        </p:nvSpPr>
        <p:spPr>
          <a:xfrm>
            <a:off x="5444338" y="45720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5444338" y="45720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184148"/>
            <a:ext cx="786384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421892"/>
            <a:ext cx="3141513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449324"/>
            <a:ext cx="299520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632204"/>
            <a:ext cx="3141513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68706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196138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087917" y="1421892"/>
            <a:ext cx="4338279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61069" y="1449324"/>
            <a:ext cx="419197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Editable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087917" y="1632204"/>
            <a:ext cx="433827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179357" y="168706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2026-09-22 (화)</a:t>
            </a:r>
            <a:endParaRPr lang="ko-KR" sz="900" dirty="0"/>
          </a:p>
        </p:txBody>
      </p:sp>
      <p:sp>
        <p:nvSpPr>
          <p:cNvPr id="27" name="Shape 25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179357" y="19613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556797" y="196138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20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854964" y="2409444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2980" y="2409444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854964" y="2720340"/>
            <a:ext cx="3889492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8116" y="2747772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854964" y="2930652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46404" y="2967228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1268" y="29672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946404" y="31455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1268" y="31455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946404" y="33238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1268" y="33238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946404" y="35021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1268" y="35021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946404" y="368046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1268" y="368046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946404" y="385876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01268" y="385876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403707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01268" y="403707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946404" y="421538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01268" y="421538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946404" y="439369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01268" y="439369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946404" y="457200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1268" y="457200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946404" y="475030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01268" y="475030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835896" y="2720340"/>
            <a:ext cx="3590300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09048" y="2747772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835896" y="2930652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5329672" y="2967228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384536" y="29672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6335512" y="2967228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390376" y="296722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5329672" y="314553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384536" y="314553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6335512" y="314553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5329672" y="332384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384536" y="332384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335512" y="332384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5329672" y="350215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384536" y="350215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7" name="Shape 105"/>
          <p:cNvSpPr/>
          <p:nvPr/>
        </p:nvSpPr>
        <p:spPr>
          <a:xfrm>
            <a:off x="6335512" y="350215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5329672" y="368046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384536" y="368046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12" name="Shape 110"/>
          <p:cNvSpPr/>
          <p:nvPr/>
        </p:nvSpPr>
        <p:spPr>
          <a:xfrm>
            <a:off x="6335512" y="368046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390376" y="3680460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6" name="Shape 114"/>
          <p:cNvSpPr/>
          <p:nvPr/>
        </p:nvSpPr>
        <p:spPr>
          <a:xfrm>
            <a:off x="5329672" y="385876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384536" y="385876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8" name="Shape 116"/>
          <p:cNvSpPr/>
          <p:nvPr/>
        </p:nvSpPr>
        <p:spPr>
          <a:xfrm>
            <a:off x="6335512" y="385876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90376" y="385876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329672" y="403707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84536" y="403707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335512" y="403707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329672" y="421538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384536" y="421538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335512" y="421538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3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  예약 변경 · Modal · P02-06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7" name="Text 135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진입한다. 수검자는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경할 수 없다 (RP-09)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→ 일정 → TGT → NEX → AEX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순으로 전부 재평가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 → 일정·마감·정원만 재평가.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TGT/NEX/AEX는 유지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후 비대상이면 저장하지 않고 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예약을 유지한다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바뀌면 자동 재구성된다. 사용자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 불가 (NEX-07)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변경해도 Work의 RowVersion이 갱신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보관했다가 저장 시 함께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전달한다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440123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440123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313164" y="4490415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일정·중복 검증에서 현재 WorkId 자체는 제외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다른 RSV/RCP 업무만 충돌로 판단한다.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변경이 없으면 No-op으로 처리한다.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708660" y="1778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08660" y="1778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67" name="Shape 165"/>
          <p:cNvSpPr/>
          <p:nvPr/>
        </p:nvSpPr>
        <p:spPr>
          <a:xfrm>
            <a:off x="4654845" y="16870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654845" y="16870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4654845" y="19613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4654845" y="19613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1" name="Shape 169"/>
          <p:cNvSpPr/>
          <p:nvPr/>
        </p:nvSpPr>
        <p:spPr>
          <a:xfrm>
            <a:off x="708660" y="24277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708660" y="24277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708660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708660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4689592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689592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6268212" y="56647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268212" y="56647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29260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예약(RSV)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2217420" y="2738628"/>
            <a:ext cx="484632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382012" y="3049524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예약을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382012" y="3264865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후 기존 예약으로 복원할 수 없습니다.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  예약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· F-RSV-003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호출된다 (RP-10)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CNR로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취소 상태로 바꾸며 Work와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Detail을 물리 삭제하지 않는다 (CP-05).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79661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79661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284690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상태에서 복원하지 않는다. 재진행은 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 예약을 생성한다.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207111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7111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499719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9719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ReadOnly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300508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5329672" y="2926080"/>
            <a:ext cx="300508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384536" y="2926080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927336" y="3195828"/>
            <a:ext cx="34074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검사구성을 수정하지 않는다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854964" y="5116068"/>
            <a:ext cx="7571232" cy="31089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82980" y="5116068"/>
            <a:ext cx="731520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 여부 :   가능</a:t>
            </a:r>
            <a:endParaRPr lang="ko-KR" sz="950" dirty="0"/>
          </a:p>
        </p:txBody>
      </p:sp>
      <p:sp>
        <p:nvSpPr>
          <p:cNvPr id="91" name="Text 8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3000" dirty="0"/>
          </a:p>
        </p:txBody>
      </p:sp>
      <p:sp>
        <p:nvSpPr>
          <p:cNvPr id="92" name="Shape 9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  접수 처리 · Modal · P03-01~03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F-RCP-001, F-COM-006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8" name="Text 96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· 예약일 · 시간대 · NEX · AEX 전 영역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ReadOnly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2" name="Text 100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상태의 당일 업무만 접수 대상이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 (RCP-01~03)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6" name="Text 104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성공 시 예약일·시간대·검사구성은 그대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유지된다 (RCP-04)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10" name="Text 108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전 AEX 변경이 필요하면 예약변경을 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 완료한다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262872" y="3124835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4" name="Text 112"/>
          <p:cNvSpPr/>
          <p:nvPr/>
        </p:nvSpPr>
        <p:spPr>
          <a:xfrm>
            <a:off x="9313164" y="3175127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 · 예약일=DB 현재일 · 업무 가능일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09:00~18:00 · 해당 시간대 접수 마감 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(RCP-02, CP-01~04, HOL)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18" name="Text 116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 사유가 있으면 사유를 표시하고 [접수처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리]를 비활성한다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8897112" y="417061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262872" y="417061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313164" y="422090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접수 가능으로 보였더라도 저장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Stored Procedure가 상태·시각·RowVersion을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확인한다. 동시에 두 사용자가 접수해도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성공한다.</a:t>
            </a:r>
            <a:endParaRPr lang="ko-KR" sz="1000" dirty="0"/>
          </a:p>
        </p:txBody>
      </p:sp>
      <p:sp>
        <p:nvSpPr>
          <p:cNvPr id="122" name="Shape 120"/>
          <p:cNvSpPr/>
          <p:nvPr/>
        </p:nvSpPr>
        <p:spPr>
          <a:xfrm>
            <a:off x="708660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708660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166006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166006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708660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08660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28" name="Shape 126"/>
          <p:cNvSpPr/>
          <p:nvPr/>
        </p:nvSpPr>
        <p:spPr>
          <a:xfrm>
            <a:off x="4689592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89592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51617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51617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6335512" y="2747772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90376" y="274777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5329672" y="292608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84536" y="292608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335512" y="292608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5329672" y="310438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384536" y="310438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335512" y="310438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5329672" y="328269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84536" y="328269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335512" y="328269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5329672" y="346100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384536" y="346100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335512" y="346100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390376" y="3461004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9" name="Shape 107"/>
          <p:cNvSpPr/>
          <p:nvPr/>
        </p:nvSpPr>
        <p:spPr>
          <a:xfrm>
            <a:off x="5329672" y="363931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384536" y="363931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6335512" y="363931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390376" y="363931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329672" y="381762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384536" y="381762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6335512" y="381762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0" name="Shape 118"/>
          <p:cNvSpPr/>
          <p:nvPr/>
        </p:nvSpPr>
        <p:spPr>
          <a:xfrm>
            <a:off x="5329672" y="399592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384536" y="39959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6335512" y="399592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3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  접수완료 추가검사 변경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P03-05 · F-RCP-002, F-COM-004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0" name="Text 128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진입한다 (RCP-05)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Text 132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NEX는 변경할 수 없다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(RCP-05)</a:t>
            </a:r>
            <a:endParaRPr lang="ko-KR" sz="1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208386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8" name="Text 136"/>
          <p:cNvSpPr/>
          <p:nvPr/>
        </p:nvSpPr>
        <p:spPr>
          <a:xfrm>
            <a:off x="9313164" y="213415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상태와 동일한 AEX-01~05 Rule을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252229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257258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시 상태는 RCP를 유지하고 Work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RowVersion만 갱신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296072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301101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선택집합이 동일하면 Detail과 Work를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갱신하지 않고 No-op으로 처리한다.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가격·할인·수납·결제는 이 시스템의 범위가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 (AEX-05).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5263286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263286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1" name="Shape 149"/>
          <p:cNvSpPr/>
          <p:nvPr/>
        </p:nvSpPr>
        <p:spPr>
          <a:xfrm>
            <a:off x="708660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08660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689592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689592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32918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접수완료(RCP)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1943100" y="2738628"/>
            <a:ext cx="539496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107692" y="3049524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접수를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107692" y="3264865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상태로 되돌아가지 않으며 해당 업무 전체가 취소됩니다.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  접수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 · F-RCP-003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호출된다 (RCP-06)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CNC로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예약(RSV)으로 되돌리지 않는다. 해당 예약·접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업무 전체가 취소된 것으로 판단한다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(RCP-06).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96553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96553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301583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건은 보존·조회하되 후속 변경 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않는다 (CP-05).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179679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9679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527151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7151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예약/접수 공통 Workbench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961388"/>
            <a:ext cx="78638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— 수검자 홍길동 (2026-000123)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854964" y="2199132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2980" y="2199132"/>
            <a:ext cx="374904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:   TargetTable = 수검자     TargetKey = PatientId</a:t>
            </a:r>
            <a:endParaRPr lang="ko-KR" sz="900" dirty="0"/>
          </a:p>
        </p:txBody>
      </p:sp>
      <p:sp>
        <p:nvSpPr>
          <p:cNvPr id="12" name="Text 10"/>
          <p:cNvSpPr/>
          <p:nvPr/>
        </p:nvSpPr>
        <p:spPr>
          <a:xfrm>
            <a:off x="4786884" y="2199132"/>
            <a:ext cx="351129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행에서 열면  TargetTable = 예약접수 · TargetKey = WorkId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54964" y="2546604"/>
            <a:ext cx="7571232" cy="11338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" y="2574036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변경기록  ·  읽기 전용  ·  기록일시 최신순 고정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854964" y="2756916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18" name="Shape 16"/>
          <p:cNvSpPr/>
          <p:nvPr/>
        </p:nvSpPr>
        <p:spPr>
          <a:xfrm>
            <a:off x="2180844" y="2793492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35708" y="2793492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20" name="Shape 18"/>
          <p:cNvSpPr/>
          <p:nvPr/>
        </p:nvSpPr>
        <p:spPr>
          <a:xfrm>
            <a:off x="3552444" y="279349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07308" y="2793492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4512564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67428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423660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8524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2026-09-07 14:20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2180844" y="2971800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35708" y="2971800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3552444" y="29718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7308" y="2971800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4512564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67428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6423660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8524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010-0000-0123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2026-09-06 09:11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2180844" y="3150108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35708" y="3150108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3552444" y="31501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07308" y="3150108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4512564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67428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…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6423660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8524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경기도 …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854964" y="3790188"/>
            <a:ext cx="7571232" cy="8412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8116" y="381762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0건일 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854964" y="400050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2180844" y="4037076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35708" y="4037076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3552444" y="4037076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07308" y="4037076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4512564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7428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6423660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78524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946404" y="4270248"/>
            <a:ext cx="73883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표시할 변경기록이 없습니다.</a:t>
            </a:r>
            <a:endParaRPr lang="ko-KR" sz="950" dirty="0"/>
          </a:p>
        </p:txBody>
      </p:sp>
      <p:sp>
        <p:nvSpPr>
          <p:cNvPr id="60" name="Text 5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3000" dirty="0"/>
          </a:p>
        </p:txBody>
      </p:sp>
      <p:sp>
        <p:nvSpPr>
          <p:cNvPr id="61" name="Shape 5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  변경이력 열람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7" name="Text 65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진입점이 같은 Modal을 연다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1" name="Text 69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SP-LOG-01 RS1 그대로. LogId는 표시하지 않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는다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208386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13415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인증되지 않은 자기신고 값이다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4000자에서 잘렸을 수 있다. 복원 근거가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796616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846908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0건은 오류가 아니다. Code=0을 돌려준다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07093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07093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313164" y="312122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전용이다. 편집·삭제·재적용 Action이 없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87" name="Shape 85"/>
          <p:cNvSpPr/>
          <p:nvPr/>
        </p:nvSpPr>
        <p:spPr>
          <a:xfrm>
            <a:off x="8897112" y="350936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262872" y="350936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313164" y="355965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정렬은 기록일시 최신순 고정이고 사용자 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렬이 없다.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897112" y="394779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262872" y="394779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313164" y="399808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페이징을 두지 않는다. SP-LOG-01만 호출한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93" name="Shape 91"/>
          <p:cNvSpPr/>
          <p:nvPr/>
        </p:nvSpPr>
        <p:spPr>
          <a:xfrm>
            <a:off x="8897112" y="438622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262872" y="438622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313164" y="443651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행에서는 수검자 변경만 보인다.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466054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466054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313164" y="471083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열람은 변경이력을 남기지 않는다.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708660" y="22174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08660" y="22174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708660" y="30038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08660" y="30038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03454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03454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436626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6626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708660" y="410108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08660" y="410108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상단 Navigation [휴무일 관리] (WF-00)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641348"/>
            <a:ext cx="78638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854964" y="1879092"/>
            <a:ext cx="757123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" y="1906524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854964" y="2089404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21" name="Text 19"/>
          <p:cNvSpPr/>
          <p:nvPr/>
        </p:nvSpPr>
        <p:spPr>
          <a:xfrm>
            <a:off x="9464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조회기간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2026-01-01</a:t>
            </a:r>
            <a:endParaRPr lang="ko-KR" sz="900" dirty="0"/>
          </a:p>
        </p:txBody>
      </p:sp>
      <p:sp>
        <p:nvSpPr>
          <p:cNvPr id="24" name="Text 22"/>
          <p:cNvSpPr/>
          <p:nvPr/>
        </p:nvSpPr>
        <p:spPr>
          <a:xfrm>
            <a:off x="2674620" y="2125980"/>
            <a:ext cx="1463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2027-12-31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3927348" y="2125980"/>
            <a:ext cx="38404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37460"/>
            <a:ext cx="757123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2980" y="2537460"/>
            <a:ext cx="7315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 공휴일 등재가 2027-12-27 에 끝납니다.  남은 기간 120일 — 갱신이 필요합니다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854964" y="2921508"/>
            <a:ext cx="7571232" cy="105156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116" y="294894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목록  ·  휴무일자 오름차순 고정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854964" y="313182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2043684" y="3168396"/>
            <a:ext cx="17373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98548" y="3168396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휴무구분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5701284" y="3168396"/>
            <a:ext cx="263347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56148" y="3168396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2026-12-25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2043684" y="3346704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98548" y="3346704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성탄절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5701284" y="3346704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2026-12-26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043684" y="3525012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098548" y="3525012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휴진일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525012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56148" y="3525012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휴진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2027-01-01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2043684" y="3703320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098548" y="3703320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신정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5701284" y="3703320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54964" y="4082796"/>
            <a:ext cx="7571232" cy="8686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28116" y="4110228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 입력  ·  법정·대체 공휴일 행을 고르면 비활성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854964" y="4293108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76" name="Text 74"/>
          <p:cNvSpPr/>
          <p:nvPr/>
        </p:nvSpPr>
        <p:spPr>
          <a:xfrm>
            <a:off x="946404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2027-03-14</a:t>
            </a:r>
            <a:endParaRPr lang="ko-KR" sz="900" dirty="0"/>
          </a:p>
        </p:txBody>
      </p:sp>
      <p:sp>
        <p:nvSpPr>
          <p:cNvPr id="79" name="Text 77"/>
          <p:cNvSpPr/>
          <p:nvPr/>
        </p:nvSpPr>
        <p:spPr>
          <a:xfrm>
            <a:off x="2784348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정기 휴진일</a:t>
            </a:r>
            <a:endParaRPr lang="ko-KR" sz="900" dirty="0"/>
          </a:p>
        </p:txBody>
      </p:sp>
      <p:sp>
        <p:nvSpPr>
          <p:cNvPr id="82" name="Text 80"/>
          <p:cNvSpPr/>
          <p:nvPr/>
        </p:nvSpPr>
        <p:spPr>
          <a:xfrm>
            <a:off x="5445252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85" name="Text 83"/>
          <p:cNvSpPr/>
          <p:nvPr/>
        </p:nvSpPr>
        <p:spPr>
          <a:xfrm>
            <a:off x="946404" y="46405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점검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3000" dirty="0"/>
          </a:p>
        </p:txBody>
      </p:sp>
      <p:sp>
        <p:nvSpPr>
          <p:cNvPr id="89" name="Shape 87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 휴무일 관리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5" name="Text 93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기간은 업무정책이 정한 공휴일 등재 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위다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Text 97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잔여가 임계 미만일 때만 나타난다. 편집을 막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3" name="Text 101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SP-HOL-01 RS1 의 다섯 컬럼. 일요일은 목록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없다</a:t>
            </a:r>
            <a:endParaRPr lang="ko-KR" sz="1000" dirty="0"/>
          </a:p>
        </p:txBody>
      </p:sp>
      <p:sp>
        <p:nvSpPr>
          <p:cNvPr id="104" name="Shape 102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Text 105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 · 대체공휴일 · 자체휴무일 세 값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</a:t>
            </a:r>
            <a:endParaRPr lang="ko-KR" sz="1000" dirty="0"/>
          </a:p>
        </p:txBody>
      </p:sp>
      <p:sp>
        <p:nvSpPr>
          <p:cNvPr id="108" name="Shape 106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262872" y="3124835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1" name="Text 109"/>
          <p:cNvSpPr/>
          <p:nvPr/>
        </p:nvSpPr>
        <p:spPr>
          <a:xfrm>
            <a:off x="9313164" y="3175127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추가하면 휴무구분은 항상 자체휴무일이다</a:t>
            </a:r>
            <a:endParaRPr lang="ko-KR" sz="1000" dirty="0"/>
          </a:p>
        </p:txBody>
      </p:sp>
      <p:sp>
        <p:nvSpPr>
          <p:cNvPr id="112" name="Shape 110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 · 대체 공휴일 행은 회색이며 선택해도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입력행에 싣지 않는다.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83758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9313164" y="388787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수정은 휴무일명 · 사용여부 · 비고만 바꾼다.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휴무일자는 바꾸지 않는다.</a:t>
            </a:r>
            <a:endParaRPr lang="ko-KR" sz="1000" dirty="0"/>
          </a:p>
        </p:txBody>
      </p:sp>
      <p:sp>
        <p:nvSpPr>
          <p:cNvPr id="118" name="Shape 116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262872" y="427601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9313164" y="432630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물리 삭제다. 사용여부 0 은 일시 무효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화이며 날짜를 계속 점유한다.</a:t>
            </a:r>
            <a:endParaRPr lang="ko-KR" sz="1000" dirty="0"/>
          </a:p>
        </p:txBody>
      </p:sp>
      <p:sp>
        <p:nvSpPr>
          <p:cNvPr id="121" name="Shape 119"/>
          <p:cNvSpPr/>
          <p:nvPr/>
        </p:nvSpPr>
        <p:spPr>
          <a:xfrm>
            <a:off x="8897112" y="471444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262872" y="471444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313164" y="476473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중복과 공백 휴무일명의 최종 판단은 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프로시저가 한다.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515287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515287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520316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Tab 을 열지 않으므로 열려 있는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상태를 바꾸지 않는다.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559130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559130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313164" y="564159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 은 표시하지 않고 들고만 있는다.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· 삭제가 그 값을 함께 보낸다.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708660" y="256489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08660" y="256489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708660" y="33375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08660" y="33375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6" name="Shape 134"/>
          <p:cNvSpPr/>
          <p:nvPr/>
        </p:nvSpPr>
        <p:spPr>
          <a:xfrm>
            <a:off x="3634740" y="314782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634740" y="314782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708660" y="44074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08660" y="44074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A-1.  검증 표현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61104" y="1170432"/>
            <a:ext cx="7507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02252" y="121158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61104" y="1396312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02252" y="143746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 + 사유 표시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입력필드 오류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61104" y="162219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02252" y="166334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 오류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/ 상태전이 최종차단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61104" y="184807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02252" y="188922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중단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충돌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4261104" y="207395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02252" y="211510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최신값 Refresh</a:t>
            </a:r>
            <a:endParaRPr lang="ko-KR" sz="850" dirty="0"/>
          </a:p>
        </p:txBody>
      </p:sp>
      <p:sp>
        <p:nvSpPr>
          <p:cNvPr id="24" name="Text 22"/>
          <p:cNvSpPr/>
          <p:nvPr/>
        </p:nvSpPr>
        <p:spPr>
          <a:xfrm>
            <a:off x="420624" y="2409561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A-2.  화면별 NEX / AEX 편집 가부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420624" y="2629017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" y="2670165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261104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02252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8014716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55864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420624" y="285489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" y="289604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Workbench 상세 (WF-WRK-01)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61104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02252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8014716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55864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20624" y="308077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12192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(WF-RSV-01)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61104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02252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8014716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55864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30665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334780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(DLG-RSV-01)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61104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02252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8014716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55864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53253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57368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 (DLG-RCP-01)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4261104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02252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8014716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055864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420624" y="375841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1772" y="379956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추가검사변경 (DLG-RCP-02)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61104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02252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8014716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055864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398429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02544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상태(CNR·CNC)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61104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02252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8014716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55864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20624" y="4319908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A-3.  업무 상태별 Action 가부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420624" y="4539364"/>
            <a:ext cx="20116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" y="458051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243230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47345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4299509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40657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616671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0786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8033918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75066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9901123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42271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420624" y="476524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1772" y="480639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243230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47345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99509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40657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16671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0786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033918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075066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9901123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942271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420624" y="499112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61772" y="503227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243230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7345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4299509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40657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616671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20786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8033918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75066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9901123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942271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420624" y="521700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1772" y="525815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243230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47345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4299509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340657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616671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0786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8033918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075066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9901123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942271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0624" y="5442885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61772" y="5484033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243230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47345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4299509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340657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616671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20786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8033918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8075066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9901123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942271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A-4.  Refresh · 동시성 · No-op 계약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Edit Modal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관련 Modal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새 동시성값으로 화면 모델을 교체한다.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실패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RowVersion으로 재시도하지 않는다.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실제 변경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RowVersion이 변경된 것으로 처리한다.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없음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No-op 안내 후 불필요한 Refresh를 최소화한다.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Targeted Navigation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최신 DB 데이터를 조회한다.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8720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A-5.  DB 실패 후 UI 처리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306658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347806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0624" y="353253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772" y="357368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오류 ResultCode를 화면 업무문구로 매핑한다.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75841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79956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실패한 입력을 무조건 폐기하지 않는다.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98429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402544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· 마감 · 상태 · 동시성처럼 최신값이 필요한 실패는 관련 영역을 Refresh한다.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4210180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4251328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Transaction이 실패하면 성공 메시지나 로컬 상태전이를 적용하지 않는다.</a:t>
            </a:r>
            <a:endParaRPr lang="ko-KR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B-1.  수검자 조회 (WF-PAT-01 · DLG-PAT-02)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 / 주민번호 / 생년월일 / 휴대전화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조건이 있어야 조회한다.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입력된 조건은 AND로 결합한다.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정확검색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· 주민번호 · 생년월일 · 휴대전화는 정규화 후 정확검색한다.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접두검색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이름은 앞부분 일치(Name LIKE @Name + '%')로 검색한다.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값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문자열은 미입력으로 처리한다.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주민번호와 전화번호는 `-`를 제거하여 조회한다.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97747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301862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3346704" y="297747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7852" y="301862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 시 선택행과 우측 상세를 초기화한다.</a:t>
            </a:r>
            <a:endParaRPr lang="ko-KR" sz="850" dirty="0"/>
          </a:p>
        </p:txBody>
      </p:sp>
      <p:sp>
        <p:nvSpPr>
          <p:cNvPr id="40" name="Text 38"/>
          <p:cNvSpPr/>
          <p:nvPr/>
        </p:nvSpPr>
        <p:spPr>
          <a:xfrm>
            <a:off x="420624" y="331308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B-2.  예약·접수 업무내역 조회 (WF-WRK-01)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420624" y="3532539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57368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3346704" y="3532539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7852" y="357368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375841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9956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75841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9956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From ~ To  ·  상태(전체 / 예약 / 접수완료 / 예약취소 / 접수취소)  ·  차트번호  ·  이름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8429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402544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8429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402544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하나의 실질 조건이 필요하다. 상태 `전체`만 선택한 경우는 조건으로 보지 않는다.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21018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25132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21018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25132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입력조건은 AND로 결합한다.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0624" y="443606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1772" y="447720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범위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3346704" y="443606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7852" y="447720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양끝을 포함한다. From만 있으면 이후, To만 있으면 이전. From &gt; To는 Inline 오류.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466194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70308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방식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3346704" y="466194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87852" y="470308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차트번호는 정확검색, 이름은 접두검색.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420624" y="488782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492896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346704" y="488782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7852" y="492896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시간대는 조회조건에서 제외한다.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5113701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5154849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346704" y="5113701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87852" y="5154849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· 현재 · 미래를 모두 조회할 수 있다.</a:t>
            </a:r>
            <a:endParaRPr lang="ko-KR" sz="850" dirty="0"/>
          </a:p>
        </p:txBody>
      </p:sp>
      <p:sp>
        <p:nvSpPr>
          <p:cNvPr id="73" name="Text 71"/>
          <p:cNvSpPr/>
          <p:nvPr/>
        </p:nvSpPr>
        <p:spPr>
          <a:xfrm>
            <a:off x="420624" y="544930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B-3.  Grid 컬럼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420624" y="5668765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61772" y="5709913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2798064" y="5668765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839212" y="5709913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6638544" y="5668765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679692" y="5709913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8833104" y="5668765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74252" y="5709913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420624" y="5894645"/>
            <a:ext cx="23774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1772" y="5935793"/>
            <a:ext cx="22951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(WF-PAT-01)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2798064" y="5894645"/>
            <a:ext cx="384048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839212" y="5935793"/>
            <a:ext cx="375818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→ 이름 → 생년월일 → 성별 → 휴대전화번호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638544" y="5894645"/>
            <a:ext cx="219456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679692" y="5935793"/>
            <a:ext cx="211226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/ 전화번호 / E-mail / 우편번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 / 주소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833104" y="5894645"/>
            <a:ext cx="293522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874252" y="5935793"/>
            <a:ext cx="285292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내부키(PatientId · WorkId), 정규화 컬럼, 동시성값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(RowVersion), 생성·수정시각, 업무 미사용 컬럼</a:t>
            </a:r>
            <a:endParaRPr lang="ko-KR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2798064" y="932688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39212" y="97383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6638544" y="932688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9692" y="973836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8833104" y="932688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74252" y="973836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58568"/>
            <a:ext cx="237744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199716"/>
            <a:ext cx="229514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Workbench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(WF-WRK-01)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2798064" y="1158568"/>
            <a:ext cx="384048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9212" y="1199716"/>
            <a:ext cx="375818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→ 시간대 → 상태 → 이름 → 차트번호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6638544" y="1158568"/>
            <a:ext cx="219456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9692" y="1199716"/>
            <a:ext cx="211226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/ 생년월일 / 휴대전화번호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8833104" y="1158568"/>
            <a:ext cx="2935224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74252" y="1199716"/>
            <a:ext cx="2852928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위와 동일. Workbench에는 주민등록번호를 표시하지 않으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 선택 컬럼 후보로도 제공하지 않는다. 정원현황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·NEX/AEX 상세·주소·E-mail·메모도 제외.</a:t>
            </a:r>
            <a:endParaRPr lang="ko-KR" sz="850" dirty="0"/>
          </a:p>
        </p:txBody>
      </p:sp>
      <p:sp>
        <p:nvSpPr>
          <p:cNvPr id="19" name="Text 17"/>
          <p:cNvSpPr/>
          <p:nvPr/>
        </p:nvSpPr>
        <p:spPr>
          <a:xfrm>
            <a:off x="420624" y="178134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B-4.  Column Chooser 정책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420624" y="2000801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04194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2000801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204194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26681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26782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1883664" y="2226681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24812" y="226782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/ 숨김,  기본값 복원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45256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49371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2452562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2493710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사용자별 Layout DB 저장,  로그인별 개인화,  복잡한 Column Profile 관리자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67844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1959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1883664" y="2678442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4812" y="2719590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컬럼 후보만 제공한다. 수검자 관리에서는 SocialNumber를 선택 컬럼으로 허용하고, Workbench에서는 후보로 제공하지 않는다.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1405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B-5.  Grid 공통 동작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233506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27465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3346704" y="3233506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87852" y="327465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45938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50053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3346704" y="345938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7852" y="350053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Row Selection. Multi-Select는 사용하지 않는다.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368526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2641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68526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2641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선택하면 즉시 우측 상세를 갱신한다.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1114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95229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Click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1114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395229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Action을 실행하지 않는다.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137028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178176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137028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178176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SelectedRow를 해제하고 상세와 Transaction Action을 모두 Clear한다.</a:t>
            </a:r>
            <a:endParaRPr lang="ko-KR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필수정보 누락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Control 인접 Inline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13자리/날짜/파생 오류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Inline, Birthday/Gender Clear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42062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중복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16966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9709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+ 기존 수검자 확인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7918704" y="151114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46136" y="153857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신규등록/수정 중단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중복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416966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9709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7918704" y="170114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6136" y="172857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중단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42062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805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주민번호+이름 불일치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16966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9709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전체값 확인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7918704" y="189114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46136" y="191857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없이 기존 PatientId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805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 후보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416966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9709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7918704" y="208114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46136" y="210857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수정/별도등록/중단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42062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805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변경+RSV/RCP 존재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16966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9709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7918704" y="227114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46136" y="229858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 불가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RowVersion 불일치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16966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9709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수검자 Refresh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7918704" y="246115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46136" y="248858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Rollback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2062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805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 존재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16966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19709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안내+WorkId 연결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7918704" y="265115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46136" y="267858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중단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42062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4805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다른 유효업무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416966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9709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WorkId 제외 후 DB 재검증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7918704" y="284115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6136" y="286858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자신은 충돌로 판단하지 않음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42062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4805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예약일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416966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9709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Inline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7918704" y="303115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946136" y="305859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일요일/HOL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416966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9709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날짜/일정 Disabled+사유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918704" y="322116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946136" y="324859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42062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4805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 PM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16966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19709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7918704" y="341116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946136" y="343859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42062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805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20/20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416966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9709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Disabled+정원 마감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7918704" y="360116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946136" y="362859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2062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4805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당일예약 마감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16966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19709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Disabled+사유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7918704" y="379116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946136" y="381859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접수마감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416966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19709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Inline/Blocking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7918704" y="398116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946136" y="400860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현장예약 불가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42062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4805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비대상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16966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19709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판정결과+저장 Disabled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7918704" y="417117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946136" y="419860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42062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4805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성별 제한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16966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19709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Checkbox Disabled+사유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7918704" y="436117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946136" y="438860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42062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4805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NEX 중복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416966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19709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Disabled+국가검진 포함 사유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7918704" y="455117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946136" y="457860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접수일 불일치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416966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19709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7918704" y="474117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46136" y="476860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4805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접수마감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16966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19709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7918704" y="493117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946136" y="495861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42062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4805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RCP/CNR/CNC 재접수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416966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19709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Action/Modal 차단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7918704" y="512118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946136" y="514861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42062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44805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 불일치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416966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19709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Work Refresh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7918704" y="531118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7946136" y="533861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Rollback</a:t>
            </a:r>
            <a:endParaRPr lang="ko-KR" sz="800" dirty="0"/>
          </a:p>
        </p:txBody>
      </p:sp>
      <p:sp>
        <p:nvSpPr>
          <p:cNvPr id="147" name="Shape 145"/>
          <p:cNvSpPr/>
          <p:nvPr/>
        </p:nvSpPr>
        <p:spPr>
          <a:xfrm>
            <a:off x="42062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4805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Instance 재호출+Dirty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16966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19709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Confirm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7918704" y="550118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946136" y="552861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Reset / 취소 유지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42062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4805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직전 정원·중복·상태 변경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16966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419709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Blocking+Refresh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7918704" y="569118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946136" y="571862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 Rollback</a:t>
            </a:r>
            <a:endParaRPr lang="ko-KR" sz="800" dirty="0"/>
          </a:p>
        </p:txBody>
      </p:sp>
      <p:sp>
        <p:nvSpPr>
          <p:cNvPr id="159" name="Shape 157"/>
          <p:cNvSpPr/>
          <p:nvPr/>
        </p:nvSpPr>
        <p:spPr>
          <a:xfrm>
            <a:off x="42062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44805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161" name="Shape 159"/>
          <p:cNvSpPr/>
          <p:nvPr/>
        </p:nvSpPr>
        <p:spPr>
          <a:xfrm>
            <a:off x="416966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19709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 후 DB 재검증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7918704" y="588119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7946136" y="590862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CNR/CNC 상태전이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44805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날짜 중복</a:t>
            </a:r>
            <a:endParaRPr lang="ko-KR" sz="800" dirty="0"/>
          </a:p>
        </p:txBody>
      </p:sp>
      <p:sp>
        <p:nvSpPr>
          <p:cNvPr id="167" name="Shape 165"/>
          <p:cNvSpPr/>
          <p:nvPr/>
        </p:nvSpPr>
        <p:spPr>
          <a:xfrm>
            <a:off x="416966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19709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Blocking</a:t>
            </a:r>
            <a:endParaRPr lang="ko-KR" sz="800" dirty="0"/>
          </a:p>
        </p:txBody>
      </p:sp>
      <p:sp>
        <p:nvSpPr>
          <p:cNvPr id="169" name="Shape 167"/>
          <p:cNvSpPr/>
          <p:nvPr/>
        </p:nvSpPr>
        <p:spPr>
          <a:xfrm>
            <a:off x="7918704" y="607119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7946136" y="609862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불가</a:t>
            </a:r>
            <a:endParaRPr lang="ko-KR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법정·대체 공휴일 행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입력행·[수정][삭제] Disabled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(HOL-05)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 공백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관리와 접수 관리는 같은 Workbench 화면을 Context만 바꿔 공유한다. 두 Context의 Ribbon 구성이 다르므로 아래 두 표를 함께 읽어야 한다. Reception이 Reservation의 상위집합이 아니다 — [예약취소]는 예약 Context 전용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D-1.  예약 Context Ribbon  ·  [조회] [예약변경] [예약취소] [접수] [변경이력] [컬럼설정]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2798064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0068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5040630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2634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7283196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9525762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7766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7566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" y="17886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2798064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30068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5040630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2634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283196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9525762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7766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20624" y="1964225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" y="1996229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2798064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0068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5040630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2634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7283196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0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9525762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57766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1718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2628" y="22038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2798064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0068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5040630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2634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7283196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0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9525762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57766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420624" y="23794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2628" y="24114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2798064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0068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5040630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72634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7283196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0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9525762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557766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420624" y="25870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2628" y="26190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2798064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830068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5040630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2634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7283196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15200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9525762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557766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66" name="Text 64"/>
          <p:cNvSpPr/>
          <p:nvPr/>
        </p:nvSpPr>
        <p:spPr>
          <a:xfrm>
            <a:off x="475488" y="2940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[접수]는 상태변경 버튼이 아니라 접수 Context / P03으로 연결하는 Shortcut이다.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75488" y="3084483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상태와 무관하게 행이 선택되면 열린다 — 취소된 업무의 변경 내역도 남아 있고 그것을 보는 것이 열람의 목적이다.</a:t>
            </a:r>
            <a:endParaRPr lang="ko-KR" sz="850" dirty="0"/>
          </a:p>
        </p:txBody>
      </p:sp>
      <p:sp>
        <p:nvSpPr>
          <p:cNvPr id="68" name="Text 66"/>
          <p:cNvSpPr/>
          <p:nvPr/>
        </p:nvSpPr>
        <p:spPr>
          <a:xfrm>
            <a:off x="475488" y="3228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이 표에 행이 없다 — Action을 닫지 않고 상태영역에만 나타난다. 예약 Write는 저장 시점에 DB가 308/309로 막고 화면은 그 결과를 Blocking으로 보인다.</a:t>
            </a:r>
            <a:endParaRPr lang="ko-KR" sz="850" dirty="0"/>
          </a:p>
        </p:txBody>
      </p:sp>
      <p:sp>
        <p:nvSpPr>
          <p:cNvPr id="69" name="Text 67"/>
          <p:cNvSpPr/>
          <p:nvPr/>
        </p:nvSpPr>
        <p:spPr>
          <a:xfrm>
            <a:off x="420624" y="342651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D-2.  접수 Context Ribbon  ·  [조회] [현장 당일예약] [예약변경] [접수] [추가검사변경] [접수취소] [변경이력] [컬럼설정]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420624" y="364597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2628" y="367797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2798064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830068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93108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25112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5788152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820156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7283196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315200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8778240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10244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10273284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0305288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0624" y="3853564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52628" y="388556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2798064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83006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4293108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25112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5788152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820156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7283196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15200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8778240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810244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10273284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30528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0624" y="4061156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28" y="4093160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279806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83006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4293108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25112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5788152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820156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7283196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315200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8778240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10244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1027328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30528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420624" y="4268748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52628" y="430075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279806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83006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93108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325112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5788152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820156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7283196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315200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8778240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810244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1027328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030528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420624" y="447634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52628" y="450834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28" name="Shape 126"/>
          <p:cNvSpPr/>
          <p:nvPr/>
        </p:nvSpPr>
        <p:spPr>
          <a:xfrm>
            <a:off x="279806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283006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0" name="Shape 128"/>
          <p:cNvSpPr/>
          <p:nvPr/>
        </p:nvSpPr>
        <p:spPr>
          <a:xfrm>
            <a:off x="4293108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25112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2" name="Shape 130"/>
          <p:cNvSpPr/>
          <p:nvPr/>
        </p:nvSpPr>
        <p:spPr>
          <a:xfrm>
            <a:off x="5788152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820156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4" name="Shape 132"/>
          <p:cNvSpPr/>
          <p:nvPr/>
        </p:nvSpPr>
        <p:spPr>
          <a:xfrm>
            <a:off x="7283196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315200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6" name="Shape 134"/>
          <p:cNvSpPr/>
          <p:nvPr/>
        </p:nvSpPr>
        <p:spPr>
          <a:xfrm>
            <a:off x="8778240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10244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8" name="Shape 136"/>
          <p:cNvSpPr/>
          <p:nvPr/>
        </p:nvSpPr>
        <p:spPr>
          <a:xfrm>
            <a:off x="1027328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30528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0" name="Shape 138"/>
          <p:cNvSpPr/>
          <p:nvPr/>
        </p:nvSpPr>
        <p:spPr>
          <a:xfrm>
            <a:off x="420624" y="46839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452628" y="47159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42" name="Shape 140"/>
          <p:cNvSpPr/>
          <p:nvPr/>
        </p:nvSpPr>
        <p:spPr>
          <a:xfrm>
            <a:off x="279806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83006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4" name="Shape 142"/>
          <p:cNvSpPr/>
          <p:nvPr/>
        </p:nvSpPr>
        <p:spPr>
          <a:xfrm>
            <a:off x="4293108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4325112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6" name="Shape 144"/>
          <p:cNvSpPr/>
          <p:nvPr/>
        </p:nvSpPr>
        <p:spPr>
          <a:xfrm>
            <a:off x="5788152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820156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8" name="Shape 146"/>
          <p:cNvSpPr/>
          <p:nvPr/>
        </p:nvSpPr>
        <p:spPr>
          <a:xfrm>
            <a:off x="7283196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7315200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0" name="Shape 148"/>
          <p:cNvSpPr/>
          <p:nvPr/>
        </p:nvSpPr>
        <p:spPr>
          <a:xfrm>
            <a:off x="8778240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10244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2" name="Shape 150"/>
          <p:cNvSpPr/>
          <p:nvPr/>
        </p:nvSpPr>
        <p:spPr>
          <a:xfrm>
            <a:off x="1027328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030528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54" name="Text 152"/>
          <p:cNvSpPr/>
          <p:nvPr/>
        </p:nvSpPr>
        <p:spPr>
          <a:xfrm>
            <a:off x="475488" y="5037829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[현장 당일예약]은 선택행과 무관한 독립 Action이다. 이 버튼 하나가 「수검자 확정 → 당일 업무 확인 → 신규예약 WalkIn(예약일 = 오늘 ReadOnly) → Workbench 자동선택 → 접수 처리」 흐름의 유일한 진입점이다.</a:t>
            </a:r>
            <a:endParaRPr lang="ko-KR" sz="850" dirty="0"/>
          </a:p>
        </p:txBody>
      </p:sp>
      <p:sp>
        <p:nvSpPr>
          <p:cNvPr id="155" name="Text 153"/>
          <p:cNvSpPr/>
          <p:nvPr/>
        </p:nvSpPr>
        <p:spPr>
          <a:xfrm>
            <a:off x="475488" y="5181413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예약 Context Ribbon과 같다 — 상태와 무관하게 행이 선택되면 열린다. 공통 업무불가가 이 표에 행을 갖지 않는 것도 같다.</a:t>
            </a:r>
            <a:endParaRPr lang="ko-KR" sz="850" dirty="0"/>
          </a:p>
        </p:txBody>
      </p:sp>
      <p:sp>
        <p:nvSpPr>
          <p:cNvPr id="156" name="Text 154"/>
          <p:cNvSpPr/>
          <p:nvPr/>
        </p:nvSpPr>
        <p:spPr>
          <a:xfrm>
            <a:off x="420624" y="537986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D-3.  수검자 관리 Ribbon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420624" y="5599318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452628" y="563132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159" name="Shape 157"/>
          <p:cNvSpPr/>
          <p:nvPr/>
        </p:nvSpPr>
        <p:spPr>
          <a:xfrm>
            <a:off x="2798064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2830068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850" dirty="0"/>
          </a:p>
        </p:txBody>
      </p:sp>
      <p:sp>
        <p:nvSpPr>
          <p:cNvPr id="161" name="Shape 159"/>
          <p:cNvSpPr/>
          <p:nvPr/>
        </p:nvSpPr>
        <p:spPr>
          <a:xfrm>
            <a:off x="4293108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325112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50" dirty="0"/>
          </a:p>
        </p:txBody>
      </p:sp>
      <p:sp>
        <p:nvSpPr>
          <p:cNvPr id="163" name="Shape 161"/>
          <p:cNvSpPr/>
          <p:nvPr/>
        </p:nvSpPr>
        <p:spPr>
          <a:xfrm>
            <a:off x="5788152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820156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850" dirty="0"/>
          </a:p>
        </p:txBody>
      </p:sp>
      <p:sp>
        <p:nvSpPr>
          <p:cNvPr id="165" name="Shape 163"/>
          <p:cNvSpPr/>
          <p:nvPr/>
        </p:nvSpPr>
        <p:spPr>
          <a:xfrm>
            <a:off x="7283196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315200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850" dirty="0"/>
          </a:p>
        </p:txBody>
      </p:sp>
      <p:sp>
        <p:nvSpPr>
          <p:cNvPr id="167" name="Shape 165"/>
          <p:cNvSpPr/>
          <p:nvPr/>
        </p:nvSpPr>
        <p:spPr>
          <a:xfrm>
            <a:off x="8778240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10244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9" name="Shape 167"/>
          <p:cNvSpPr/>
          <p:nvPr/>
        </p:nvSpPr>
        <p:spPr>
          <a:xfrm>
            <a:off x="10273284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05288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850" dirty="0"/>
          </a:p>
        </p:txBody>
      </p:sp>
      <p:sp>
        <p:nvSpPr>
          <p:cNvPr id="171" name="Shape 169"/>
          <p:cNvSpPr/>
          <p:nvPr/>
        </p:nvSpPr>
        <p:spPr>
          <a:xfrm>
            <a:off x="420624" y="58069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452628" y="58389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</a:t>
            </a:r>
            <a:endParaRPr lang="ko-KR" sz="850" dirty="0"/>
          </a:p>
        </p:txBody>
      </p:sp>
      <p:sp>
        <p:nvSpPr>
          <p:cNvPr id="173" name="Shape 171"/>
          <p:cNvSpPr/>
          <p:nvPr/>
        </p:nvSpPr>
        <p:spPr>
          <a:xfrm>
            <a:off x="2798064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2830068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5" name="Shape 173"/>
          <p:cNvSpPr/>
          <p:nvPr/>
        </p:nvSpPr>
        <p:spPr>
          <a:xfrm>
            <a:off x="4293108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325112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7" name="Shape 175"/>
          <p:cNvSpPr/>
          <p:nvPr/>
        </p:nvSpPr>
        <p:spPr>
          <a:xfrm>
            <a:off x="5788152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5820156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9" name="Shape 177"/>
          <p:cNvSpPr/>
          <p:nvPr/>
        </p:nvSpPr>
        <p:spPr>
          <a:xfrm>
            <a:off x="7283196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315200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81" name="Shape 179"/>
          <p:cNvSpPr/>
          <p:nvPr/>
        </p:nvSpPr>
        <p:spPr>
          <a:xfrm>
            <a:off x="8778240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10244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83" name="Shape 181"/>
          <p:cNvSpPr/>
          <p:nvPr/>
        </p:nvSpPr>
        <p:spPr>
          <a:xfrm>
            <a:off x="10273284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305288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85" name="Shape 183"/>
          <p:cNvSpPr/>
          <p:nvPr/>
        </p:nvSpPr>
        <p:spPr>
          <a:xfrm>
            <a:off x="420624" y="60145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452628" y="60465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187" name="Shape 185"/>
          <p:cNvSpPr/>
          <p:nvPr/>
        </p:nvSpPr>
        <p:spPr>
          <a:xfrm>
            <a:off x="2798064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2830068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89" name="Shape 187"/>
          <p:cNvSpPr/>
          <p:nvPr/>
        </p:nvSpPr>
        <p:spPr>
          <a:xfrm>
            <a:off x="4293108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4325112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1" name="Shape 189"/>
          <p:cNvSpPr/>
          <p:nvPr/>
        </p:nvSpPr>
        <p:spPr>
          <a:xfrm>
            <a:off x="5788152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5820156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3" name="Shape 191"/>
          <p:cNvSpPr/>
          <p:nvPr/>
        </p:nvSpPr>
        <p:spPr>
          <a:xfrm>
            <a:off x="7283196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7315200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5" name="Shape 193"/>
          <p:cNvSpPr/>
          <p:nvPr/>
        </p:nvSpPr>
        <p:spPr>
          <a:xfrm>
            <a:off x="8778240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8810244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7" name="Shape 195"/>
          <p:cNvSpPr/>
          <p:nvPr/>
        </p:nvSpPr>
        <p:spPr>
          <a:xfrm>
            <a:off x="10273284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0305288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미선택에서는 대상 행이 없으므로 [정보수정]·[신규예약]·[변경이력]이 닫힌다.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이 표에 행이 없다 — 수검자 등록·수정은 기준정보 정비라 애초에 308/309의 대상이 아니고, 화면도 그 상태에서 Action을 닫지 않는다.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D-4.  당일 예약 · 접수 마감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74320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163824" y="1549041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95828" y="1581045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(AM)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7466076" y="1549041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0" y="1581045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(PM)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756633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" y="1788637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평일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163824" y="1756633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95828" y="1788637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7466076" y="1756633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1788637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15:00 전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0624" y="1964225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" y="1996229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평일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3163824" y="1964225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95828" y="1996229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466076" y="1964225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1996229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16:00 전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171817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" y="2203821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토요일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163824" y="2171817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95828" y="2203821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7466076" y="2171817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0" y="2203821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420624" y="2379410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2628" y="2411414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토요일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163824" y="2379410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95828" y="2411414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7466076" y="2379410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0" y="2411414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75488" y="273330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마감시각 이전(&lt;)만 허용하며 마감시각과 같은 시각부터 불가하다. 모든 마감은 운영시간(09:00 ≤ 현재시각 &lt; 18:00) 안에서만 적용한다.</a:t>
            </a:r>
            <a:endParaRPr lang="ko-KR" sz="850" dirty="0"/>
          </a:p>
        </p:txBody>
      </p:sp>
      <p:sp>
        <p:nvSpPr>
          <p:cNvPr id="37" name="Text 35"/>
          <p:cNvSpPr/>
          <p:nvPr/>
        </p:nvSpPr>
        <p:spPr>
          <a:xfrm>
            <a:off x="420624" y="2931754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D-5.  신규 예약 Single Instance · Reset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420624" y="3151210"/>
            <a:ext cx="201168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2628" y="3183214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2432304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64308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예약일/시간대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299509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31513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6166714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98718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8033918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65922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9901123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933127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저장상태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20624" y="3358803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2628" y="3390807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변경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2432304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64308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4299509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31513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6166714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98718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8033918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065922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9901123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933127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420624" y="3566395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2628" y="3598399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전환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2432304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64308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Reset</a:t>
            </a:r>
            <a:endParaRPr lang="ko-KR" sz="850" dirty="0"/>
          </a:p>
        </p:txBody>
      </p:sp>
      <p:sp>
        <p:nvSpPr>
          <p:cNvPr id="66" name="Shape 64"/>
          <p:cNvSpPr/>
          <p:nvPr/>
        </p:nvSpPr>
        <p:spPr>
          <a:xfrm>
            <a:off x="4299509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31513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68" name="Shape 66"/>
          <p:cNvSpPr/>
          <p:nvPr/>
        </p:nvSpPr>
        <p:spPr>
          <a:xfrm>
            <a:off x="6166714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98718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8033918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065922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9901123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933127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0624" y="3773987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2628" y="3805991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2432304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464308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날짜, 시간대 재선택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4299509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31513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재판정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6166714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198718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재구성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8033918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065922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선택만 유지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9901123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933127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420624" y="3981580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52628" y="4013584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2432304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464308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시간대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4299509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31513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6166714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198718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8033918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065922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9901123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933127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 후 재평가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0624" y="4189172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28" y="4221176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2432304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464308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Clear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4299509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31513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6166714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198718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8033918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8065922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9901123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9933127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10" name="Text 108"/>
          <p:cNvSpPr/>
          <p:nvPr/>
        </p:nvSpPr>
        <p:spPr>
          <a:xfrm>
            <a:off x="475488" y="454306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미저장 내용이 있는 상태에서 다른 PatientId·Context로 재호출하거나 Tab을 닫으면 폐기 확인창을 띄운다 — 「미저장 예약 내용이 있습니다. 현재 입력을 폐기하고 새 업무를 시작하시겠습니까?  [확인] [취소]」</a:t>
            </a:r>
            <a:endParaRPr lang="ko-KR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E.  수검자 17개 컬럼 UI·저장 계약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45720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4023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877824" y="932688"/>
            <a:ext cx="19202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" y="960120"/>
            <a:ext cx="18653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2798064" y="932688"/>
            <a:ext cx="310896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25496" y="960120"/>
            <a:ext cx="305409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노출 / 편집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5907024" y="932688"/>
            <a:ext cx="586130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34456" y="960120"/>
            <a:ext cx="580644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생성 · 저장 기준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3113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" y="115856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77824" y="113113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" y="115856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2798064" y="113113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25496" y="115856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5907024" y="113113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34456" y="115856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자동생성, 저장 성공 시 호출 화면 반환, 불변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420624" y="132113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" y="134857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877824" y="132113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134857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CreationDate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2798064" y="132113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25496" y="134857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907024" y="132113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34456" y="134857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DB 서버시각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51114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53857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877824" y="151114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" y="153857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LastEditDate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2798064" y="151114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25496" y="153857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5907024" y="151114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34456" y="153857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생성시각, UPDATE 성공 시 DB 서버시각. 감사 정보이며 동시성 기준이 아니다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1701143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" y="1728575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877824" y="1701143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" y="1728575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2798064" y="1701143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25496" y="1728575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907024" y="1701143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34456" y="1728575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자동생성. 수정·삭제 요청에 함께 실어 보내는 동시성값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420624" y="1891145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" y="1918577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877824" y="1891145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05256" y="1918577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2798064" y="1891145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25496" y="1918577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5907024" y="1891145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34456" y="1918577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자동발급 또는 수동입력, Edit 수동수정, DB 최종 고유성 검증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08114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10857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877824" y="208114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" y="210857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2798064" y="208114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25496" y="210857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5907024" y="208114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34456" y="210857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20624" y="227114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8056" y="229858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877824" y="227114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05256" y="229858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2798064" y="227114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825496" y="229858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조회, 상세, 선택 컬럼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907024" y="227114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34456" y="229858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검증용 전체값 표시; '-' 제거 후 숫자 13자리 저장; DB 최종 고유성 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420624" y="246115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8056" y="248858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877824" y="246115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" y="248858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2798064" y="246115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825496" y="248858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5907024" y="246115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34456" y="248858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yyyyMMdd 자동산출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265115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267858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877824" y="265115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05256" y="267858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Gender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2798064" y="265115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825496" y="267858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5907024" y="265115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934456" y="267858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M/F 자동산출; UI 남/여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20624" y="284115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48056" y="286858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877824" y="284115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05256" y="286858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Email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2798064" y="284115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825496" y="286858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5907024" y="284115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934456" y="286858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420624" y="303115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8056" y="305859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877824" y="303115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05256" y="305859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MobilePhone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303115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825496" y="305859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5907024" y="303115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934456" y="305859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221160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3248592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877824" y="3221160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05256" y="3248592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Phone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2798064" y="3221160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825496" y="3248592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5907024" y="3221160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934456" y="3248592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20624" y="3411162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8056" y="3438594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877824" y="3411162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05256" y="3438594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Zipcode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2798064" y="3411162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825496" y="3438594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907024" y="3411162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934456" y="3438594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420624" y="360116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48056" y="362859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877824" y="360116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905256" y="362859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2798064" y="360116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825496" y="362859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5907024" y="360116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934456" y="362859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379116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381859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877824" y="379116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05256" y="381859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AddressDetail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2798064" y="379116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825496" y="381859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907024" y="379116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934456" y="381859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20624" y="398116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48056" y="400860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877824" y="398116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905256" y="400860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HepatitisBExcluded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2798064" y="398116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825496" y="400860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5907024" y="398116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5934456" y="400860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기본값 0; NEX-03 제외 판정 입력이며 1이 제외다. Grid·조회조건에는 제공하지 않는다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420624" y="417117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48056" y="419860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877824" y="417117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05256" y="419860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2798064" y="417117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825496" y="419860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5907024" y="417117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934456" y="419860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47" name="Text 145"/>
          <p:cNvSpPr/>
          <p:nvPr/>
        </p:nvSpPr>
        <p:spPr>
          <a:xfrm>
            <a:off x="475488" y="4507477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미사용 NOT NULL 컬럼은 DB Default 또는 저장 Stored Procedure가 값을 보장한다.</a:t>
            </a:r>
            <a:endParaRPr lang="ko-KR" sz="800" dirty="0"/>
          </a:p>
        </p:txBody>
      </p:sp>
      <p:sp>
        <p:nvSpPr>
          <p:cNvPr id="148" name="Text 146"/>
          <p:cNvSpPr/>
          <p:nvPr/>
        </p:nvSpPr>
        <p:spPr>
          <a:xfrm>
            <a:off x="475488" y="4642615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내부 연결키이며 화면에 표시하지 않는다.</a:t>
            </a:r>
            <a:endParaRPr lang="ko-KR" sz="800" dirty="0"/>
          </a:p>
        </p:txBody>
      </p:sp>
      <p:sp>
        <p:nvSpPr>
          <p:cNvPr id="149" name="Text 147"/>
          <p:cNvSpPr/>
          <p:nvPr/>
        </p:nvSpPr>
        <p:spPr>
          <a:xfrm>
            <a:off x="475488" y="4777753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주민등록번호(SocialNumber)는 실제 값이 아닌 검증용 값으로 운용한다.</a:t>
            </a:r>
            <a:endParaRPr lang="ko-KR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F-1.  주민등록번호 입력 · 파생값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7번째 자리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188366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481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세기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346704" y="1170432"/>
            <a:ext cx="10972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7852" y="121158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443984" y="1170432"/>
            <a:ext cx="73243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5132" y="121158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(입력 → 파생)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188366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481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3346704" y="1396312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7852" y="143746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443984" y="1396312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5132" y="143746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890704-9000012   →   1889-07-04  /  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3346704" y="162219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7852" y="166334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443984" y="162219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5132" y="166334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890704-0000011   →   1889-07-04  /  여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1, 5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346704" y="184807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7852" y="188922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4443984" y="184807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5132" y="188922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   →   1980-05-11  /  남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2, 6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188366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2481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3346704" y="207395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7852" y="211510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443984" y="207395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85132" y="211510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   →   1966-03-12  /  여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42062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177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3, 7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188366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2481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3346704" y="229983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87852" y="234098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443984" y="229983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85132" y="234098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070704-3000013   →   2007-07-04  /  남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42062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177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4, 8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188366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2481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3346704" y="2525714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7852" y="2566862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4443984" y="2525714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85132" y="2566862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070704-4000012   →   2007-07-04  /  여</a:t>
            </a:r>
            <a:endParaRPr lang="ko-KR" sz="850" dirty="0"/>
          </a:p>
        </p:txBody>
      </p:sp>
      <p:sp>
        <p:nvSpPr>
          <p:cNvPr id="60" name="Text 58"/>
          <p:cNvSpPr/>
          <p:nvPr/>
        </p:nvSpPr>
        <p:spPr>
          <a:xfrm>
            <a:off x="475488" y="2897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 :   입력 / 변경  →  '-' 제거, 숫자 13자리  →  생년월일 실제 날짜 검증  →  7번째 자리 세기 · 성별 해석  →  Birthday / Gender 자동산출  →  중복 · 변경조건 검증</a:t>
            </a:r>
            <a:endParaRPr lang="ko-KR" sz="850" dirty="0"/>
          </a:p>
        </p:txBody>
      </p:sp>
      <p:sp>
        <p:nvSpPr>
          <p:cNvPr id="61" name="Text 59"/>
          <p:cNvSpPr/>
          <p:nvPr/>
        </p:nvSpPr>
        <p:spPr>
          <a:xfrm>
            <a:off x="475488" y="304148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실제 행정번호 존재 여부와 체크디지트 검증은 하지 않는다.</a:t>
            </a:r>
            <a:endParaRPr lang="ko-KR" sz="850" dirty="0"/>
          </a:p>
        </p:txBody>
      </p:sp>
      <p:sp>
        <p:nvSpPr>
          <p:cNvPr id="62" name="Text 60"/>
          <p:cNvSpPr/>
          <p:nvPr/>
        </p:nvSpPr>
        <p:spPr>
          <a:xfrm>
            <a:off x="475488" y="3185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형식 · 날짜 · 파생 실패 시 Birthday / Gender를 Clear하고 저장을 비활성화한다.</a:t>
            </a:r>
            <a:endParaRPr lang="ko-KR" sz="850" dirty="0"/>
          </a:p>
        </p:txBody>
      </p:sp>
      <p:sp>
        <p:nvSpPr>
          <p:cNvPr id="63" name="Text 61"/>
          <p:cNvSpPr/>
          <p:nvPr/>
        </p:nvSpPr>
        <p:spPr>
          <a:xfrm>
            <a:off x="475488" y="3328651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화면에는 전체값을 표시하고 DB에는 - 를 제거한 숫자 13자리를 저장한다 (SocialNumber).</a:t>
            </a:r>
            <a:endParaRPr lang="ko-KR" sz="850" dirty="0"/>
          </a:p>
        </p:txBody>
      </p:sp>
      <p:sp>
        <p:nvSpPr>
          <p:cNvPr id="64" name="Text 62"/>
          <p:cNvSpPr/>
          <p:nvPr/>
        </p:nvSpPr>
        <p:spPr>
          <a:xfrm>
            <a:off x="420624" y="352709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F-2.  DevExpress 20.2 구현 기준</a:t>
            </a:r>
            <a:endParaRPr lang="ko-KR" sz="1000" dirty="0"/>
          </a:p>
        </p:txBody>
      </p:sp>
      <p:sp>
        <p:nvSpPr>
          <p:cNvPr id="65" name="Shape 63"/>
          <p:cNvSpPr/>
          <p:nvPr/>
        </p:nvSpPr>
        <p:spPr>
          <a:xfrm>
            <a:off x="420624" y="3746555"/>
            <a:ext cx="31089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3787703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529584" y="3746555"/>
            <a:ext cx="82387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570732" y="3787703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Control / 구현 방식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397243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401358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529584" y="397243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570732" y="401358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RibbonForm + RibbonControl 1개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419831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423946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/ Context Action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3529584" y="419831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570732" y="423946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RibbonPage, RibbonPageGroup, BarButtonItem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20624" y="442419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1772" y="446534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업무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3529584" y="442419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570732" y="446534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XtraTabControl + 업무별 XtraUserControl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420624" y="465007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61772" y="469122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배치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3529584" y="465007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570732" y="469122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LayoutControl, SplitContainerControl, Dock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420624" y="487595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1772" y="491710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3529584" y="487595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570732" y="491710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GridControl + GridView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20624" y="510183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61772" y="514298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입력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3529584" y="510183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570732" y="514298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TextEdit, MemoEdit, DateEdit, RadioGroup, CheckEdit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532771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536886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3529584" y="532771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570732" y="536886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XtraForm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20624" y="555359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61772" y="559474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3529584" y="555359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570732" y="559474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DXValidationProvider, DXErrorProvider, Blocking Message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420624" y="577947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61772" y="582062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상태표시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3529584" y="577947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570732" y="582062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RibbonStatusBar 또는 MainForm 하단 상태영역</a:t>
            </a:r>
            <a:endParaRPr lang="ko-KR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F-3.  구현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0624" y="1396312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772" y="143746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Pixel 중심 배치를 피하고 Layout / Dock / Splitter를 사용한다.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62219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66334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MainForm은 기본 크기를 권장 기준으로 열고 최대화를 지원한다. 화면이 그보다 작으면 작업 영역에 맞춘다.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0624" y="184807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" y="188922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검증 해상도는 1366×768, 권장 기준은 1920×1080이다. 창의 최소 크기는 최소 검증 해상도다.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207395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211510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배율 100%와 125%에서 Label · Grid Header · Modal 하단버튼 잘림을 확인한다.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0624" y="229983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" y="234098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Ribbon과 별도 Main Menu Bar를 중복 구성하지 않는다.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2525714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2566862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DevExpress 20.2에서 제공되지 않는 최신 API에 의존하지 않는다.</a:t>
            </a:r>
            <a:endParaRPr lang="ko-KR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검진 예약·접수 화면설계서</dc:title>
  <dc:subject>PptxGenJS Presentation</dc:subject>
  <dc:creator>검진 예약·접수 관리 프로그램</dc:creator>
  <cp:lastModifiedBy>검진 예약·접수 관리 프로그램</cp:lastModifiedBy>
  <cp:revision>1</cp:revision>
  <dcterms:created xsi:type="dcterms:W3CDTF">2026-09-09T12:58:23Z</dcterms:created>
  <dcterms:modified xsi:type="dcterms:W3CDTF">2026-09-09T12:58:23Z</dcterms:modified>
</cp:coreProperties>
</file>