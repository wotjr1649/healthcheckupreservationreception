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64592"/>
            <a:ext cx="1133856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목록</a:t>
            </a:r>
            <a:endParaRPr lang="ko-KR" sz="3000" dirty="0"/>
          </a:p>
        </p:txBody>
      </p:sp>
      <p:sp>
        <p:nvSpPr>
          <p:cNvPr id="3" name="Shape 1"/>
          <p:cNvSpPr/>
          <p:nvPr/>
        </p:nvSpPr>
        <p:spPr>
          <a:xfrm>
            <a:off x="420624" y="932688"/>
            <a:ext cx="1234440" cy="2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61772" y="973836"/>
            <a:ext cx="11521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ID</a:t>
            </a:r>
            <a:endParaRPr lang="ko-KR" sz="850" dirty="0"/>
          </a:p>
        </p:txBody>
      </p:sp>
      <p:sp>
        <p:nvSpPr>
          <p:cNvPr id="5" name="Shape 3"/>
          <p:cNvSpPr/>
          <p:nvPr/>
        </p:nvSpPr>
        <p:spPr>
          <a:xfrm>
            <a:off x="1655064" y="932688"/>
            <a:ext cx="2377440" cy="2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96212" y="973836"/>
            <a:ext cx="22951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화면명</a:t>
            </a:r>
            <a:endParaRPr lang="ko-KR" sz="850" dirty="0"/>
          </a:p>
        </p:txBody>
      </p:sp>
      <p:sp>
        <p:nvSpPr>
          <p:cNvPr id="7" name="Shape 5"/>
          <p:cNvSpPr/>
          <p:nvPr/>
        </p:nvSpPr>
        <p:spPr>
          <a:xfrm>
            <a:off x="4032504" y="932688"/>
            <a:ext cx="960120" cy="2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73652" y="973836"/>
            <a:ext cx="87782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</a:t>
            </a:r>
            <a:endParaRPr lang="ko-KR" sz="850" dirty="0"/>
          </a:p>
        </p:txBody>
      </p:sp>
      <p:sp>
        <p:nvSpPr>
          <p:cNvPr id="9" name="Shape 7"/>
          <p:cNvSpPr/>
          <p:nvPr/>
        </p:nvSpPr>
        <p:spPr>
          <a:xfrm>
            <a:off x="4992624" y="932688"/>
            <a:ext cx="1645920" cy="2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33772" y="973836"/>
            <a:ext cx="156362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Process</a:t>
            </a:r>
            <a:endParaRPr lang="ko-KR" sz="850" dirty="0"/>
          </a:p>
        </p:txBody>
      </p:sp>
      <p:sp>
        <p:nvSpPr>
          <p:cNvPr id="11" name="Shape 9"/>
          <p:cNvSpPr/>
          <p:nvPr/>
        </p:nvSpPr>
        <p:spPr>
          <a:xfrm>
            <a:off x="6638544" y="932688"/>
            <a:ext cx="5129784" cy="2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9692" y="973836"/>
            <a:ext cx="504748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Function</a:t>
            </a:r>
            <a:endParaRPr lang="ko-KR" sz="850" dirty="0"/>
          </a:p>
        </p:txBody>
      </p:sp>
      <p:sp>
        <p:nvSpPr>
          <p:cNvPr id="13" name="Shape 11"/>
          <p:cNvSpPr/>
          <p:nvPr/>
        </p:nvSpPr>
        <p:spPr>
          <a:xfrm>
            <a:off x="420624" y="1158568"/>
            <a:ext cx="123444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" y="1199716"/>
            <a:ext cx="11521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WF-00</a:t>
            </a:r>
            <a:endParaRPr lang="ko-KR" sz="850" dirty="0"/>
          </a:p>
        </p:txBody>
      </p:sp>
      <p:sp>
        <p:nvSpPr>
          <p:cNvPr id="15" name="Shape 13"/>
          <p:cNvSpPr/>
          <p:nvPr/>
        </p:nvSpPr>
        <p:spPr>
          <a:xfrm>
            <a:off x="1655064" y="1158568"/>
            <a:ext cx="237744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96212" y="1199716"/>
            <a:ext cx="22951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MainForm Shell</a:t>
            </a:r>
            <a:endParaRPr lang="ko-KR" sz="850" dirty="0"/>
          </a:p>
        </p:txBody>
      </p:sp>
      <p:sp>
        <p:nvSpPr>
          <p:cNvPr id="17" name="Shape 15"/>
          <p:cNvSpPr/>
          <p:nvPr/>
        </p:nvSpPr>
        <p:spPr>
          <a:xfrm>
            <a:off x="4032504" y="1158568"/>
            <a:ext cx="96012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73652" y="1199716"/>
            <a:ext cx="87782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MainForm</a:t>
            </a:r>
            <a:endParaRPr lang="ko-KR" sz="850" dirty="0"/>
          </a:p>
        </p:txBody>
      </p:sp>
      <p:sp>
        <p:nvSpPr>
          <p:cNvPr id="19" name="Shape 17"/>
          <p:cNvSpPr/>
          <p:nvPr/>
        </p:nvSpPr>
        <p:spPr>
          <a:xfrm>
            <a:off x="4992624" y="1158568"/>
            <a:ext cx="164592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33772" y="1199716"/>
            <a:ext cx="156362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P00</a:t>
            </a:r>
            <a:endParaRPr lang="ko-KR" sz="850" dirty="0"/>
          </a:p>
        </p:txBody>
      </p:sp>
      <p:sp>
        <p:nvSpPr>
          <p:cNvPr id="21" name="Shape 19"/>
          <p:cNvSpPr/>
          <p:nvPr/>
        </p:nvSpPr>
        <p:spPr>
          <a:xfrm>
            <a:off x="6638544" y="1158568"/>
            <a:ext cx="512978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9692" y="1199716"/>
            <a:ext cx="504748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</a:t>
            </a:r>
            <a:endParaRPr lang="ko-KR" sz="850" dirty="0"/>
          </a:p>
        </p:txBody>
      </p:sp>
      <p:sp>
        <p:nvSpPr>
          <p:cNvPr id="23" name="Shape 21"/>
          <p:cNvSpPr/>
          <p:nvPr/>
        </p:nvSpPr>
        <p:spPr>
          <a:xfrm>
            <a:off x="420624" y="1384449"/>
            <a:ext cx="123444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" y="1425597"/>
            <a:ext cx="11521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WF-PAT-01</a:t>
            </a:r>
            <a:endParaRPr lang="ko-KR" sz="850" dirty="0"/>
          </a:p>
        </p:txBody>
      </p:sp>
      <p:sp>
        <p:nvSpPr>
          <p:cNvPr id="25" name="Shape 23"/>
          <p:cNvSpPr/>
          <p:nvPr/>
        </p:nvSpPr>
        <p:spPr>
          <a:xfrm>
            <a:off x="1655064" y="1384449"/>
            <a:ext cx="237744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96212" y="1425597"/>
            <a:ext cx="22951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 관리</a:t>
            </a:r>
            <a:endParaRPr lang="ko-KR" sz="850" dirty="0"/>
          </a:p>
        </p:txBody>
      </p:sp>
      <p:sp>
        <p:nvSpPr>
          <p:cNvPr id="27" name="Shape 25"/>
          <p:cNvSpPr/>
          <p:nvPr/>
        </p:nvSpPr>
        <p:spPr>
          <a:xfrm>
            <a:off x="4032504" y="1384449"/>
            <a:ext cx="96012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73652" y="1425597"/>
            <a:ext cx="87782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Tab</a:t>
            </a:r>
            <a:endParaRPr lang="ko-KR" sz="850" dirty="0"/>
          </a:p>
        </p:txBody>
      </p:sp>
      <p:sp>
        <p:nvSpPr>
          <p:cNvPr id="29" name="Shape 27"/>
          <p:cNvSpPr/>
          <p:nvPr/>
        </p:nvSpPr>
        <p:spPr>
          <a:xfrm>
            <a:off x="4992624" y="1384449"/>
            <a:ext cx="164592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33772" y="1425597"/>
            <a:ext cx="156362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P01-01~05</a:t>
            </a:r>
            <a:endParaRPr lang="ko-KR" sz="850" dirty="0"/>
          </a:p>
        </p:txBody>
      </p:sp>
      <p:sp>
        <p:nvSpPr>
          <p:cNvPr id="31" name="Shape 29"/>
          <p:cNvSpPr/>
          <p:nvPr/>
        </p:nvSpPr>
        <p:spPr>
          <a:xfrm>
            <a:off x="6638544" y="1384449"/>
            <a:ext cx="512978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9692" y="1425597"/>
            <a:ext cx="504748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F-PAT-001~003, F-COM-002, F-COM-007</a:t>
            </a:r>
            <a:endParaRPr lang="ko-KR" sz="850" dirty="0"/>
          </a:p>
        </p:txBody>
      </p:sp>
      <p:sp>
        <p:nvSpPr>
          <p:cNvPr id="33" name="Shape 31"/>
          <p:cNvSpPr/>
          <p:nvPr/>
        </p:nvSpPr>
        <p:spPr>
          <a:xfrm>
            <a:off x="420624" y="1610329"/>
            <a:ext cx="123444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" y="1651477"/>
            <a:ext cx="11521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DLG-PAT-01</a:t>
            </a:r>
            <a:endParaRPr lang="ko-KR" sz="850" dirty="0"/>
          </a:p>
        </p:txBody>
      </p:sp>
      <p:sp>
        <p:nvSpPr>
          <p:cNvPr id="35" name="Shape 33"/>
          <p:cNvSpPr/>
          <p:nvPr/>
        </p:nvSpPr>
        <p:spPr>
          <a:xfrm>
            <a:off x="1655064" y="1610329"/>
            <a:ext cx="237744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96212" y="1651477"/>
            <a:ext cx="22951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 등록/수정</a:t>
            </a:r>
            <a:endParaRPr lang="ko-KR" sz="850" dirty="0"/>
          </a:p>
        </p:txBody>
      </p:sp>
      <p:sp>
        <p:nvSpPr>
          <p:cNvPr id="37" name="Shape 35"/>
          <p:cNvSpPr/>
          <p:nvPr/>
        </p:nvSpPr>
        <p:spPr>
          <a:xfrm>
            <a:off x="4032504" y="1610329"/>
            <a:ext cx="96012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73652" y="1651477"/>
            <a:ext cx="87782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Modal</a:t>
            </a:r>
            <a:endParaRPr lang="ko-KR" sz="850" dirty="0"/>
          </a:p>
        </p:txBody>
      </p:sp>
      <p:sp>
        <p:nvSpPr>
          <p:cNvPr id="39" name="Shape 37"/>
          <p:cNvSpPr/>
          <p:nvPr/>
        </p:nvSpPr>
        <p:spPr>
          <a:xfrm>
            <a:off x="4992624" y="1610329"/>
            <a:ext cx="164592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33772" y="1651477"/>
            <a:ext cx="156362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P01-02~05</a:t>
            </a:r>
            <a:endParaRPr lang="ko-KR" sz="850" dirty="0"/>
          </a:p>
        </p:txBody>
      </p:sp>
      <p:sp>
        <p:nvSpPr>
          <p:cNvPr id="41" name="Shape 39"/>
          <p:cNvSpPr/>
          <p:nvPr/>
        </p:nvSpPr>
        <p:spPr>
          <a:xfrm>
            <a:off x="6638544" y="1610329"/>
            <a:ext cx="512978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79692" y="1651477"/>
            <a:ext cx="504748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F-PAT-002~003, F-COM-002, F-COM-007</a:t>
            </a:r>
            <a:endParaRPr lang="ko-KR" sz="850" dirty="0"/>
          </a:p>
        </p:txBody>
      </p:sp>
      <p:sp>
        <p:nvSpPr>
          <p:cNvPr id="43" name="Shape 41"/>
          <p:cNvSpPr/>
          <p:nvPr/>
        </p:nvSpPr>
        <p:spPr>
          <a:xfrm>
            <a:off x="420624" y="1836209"/>
            <a:ext cx="123444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1772" y="1877357"/>
            <a:ext cx="11521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DLG-PAT-02</a:t>
            </a:r>
            <a:endParaRPr lang="ko-KR" sz="850" dirty="0"/>
          </a:p>
        </p:txBody>
      </p:sp>
      <p:sp>
        <p:nvSpPr>
          <p:cNvPr id="45" name="Shape 43"/>
          <p:cNvSpPr/>
          <p:nvPr/>
        </p:nvSpPr>
        <p:spPr>
          <a:xfrm>
            <a:off x="1655064" y="1836209"/>
            <a:ext cx="237744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696212" y="1877357"/>
            <a:ext cx="22951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 선택</a:t>
            </a:r>
            <a:endParaRPr lang="ko-KR" sz="850" dirty="0"/>
          </a:p>
        </p:txBody>
      </p:sp>
      <p:sp>
        <p:nvSpPr>
          <p:cNvPr id="47" name="Shape 45"/>
          <p:cNvSpPr/>
          <p:nvPr/>
        </p:nvSpPr>
        <p:spPr>
          <a:xfrm>
            <a:off x="4032504" y="1836209"/>
            <a:ext cx="96012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73652" y="1877357"/>
            <a:ext cx="87782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Modal</a:t>
            </a:r>
            <a:endParaRPr lang="ko-KR" sz="850" dirty="0"/>
          </a:p>
        </p:txBody>
      </p:sp>
      <p:sp>
        <p:nvSpPr>
          <p:cNvPr id="49" name="Shape 47"/>
          <p:cNvSpPr/>
          <p:nvPr/>
        </p:nvSpPr>
        <p:spPr>
          <a:xfrm>
            <a:off x="4992624" y="1836209"/>
            <a:ext cx="164592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33772" y="1877357"/>
            <a:ext cx="156362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P01-01~03</a:t>
            </a:r>
            <a:endParaRPr lang="ko-KR" sz="850" dirty="0"/>
          </a:p>
        </p:txBody>
      </p:sp>
      <p:sp>
        <p:nvSpPr>
          <p:cNvPr id="51" name="Shape 49"/>
          <p:cNvSpPr/>
          <p:nvPr/>
        </p:nvSpPr>
        <p:spPr>
          <a:xfrm>
            <a:off x="6638544" y="1836209"/>
            <a:ext cx="512978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79692" y="1877357"/>
            <a:ext cx="504748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F-PAT-001~002, F-COM-002, F-COM-007</a:t>
            </a:r>
            <a:endParaRPr lang="ko-KR" sz="850" dirty="0"/>
          </a:p>
        </p:txBody>
      </p:sp>
      <p:sp>
        <p:nvSpPr>
          <p:cNvPr id="53" name="Shape 51"/>
          <p:cNvSpPr/>
          <p:nvPr/>
        </p:nvSpPr>
        <p:spPr>
          <a:xfrm>
            <a:off x="420624" y="2062089"/>
            <a:ext cx="123444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1772" y="2103237"/>
            <a:ext cx="11521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DLG-PAT-03</a:t>
            </a:r>
            <a:endParaRPr lang="ko-KR" sz="850" dirty="0"/>
          </a:p>
        </p:txBody>
      </p:sp>
      <p:sp>
        <p:nvSpPr>
          <p:cNvPr id="55" name="Shape 53"/>
          <p:cNvSpPr/>
          <p:nvPr/>
        </p:nvSpPr>
        <p:spPr>
          <a:xfrm>
            <a:off x="1655064" y="2062089"/>
            <a:ext cx="237744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696212" y="2103237"/>
            <a:ext cx="22951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후보 확인</a:t>
            </a:r>
            <a:endParaRPr lang="ko-KR" sz="850" dirty="0"/>
          </a:p>
        </p:txBody>
      </p:sp>
      <p:sp>
        <p:nvSpPr>
          <p:cNvPr id="57" name="Shape 55"/>
          <p:cNvSpPr/>
          <p:nvPr/>
        </p:nvSpPr>
        <p:spPr>
          <a:xfrm>
            <a:off x="4032504" y="2062089"/>
            <a:ext cx="96012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073652" y="2103237"/>
            <a:ext cx="87782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Modal</a:t>
            </a:r>
            <a:endParaRPr lang="ko-KR" sz="850" dirty="0"/>
          </a:p>
        </p:txBody>
      </p:sp>
      <p:sp>
        <p:nvSpPr>
          <p:cNvPr id="59" name="Shape 57"/>
          <p:cNvSpPr/>
          <p:nvPr/>
        </p:nvSpPr>
        <p:spPr>
          <a:xfrm>
            <a:off x="4992624" y="2062089"/>
            <a:ext cx="164592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33772" y="2103237"/>
            <a:ext cx="156362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P01-03</a:t>
            </a:r>
            <a:endParaRPr lang="ko-KR" sz="850" dirty="0"/>
          </a:p>
        </p:txBody>
      </p:sp>
      <p:sp>
        <p:nvSpPr>
          <p:cNvPr id="61" name="Shape 59"/>
          <p:cNvSpPr/>
          <p:nvPr/>
        </p:nvSpPr>
        <p:spPr>
          <a:xfrm>
            <a:off x="6638544" y="2062089"/>
            <a:ext cx="512978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679692" y="2103237"/>
            <a:ext cx="504748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F-COM-002</a:t>
            </a:r>
            <a:endParaRPr lang="ko-KR" sz="850" dirty="0"/>
          </a:p>
        </p:txBody>
      </p:sp>
      <p:sp>
        <p:nvSpPr>
          <p:cNvPr id="63" name="Shape 61"/>
          <p:cNvSpPr/>
          <p:nvPr/>
        </p:nvSpPr>
        <p:spPr>
          <a:xfrm>
            <a:off x="420624" y="2287970"/>
            <a:ext cx="123444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1772" y="2329118"/>
            <a:ext cx="11521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WF-RSV-01</a:t>
            </a:r>
            <a:endParaRPr lang="ko-KR" sz="850" dirty="0"/>
          </a:p>
        </p:txBody>
      </p:sp>
      <p:sp>
        <p:nvSpPr>
          <p:cNvPr id="65" name="Shape 63"/>
          <p:cNvSpPr/>
          <p:nvPr/>
        </p:nvSpPr>
        <p:spPr>
          <a:xfrm>
            <a:off x="1655064" y="2287970"/>
            <a:ext cx="237744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696212" y="2329118"/>
            <a:ext cx="22951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예약</a:t>
            </a:r>
            <a:endParaRPr lang="ko-KR" sz="850" dirty="0"/>
          </a:p>
        </p:txBody>
      </p:sp>
      <p:sp>
        <p:nvSpPr>
          <p:cNvPr id="67" name="Shape 65"/>
          <p:cNvSpPr/>
          <p:nvPr/>
        </p:nvSpPr>
        <p:spPr>
          <a:xfrm>
            <a:off x="4032504" y="2287970"/>
            <a:ext cx="96012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073652" y="2329118"/>
            <a:ext cx="87782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Tab</a:t>
            </a:r>
            <a:endParaRPr lang="ko-KR" sz="850" dirty="0"/>
          </a:p>
        </p:txBody>
      </p:sp>
      <p:sp>
        <p:nvSpPr>
          <p:cNvPr id="69" name="Shape 67"/>
          <p:cNvSpPr/>
          <p:nvPr/>
        </p:nvSpPr>
        <p:spPr>
          <a:xfrm>
            <a:off x="4992624" y="2287970"/>
            <a:ext cx="164592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033772" y="2329118"/>
            <a:ext cx="156362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P02-01~04</a:t>
            </a:r>
            <a:endParaRPr lang="ko-KR" sz="850" dirty="0"/>
          </a:p>
        </p:txBody>
      </p:sp>
      <p:sp>
        <p:nvSpPr>
          <p:cNvPr id="71" name="Shape 69"/>
          <p:cNvSpPr/>
          <p:nvPr/>
        </p:nvSpPr>
        <p:spPr>
          <a:xfrm>
            <a:off x="6638544" y="2287970"/>
            <a:ext cx="512978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679692" y="2329118"/>
            <a:ext cx="504748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F-RSV-001, F-COM-003~005, F-COM-007</a:t>
            </a:r>
            <a:endParaRPr lang="ko-KR" sz="850" dirty="0"/>
          </a:p>
        </p:txBody>
      </p:sp>
      <p:sp>
        <p:nvSpPr>
          <p:cNvPr id="73" name="Shape 71"/>
          <p:cNvSpPr/>
          <p:nvPr/>
        </p:nvSpPr>
        <p:spPr>
          <a:xfrm>
            <a:off x="420624" y="2513850"/>
            <a:ext cx="123444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61772" y="2554998"/>
            <a:ext cx="11521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WF-WRK-01</a:t>
            </a:r>
            <a:endParaRPr lang="ko-KR" sz="850" dirty="0"/>
          </a:p>
        </p:txBody>
      </p:sp>
      <p:sp>
        <p:nvSpPr>
          <p:cNvPr id="75" name="Shape 73"/>
          <p:cNvSpPr/>
          <p:nvPr/>
        </p:nvSpPr>
        <p:spPr>
          <a:xfrm>
            <a:off x="1655064" y="2513850"/>
            <a:ext cx="237744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696212" y="2554998"/>
            <a:ext cx="22951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예약/접수 공통 Workbench</a:t>
            </a:r>
            <a:endParaRPr lang="ko-KR" sz="850" dirty="0"/>
          </a:p>
        </p:txBody>
      </p:sp>
      <p:sp>
        <p:nvSpPr>
          <p:cNvPr id="77" name="Shape 75"/>
          <p:cNvSpPr/>
          <p:nvPr/>
        </p:nvSpPr>
        <p:spPr>
          <a:xfrm>
            <a:off x="4032504" y="2513850"/>
            <a:ext cx="96012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073652" y="2554998"/>
            <a:ext cx="87782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Tab</a:t>
            </a:r>
            <a:endParaRPr lang="ko-KR" sz="850" dirty="0"/>
          </a:p>
        </p:txBody>
      </p:sp>
      <p:sp>
        <p:nvSpPr>
          <p:cNvPr id="79" name="Shape 77"/>
          <p:cNvSpPr/>
          <p:nvPr/>
        </p:nvSpPr>
        <p:spPr>
          <a:xfrm>
            <a:off x="4992624" y="2513850"/>
            <a:ext cx="164592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033772" y="2554998"/>
            <a:ext cx="156362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P02-05, P03-04</a:t>
            </a:r>
            <a:endParaRPr lang="ko-KR" sz="850" dirty="0"/>
          </a:p>
        </p:txBody>
      </p:sp>
      <p:sp>
        <p:nvSpPr>
          <p:cNvPr id="81" name="Shape 79"/>
          <p:cNvSpPr/>
          <p:nvPr/>
        </p:nvSpPr>
        <p:spPr>
          <a:xfrm>
            <a:off x="6638544" y="2513850"/>
            <a:ext cx="512978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679692" y="2554998"/>
            <a:ext cx="504748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F-COM-001, F-COM-007</a:t>
            </a:r>
            <a:endParaRPr lang="ko-KR" sz="850" dirty="0"/>
          </a:p>
        </p:txBody>
      </p:sp>
      <p:sp>
        <p:nvSpPr>
          <p:cNvPr id="83" name="Shape 81"/>
          <p:cNvSpPr/>
          <p:nvPr/>
        </p:nvSpPr>
        <p:spPr>
          <a:xfrm>
            <a:off x="420624" y="2739730"/>
            <a:ext cx="123444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61772" y="2780878"/>
            <a:ext cx="11521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DLG-RSV-01</a:t>
            </a:r>
            <a:endParaRPr lang="ko-KR" sz="850" dirty="0"/>
          </a:p>
        </p:txBody>
      </p:sp>
      <p:sp>
        <p:nvSpPr>
          <p:cNvPr id="85" name="Shape 83"/>
          <p:cNvSpPr/>
          <p:nvPr/>
        </p:nvSpPr>
        <p:spPr>
          <a:xfrm>
            <a:off x="1655064" y="2739730"/>
            <a:ext cx="237744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696212" y="2780878"/>
            <a:ext cx="22951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변경</a:t>
            </a:r>
            <a:endParaRPr lang="ko-KR" sz="850" dirty="0"/>
          </a:p>
        </p:txBody>
      </p:sp>
      <p:sp>
        <p:nvSpPr>
          <p:cNvPr id="87" name="Shape 85"/>
          <p:cNvSpPr/>
          <p:nvPr/>
        </p:nvSpPr>
        <p:spPr>
          <a:xfrm>
            <a:off x="4032504" y="2739730"/>
            <a:ext cx="96012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073652" y="2780878"/>
            <a:ext cx="87782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Modal</a:t>
            </a:r>
            <a:endParaRPr lang="ko-KR" sz="850" dirty="0"/>
          </a:p>
        </p:txBody>
      </p:sp>
      <p:sp>
        <p:nvSpPr>
          <p:cNvPr id="89" name="Shape 87"/>
          <p:cNvSpPr/>
          <p:nvPr/>
        </p:nvSpPr>
        <p:spPr>
          <a:xfrm>
            <a:off x="4992624" y="2739730"/>
            <a:ext cx="164592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033772" y="2780878"/>
            <a:ext cx="156362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P02-06</a:t>
            </a:r>
            <a:endParaRPr lang="ko-KR" sz="850" dirty="0"/>
          </a:p>
        </p:txBody>
      </p:sp>
      <p:sp>
        <p:nvSpPr>
          <p:cNvPr id="91" name="Shape 89"/>
          <p:cNvSpPr/>
          <p:nvPr/>
        </p:nvSpPr>
        <p:spPr>
          <a:xfrm>
            <a:off x="6638544" y="2739730"/>
            <a:ext cx="512978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679692" y="2780878"/>
            <a:ext cx="504748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F-RSV-002, F-COM-003~005, F-COM-007</a:t>
            </a:r>
            <a:endParaRPr lang="ko-KR" sz="850" dirty="0"/>
          </a:p>
        </p:txBody>
      </p:sp>
      <p:sp>
        <p:nvSpPr>
          <p:cNvPr id="93" name="Shape 91"/>
          <p:cNvSpPr/>
          <p:nvPr/>
        </p:nvSpPr>
        <p:spPr>
          <a:xfrm>
            <a:off x="420624" y="2965611"/>
            <a:ext cx="123444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61772" y="3006759"/>
            <a:ext cx="11521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CNF-RSV-01</a:t>
            </a:r>
            <a:endParaRPr lang="ko-KR" sz="850" dirty="0"/>
          </a:p>
        </p:txBody>
      </p:sp>
      <p:sp>
        <p:nvSpPr>
          <p:cNvPr id="95" name="Shape 93"/>
          <p:cNvSpPr/>
          <p:nvPr/>
        </p:nvSpPr>
        <p:spPr>
          <a:xfrm>
            <a:off x="1655064" y="2965611"/>
            <a:ext cx="237744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696212" y="3006759"/>
            <a:ext cx="22951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취소 확인</a:t>
            </a:r>
            <a:endParaRPr lang="ko-KR" sz="850" dirty="0"/>
          </a:p>
        </p:txBody>
      </p:sp>
      <p:sp>
        <p:nvSpPr>
          <p:cNvPr id="97" name="Shape 95"/>
          <p:cNvSpPr/>
          <p:nvPr/>
        </p:nvSpPr>
        <p:spPr>
          <a:xfrm>
            <a:off x="4032504" y="2965611"/>
            <a:ext cx="96012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073652" y="3006759"/>
            <a:ext cx="87782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Confirm</a:t>
            </a:r>
            <a:endParaRPr lang="ko-KR" sz="850" dirty="0"/>
          </a:p>
        </p:txBody>
      </p:sp>
      <p:sp>
        <p:nvSpPr>
          <p:cNvPr id="99" name="Shape 97"/>
          <p:cNvSpPr/>
          <p:nvPr/>
        </p:nvSpPr>
        <p:spPr>
          <a:xfrm>
            <a:off x="4992624" y="2965611"/>
            <a:ext cx="164592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033772" y="3006759"/>
            <a:ext cx="156362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P02-07</a:t>
            </a:r>
            <a:endParaRPr lang="ko-KR" sz="850" dirty="0"/>
          </a:p>
        </p:txBody>
      </p:sp>
      <p:sp>
        <p:nvSpPr>
          <p:cNvPr id="101" name="Shape 99"/>
          <p:cNvSpPr/>
          <p:nvPr/>
        </p:nvSpPr>
        <p:spPr>
          <a:xfrm>
            <a:off x="6638544" y="2965611"/>
            <a:ext cx="512978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679692" y="3006759"/>
            <a:ext cx="504748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F-RSV-003, F-COM-007</a:t>
            </a:r>
            <a:endParaRPr lang="ko-KR" sz="850" dirty="0"/>
          </a:p>
        </p:txBody>
      </p:sp>
      <p:sp>
        <p:nvSpPr>
          <p:cNvPr id="103" name="Shape 101"/>
          <p:cNvSpPr/>
          <p:nvPr/>
        </p:nvSpPr>
        <p:spPr>
          <a:xfrm>
            <a:off x="420624" y="3191491"/>
            <a:ext cx="123444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61772" y="3232639"/>
            <a:ext cx="11521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DLG-RCP-01</a:t>
            </a:r>
            <a:endParaRPr lang="ko-KR" sz="850" dirty="0"/>
          </a:p>
        </p:txBody>
      </p:sp>
      <p:sp>
        <p:nvSpPr>
          <p:cNvPr id="105" name="Shape 103"/>
          <p:cNvSpPr/>
          <p:nvPr/>
        </p:nvSpPr>
        <p:spPr>
          <a:xfrm>
            <a:off x="1655064" y="3191491"/>
            <a:ext cx="237744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696212" y="3232639"/>
            <a:ext cx="22951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처리</a:t>
            </a:r>
            <a:endParaRPr lang="ko-KR" sz="850" dirty="0"/>
          </a:p>
        </p:txBody>
      </p:sp>
      <p:sp>
        <p:nvSpPr>
          <p:cNvPr id="107" name="Shape 105"/>
          <p:cNvSpPr/>
          <p:nvPr/>
        </p:nvSpPr>
        <p:spPr>
          <a:xfrm>
            <a:off x="4032504" y="3191491"/>
            <a:ext cx="96012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073652" y="3232639"/>
            <a:ext cx="87782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Modal</a:t>
            </a:r>
            <a:endParaRPr lang="ko-KR" sz="850" dirty="0"/>
          </a:p>
        </p:txBody>
      </p:sp>
      <p:sp>
        <p:nvSpPr>
          <p:cNvPr id="109" name="Shape 107"/>
          <p:cNvSpPr/>
          <p:nvPr/>
        </p:nvSpPr>
        <p:spPr>
          <a:xfrm>
            <a:off x="4992624" y="3191491"/>
            <a:ext cx="164592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033772" y="3232639"/>
            <a:ext cx="156362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P03-01~03</a:t>
            </a:r>
            <a:endParaRPr lang="ko-KR" sz="850" dirty="0"/>
          </a:p>
        </p:txBody>
      </p:sp>
      <p:sp>
        <p:nvSpPr>
          <p:cNvPr id="111" name="Shape 109"/>
          <p:cNvSpPr/>
          <p:nvPr/>
        </p:nvSpPr>
        <p:spPr>
          <a:xfrm>
            <a:off x="6638544" y="3191491"/>
            <a:ext cx="512978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679692" y="3232639"/>
            <a:ext cx="504748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F-RCP-001, F-COM-006~007</a:t>
            </a:r>
            <a:endParaRPr lang="ko-KR" sz="850" dirty="0"/>
          </a:p>
        </p:txBody>
      </p:sp>
      <p:sp>
        <p:nvSpPr>
          <p:cNvPr id="113" name="Shape 111"/>
          <p:cNvSpPr/>
          <p:nvPr/>
        </p:nvSpPr>
        <p:spPr>
          <a:xfrm>
            <a:off x="420624" y="3417371"/>
            <a:ext cx="123444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461772" y="3458519"/>
            <a:ext cx="11521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DLG-RCP-02</a:t>
            </a:r>
            <a:endParaRPr lang="ko-KR" sz="850" dirty="0"/>
          </a:p>
        </p:txBody>
      </p:sp>
      <p:sp>
        <p:nvSpPr>
          <p:cNvPr id="115" name="Shape 113"/>
          <p:cNvSpPr/>
          <p:nvPr/>
        </p:nvSpPr>
        <p:spPr>
          <a:xfrm>
            <a:off x="1655064" y="3417371"/>
            <a:ext cx="237744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696212" y="3458519"/>
            <a:ext cx="22951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추가검사 변경</a:t>
            </a:r>
            <a:endParaRPr lang="ko-KR" sz="850" dirty="0"/>
          </a:p>
        </p:txBody>
      </p:sp>
      <p:sp>
        <p:nvSpPr>
          <p:cNvPr id="117" name="Shape 115"/>
          <p:cNvSpPr/>
          <p:nvPr/>
        </p:nvSpPr>
        <p:spPr>
          <a:xfrm>
            <a:off x="4032504" y="3417371"/>
            <a:ext cx="96012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4073652" y="3458519"/>
            <a:ext cx="87782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Modal</a:t>
            </a:r>
            <a:endParaRPr lang="ko-KR" sz="850" dirty="0"/>
          </a:p>
        </p:txBody>
      </p:sp>
      <p:sp>
        <p:nvSpPr>
          <p:cNvPr id="119" name="Shape 117"/>
          <p:cNvSpPr/>
          <p:nvPr/>
        </p:nvSpPr>
        <p:spPr>
          <a:xfrm>
            <a:off x="4992624" y="3417371"/>
            <a:ext cx="164592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5033772" y="3458519"/>
            <a:ext cx="156362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P03-05</a:t>
            </a:r>
            <a:endParaRPr lang="ko-KR" sz="850" dirty="0"/>
          </a:p>
        </p:txBody>
      </p:sp>
      <p:sp>
        <p:nvSpPr>
          <p:cNvPr id="121" name="Shape 119"/>
          <p:cNvSpPr/>
          <p:nvPr/>
        </p:nvSpPr>
        <p:spPr>
          <a:xfrm>
            <a:off x="6638544" y="3417371"/>
            <a:ext cx="512978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6679692" y="3458519"/>
            <a:ext cx="504748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F-RCP-002, F-COM-004, F-COM-007</a:t>
            </a:r>
            <a:endParaRPr lang="ko-KR" sz="850" dirty="0"/>
          </a:p>
        </p:txBody>
      </p:sp>
      <p:sp>
        <p:nvSpPr>
          <p:cNvPr id="123" name="Shape 121"/>
          <p:cNvSpPr/>
          <p:nvPr/>
        </p:nvSpPr>
        <p:spPr>
          <a:xfrm>
            <a:off x="420624" y="3643252"/>
            <a:ext cx="123444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461772" y="3684400"/>
            <a:ext cx="11521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CNF-RCP-01</a:t>
            </a:r>
            <a:endParaRPr lang="ko-KR" sz="850" dirty="0"/>
          </a:p>
        </p:txBody>
      </p:sp>
      <p:sp>
        <p:nvSpPr>
          <p:cNvPr id="125" name="Shape 123"/>
          <p:cNvSpPr/>
          <p:nvPr/>
        </p:nvSpPr>
        <p:spPr>
          <a:xfrm>
            <a:off x="1655064" y="3643252"/>
            <a:ext cx="237744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696212" y="3684400"/>
            <a:ext cx="22951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취소 확인</a:t>
            </a:r>
            <a:endParaRPr lang="ko-KR" sz="850" dirty="0"/>
          </a:p>
        </p:txBody>
      </p:sp>
      <p:sp>
        <p:nvSpPr>
          <p:cNvPr id="127" name="Shape 125"/>
          <p:cNvSpPr/>
          <p:nvPr/>
        </p:nvSpPr>
        <p:spPr>
          <a:xfrm>
            <a:off x="4032504" y="3643252"/>
            <a:ext cx="96012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4073652" y="3684400"/>
            <a:ext cx="87782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Confirm</a:t>
            </a:r>
            <a:endParaRPr lang="ko-KR" sz="850" dirty="0"/>
          </a:p>
        </p:txBody>
      </p:sp>
      <p:sp>
        <p:nvSpPr>
          <p:cNvPr id="129" name="Shape 127"/>
          <p:cNvSpPr/>
          <p:nvPr/>
        </p:nvSpPr>
        <p:spPr>
          <a:xfrm>
            <a:off x="4992624" y="3643252"/>
            <a:ext cx="164592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5033772" y="3684400"/>
            <a:ext cx="156362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P03-06</a:t>
            </a:r>
            <a:endParaRPr lang="ko-KR" sz="850" dirty="0"/>
          </a:p>
        </p:txBody>
      </p:sp>
      <p:sp>
        <p:nvSpPr>
          <p:cNvPr id="131" name="Shape 129"/>
          <p:cNvSpPr/>
          <p:nvPr/>
        </p:nvSpPr>
        <p:spPr>
          <a:xfrm>
            <a:off x="6638544" y="3643252"/>
            <a:ext cx="512978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6679692" y="3684400"/>
            <a:ext cx="504748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F-RCP-003, F-COM-007</a:t>
            </a:r>
            <a:endParaRPr lang="ko-KR" sz="850" dirty="0"/>
          </a:p>
        </p:txBody>
      </p:sp>
      <p:sp>
        <p:nvSpPr>
          <p:cNvPr id="133" name="Shape 131"/>
          <p:cNvSpPr/>
          <p:nvPr/>
        </p:nvSpPr>
        <p:spPr>
          <a:xfrm>
            <a:off x="420624" y="3869132"/>
            <a:ext cx="123444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461772" y="3910280"/>
            <a:ext cx="11521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DLG-LOG-01</a:t>
            </a:r>
            <a:endParaRPr lang="ko-KR" sz="850" dirty="0"/>
          </a:p>
        </p:txBody>
      </p:sp>
      <p:sp>
        <p:nvSpPr>
          <p:cNvPr id="135" name="Shape 133"/>
          <p:cNvSpPr/>
          <p:nvPr/>
        </p:nvSpPr>
        <p:spPr>
          <a:xfrm>
            <a:off x="1655064" y="3869132"/>
            <a:ext cx="237744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1696212" y="3910280"/>
            <a:ext cx="22951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변경이력 열람</a:t>
            </a:r>
            <a:endParaRPr lang="ko-KR" sz="850" dirty="0"/>
          </a:p>
        </p:txBody>
      </p:sp>
      <p:sp>
        <p:nvSpPr>
          <p:cNvPr id="137" name="Shape 135"/>
          <p:cNvSpPr/>
          <p:nvPr/>
        </p:nvSpPr>
        <p:spPr>
          <a:xfrm>
            <a:off x="4032504" y="3869132"/>
            <a:ext cx="96012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4073652" y="3910280"/>
            <a:ext cx="87782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Modal</a:t>
            </a:r>
            <a:endParaRPr lang="ko-KR" sz="850" dirty="0"/>
          </a:p>
        </p:txBody>
      </p:sp>
      <p:sp>
        <p:nvSpPr>
          <p:cNvPr id="139" name="Shape 137"/>
          <p:cNvSpPr/>
          <p:nvPr/>
        </p:nvSpPr>
        <p:spPr>
          <a:xfrm>
            <a:off x="4992624" y="3869132"/>
            <a:ext cx="164592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5033772" y="3910280"/>
            <a:ext cx="156362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P01~P03 공통</a:t>
            </a:r>
            <a:endParaRPr lang="ko-KR" sz="850" dirty="0"/>
          </a:p>
        </p:txBody>
      </p:sp>
      <p:sp>
        <p:nvSpPr>
          <p:cNvPr id="141" name="Shape 139"/>
          <p:cNvSpPr/>
          <p:nvPr/>
        </p:nvSpPr>
        <p:spPr>
          <a:xfrm>
            <a:off x="6638544" y="3869132"/>
            <a:ext cx="512978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6679692" y="3910280"/>
            <a:ext cx="504748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F-COM-008</a:t>
            </a:r>
            <a:endParaRPr lang="ko-KR" sz="850" dirty="0"/>
          </a:p>
        </p:txBody>
      </p:sp>
      <p:sp>
        <p:nvSpPr>
          <p:cNvPr id="143" name="Shape 141"/>
          <p:cNvSpPr/>
          <p:nvPr/>
        </p:nvSpPr>
        <p:spPr>
          <a:xfrm>
            <a:off x="420624" y="4095012"/>
            <a:ext cx="123444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461772" y="4136160"/>
            <a:ext cx="11521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DLG-HOL-01</a:t>
            </a:r>
            <a:endParaRPr lang="ko-KR" sz="850" dirty="0"/>
          </a:p>
        </p:txBody>
      </p:sp>
      <p:sp>
        <p:nvSpPr>
          <p:cNvPr id="145" name="Shape 143"/>
          <p:cNvSpPr/>
          <p:nvPr/>
        </p:nvSpPr>
        <p:spPr>
          <a:xfrm>
            <a:off x="1655064" y="4095012"/>
            <a:ext cx="237744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1696212" y="4136160"/>
            <a:ext cx="22951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휴무일 관리</a:t>
            </a:r>
            <a:endParaRPr lang="ko-KR" sz="850" dirty="0"/>
          </a:p>
        </p:txBody>
      </p:sp>
      <p:sp>
        <p:nvSpPr>
          <p:cNvPr id="147" name="Shape 145"/>
          <p:cNvSpPr/>
          <p:nvPr/>
        </p:nvSpPr>
        <p:spPr>
          <a:xfrm>
            <a:off x="4032504" y="4095012"/>
            <a:ext cx="96012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4073652" y="4136160"/>
            <a:ext cx="87782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Modal</a:t>
            </a:r>
            <a:endParaRPr lang="ko-KR" sz="850" dirty="0"/>
          </a:p>
        </p:txBody>
      </p:sp>
      <p:sp>
        <p:nvSpPr>
          <p:cNvPr id="149" name="Shape 147"/>
          <p:cNvSpPr/>
          <p:nvPr/>
        </p:nvSpPr>
        <p:spPr>
          <a:xfrm>
            <a:off x="4992624" y="4095012"/>
            <a:ext cx="164592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5033772" y="4136160"/>
            <a:ext cx="156362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기준정보</a:t>
            </a:r>
            <a:endParaRPr lang="ko-KR" sz="850" dirty="0"/>
          </a:p>
        </p:txBody>
      </p:sp>
      <p:sp>
        <p:nvSpPr>
          <p:cNvPr id="151" name="Shape 149"/>
          <p:cNvSpPr/>
          <p:nvPr/>
        </p:nvSpPr>
        <p:spPr>
          <a:xfrm>
            <a:off x="6638544" y="4095012"/>
            <a:ext cx="512978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6679692" y="4136160"/>
            <a:ext cx="504748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F-COM-009</a:t>
            </a:r>
            <a:endParaRPr lang="ko-KR" sz="850" dirty="0"/>
          </a:p>
        </p:txBody>
      </p:sp>
      <p:sp>
        <p:nvSpPr>
          <p:cNvPr id="153" name="Text 151"/>
          <p:cNvSpPr/>
          <p:nvPr/>
        </p:nvSpPr>
        <p:spPr>
          <a:xfrm>
            <a:off x="420624" y="4430620"/>
            <a:ext cx="1134770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범례 · 전제</a:t>
            </a:r>
            <a:endParaRPr lang="ko-KR" sz="1000" dirty="0"/>
          </a:p>
        </p:txBody>
      </p:sp>
      <p:sp>
        <p:nvSpPr>
          <p:cNvPr id="154" name="Shape 152"/>
          <p:cNvSpPr/>
          <p:nvPr/>
        </p:nvSpPr>
        <p:spPr>
          <a:xfrm>
            <a:off x="420624" y="4650076"/>
            <a:ext cx="1463040" cy="2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461772" y="4691224"/>
            <a:ext cx="13807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ko-KR" sz="850" dirty="0"/>
          </a:p>
        </p:txBody>
      </p:sp>
      <p:sp>
        <p:nvSpPr>
          <p:cNvPr id="156" name="Shape 154"/>
          <p:cNvSpPr/>
          <p:nvPr/>
        </p:nvSpPr>
        <p:spPr>
          <a:xfrm>
            <a:off x="1883664" y="4650076"/>
            <a:ext cx="9884664" cy="2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1924812" y="4691224"/>
            <a:ext cx="980236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</a:t>
            </a:r>
            <a:endParaRPr lang="ko-KR" sz="850" dirty="0"/>
          </a:p>
        </p:txBody>
      </p:sp>
      <p:sp>
        <p:nvSpPr>
          <p:cNvPr id="158" name="Shape 156"/>
          <p:cNvSpPr/>
          <p:nvPr/>
        </p:nvSpPr>
        <p:spPr>
          <a:xfrm>
            <a:off x="420624" y="4875957"/>
            <a:ext cx="146304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461772" y="4917105"/>
            <a:ext cx="13807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문서의 지위</a:t>
            </a:r>
            <a:endParaRPr lang="ko-KR" sz="850" dirty="0"/>
          </a:p>
        </p:txBody>
      </p:sp>
      <p:sp>
        <p:nvSpPr>
          <p:cNvPr id="160" name="Shape 158"/>
          <p:cNvSpPr/>
          <p:nvPr/>
        </p:nvSpPr>
        <p:spPr>
          <a:xfrm>
            <a:off x="1883664" y="4875957"/>
            <a:ext cx="988466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1924812" y="4917105"/>
            <a:ext cx="980236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문서는 설계 시점의 화면 정의다. 개발 과정에서 사용성 판단에 따라 실제 화면과 달라진 부분이 있으며, 동작의 기준은 실행 프로그램이다. 업무 규칙과 항목의 의미는 이 문서가 기준이다.</a:t>
            </a:r>
            <a:endParaRPr lang="ko-KR" sz="850" dirty="0"/>
          </a:p>
        </p:txBody>
      </p:sp>
      <p:sp>
        <p:nvSpPr>
          <p:cNvPr id="162" name="Shape 160"/>
          <p:cNvSpPr/>
          <p:nvPr/>
        </p:nvSpPr>
        <p:spPr>
          <a:xfrm>
            <a:off x="420624" y="5101837"/>
            <a:ext cx="146304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461772" y="5142985"/>
            <a:ext cx="13807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</a:t>
            </a:r>
            <a:endParaRPr lang="ko-KR" sz="850" dirty="0"/>
          </a:p>
        </p:txBody>
      </p:sp>
      <p:sp>
        <p:nvSpPr>
          <p:cNvPr id="164" name="Shape 162"/>
          <p:cNvSpPr/>
          <p:nvPr/>
        </p:nvSpPr>
        <p:spPr>
          <a:xfrm>
            <a:off x="1883664" y="5101837"/>
            <a:ext cx="988466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1924812" y="5142985"/>
            <a:ext cx="980236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성인 일반건강검진의 예약과 접수를 처리하는 원내 프로그램. 상단 진입점 5개(수검자 관리 / 신규 예약 / 예약 관리 / 접수 관리 / 휴무일 관리), 업무 Tab 3개, Modal 8개, 확인창 2개로 구성한다.</a:t>
            </a:r>
            <a:endParaRPr lang="ko-KR" sz="850" dirty="0"/>
          </a:p>
        </p:txBody>
      </p:sp>
      <p:sp>
        <p:nvSpPr>
          <p:cNvPr id="166" name="Shape 164"/>
          <p:cNvSpPr/>
          <p:nvPr/>
        </p:nvSpPr>
        <p:spPr>
          <a:xfrm>
            <a:off x="420624" y="5327717"/>
            <a:ext cx="1463040" cy="369465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461772" y="5368865"/>
            <a:ext cx="1380744" cy="28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동반 문서</a:t>
            </a:r>
            <a:endParaRPr lang="ko-KR" sz="850" dirty="0"/>
          </a:p>
        </p:txBody>
      </p:sp>
      <p:sp>
        <p:nvSpPr>
          <p:cNvPr id="168" name="Shape 166"/>
          <p:cNvSpPr/>
          <p:nvPr/>
        </p:nvSpPr>
        <p:spPr>
          <a:xfrm>
            <a:off x="1883664" y="5327717"/>
            <a:ext cx="9884664" cy="369465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1924812" y="5368865"/>
            <a:ext cx="9802368" cy="28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「00_검진_예약접수_업무정책」 CP · EP · RP · RCP 정책과 TGT · NEX · AEX · HOL Rule의 개별 내용   /   「01_검진_예약접수_업무프로세스」 P01~P03 단계 · 분기 · 상태전이   /   「02_검진_예약접수_기능</a:t>
            </a:r>
            <a:endParaRPr lang="ko-KR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정의」 Function ID 18개의 기능 계약   /   「03_검진_예약접수_화면설계서」 본 문서. 네 문서는 하나의 세트이며 정책 ID · 프로세스 ID · 기능 ID로 서로를 참조한다.</a:t>
            </a:r>
            <a:endParaRPr lang="ko-KR" sz="850" dirty="0"/>
          </a:p>
        </p:txBody>
      </p:sp>
      <p:sp>
        <p:nvSpPr>
          <p:cNvPr id="170" name="Shape 168"/>
          <p:cNvSpPr/>
          <p:nvPr/>
        </p:nvSpPr>
        <p:spPr>
          <a:xfrm>
            <a:off x="420624" y="5697182"/>
            <a:ext cx="1463040" cy="369465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461772" y="5738330"/>
            <a:ext cx="1380744" cy="28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용어</a:t>
            </a:r>
            <a:endParaRPr lang="ko-KR" sz="850" dirty="0"/>
          </a:p>
        </p:txBody>
      </p:sp>
      <p:sp>
        <p:nvSpPr>
          <p:cNvPr id="172" name="Shape 170"/>
          <p:cNvSpPr/>
          <p:nvPr/>
        </p:nvSpPr>
        <p:spPr>
          <a:xfrm>
            <a:off x="1883664" y="5697182"/>
            <a:ext cx="9884664" cy="369465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1924812" y="5738330"/>
            <a:ext cx="9802368" cy="28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PatientId 수검자 Master 내부 식별자   ·   WorkId 예약/접수 업무 1건의 식별자   ·   Normal 일반 신규예약 Context   ·   WalkIn 현장 당일예약 Context(예약일 = 오늘 고정 ReadOnly)   ·   RowVersion 저</a:t>
            </a:r>
            <a:endParaRPr lang="ko-KR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 시 함께 전달하는 동시성값(수검자 · 업무 공통)</a:t>
            </a:r>
            <a:endParaRPr lang="ko-KR" sz="850" dirty="0"/>
          </a:p>
        </p:txBody>
      </p:sp>
      <p:sp>
        <p:nvSpPr>
          <p:cNvPr id="174" name="Shape 172"/>
          <p:cNvSpPr/>
          <p:nvPr/>
        </p:nvSpPr>
        <p:spPr>
          <a:xfrm>
            <a:off x="420624" y="6066646"/>
            <a:ext cx="146304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461772" y="6107794"/>
            <a:ext cx="13807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상태코드</a:t>
            </a:r>
            <a:endParaRPr lang="ko-KR" sz="850" dirty="0"/>
          </a:p>
        </p:txBody>
      </p:sp>
      <p:sp>
        <p:nvSpPr>
          <p:cNvPr id="176" name="Shape 174"/>
          <p:cNvSpPr/>
          <p:nvPr/>
        </p:nvSpPr>
        <p:spPr>
          <a:xfrm>
            <a:off x="1883664" y="6066646"/>
            <a:ext cx="988466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1924812" y="6107794"/>
            <a:ext cx="980236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예약(RSV) · 접수완료(RCP) · 예약취소(CNR) · 접수취소(CNC). 취소는 물리 삭제하지 않고 같은 행의 상태만 바꾸며 복원하지 않는다. (CP-05)</a:t>
            </a:r>
            <a:endParaRPr lang="ko-KR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64592"/>
            <a:ext cx="1133856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목록  (계속)</a:t>
            </a:r>
            <a:endParaRPr lang="ko-KR" sz="3000" dirty="0"/>
          </a:p>
        </p:txBody>
      </p:sp>
      <p:sp>
        <p:nvSpPr>
          <p:cNvPr id="3" name="Shape 1"/>
          <p:cNvSpPr/>
          <p:nvPr/>
        </p:nvSpPr>
        <p:spPr>
          <a:xfrm>
            <a:off x="420624" y="932688"/>
            <a:ext cx="1463040" cy="2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61772" y="973836"/>
            <a:ext cx="13807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ko-KR" sz="850" dirty="0"/>
          </a:p>
        </p:txBody>
      </p:sp>
      <p:sp>
        <p:nvSpPr>
          <p:cNvPr id="5" name="Shape 3"/>
          <p:cNvSpPr/>
          <p:nvPr/>
        </p:nvSpPr>
        <p:spPr>
          <a:xfrm>
            <a:off x="1883664" y="932688"/>
            <a:ext cx="9884664" cy="2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4812" y="973836"/>
            <a:ext cx="980236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</a:t>
            </a:r>
            <a:endParaRPr lang="ko-KR" sz="850" dirty="0"/>
          </a:p>
        </p:txBody>
      </p:sp>
      <p:sp>
        <p:nvSpPr>
          <p:cNvPr id="7" name="Shape 5"/>
          <p:cNvSpPr/>
          <p:nvPr/>
        </p:nvSpPr>
        <p:spPr>
          <a:xfrm>
            <a:off x="420624" y="1158568"/>
            <a:ext cx="146304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" y="1199716"/>
            <a:ext cx="13807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표현 원칙</a:t>
            </a:r>
            <a:endParaRPr lang="ko-KR" sz="850" dirty="0"/>
          </a:p>
        </p:txBody>
      </p:sp>
      <p:sp>
        <p:nvSpPr>
          <p:cNvPr id="9" name="Shape 7"/>
          <p:cNvSpPr/>
          <p:nvPr/>
        </p:nvSpPr>
        <p:spPr>
          <a:xfrm>
            <a:off x="1883664" y="1158568"/>
            <a:ext cx="988466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4812" y="1199716"/>
            <a:ext cx="980236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미리 판단 가능한 선택불가 → Disabled + 사유  /  입력필드 오류 → Inline 오류  /  저장·상태전이 최종차단 → Blocking Message + 중단  /  동시성 충돌 → Blocking Message + 최신값 Refresh</a:t>
            </a:r>
            <a:endParaRPr lang="ko-KR" sz="850" dirty="0"/>
          </a:p>
        </p:txBody>
      </p:sp>
      <p:sp>
        <p:nvSpPr>
          <p:cNvPr id="11" name="Shape 9"/>
          <p:cNvSpPr/>
          <p:nvPr/>
        </p:nvSpPr>
        <p:spPr>
          <a:xfrm>
            <a:off x="420624" y="1384449"/>
            <a:ext cx="146304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" y="1425597"/>
            <a:ext cx="13807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ID 출처</a:t>
            </a:r>
            <a:endParaRPr lang="ko-KR" sz="850" dirty="0"/>
          </a:p>
        </p:txBody>
      </p:sp>
      <p:sp>
        <p:nvSpPr>
          <p:cNvPr id="13" name="Shape 11"/>
          <p:cNvSpPr/>
          <p:nvPr/>
        </p:nvSpPr>
        <p:spPr>
          <a:xfrm>
            <a:off x="1883664" y="1384449"/>
            <a:ext cx="988466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4812" y="1425597"/>
            <a:ext cx="980236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 / EP / RP / RCP / TGT / NEX / AEX / HOL 은 「업무정책」 문서에 정의된 규칙 ID다. 각 화면 설명의 괄호 안 표기가 그 규칙을 가리킨다.</a:t>
            </a:r>
            <a:endParaRPr lang="ko-KR" sz="850" dirty="0"/>
          </a:p>
        </p:txBody>
      </p:sp>
      <p:sp>
        <p:nvSpPr>
          <p:cNvPr id="15" name="Shape 13"/>
          <p:cNvSpPr/>
          <p:nvPr/>
        </p:nvSpPr>
        <p:spPr>
          <a:xfrm>
            <a:off x="420624" y="1610329"/>
            <a:ext cx="146304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" y="1651477"/>
            <a:ext cx="13807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환경</a:t>
            </a:r>
            <a:endParaRPr lang="ko-KR" sz="850" dirty="0"/>
          </a:p>
        </p:txBody>
      </p:sp>
      <p:sp>
        <p:nvSpPr>
          <p:cNvPr id="17" name="Shape 15"/>
          <p:cNvSpPr/>
          <p:nvPr/>
        </p:nvSpPr>
        <p:spPr>
          <a:xfrm>
            <a:off x="1883664" y="1610329"/>
            <a:ext cx="988466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24812" y="1651477"/>
            <a:ext cx="980236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C# WinForms · .NET Framework 4.6.1 · DevExpress Components 20.2 · MSSQL. 최소 검증 해상도 1366×768, 권장 1920×1080. Windows 배율 100% / 125%.</a:t>
            </a:r>
            <a:endParaRPr lang="ko-KR" sz="850" dirty="0"/>
          </a:p>
        </p:txBody>
      </p:sp>
      <p:sp>
        <p:nvSpPr>
          <p:cNvPr id="19" name="Shape 17"/>
          <p:cNvSpPr/>
          <p:nvPr/>
        </p:nvSpPr>
        <p:spPr>
          <a:xfrm>
            <a:off x="420624" y="1836209"/>
            <a:ext cx="1463040" cy="369465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" y="1877357"/>
            <a:ext cx="1380744" cy="28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업무조건</a:t>
            </a:r>
            <a:endParaRPr lang="ko-KR" sz="850" dirty="0"/>
          </a:p>
        </p:txBody>
      </p:sp>
      <p:sp>
        <p:nvSpPr>
          <p:cNvPr id="21" name="Shape 19"/>
          <p:cNvSpPr/>
          <p:nvPr/>
        </p:nvSpPr>
        <p:spPr>
          <a:xfrm>
            <a:off x="1883664" y="1836209"/>
            <a:ext cx="9884664" cy="369465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24812" y="1877357"/>
            <a:ext cx="9802368" cy="28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휴무일이거나 운영시간(09:00~18:00) 밖이면 상태영역에 업무 불가로 표시한다. 화면은 그것으로 Action을 막지 않으며 판정은 저장 시점에 DB가 한다. 이 조건은 예약·접수 업무를 대상으로 하고 기준정</a:t>
            </a:r>
            <a:endParaRPr lang="ko-KR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 정비(수검자·휴무일)에는 적용하지 않는다. (CP-01~04)</a:t>
            </a:r>
            <a:endParaRPr lang="ko-KR" sz="850" dirty="0"/>
          </a:p>
        </p:txBody>
      </p:sp>
      <p:sp>
        <p:nvSpPr>
          <p:cNvPr id="23" name="Shape 21"/>
          <p:cNvSpPr/>
          <p:nvPr/>
        </p:nvSpPr>
        <p:spPr>
          <a:xfrm>
            <a:off x="420624" y="2205674"/>
            <a:ext cx="1463040" cy="369465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" y="2246822"/>
            <a:ext cx="1380744" cy="28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제외</a:t>
            </a:r>
            <a:endParaRPr lang="ko-KR" sz="850" dirty="0"/>
          </a:p>
        </p:txBody>
      </p:sp>
      <p:sp>
        <p:nvSpPr>
          <p:cNvPr id="25" name="Shape 23"/>
          <p:cNvSpPr/>
          <p:nvPr/>
        </p:nvSpPr>
        <p:spPr>
          <a:xfrm>
            <a:off x="1883664" y="2205674"/>
            <a:ext cx="9884664" cy="369465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24812" y="2246822"/>
            <a:ext cx="9802368" cy="28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로그인·권한, 통계 Dashboard, 실제 검사 수행·결과 입력·판독, 공단 대상자 API, 검사 Master·AEX 관리자 CRUD, 법정·대체 공휴일 행의 화면 변경, 가격·할인·수납·결제, 수검자 삭제·복원, 출력·인쇄·엑셀 내</a:t>
            </a:r>
            <a:endParaRPr lang="ko-KR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보내기, 사용자별 Grid Layout 저장.</a:t>
            </a:r>
            <a:endParaRPr lang="ko-KR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64592"/>
            <a:ext cx="1133856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흐름도</a:t>
            </a:r>
            <a:endParaRPr lang="ko-KR" sz="3000" dirty="0"/>
          </a:p>
        </p:txBody>
      </p:sp>
      <p:sp>
        <p:nvSpPr>
          <p:cNvPr id="3" name="Shape 1"/>
          <p:cNvSpPr/>
          <p:nvPr/>
        </p:nvSpPr>
        <p:spPr>
          <a:xfrm>
            <a:off x="4572000" y="1060704"/>
            <a:ext cx="7059168" cy="1517904"/>
          </a:xfrm>
          <a:prstGeom prst="rect">
            <a:avLst/>
          </a:prstGeom>
          <a:ln w="9525">
            <a:solidFill>
              <a:srgbClr val="8C9BB5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4754880" y="1389888"/>
            <a:ext cx="201168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0" y="1426464"/>
            <a:ext cx="20116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DLG-PAT-02</a:t>
            </a:r>
            <a:endParaRPr lang="ko-KR" sz="800" dirty="0"/>
          </a:p>
        </p:txBody>
      </p:sp>
      <p:sp>
        <p:nvSpPr>
          <p:cNvPr id="6" name="Text 4"/>
          <p:cNvSpPr/>
          <p:nvPr/>
        </p:nvSpPr>
        <p:spPr>
          <a:xfrm>
            <a:off x="4754880" y="1572768"/>
            <a:ext cx="2011680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 선택</a:t>
            </a:r>
            <a:endParaRPr lang="ko-KR" sz="950" dirty="0"/>
          </a:p>
        </p:txBody>
      </p:sp>
      <p:sp>
        <p:nvSpPr>
          <p:cNvPr id="7" name="Shape 5"/>
          <p:cNvSpPr/>
          <p:nvPr/>
        </p:nvSpPr>
        <p:spPr>
          <a:xfrm>
            <a:off x="7178040" y="1389888"/>
            <a:ext cx="201168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78040" y="1426464"/>
            <a:ext cx="20116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DLG-PAT-01</a:t>
            </a:r>
            <a:endParaRPr lang="ko-KR" sz="800" dirty="0"/>
          </a:p>
        </p:txBody>
      </p:sp>
      <p:sp>
        <p:nvSpPr>
          <p:cNvPr id="9" name="Text 7"/>
          <p:cNvSpPr/>
          <p:nvPr/>
        </p:nvSpPr>
        <p:spPr>
          <a:xfrm>
            <a:off x="7178040" y="1572768"/>
            <a:ext cx="2011680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 등록 / 수정</a:t>
            </a:r>
            <a:endParaRPr lang="ko-KR" sz="950" dirty="0"/>
          </a:p>
        </p:txBody>
      </p:sp>
      <p:sp>
        <p:nvSpPr>
          <p:cNvPr id="10" name="Shape 8"/>
          <p:cNvSpPr/>
          <p:nvPr/>
        </p:nvSpPr>
        <p:spPr>
          <a:xfrm>
            <a:off x="9555480" y="1389888"/>
            <a:ext cx="192024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55480" y="1426464"/>
            <a:ext cx="19202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DLG-PAT-03</a:t>
            </a:r>
            <a:endParaRPr lang="ko-KR" sz="800" dirty="0"/>
          </a:p>
        </p:txBody>
      </p:sp>
      <p:sp>
        <p:nvSpPr>
          <p:cNvPr id="12" name="Text 10"/>
          <p:cNvSpPr/>
          <p:nvPr/>
        </p:nvSpPr>
        <p:spPr>
          <a:xfrm>
            <a:off x="9555480" y="1572768"/>
            <a:ext cx="1920240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후보 확인</a:t>
            </a:r>
            <a:endParaRPr lang="ko-KR" sz="950" dirty="0"/>
          </a:p>
        </p:txBody>
      </p:sp>
      <p:sp>
        <p:nvSpPr>
          <p:cNvPr id="13" name="Text 11"/>
          <p:cNvSpPr/>
          <p:nvPr/>
        </p:nvSpPr>
        <p:spPr>
          <a:xfrm>
            <a:off x="4681728" y="2359152"/>
            <a:ext cx="3657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 확정 계열  ·  Modal</a:t>
            </a:r>
            <a:endParaRPr lang="ko-KR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3200400"/>
            <a:ext cx="1481328" cy="566928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236976"/>
            <a:ext cx="14813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WF-00</a:t>
            </a:r>
            <a:endParaRPr lang="ko-KR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3383280"/>
            <a:ext cx="148132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MainForm</a:t>
            </a:r>
            <a:endParaRPr lang="ko-KR" sz="950" dirty="0"/>
          </a:p>
        </p:txBody>
      </p:sp>
      <p:sp>
        <p:nvSpPr>
          <p:cNvPr id="17" name="Shape 15"/>
          <p:cNvSpPr/>
          <p:nvPr/>
        </p:nvSpPr>
        <p:spPr>
          <a:xfrm>
            <a:off x="2560320" y="3054096"/>
            <a:ext cx="178308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3090672"/>
            <a:ext cx="17830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WF-PAT-01</a:t>
            </a:r>
            <a:endParaRPr lang="ko-KR" sz="800" dirty="0"/>
          </a:p>
        </p:txBody>
      </p:sp>
      <p:sp>
        <p:nvSpPr>
          <p:cNvPr id="19" name="Text 17"/>
          <p:cNvSpPr/>
          <p:nvPr/>
        </p:nvSpPr>
        <p:spPr>
          <a:xfrm>
            <a:off x="2560320" y="3236976"/>
            <a:ext cx="1783080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 관리</a:t>
            </a:r>
            <a:endParaRPr lang="ko-KR" sz="950" dirty="0"/>
          </a:p>
        </p:txBody>
      </p:sp>
      <p:sp>
        <p:nvSpPr>
          <p:cNvPr id="20" name="Shape 18"/>
          <p:cNvSpPr/>
          <p:nvPr/>
        </p:nvSpPr>
        <p:spPr>
          <a:xfrm>
            <a:off x="2560320" y="3785616"/>
            <a:ext cx="178308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0" y="3822192"/>
            <a:ext cx="17830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WF-RSV-01</a:t>
            </a:r>
            <a:endParaRPr lang="ko-KR" sz="800" dirty="0"/>
          </a:p>
        </p:txBody>
      </p:sp>
      <p:sp>
        <p:nvSpPr>
          <p:cNvPr id="22" name="Text 20"/>
          <p:cNvSpPr/>
          <p:nvPr/>
        </p:nvSpPr>
        <p:spPr>
          <a:xfrm>
            <a:off x="2560320" y="3968496"/>
            <a:ext cx="1783080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예약</a:t>
            </a:r>
            <a:endParaRPr lang="ko-KR" sz="950" dirty="0"/>
          </a:p>
        </p:txBody>
      </p:sp>
      <p:sp>
        <p:nvSpPr>
          <p:cNvPr id="23" name="Shape 21"/>
          <p:cNvSpPr/>
          <p:nvPr/>
        </p:nvSpPr>
        <p:spPr>
          <a:xfrm>
            <a:off x="2560320" y="4517136"/>
            <a:ext cx="178308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0" y="4553712"/>
            <a:ext cx="17830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WF-WRK-01</a:t>
            </a:r>
            <a:endParaRPr lang="ko-KR" sz="800" dirty="0"/>
          </a:p>
        </p:txBody>
      </p:sp>
      <p:sp>
        <p:nvSpPr>
          <p:cNvPr id="25" name="Text 23"/>
          <p:cNvSpPr/>
          <p:nvPr/>
        </p:nvSpPr>
        <p:spPr>
          <a:xfrm>
            <a:off x="2560320" y="4700016"/>
            <a:ext cx="178308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· 접수 Workbench</a:t>
            </a:r>
            <a:endParaRPr lang="ko-KR" sz="900" dirty="0"/>
          </a:p>
        </p:txBody>
      </p:sp>
      <p:sp>
        <p:nvSpPr>
          <p:cNvPr id="26" name="Shape 24"/>
          <p:cNvSpPr/>
          <p:nvPr/>
        </p:nvSpPr>
        <p:spPr>
          <a:xfrm>
            <a:off x="4572000" y="5248656"/>
            <a:ext cx="7059168" cy="1042416"/>
          </a:xfrm>
          <a:prstGeom prst="rect">
            <a:avLst/>
          </a:prstGeom>
          <a:ln w="9525">
            <a:solidFill>
              <a:srgbClr val="8C9BB5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4754880" y="5376672"/>
            <a:ext cx="128016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5413248"/>
            <a:ext cx="12801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DLG-RSV-01</a:t>
            </a:r>
            <a:endParaRPr lang="ko-KR" sz="800" dirty="0"/>
          </a:p>
        </p:txBody>
      </p:sp>
      <p:sp>
        <p:nvSpPr>
          <p:cNvPr id="29" name="Text 27"/>
          <p:cNvSpPr/>
          <p:nvPr/>
        </p:nvSpPr>
        <p:spPr>
          <a:xfrm>
            <a:off x="4754880" y="5559552"/>
            <a:ext cx="128016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변경</a:t>
            </a:r>
            <a:endParaRPr lang="ko-KR" sz="850" dirty="0"/>
          </a:p>
        </p:txBody>
      </p:sp>
      <p:sp>
        <p:nvSpPr>
          <p:cNvPr id="30" name="Shape 28"/>
          <p:cNvSpPr/>
          <p:nvPr/>
        </p:nvSpPr>
        <p:spPr>
          <a:xfrm>
            <a:off x="6181344" y="5376672"/>
            <a:ext cx="128016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81344" y="5413248"/>
            <a:ext cx="12801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CNF-RSV-01</a:t>
            </a:r>
            <a:endParaRPr lang="ko-KR" sz="800" dirty="0"/>
          </a:p>
        </p:txBody>
      </p:sp>
      <p:sp>
        <p:nvSpPr>
          <p:cNvPr id="32" name="Text 30"/>
          <p:cNvSpPr/>
          <p:nvPr/>
        </p:nvSpPr>
        <p:spPr>
          <a:xfrm>
            <a:off x="6181344" y="5559552"/>
            <a:ext cx="128016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취소</a:t>
            </a:r>
            <a:endParaRPr lang="ko-KR" sz="850" dirty="0"/>
          </a:p>
        </p:txBody>
      </p:sp>
      <p:sp>
        <p:nvSpPr>
          <p:cNvPr id="33" name="Shape 31"/>
          <p:cNvSpPr/>
          <p:nvPr/>
        </p:nvSpPr>
        <p:spPr>
          <a:xfrm>
            <a:off x="7607808" y="5376672"/>
            <a:ext cx="128016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07808" y="5413248"/>
            <a:ext cx="12801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DLG-RCP-01</a:t>
            </a:r>
            <a:endParaRPr lang="ko-KR" sz="800" dirty="0"/>
          </a:p>
        </p:txBody>
      </p:sp>
      <p:sp>
        <p:nvSpPr>
          <p:cNvPr id="35" name="Text 33"/>
          <p:cNvSpPr/>
          <p:nvPr/>
        </p:nvSpPr>
        <p:spPr>
          <a:xfrm>
            <a:off x="7607808" y="5559552"/>
            <a:ext cx="128016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처리</a:t>
            </a:r>
            <a:endParaRPr lang="ko-KR" sz="850" dirty="0"/>
          </a:p>
        </p:txBody>
      </p:sp>
      <p:sp>
        <p:nvSpPr>
          <p:cNvPr id="36" name="Shape 34"/>
          <p:cNvSpPr/>
          <p:nvPr/>
        </p:nvSpPr>
        <p:spPr>
          <a:xfrm>
            <a:off x="9034272" y="5376672"/>
            <a:ext cx="128016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34272" y="5413248"/>
            <a:ext cx="12801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DLG-RCP-02</a:t>
            </a:r>
            <a:endParaRPr lang="ko-KR" sz="800" dirty="0"/>
          </a:p>
        </p:txBody>
      </p:sp>
      <p:sp>
        <p:nvSpPr>
          <p:cNvPr id="38" name="Text 36"/>
          <p:cNvSpPr/>
          <p:nvPr/>
        </p:nvSpPr>
        <p:spPr>
          <a:xfrm>
            <a:off x="9034272" y="5559552"/>
            <a:ext cx="128016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추가검사 변경</a:t>
            </a:r>
            <a:endParaRPr lang="ko-KR" sz="850" dirty="0"/>
          </a:p>
        </p:txBody>
      </p:sp>
      <p:sp>
        <p:nvSpPr>
          <p:cNvPr id="39" name="Shape 37"/>
          <p:cNvSpPr/>
          <p:nvPr/>
        </p:nvSpPr>
        <p:spPr>
          <a:xfrm>
            <a:off x="10460736" y="5376672"/>
            <a:ext cx="128016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460736" y="5413248"/>
            <a:ext cx="12801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CNF-RCP-01</a:t>
            </a:r>
            <a:endParaRPr lang="ko-KR" sz="800" dirty="0"/>
          </a:p>
        </p:txBody>
      </p:sp>
      <p:sp>
        <p:nvSpPr>
          <p:cNvPr id="41" name="Text 39"/>
          <p:cNvSpPr/>
          <p:nvPr/>
        </p:nvSpPr>
        <p:spPr>
          <a:xfrm>
            <a:off x="10460736" y="5559552"/>
            <a:ext cx="128016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취소</a:t>
            </a:r>
            <a:endParaRPr lang="ko-KR" sz="850" dirty="0"/>
          </a:p>
        </p:txBody>
      </p:sp>
      <p:sp>
        <p:nvSpPr>
          <p:cNvPr id="42" name="Text 40"/>
          <p:cNvSpPr/>
          <p:nvPr/>
        </p:nvSpPr>
        <p:spPr>
          <a:xfrm>
            <a:off x="4681728" y="6053328"/>
            <a:ext cx="676656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Transaction  ·  Modal / Confirm      선택한 Work의 상태에 따라 활성된다</a:t>
            </a:r>
            <a:endParaRPr lang="ko-KR" sz="800" dirty="0"/>
          </a:p>
        </p:txBody>
      </p:sp>
      <p:sp>
        <p:nvSpPr>
          <p:cNvPr id="43" name="Shape 41"/>
          <p:cNvSpPr/>
          <p:nvPr/>
        </p:nvSpPr>
        <p:spPr>
          <a:xfrm>
            <a:off x="1984248" y="3483864"/>
            <a:ext cx="30175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2286000" y="3305556"/>
            <a:ext cx="0" cy="1495044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2286000" y="3305556"/>
            <a:ext cx="27432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2286000" y="4037076"/>
            <a:ext cx="27432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2286000" y="4800600"/>
            <a:ext cx="27432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3451860" y="3557016"/>
            <a:ext cx="0" cy="22860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3713821" y="3579876"/>
            <a:ext cx="792813" cy="18288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13821" y="3579876"/>
            <a:ext cx="79281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PatientId</a:t>
            </a:r>
            <a:endParaRPr lang="ko-KR" sz="800" dirty="0"/>
          </a:p>
        </p:txBody>
      </p:sp>
      <p:sp>
        <p:nvSpPr>
          <p:cNvPr id="51" name="Shape 49"/>
          <p:cNvSpPr/>
          <p:nvPr/>
        </p:nvSpPr>
        <p:spPr>
          <a:xfrm>
            <a:off x="3451860" y="4288536"/>
            <a:ext cx="0" cy="22860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3491427" y="4311396"/>
            <a:ext cx="1786241" cy="18288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91427" y="4311396"/>
            <a:ext cx="178624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WorkId  /  기존 유효예약 연결</a:t>
            </a:r>
            <a:endParaRPr lang="ko-KR" sz="800" dirty="0"/>
          </a:p>
        </p:txBody>
      </p:sp>
      <p:sp>
        <p:nvSpPr>
          <p:cNvPr id="54" name="Shape 52"/>
          <p:cNvSpPr/>
          <p:nvPr/>
        </p:nvSpPr>
        <p:spPr>
          <a:xfrm>
            <a:off x="4343400" y="3214116"/>
            <a:ext cx="100584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dash"/>
            <a:tailEnd type="none"/>
          </a:ln>
        </p:spPr>
      </p:sp>
      <p:sp>
        <p:nvSpPr>
          <p:cNvPr id="55" name="Shape 53"/>
          <p:cNvSpPr/>
          <p:nvPr/>
        </p:nvSpPr>
        <p:spPr>
          <a:xfrm flipV="1">
            <a:off x="4443984" y="914400"/>
            <a:ext cx="0" cy="2299716"/>
          </a:xfrm>
          <a:prstGeom prst="line">
            <a:avLst/>
          </a:prstGeom>
          <a:noFill/>
          <a:ln w="12700">
            <a:solidFill>
              <a:srgbClr val="1F3864"/>
            </a:solidFill>
            <a:prstDash val="dash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4443984" y="914400"/>
            <a:ext cx="3739896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dash"/>
            <a:tailEnd type="none"/>
          </a:ln>
        </p:spPr>
      </p:sp>
      <p:sp>
        <p:nvSpPr>
          <p:cNvPr id="57" name="Shape 55"/>
          <p:cNvSpPr/>
          <p:nvPr/>
        </p:nvSpPr>
        <p:spPr>
          <a:xfrm>
            <a:off x="8183880" y="914400"/>
            <a:ext cx="0" cy="475488"/>
          </a:xfrm>
          <a:prstGeom prst="line">
            <a:avLst/>
          </a:prstGeom>
          <a:noFill/>
          <a:ln w="12700">
            <a:solidFill>
              <a:srgbClr val="1F3864"/>
            </a:solidFill>
            <a:prstDash val="dash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5508657" y="822960"/>
            <a:ext cx="1052767" cy="18288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508657" y="822960"/>
            <a:ext cx="105276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신규등록 · 정보수정</a:t>
            </a:r>
            <a:endParaRPr lang="ko-KR" sz="800" dirty="0"/>
          </a:p>
        </p:txBody>
      </p:sp>
      <p:sp>
        <p:nvSpPr>
          <p:cNvPr id="60" name="Shape 58"/>
          <p:cNvSpPr/>
          <p:nvPr/>
        </p:nvSpPr>
        <p:spPr>
          <a:xfrm>
            <a:off x="4343400" y="3945636"/>
            <a:ext cx="1801368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61" name="Shape 59"/>
          <p:cNvSpPr/>
          <p:nvPr/>
        </p:nvSpPr>
        <p:spPr>
          <a:xfrm flipV="1">
            <a:off x="6144768" y="1892808"/>
            <a:ext cx="0" cy="2052828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4993473" y="3854196"/>
            <a:ext cx="894413" cy="18288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993473" y="3854196"/>
            <a:ext cx="89441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PatientId 미확정</a:t>
            </a:r>
            <a:endParaRPr lang="ko-KR" sz="800" dirty="0"/>
          </a:p>
        </p:txBody>
      </p:sp>
      <p:sp>
        <p:nvSpPr>
          <p:cNvPr id="64" name="Shape 62"/>
          <p:cNvSpPr/>
          <p:nvPr/>
        </p:nvSpPr>
        <p:spPr>
          <a:xfrm>
            <a:off x="5376672" y="1892808"/>
            <a:ext cx="0" cy="2272284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65" name="Shape 63"/>
          <p:cNvSpPr/>
          <p:nvPr/>
        </p:nvSpPr>
        <p:spPr>
          <a:xfrm flipH="1">
            <a:off x="4343400" y="4165092"/>
            <a:ext cx="1033272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4358473" y="4073652"/>
            <a:ext cx="792813" cy="18288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358473" y="4073652"/>
            <a:ext cx="79281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PatientId 반환</a:t>
            </a:r>
            <a:endParaRPr lang="ko-KR" sz="800" dirty="0"/>
          </a:p>
        </p:txBody>
      </p:sp>
      <p:sp>
        <p:nvSpPr>
          <p:cNvPr id="68" name="Shape 66"/>
          <p:cNvSpPr/>
          <p:nvPr/>
        </p:nvSpPr>
        <p:spPr>
          <a:xfrm>
            <a:off x="6766560" y="1641348"/>
            <a:ext cx="41148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6695948" y="1403604"/>
            <a:ext cx="552704" cy="18288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695948" y="1403604"/>
            <a:ext cx="55270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신규등록</a:t>
            </a:r>
            <a:endParaRPr lang="ko-KR" sz="800" dirty="0"/>
          </a:p>
        </p:txBody>
      </p:sp>
      <p:sp>
        <p:nvSpPr>
          <p:cNvPr id="71" name="Shape 69"/>
          <p:cNvSpPr/>
          <p:nvPr/>
        </p:nvSpPr>
        <p:spPr>
          <a:xfrm>
            <a:off x="9189720" y="1641348"/>
            <a:ext cx="36576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9078389" y="1403604"/>
            <a:ext cx="588423" cy="18288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078389" y="1403604"/>
            <a:ext cx="58842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후보</a:t>
            </a:r>
            <a:endParaRPr lang="ko-KR" sz="800" dirty="0"/>
          </a:p>
        </p:txBody>
      </p:sp>
      <p:sp>
        <p:nvSpPr>
          <p:cNvPr id="74" name="Shape 72"/>
          <p:cNvSpPr/>
          <p:nvPr/>
        </p:nvSpPr>
        <p:spPr>
          <a:xfrm>
            <a:off x="10515600" y="1892808"/>
            <a:ext cx="0" cy="192024"/>
          </a:xfrm>
          <a:prstGeom prst="line">
            <a:avLst/>
          </a:prstGeom>
          <a:noFill/>
          <a:ln w="12700">
            <a:solidFill>
              <a:srgbClr val="1F3864"/>
            </a:solidFill>
            <a:prstDash val="dash"/>
            <a:tailEnd type="none"/>
          </a:ln>
        </p:spPr>
      </p:sp>
      <p:sp>
        <p:nvSpPr>
          <p:cNvPr id="75" name="Shape 73"/>
          <p:cNvSpPr/>
          <p:nvPr/>
        </p:nvSpPr>
        <p:spPr>
          <a:xfrm flipH="1">
            <a:off x="8503920" y="2084832"/>
            <a:ext cx="201168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dash"/>
            <a:tailEnd type="none"/>
          </a:ln>
        </p:spPr>
      </p:sp>
      <p:sp>
        <p:nvSpPr>
          <p:cNvPr id="76" name="Shape 74"/>
          <p:cNvSpPr/>
          <p:nvPr/>
        </p:nvSpPr>
        <p:spPr>
          <a:xfrm flipV="1">
            <a:off x="8503920" y="1892808"/>
            <a:ext cx="0" cy="192024"/>
          </a:xfrm>
          <a:prstGeom prst="line">
            <a:avLst/>
          </a:prstGeom>
          <a:noFill/>
          <a:ln w="12700">
            <a:solidFill>
              <a:srgbClr val="1F3864"/>
            </a:solidFill>
            <a:prstDash val="dash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9315879" y="1993392"/>
            <a:ext cx="1667923" cy="18288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315879" y="1993392"/>
            <a:ext cx="166792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입력값 수정 · 별도 수검자로 계속</a:t>
            </a:r>
            <a:endParaRPr lang="ko-KR" sz="800" dirty="0"/>
          </a:p>
        </p:txBody>
      </p:sp>
      <p:sp>
        <p:nvSpPr>
          <p:cNvPr id="79" name="Shape 77"/>
          <p:cNvSpPr/>
          <p:nvPr/>
        </p:nvSpPr>
        <p:spPr>
          <a:xfrm>
            <a:off x="7863840" y="1892808"/>
            <a:ext cx="0" cy="338328"/>
          </a:xfrm>
          <a:prstGeom prst="line">
            <a:avLst/>
          </a:prstGeom>
          <a:noFill/>
          <a:ln w="12700">
            <a:solidFill>
              <a:srgbClr val="1F3864"/>
            </a:solidFill>
            <a:prstDash val="dash"/>
            <a:tailEnd type="none"/>
          </a:ln>
        </p:spPr>
      </p:sp>
      <p:sp>
        <p:nvSpPr>
          <p:cNvPr id="80" name="Shape 78"/>
          <p:cNvSpPr/>
          <p:nvPr/>
        </p:nvSpPr>
        <p:spPr>
          <a:xfrm flipH="1">
            <a:off x="6537960" y="2231136"/>
            <a:ext cx="132588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dash"/>
            <a:tailEnd type="none"/>
          </a:ln>
        </p:spPr>
      </p:sp>
      <p:sp>
        <p:nvSpPr>
          <p:cNvPr id="81" name="Shape 79"/>
          <p:cNvSpPr/>
          <p:nvPr/>
        </p:nvSpPr>
        <p:spPr>
          <a:xfrm flipV="1">
            <a:off x="6537960" y="1892808"/>
            <a:ext cx="0" cy="338328"/>
          </a:xfrm>
          <a:prstGeom prst="line">
            <a:avLst/>
          </a:prstGeom>
          <a:noFill/>
          <a:ln w="12700">
            <a:solidFill>
              <a:srgbClr val="1F3864"/>
            </a:solidFill>
            <a:prstDash val="dash"/>
            <a:tailEnd type="triangle"/>
          </a:ln>
        </p:spPr>
      </p:sp>
      <p:sp>
        <p:nvSpPr>
          <p:cNvPr id="82" name="Shape 80"/>
          <p:cNvSpPr/>
          <p:nvPr/>
        </p:nvSpPr>
        <p:spPr>
          <a:xfrm>
            <a:off x="6646418" y="2139696"/>
            <a:ext cx="1429004" cy="18288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646418" y="2139696"/>
            <a:ext cx="142900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신규저장 · 기존 수검자 확정</a:t>
            </a:r>
            <a:endParaRPr lang="ko-KR" sz="800" dirty="0"/>
          </a:p>
        </p:txBody>
      </p:sp>
      <p:sp>
        <p:nvSpPr>
          <p:cNvPr id="84" name="Shape 82"/>
          <p:cNvSpPr/>
          <p:nvPr/>
        </p:nvSpPr>
        <p:spPr>
          <a:xfrm>
            <a:off x="4343400" y="4690872"/>
            <a:ext cx="7470648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none"/>
          </a:ln>
        </p:spPr>
      </p:sp>
      <p:sp>
        <p:nvSpPr>
          <p:cNvPr id="85" name="Shape 83"/>
          <p:cNvSpPr/>
          <p:nvPr/>
        </p:nvSpPr>
        <p:spPr>
          <a:xfrm flipV="1">
            <a:off x="11814048" y="786384"/>
            <a:ext cx="0" cy="3904488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none"/>
          </a:ln>
        </p:spPr>
      </p:sp>
      <p:sp>
        <p:nvSpPr>
          <p:cNvPr id="86" name="Shape 84"/>
          <p:cNvSpPr/>
          <p:nvPr/>
        </p:nvSpPr>
        <p:spPr>
          <a:xfrm flipH="1">
            <a:off x="4983480" y="786384"/>
            <a:ext cx="6830568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none"/>
          </a:ln>
        </p:spPr>
      </p:sp>
      <p:sp>
        <p:nvSpPr>
          <p:cNvPr id="87" name="Shape 85"/>
          <p:cNvSpPr/>
          <p:nvPr/>
        </p:nvSpPr>
        <p:spPr>
          <a:xfrm>
            <a:off x="4983480" y="786384"/>
            <a:ext cx="0" cy="603504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6393961" y="694944"/>
            <a:ext cx="2939758" cy="18288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393961" y="694944"/>
            <a:ext cx="293975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당일예약   →   수검자 확정 → WalkIn 신규예약 → 접수</a:t>
            </a:r>
            <a:endParaRPr lang="ko-KR" sz="800" dirty="0"/>
          </a:p>
        </p:txBody>
      </p:sp>
      <p:sp>
        <p:nvSpPr>
          <p:cNvPr id="90" name="Shape 88"/>
          <p:cNvSpPr/>
          <p:nvPr/>
        </p:nvSpPr>
        <p:spPr>
          <a:xfrm>
            <a:off x="3451860" y="5084064"/>
            <a:ext cx="0" cy="146304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91" name="Shape 89"/>
          <p:cNvSpPr/>
          <p:nvPr/>
        </p:nvSpPr>
        <p:spPr>
          <a:xfrm>
            <a:off x="3451860" y="5230368"/>
            <a:ext cx="194310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92" name="Shape 90"/>
          <p:cNvSpPr/>
          <p:nvPr/>
        </p:nvSpPr>
        <p:spPr>
          <a:xfrm>
            <a:off x="5394960" y="5230368"/>
            <a:ext cx="5705856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none"/>
          </a:ln>
        </p:spPr>
      </p:sp>
      <p:sp>
        <p:nvSpPr>
          <p:cNvPr id="93" name="Shape 91"/>
          <p:cNvSpPr/>
          <p:nvPr/>
        </p:nvSpPr>
        <p:spPr>
          <a:xfrm>
            <a:off x="5394960" y="5230368"/>
            <a:ext cx="0" cy="146304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94" name="Shape 92"/>
          <p:cNvSpPr/>
          <p:nvPr/>
        </p:nvSpPr>
        <p:spPr>
          <a:xfrm>
            <a:off x="6821424" y="5230368"/>
            <a:ext cx="0" cy="146304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95" name="Shape 93"/>
          <p:cNvSpPr/>
          <p:nvPr/>
        </p:nvSpPr>
        <p:spPr>
          <a:xfrm>
            <a:off x="8247888" y="5230368"/>
            <a:ext cx="0" cy="146304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96" name="Shape 94"/>
          <p:cNvSpPr/>
          <p:nvPr/>
        </p:nvSpPr>
        <p:spPr>
          <a:xfrm>
            <a:off x="9674352" y="5230368"/>
            <a:ext cx="0" cy="146304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97" name="Shape 95"/>
          <p:cNvSpPr/>
          <p:nvPr/>
        </p:nvSpPr>
        <p:spPr>
          <a:xfrm>
            <a:off x="11100816" y="5230368"/>
            <a:ext cx="0" cy="146304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98" name="Shape 96"/>
          <p:cNvSpPr/>
          <p:nvPr/>
        </p:nvSpPr>
        <p:spPr>
          <a:xfrm>
            <a:off x="3567573" y="4992624"/>
            <a:ext cx="1313910" cy="18288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567573" y="4992624"/>
            <a:ext cx="131391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Work + RowVersion</a:t>
            </a:r>
            <a:endParaRPr lang="ko-KR" sz="800" dirty="0"/>
          </a:p>
        </p:txBody>
      </p:sp>
      <p:sp>
        <p:nvSpPr>
          <p:cNvPr id="100" name="Shape 98"/>
          <p:cNvSpPr/>
          <p:nvPr/>
        </p:nvSpPr>
        <p:spPr>
          <a:xfrm>
            <a:off x="548640" y="6382512"/>
            <a:ext cx="384048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01" name="Text 99"/>
          <p:cNvSpPr/>
          <p:nvPr/>
        </p:nvSpPr>
        <p:spPr>
          <a:xfrm>
            <a:off x="1005840" y="6291072"/>
            <a:ext cx="10972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경로</a:t>
            </a:r>
            <a:endParaRPr lang="ko-KR" sz="800" dirty="0"/>
          </a:p>
        </p:txBody>
      </p:sp>
      <p:sp>
        <p:nvSpPr>
          <p:cNvPr id="102" name="Shape 100"/>
          <p:cNvSpPr/>
          <p:nvPr/>
        </p:nvSpPr>
        <p:spPr>
          <a:xfrm>
            <a:off x="2103120" y="6382512"/>
            <a:ext cx="384048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dash"/>
            <a:tailEnd type="triangle"/>
          </a:ln>
        </p:spPr>
      </p:sp>
      <p:sp>
        <p:nvSpPr>
          <p:cNvPr id="103" name="Text 101"/>
          <p:cNvSpPr/>
          <p:nvPr/>
        </p:nvSpPr>
        <p:spPr>
          <a:xfrm>
            <a:off x="2560320" y="6291072"/>
            <a:ext cx="219456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복귀 · 보조 경로</a:t>
            </a:r>
            <a:endParaRPr lang="ko-KR" sz="800" dirty="0"/>
          </a:p>
        </p:txBody>
      </p:sp>
      <p:sp>
        <p:nvSpPr>
          <p:cNvPr id="104" name="Text 102"/>
          <p:cNvSpPr/>
          <p:nvPr/>
        </p:nvSpPr>
        <p:spPr>
          <a:xfrm>
            <a:off x="548640" y="6547104"/>
            <a:ext cx="111556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전달키는 PatientId 또는 WorkId 두 가지뿐이며 화면에 노출하지 않는다. WorkId를 전달받으면 조회조건과 무관하게 최신 한 건을 직접 조회해 자동 선택한다.</a:t>
            </a:r>
            <a:endParaRPr lang="ko-KR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932688"/>
            <a:ext cx="8439912" cy="5349240"/>
          </a:xfrm>
          <a:prstGeom prst="rect">
            <a:avLst/>
          </a:prstGeom>
          <a:ln w="254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0624" y="932688"/>
            <a:ext cx="8439912" cy="274320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" y="969264"/>
            <a:ext cx="1170432" cy="201168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969264"/>
            <a:ext cx="117043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 관리</a:t>
            </a:r>
            <a:endParaRPr lang="ko-KR" sz="950" dirty="0"/>
          </a:p>
        </p:txBody>
      </p:sp>
      <p:sp>
        <p:nvSpPr>
          <p:cNvPr id="6" name="Shape 4"/>
          <p:cNvSpPr/>
          <p:nvPr/>
        </p:nvSpPr>
        <p:spPr>
          <a:xfrm>
            <a:off x="1755648" y="969264"/>
            <a:ext cx="1170432" cy="201168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55648" y="969264"/>
            <a:ext cx="117043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예약</a:t>
            </a:r>
            <a:endParaRPr lang="ko-KR" sz="950" dirty="0"/>
          </a:p>
        </p:txBody>
      </p:sp>
      <p:sp>
        <p:nvSpPr>
          <p:cNvPr id="8" name="Shape 6"/>
          <p:cNvSpPr/>
          <p:nvPr/>
        </p:nvSpPr>
        <p:spPr>
          <a:xfrm>
            <a:off x="2980944" y="969264"/>
            <a:ext cx="1170432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80944" y="969264"/>
            <a:ext cx="117043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관리</a:t>
            </a:r>
            <a:endParaRPr lang="ko-KR" sz="950" dirty="0"/>
          </a:p>
        </p:txBody>
      </p:sp>
      <p:sp>
        <p:nvSpPr>
          <p:cNvPr id="10" name="Shape 8"/>
          <p:cNvSpPr/>
          <p:nvPr/>
        </p:nvSpPr>
        <p:spPr>
          <a:xfrm>
            <a:off x="4206240" y="969264"/>
            <a:ext cx="1170432" cy="201168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969264"/>
            <a:ext cx="117043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관리</a:t>
            </a:r>
            <a:endParaRPr lang="ko-KR" sz="950" dirty="0"/>
          </a:p>
        </p:txBody>
      </p:sp>
      <p:sp>
        <p:nvSpPr>
          <p:cNvPr id="12" name="Shape 10"/>
          <p:cNvSpPr/>
          <p:nvPr/>
        </p:nvSpPr>
        <p:spPr>
          <a:xfrm>
            <a:off x="5431536" y="969264"/>
            <a:ext cx="1170432" cy="201168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31536" y="969264"/>
            <a:ext cx="117043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휴무일 관리</a:t>
            </a:r>
            <a:endParaRPr lang="ko-KR" sz="950" dirty="0"/>
          </a:p>
        </p:txBody>
      </p:sp>
      <p:sp>
        <p:nvSpPr>
          <p:cNvPr id="14" name="Shape 12"/>
          <p:cNvSpPr/>
          <p:nvPr/>
        </p:nvSpPr>
        <p:spPr>
          <a:xfrm>
            <a:off x="420624" y="1207008"/>
            <a:ext cx="8439912" cy="530352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1243584"/>
            <a:ext cx="731520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endParaRPr lang="ko-KR" sz="800" dirty="0"/>
          </a:p>
        </p:txBody>
      </p:sp>
      <p:sp>
        <p:nvSpPr>
          <p:cNvPr id="16" name="Shape 14"/>
          <p:cNvSpPr/>
          <p:nvPr/>
        </p:nvSpPr>
        <p:spPr>
          <a:xfrm>
            <a:off x="658368" y="1408176"/>
            <a:ext cx="731520" cy="274320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1408176"/>
            <a:ext cx="7315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</a:t>
            </a:r>
            <a:endParaRPr lang="ko-KR" sz="950" dirty="0"/>
          </a:p>
        </p:txBody>
      </p:sp>
      <p:sp>
        <p:nvSpPr>
          <p:cNvPr id="18" name="Shape 16"/>
          <p:cNvSpPr/>
          <p:nvPr/>
        </p:nvSpPr>
        <p:spPr>
          <a:xfrm>
            <a:off x="1490472" y="1261872"/>
            <a:ext cx="0" cy="420624"/>
          </a:xfrm>
          <a:prstGeom prst="line">
            <a:avLst/>
          </a:prstGeom>
          <a:noFill/>
          <a:ln w="9525">
            <a:solidFill>
              <a:srgbClr val="8C9BB5"/>
            </a:solidFill>
            <a:prstDash val="solid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1591056" y="1243584"/>
            <a:ext cx="2391664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업무 Action</a:t>
            </a:r>
            <a:endParaRPr lang="ko-KR" sz="800" dirty="0"/>
          </a:p>
        </p:txBody>
      </p:sp>
      <p:sp>
        <p:nvSpPr>
          <p:cNvPr id="20" name="Shape 18"/>
          <p:cNvSpPr/>
          <p:nvPr/>
        </p:nvSpPr>
        <p:spPr>
          <a:xfrm>
            <a:off x="1591056" y="1408176"/>
            <a:ext cx="756920" cy="274320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91056" y="1408176"/>
            <a:ext cx="7569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예약변경</a:t>
            </a:r>
            <a:endParaRPr lang="ko-KR" sz="950" dirty="0"/>
          </a:p>
        </p:txBody>
      </p:sp>
      <p:sp>
        <p:nvSpPr>
          <p:cNvPr id="22" name="Shape 20"/>
          <p:cNvSpPr/>
          <p:nvPr/>
        </p:nvSpPr>
        <p:spPr>
          <a:xfrm>
            <a:off x="2421128" y="1408176"/>
            <a:ext cx="756920" cy="274320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21128" y="1408176"/>
            <a:ext cx="7569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예약취소</a:t>
            </a:r>
            <a:endParaRPr lang="ko-KR" sz="950" dirty="0"/>
          </a:p>
        </p:txBody>
      </p:sp>
      <p:sp>
        <p:nvSpPr>
          <p:cNvPr id="24" name="Shape 22"/>
          <p:cNvSpPr/>
          <p:nvPr/>
        </p:nvSpPr>
        <p:spPr>
          <a:xfrm>
            <a:off x="3251200" y="1408176"/>
            <a:ext cx="731520" cy="274320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51200" y="1408176"/>
            <a:ext cx="7315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</a:t>
            </a:r>
            <a:endParaRPr lang="ko-KR" sz="950" dirty="0"/>
          </a:p>
        </p:txBody>
      </p:sp>
      <p:sp>
        <p:nvSpPr>
          <p:cNvPr id="26" name="Shape 24"/>
          <p:cNvSpPr/>
          <p:nvPr/>
        </p:nvSpPr>
        <p:spPr>
          <a:xfrm>
            <a:off x="4083304" y="1261872"/>
            <a:ext cx="0" cy="420624"/>
          </a:xfrm>
          <a:prstGeom prst="line">
            <a:avLst/>
          </a:prstGeom>
          <a:noFill/>
          <a:ln w="9525">
            <a:solidFill>
              <a:srgbClr val="8C9BB5"/>
            </a:solidFill>
            <a:prstDash val="solid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4183888" y="1243584"/>
            <a:ext cx="756920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보기</a:t>
            </a:r>
            <a:endParaRPr lang="ko-KR" sz="800" dirty="0"/>
          </a:p>
        </p:txBody>
      </p:sp>
      <p:sp>
        <p:nvSpPr>
          <p:cNvPr id="28" name="Shape 26"/>
          <p:cNvSpPr/>
          <p:nvPr/>
        </p:nvSpPr>
        <p:spPr>
          <a:xfrm>
            <a:off x="4183888" y="1408176"/>
            <a:ext cx="756920" cy="274320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83888" y="1408176"/>
            <a:ext cx="7569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컬럼설정</a:t>
            </a:r>
            <a:endParaRPr lang="ko-KR" sz="950" dirty="0"/>
          </a:p>
        </p:txBody>
      </p:sp>
      <p:sp>
        <p:nvSpPr>
          <p:cNvPr id="30" name="Shape 28"/>
          <p:cNvSpPr/>
          <p:nvPr/>
        </p:nvSpPr>
        <p:spPr>
          <a:xfrm>
            <a:off x="420624" y="1737360"/>
            <a:ext cx="8439912" cy="237744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0352" y="1755648"/>
            <a:ext cx="1188720" cy="201168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1755648"/>
            <a:ext cx="118872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 관리  ×</a:t>
            </a:r>
            <a:endParaRPr lang="ko-KR" sz="800" dirty="0"/>
          </a:p>
        </p:txBody>
      </p:sp>
      <p:sp>
        <p:nvSpPr>
          <p:cNvPr id="33" name="Shape 31"/>
          <p:cNvSpPr/>
          <p:nvPr/>
        </p:nvSpPr>
        <p:spPr>
          <a:xfrm>
            <a:off x="1764792" y="1755648"/>
            <a:ext cx="1188720" cy="201168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64792" y="1755648"/>
            <a:ext cx="118872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예약  ×</a:t>
            </a:r>
            <a:endParaRPr lang="ko-KR" sz="800" dirty="0"/>
          </a:p>
        </p:txBody>
      </p:sp>
      <p:sp>
        <p:nvSpPr>
          <p:cNvPr id="35" name="Shape 33"/>
          <p:cNvSpPr/>
          <p:nvPr/>
        </p:nvSpPr>
        <p:spPr>
          <a:xfrm>
            <a:off x="2999232" y="1755648"/>
            <a:ext cx="1188720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99232" y="1755648"/>
            <a:ext cx="118872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관리  ×</a:t>
            </a:r>
            <a:endParaRPr lang="ko-KR" sz="800" dirty="0"/>
          </a:p>
        </p:txBody>
      </p:sp>
      <p:sp>
        <p:nvSpPr>
          <p:cNvPr id="37" name="Shape 35"/>
          <p:cNvSpPr/>
          <p:nvPr/>
        </p:nvSpPr>
        <p:spPr>
          <a:xfrm>
            <a:off x="420624" y="6062472"/>
            <a:ext cx="8439912" cy="219456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" y="6062472"/>
            <a:ext cx="4572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상태 :  업무 가능</a:t>
            </a:r>
            <a:endParaRPr lang="ko-KR" sz="800" dirty="0"/>
          </a:p>
        </p:txBody>
      </p:sp>
      <p:sp>
        <p:nvSpPr>
          <p:cNvPr id="39" name="Shape 37"/>
          <p:cNvSpPr/>
          <p:nvPr/>
        </p:nvSpPr>
        <p:spPr>
          <a:xfrm>
            <a:off x="530352" y="2048256"/>
            <a:ext cx="8220456" cy="3941064"/>
          </a:xfrm>
          <a:prstGeom prst="rect">
            <a:avLst/>
          </a:prstGeom>
          <a:ln w="19050">
            <a:solidFill>
              <a:srgbClr val="8C9BB5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530352" y="3653028"/>
            <a:ext cx="822045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선택된 업무 Tab의 View</a:t>
            </a:r>
            <a:endParaRPr lang="ko-KR" sz="1200" dirty="0"/>
          </a:p>
        </p:txBody>
      </p:sp>
      <p:sp>
        <p:nvSpPr>
          <p:cNvPr id="41" name="Text 39"/>
          <p:cNvSpPr/>
          <p:nvPr/>
        </p:nvSpPr>
        <p:spPr>
          <a:xfrm>
            <a:off x="530352" y="4000500"/>
            <a:ext cx="822045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 관리  /  신규 예약  /  예약·접수 공통 Workbench</a:t>
            </a:r>
            <a:endParaRPr lang="ko-KR" sz="950" dirty="0"/>
          </a:p>
        </p:txBody>
      </p:sp>
      <p:sp>
        <p:nvSpPr>
          <p:cNvPr id="42" name="Text 40"/>
          <p:cNvSpPr/>
          <p:nvPr/>
        </p:nvSpPr>
        <p:spPr>
          <a:xfrm>
            <a:off x="530352" y="4293108"/>
            <a:ext cx="822045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변경은 Main View에서 직접 편집하지 않고 Modal · Confirm으로 분리한다</a:t>
            </a:r>
            <a:endParaRPr lang="ko-KR" sz="800" dirty="0"/>
          </a:p>
        </p:txBody>
      </p:sp>
      <p:sp>
        <p:nvSpPr>
          <p:cNvPr id="43" name="Text 41"/>
          <p:cNvSpPr/>
          <p:nvPr/>
        </p:nvSpPr>
        <p:spPr>
          <a:xfrm>
            <a:off x="420624" y="164592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MainForm 구조</a:t>
            </a:r>
            <a:endParaRPr lang="ko-KR" sz="3000" dirty="0"/>
          </a:p>
        </p:txBody>
      </p:sp>
      <p:sp>
        <p:nvSpPr>
          <p:cNvPr id="44" name="Shape 42"/>
          <p:cNvSpPr/>
          <p:nvPr/>
        </p:nvSpPr>
        <p:spPr>
          <a:xfrm>
            <a:off x="8897112" y="932688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262872" y="932688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313164" y="982980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WF-00  MainForm Shell · MainForm · P00 ·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</a:t>
            </a:r>
            <a:endParaRPr lang="ko-KR" sz="1000" dirty="0"/>
          </a:p>
        </p:txBody>
      </p:sp>
      <p:sp>
        <p:nvSpPr>
          <p:cNvPr id="47" name="Shape 45"/>
          <p:cNvSpPr/>
          <p:nvPr/>
        </p:nvSpPr>
        <p:spPr>
          <a:xfrm>
            <a:off x="8897112" y="1371117"/>
            <a:ext cx="365760" cy="607352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262872" y="1371117"/>
            <a:ext cx="2697480" cy="607352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897112" y="1371117"/>
            <a:ext cx="365760" cy="6073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1000" dirty="0"/>
          </a:p>
        </p:txBody>
      </p:sp>
      <p:sp>
        <p:nvSpPr>
          <p:cNvPr id="50" name="Text 48"/>
          <p:cNvSpPr/>
          <p:nvPr/>
        </p:nvSpPr>
        <p:spPr>
          <a:xfrm>
            <a:off x="9313164" y="1421409"/>
            <a:ext cx="2596896" cy="506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진입점 5개. 예약 관리·접수 관리는 같은 Tab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공유하고 휴무일 관리는 Tab 없이 Modal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연다</a:t>
            </a:r>
            <a:endParaRPr lang="ko-KR" sz="1000" dirty="0"/>
          </a:p>
        </p:txBody>
      </p:sp>
      <p:sp>
        <p:nvSpPr>
          <p:cNvPr id="51" name="Shape 49"/>
          <p:cNvSpPr/>
          <p:nvPr/>
        </p:nvSpPr>
        <p:spPr>
          <a:xfrm>
            <a:off x="8897112" y="1978470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262872" y="1978470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897112" y="1978470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sz="1000" dirty="0"/>
          </a:p>
        </p:txBody>
      </p:sp>
      <p:sp>
        <p:nvSpPr>
          <p:cNvPr id="54" name="Text 52"/>
          <p:cNvSpPr/>
          <p:nvPr/>
        </p:nvSpPr>
        <p:spPr>
          <a:xfrm>
            <a:off x="9313164" y="2028762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Ribbon Group 순서는 검색 → 현재 업무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 → 보기</a:t>
            </a:r>
            <a:endParaRPr lang="ko-KR" sz="1000" dirty="0"/>
          </a:p>
        </p:txBody>
      </p:sp>
      <p:sp>
        <p:nvSpPr>
          <p:cNvPr id="55" name="Shape 53"/>
          <p:cNvSpPr/>
          <p:nvPr/>
        </p:nvSpPr>
        <p:spPr>
          <a:xfrm>
            <a:off x="8897112" y="2416899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262872" y="2416899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897112" y="2416899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sz="1000" dirty="0"/>
          </a:p>
        </p:txBody>
      </p:sp>
      <p:sp>
        <p:nvSpPr>
          <p:cNvPr id="58" name="Text 56"/>
          <p:cNvSpPr/>
          <p:nvPr/>
        </p:nvSpPr>
        <p:spPr>
          <a:xfrm>
            <a:off x="9313164" y="2467191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업무 Tab은 중복 생성하지 않는다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(Single Instance)</a:t>
            </a:r>
            <a:endParaRPr lang="ko-KR" sz="1000" dirty="0"/>
          </a:p>
        </p:txBody>
      </p:sp>
      <p:sp>
        <p:nvSpPr>
          <p:cNvPr id="59" name="Shape 57"/>
          <p:cNvSpPr/>
          <p:nvPr/>
        </p:nvSpPr>
        <p:spPr>
          <a:xfrm>
            <a:off x="8897112" y="2855328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262872" y="2855328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897112" y="2855328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sz="1000" dirty="0"/>
          </a:p>
        </p:txBody>
      </p:sp>
      <p:sp>
        <p:nvSpPr>
          <p:cNvPr id="62" name="Text 60"/>
          <p:cNvSpPr/>
          <p:nvPr/>
        </p:nvSpPr>
        <p:spPr>
          <a:xfrm>
            <a:off x="9313164" y="2905620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Action은 하단이 아니라 Context Ribbon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둔다</a:t>
            </a:r>
            <a:endParaRPr lang="ko-KR" sz="1000" dirty="0"/>
          </a:p>
        </p:txBody>
      </p:sp>
      <p:sp>
        <p:nvSpPr>
          <p:cNvPr id="63" name="Shape 61"/>
          <p:cNvSpPr/>
          <p:nvPr/>
        </p:nvSpPr>
        <p:spPr>
          <a:xfrm>
            <a:off x="8897112" y="3293758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262872" y="3293758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897112" y="3293758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ko-KR" sz="1000" dirty="0"/>
          </a:p>
        </p:txBody>
      </p:sp>
      <p:sp>
        <p:nvSpPr>
          <p:cNvPr id="66" name="Text 64"/>
          <p:cNvSpPr/>
          <p:nvPr/>
        </p:nvSpPr>
        <p:spPr>
          <a:xfrm>
            <a:off x="9313164" y="3344050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휴무일 · 운영시간 외(09:00~18:00)면 업무 불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가로 표시한다. Action은 막지 않는다</a:t>
            </a:r>
            <a:endParaRPr lang="ko-KR" sz="1000" dirty="0"/>
          </a:p>
        </p:txBody>
      </p:sp>
      <p:sp>
        <p:nvSpPr>
          <p:cNvPr id="67" name="Shape 65"/>
          <p:cNvSpPr/>
          <p:nvPr/>
        </p:nvSpPr>
        <p:spPr>
          <a:xfrm>
            <a:off x="8897112" y="3732187"/>
            <a:ext cx="365760" cy="776275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262872" y="3732187"/>
            <a:ext cx="2697480" cy="776275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313164" y="3782479"/>
            <a:ext cx="2596896" cy="675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표시는 안내값이며 저장 성공을 보장하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 않는다. 저장·상태전이는 Stored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Procedure/Transaction이 현재 조건을 다시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검증한다.</a:t>
            </a:r>
            <a:endParaRPr lang="ko-KR" sz="1000" dirty="0"/>
          </a:p>
        </p:txBody>
      </p:sp>
      <p:sp>
        <p:nvSpPr>
          <p:cNvPr id="70" name="Shape 68"/>
          <p:cNvSpPr/>
          <p:nvPr/>
        </p:nvSpPr>
        <p:spPr>
          <a:xfrm>
            <a:off x="384048" y="960120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84048" y="960120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1000" dirty="0"/>
          </a:p>
        </p:txBody>
      </p:sp>
      <p:sp>
        <p:nvSpPr>
          <p:cNvPr id="72" name="Shape 70"/>
          <p:cNvSpPr/>
          <p:nvPr/>
        </p:nvSpPr>
        <p:spPr>
          <a:xfrm>
            <a:off x="512064" y="1435608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12064" y="1435608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sz="1000" dirty="0"/>
          </a:p>
        </p:txBody>
      </p:sp>
      <p:sp>
        <p:nvSpPr>
          <p:cNvPr id="74" name="Shape 72"/>
          <p:cNvSpPr/>
          <p:nvPr/>
        </p:nvSpPr>
        <p:spPr>
          <a:xfrm>
            <a:off x="274320" y="6062472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74320" y="6062472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ko-KR" sz="1000" dirty="0"/>
          </a:p>
        </p:txBody>
      </p:sp>
      <p:sp>
        <p:nvSpPr>
          <p:cNvPr id="76" name="Shape 74"/>
          <p:cNvSpPr/>
          <p:nvPr/>
        </p:nvSpPr>
        <p:spPr>
          <a:xfrm>
            <a:off x="274320" y="1746504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74320" y="1746504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sz="1000" dirty="0"/>
          </a:p>
        </p:txBody>
      </p:sp>
      <p:sp>
        <p:nvSpPr>
          <p:cNvPr id="78" name="Shape 76"/>
          <p:cNvSpPr/>
          <p:nvPr/>
        </p:nvSpPr>
        <p:spPr>
          <a:xfrm>
            <a:off x="384048" y="3909060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84048" y="3909060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932688"/>
            <a:ext cx="8439912" cy="5349240"/>
          </a:xfrm>
          <a:prstGeom prst="rect">
            <a:avLst/>
          </a:prstGeom>
          <a:ln w="254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0624" y="932688"/>
            <a:ext cx="8439912" cy="274320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" y="969264"/>
            <a:ext cx="1170432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969264"/>
            <a:ext cx="117043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 관리</a:t>
            </a:r>
            <a:endParaRPr lang="ko-KR" sz="950" dirty="0"/>
          </a:p>
        </p:txBody>
      </p:sp>
      <p:sp>
        <p:nvSpPr>
          <p:cNvPr id="6" name="Shape 4"/>
          <p:cNvSpPr/>
          <p:nvPr/>
        </p:nvSpPr>
        <p:spPr>
          <a:xfrm>
            <a:off x="1755648" y="969264"/>
            <a:ext cx="1170432" cy="201168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55648" y="969264"/>
            <a:ext cx="117043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예약</a:t>
            </a:r>
            <a:endParaRPr lang="ko-KR" sz="950" dirty="0"/>
          </a:p>
        </p:txBody>
      </p:sp>
      <p:sp>
        <p:nvSpPr>
          <p:cNvPr id="8" name="Shape 6"/>
          <p:cNvSpPr/>
          <p:nvPr/>
        </p:nvSpPr>
        <p:spPr>
          <a:xfrm>
            <a:off x="2980944" y="969264"/>
            <a:ext cx="1170432" cy="201168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80944" y="969264"/>
            <a:ext cx="117043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관리</a:t>
            </a:r>
            <a:endParaRPr lang="ko-KR" sz="950" dirty="0"/>
          </a:p>
        </p:txBody>
      </p:sp>
      <p:sp>
        <p:nvSpPr>
          <p:cNvPr id="10" name="Shape 8"/>
          <p:cNvSpPr/>
          <p:nvPr/>
        </p:nvSpPr>
        <p:spPr>
          <a:xfrm>
            <a:off x="4206240" y="969264"/>
            <a:ext cx="1170432" cy="201168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969264"/>
            <a:ext cx="117043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관리</a:t>
            </a:r>
            <a:endParaRPr lang="ko-KR" sz="950" dirty="0"/>
          </a:p>
        </p:txBody>
      </p:sp>
      <p:sp>
        <p:nvSpPr>
          <p:cNvPr id="12" name="Shape 10"/>
          <p:cNvSpPr/>
          <p:nvPr/>
        </p:nvSpPr>
        <p:spPr>
          <a:xfrm>
            <a:off x="5431536" y="969264"/>
            <a:ext cx="1170432" cy="201168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31536" y="969264"/>
            <a:ext cx="117043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휴무일 관리</a:t>
            </a:r>
            <a:endParaRPr lang="ko-KR" sz="950" dirty="0"/>
          </a:p>
        </p:txBody>
      </p:sp>
      <p:sp>
        <p:nvSpPr>
          <p:cNvPr id="14" name="Shape 12"/>
          <p:cNvSpPr/>
          <p:nvPr/>
        </p:nvSpPr>
        <p:spPr>
          <a:xfrm>
            <a:off x="420624" y="1207008"/>
            <a:ext cx="8439912" cy="530352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1243584"/>
            <a:ext cx="731520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endParaRPr lang="ko-KR" sz="800" dirty="0"/>
          </a:p>
        </p:txBody>
      </p:sp>
      <p:sp>
        <p:nvSpPr>
          <p:cNvPr id="16" name="Shape 14"/>
          <p:cNvSpPr/>
          <p:nvPr/>
        </p:nvSpPr>
        <p:spPr>
          <a:xfrm>
            <a:off x="658368" y="1408176"/>
            <a:ext cx="731520" cy="274320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1408176"/>
            <a:ext cx="7315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</a:t>
            </a:r>
            <a:endParaRPr lang="ko-KR" sz="950" dirty="0"/>
          </a:p>
        </p:txBody>
      </p:sp>
      <p:sp>
        <p:nvSpPr>
          <p:cNvPr id="18" name="Shape 16"/>
          <p:cNvSpPr/>
          <p:nvPr/>
        </p:nvSpPr>
        <p:spPr>
          <a:xfrm>
            <a:off x="1490472" y="1261872"/>
            <a:ext cx="0" cy="420624"/>
          </a:xfrm>
          <a:prstGeom prst="line">
            <a:avLst/>
          </a:prstGeom>
          <a:noFill/>
          <a:ln w="9525">
            <a:solidFill>
              <a:srgbClr val="8C9BB5"/>
            </a:solidFill>
            <a:prstDash val="solid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1591056" y="1243584"/>
            <a:ext cx="2417064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</a:t>
            </a:r>
            <a:endParaRPr lang="ko-KR" sz="800" dirty="0"/>
          </a:p>
        </p:txBody>
      </p:sp>
      <p:sp>
        <p:nvSpPr>
          <p:cNvPr id="20" name="Shape 18"/>
          <p:cNvSpPr/>
          <p:nvPr/>
        </p:nvSpPr>
        <p:spPr>
          <a:xfrm>
            <a:off x="1591056" y="1408176"/>
            <a:ext cx="756920" cy="274320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91056" y="1408176"/>
            <a:ext cx="7569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신규등록</a:t>
            </a:r>
            <a:endParaRPr lang="ko-KR" sz="950" dirty="0"/>
          </a:p>
        </p:txBody>
      </p:sp>
      <p:sp>
        <p:nvSpPr>
          <p:cNvPr id="22" name="Shape 20"/>
          <p:cNvSpPr/>
          <p:nvPr/>
        </p:nvSpPr>
        <p:spPr>
          <a:xfrm>
            <a:off x="2421128" y="1408176"/>
            <a:ext cx="756920" cy="274320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21128" y="1408176"/>
            <a:ext cx="7569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정보수정</a:t>
            </a:r>
            <a:endParaRPr lang="ko-KR" sz="950" dirty="0"/>
          </a:p>
        </p:txBody>
      </p:sp>
      <p:sp>
        <p:nvSpPr>
          <p:cNvPr id="24" name="Shape 22"/>
          <p:cNvSpPr/>
          <p:nvPr/>
        </p:nvSpPr>
        <p:spPr>
          <a:xfrm>
            <a:off x="3251200" y="1408176"/>
            <a:ext cx="756920" cy="274320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51200" y="1408176"/>
            <a:ext cx="7569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신규예약</a:t>
            </a:r>
            <a:endParaRPr lang="ko-KR" sz="950" dirty="0"/>
          </a:p>
        </p:txBody>
      </p:sp>
      <p:sp>
        <p:nvSpPr>
          <p:cNvPr id="26" name="Shape 24"/>
          <p:cNvSpPr/>
          <p:nvPr/>
        </p:nvSpPr>
        <p:spPr>
          <a:xfrm>
            <a:off x="4108704" y="1261872"/>
            <a:ext cx="0" cy="420624"/>
          </a:xfrm>
          <a:prstGeom prst="line">
            <a:avLst/>
          </a:prstGeom>
          <a:noFill/>
          <a:ln w="9525">
            <a:solidFill>
              <a:srgbClr val="8C9BB5"/>
            </a:solidFill>
            <a:prstDash val="solid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4209288" y="1243584"/>
            <a:ext cx="1586992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보기</a:t>
            </a:r>
            <a:endParaRPr lang="ko-KR" sz="800" dirty="0"/>
          </a:p>
        </p:txBody>
      </p:sp>
      <p:sp>
        <p:nvSpPr>
          <p:cNvPr id="28" name="Shape 26"/>
          <p:cNvSpPr/>
          <p:nvPr/>
        </p:nvSpPr>
        <p:spPr>
          <a:xfrm>
            <a:off x="4209288" y="1408176"/>
            <a:ext cx="756920" cy="274320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9288" y="1408176"/>
            <a:ext cx="7569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변경이력</a:t>
            </a:r>
            <a:endParaRPr lang="ko-KR" sz="950" dirty="0"/>
          </a:p>
        </p:txBody>
      </p:sp>
      <p:sp>
        <p:nvSpPr>
          <p:cNvPr id="30" name="Shape 28"/>
          <p:cNvSpPr/>
          <p:nvPr/>
        </p:nvSpPr>
        <p:spPr>
          <a:xfrm>
            <a:off x="5039360" y="1408176"/>
            <a:ext cx="756920" cy="274320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39360" y="1408176"/>
            <a:ext cx="7569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컬럼설정</a:t>
            </a:r>
            <a:endParaRPr lang="ko-KR" sz="950" dirty="0"/>
          </a:p>
        </p:txBody>
      </p:sp>
      <p:sp>
        <p:nvSpPr>
          <p:cNvPr id="32" name="Shape 30"/>
          <p:cNvSpPr/>
          <p:nvPr/>
        </p:nvSpPr>
        <p:spPr>
          <a:xfrm>
            <a:off x="420624" y="1737360"/>
            <a:ext cx="8439912" cy="237744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0352" y="1755648"/>
            <a:ext cx="1188720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1755648"/>
            <a:ext cx="118872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 관리  ×</a:t>
            </a:r>
            <a:endParaRPr lang="ko-KR" sz="800" dirty="0"/>
          </a:p>
        </p:txBody>
      </p:sp>
      <p:sp>
        <p:nvSpPr>
          <p:cNvPr id="35" name="Shape 33"/>
          <p:cNvSpPr/>
          <p:nvPr/>
        </p:nvSpPr>
        <p:spPr>
          <a:xfrm>
            <a:off x="420624" y="6062472"/>
            <a:ext cx="8439912" cy="219456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" y="6062472"/>
            <a:ext cx="4572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상태 :  업무 가능</a:t>
            </a:r>
            <a:endParaRPr lang="ko-KR" sz="800" dirty="0"/>
          </a:p>
        </p:txBody>
      </p:sp>
      <p:sp>
        <p:nvSpPr>
          <p:cNvPr id="37" name="Shape 35"/>
          <p:cNvSpPr/>
          <p:nvPr/>
        </p:nvSpPr>
        <p:spPr>
          <a:xfrm>
            <a:off x="530352" y="2029968"/>
            <a:ext cx="8220456" cy="859536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3504" y="2057400"/>
            <a:ext cx="80741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조회조건</a:t>
            </a:r>
            <a:endParaRPr lang="ko-KR" sz="800" dirty="0"/>
          </a:p>
        </p:txBody>
      </p:sp>
      <p:sp>
        <p:nvSpPr>
          <p:cNvPr id="39" name="Shape 37"/>
          <p:cNvSpPr/>
          <p:nvPr/>
        </p:nvSpPr>
        <p:spPr>
          <a:xfrm>
            <a:off x="530352" y="2240280"/>
            <a:ext cx="8220456" cy="0"/>
          </a:xfrm>
          <a:prstGeom prst="line">
            <a:avLst/>
          </a:prstGeom>
          <a:noFill/>
          <a:ln w="9525">
            <a:solidFill>
              <a:srgbClr val="8C9BB5"/>
            </a:solidFill>
            <a:prstDash val="solid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7891272" y="2276856"/>
            <a:ext cx="731520" cy="237744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91272" y="2276856"/>
            <a:ext cx="731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</a:t>
            </a:r>
            <a:endParaRPr lang="ko-KR" sz="950" dirty="0"/>
          </a:p>
        </p:txBody>
      </p:sp>
      <p:sp>
        <p:nvSpPr>
          <p:cNvPr id="42" name="Text 40"/>
          <p:cNvSpPr/>
          <p:nvPr/>
        </p:nvSpPr>
        <p:spPr>
          <a:xfrm>
            <a:off x="621792" y="2276856"/>
            <a:ext cx="62179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차트번호</a:t>
            </a:r>
            <a:endParaRPr lang="ko-KR" sz="800" dirty="0"/>
          </a:p>
        </p:txBody>
      </p:sp>
      <p:sp>
        <p:nvSpPr>
          <p:cNvPr id="43" name="Shape 41"/>
          <p:cNvSpPr/>
          <p:nvPr/>
        </p:nvSpPr>
        <p:spPr>
          <a:xfrm>
            <a:off x="1243584" y="2276856"/>
            <a:ext cx="1143000" cy="21945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32888" y="2276856"/>
            <a:ext cx="62179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</a:t>
            </a:r>
            <a:endParaRPr lang="ko-KR" sz="800" dirty="0"/>
          </a:p>
        </p:txBody>
      </p:sp>
      <p:sp>
        <p:nvSpPr>
          <p:cNvPr id="45" name="Shape 43"/>
          <p:cNvSpPr/>
          <p:nvPr/>
        </p:nvSpPr>
        <p:spPr>
          <a:xfrm>
            <a:off x="3154680" y="2276856"/>
            <a:ext cx="960120" cy="21945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61104" y="2276856"/>
            <a:ext cx="62179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주민번호</a:t>
            </a:r>
            <a:endParaRPr lang="ko-KR" sz="800" dirty="0"/>
          </a:p>
        </p:txBody>
      </p:sp>
      <p:sp>
        <p:nvSpPr>
          <p:cNvPr id="47" name="Shape 45"/>
          <p:cNvSpPr/>
          <p:nvPr/>
        </p:nvSpPr>
        <p:spPr>
          <a:xfrm>
            <a:off x="4882896" y="2276856"/>
            <a:ext cx="1463040" cy="21945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1792" y="2569464"/>
            <a:ext cx="62179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생년월일</a:t>
            </a:r>
            <a:endParaRPr lang="ko-KR" sz="800" dirty="0"/>
          </a:p>
        </p:txBody>
      </p:sp>
      <p:sp>
        <p:nvSpPr>
          <p:cNvPr id="49" name="Shape 47"/>
          <p:cNvSpPr/>
          <p:nvPr/>
        </p:nvSpPr>
        <p:spPr>
          <a:xfrm>
            <a:off x="1243584" y="2569464"/>
            <a:ext cx="1143000" cy="21945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32888" y="2569464"/>
            <a:ext cx="62179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휴대전화</a:t>
            </a:r>
            <a:endParaRPr lang="ko-KR" sz="800" dirty="0"/>
          </a:p>
        </p:txBody>
      </p:sp>
      <p:sp>
        <p:nvSpPr>
          <p:cNvPr id="51" name="Shape 49"/>
          <p:cNvSpPr/>
          <p:nvPr/>
        </p:nvSpPr>
        <p:spPr>
          <a:xfrm>
            <a:off x="3154680" y="2569464"/>
            <a:ext cx="1417320" cy="21945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0352" y="2944368"/>
            <a:ext cx="5039990" cy="3081528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3504" y="2971800"/>
            <a:ext cx="489368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 목록</a:t>
            </a:r>
            <a:endParaRPr lang="ko-KR" sz="800" dirty="0"/>
          </a:p>
        </p:txBody>
      </p:sp>
      <p:sp>
        <p:nvSpPr>
          <p:cNvPr id="54" name="Shape 52"/>
          <p:cNvSpPr/>
          <p:nvPr/>
        </p:nvSpPr>
        <p:spPr>
          <a:xfrm>
            <a:off x="530352" y="3154680"/>
            <a:ext cx="5039990" cy="0"/>
          </a:xfrm>
          <a:prstGeom prst="line">
            <a:avLst/>
          </a:prstGeom>
          <a:noFill/>
          <a:ln w="9525">
            <a:solidFill>
              <a:srgbClr val="8C9BB5"/>
            </a:solidFill>
            <a:prstDash val="solid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621792" y="3191256"/>
            <a:ext cx="1051560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6656" y="3191256"/>
            <a:ext cx="99669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차트번호</a:t>
            </a:r>
            <a:endParaRPr lang="ko-KR" sz="900" dirty="0"/>
          </a:p>
        </p:txBody>
      </p:sp>
      <p:sp>
        <p:nvSpPr>
          <p:cNvPr id="57" name="Shape 55"/>
          <p:cNvSpPr/>
          <p:nvPr/>
        </p:nvSpPr>
        <p:spPr>
          <a:xfrm>
            <a:off x="1673352" y="3191256"/>
            <a:ext cx="731520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673352" y="3191256"/>
            <a:ext cx="7315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</a:t>
            </a:r>
            <a:endParaRPr lang="ko-KR" sz="900" dirty="0"/>
          </a:p>
        </p:txBody>
      </p:sp>
      <p:sp>
        <p:nvSpPr>
          <p:cNvPr id="59" name="Shape 57"/>
          <p:cNvSpPr/>
          <p:nvPr/>
        </p:nvSpPr>
        <p:spPr>
          <a:xfrm>
            <a:off x="2404872" y="3191256"/>
            <a:ext cx="914400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404872" y="3191256"/>
            <a:ext cx="91440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생년월일</a:t>
            </a:r>
            <a:endParaRPr lang="ko-KR" sz="900" dirty="0"/>
          </a:p>
        </p:txBody>
      </p:sp>
      <p:sp>
        <p:nvSpPr>
          <p:cNvPr id="61" name="Shape 59"/>
          <p:cNvSpPr/>
          <p:nvPr/>
        </p:nvSpPr>
        <p:spPr>
          <a:xfrm>
            <a:off x="3319272" y="3191256"/>
            <a:ext cx="502920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319272" y="3191256"/>
            <a:ext cx="5029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성별</a:t>
            </a:r>
            <a:endParaRPr lang="ko-KR" sz="900" dirty="0"/>
          </a:p>
        </p:txBody>
      </p:sp>
      <p:sp>
        <p:nvSpPr>
          <p:cNvPr id="63" name="Shape 61"/>
          <p:cNvSpPr/>
          <p:nvPr/>
        </p:nvSpPr>
        <p:spPr>
          <a:xfrm>
            <a:off x="3822192" y="3191256"/>
            <a:ext cx="1656710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822192" y="3191256"/>
            <a:ext cx="165671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휴대전화번호</a:t>
            </a:r>
            <a:endParaRPr lang="ko-KR" sz="900" dirty="0"/>
          </a:p>
        </p:txBody>
      </p:sp>
      <p:sp>
        <p:nvSpPr>
          <p:cNvPr id="65" name="Shape 63"/>
          <p:cNvSpPr/>
          <p:nvPr/>
        </p:nvSpPr>
        <p:spPr>
          <a:xfrm>
            <a:off x="621792" y="3369564"/>
            <a:ext cx="105156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76656" y="3369564"/>
            <a:ext cx="99669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2026-000121</a:t>
            </a:r>
            <a:endParaRPr lang="ko-KR" sz="900" dirty="0"/>
          </a:p>
        </p:txBody>
      </p:sp>
      <p:sp>
        <p:nvSpPr>
          <p:cNvPr id="67" name="Shape 65"/>
          <p:cNvSpPr/>
          <p:nvPr/>
        </p:nvSpPr>
        <p:spPr>
          <a:xfrm>
            <a:off x="1673352" y="3369564"/>
            <a:ext cx="73152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673352" y="3369564"/>
            <a:ext cx="7315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수검자1</a:t>
            </a:r>
            <a:endParaRPr lang="ko-KR" sz="900" dirty="0"/>
          </a:p>
        </p:txBody>
      </p:sp>
      <p:sp>
        <p:nvSpPr>
          <p:cNvPr id="69" name="Shape 67"/>
          <p:cNvSpPr/>
          <p:nvPr/>
        </p:nvSpPr>
        <p:spPr>
          <a:xfrm>
            <a:off x="2404872" y="3369564"/>
            <a:ext cx="91440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404872" y="3369564"/>
            <a:ext cx="91440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1980-05-11</a:t>
            </a:r>
            <a:endParaRPr lang="ko-KR" sz="900" dirty="0"/>
          </a:p>
        </p:txBody>
      </p:sp>
      <p:sp>
        <p:nvSpPr>
          <p:cNvPr id="71" name="Shape 69"/>
          <p:cNvSpPr/>
          <p:nvPr/>
        </p:nvSpPr>
        <p:spPr>
          <a:xfrm>
            <a:off x="3319272" y="3369564"/>
            <a:ext cx="50292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319272" y="3369564"/>
            <a:ext cx="5029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</a:t>
            </a:r>
            <a:endParaRPr lang="ko-KR" sz="900" dirty="0"/>
          </a:p>
        </p:txBody>
      </p:sp>
      <p:sp>
        <p:nvSpPr>
          <p:cNvPr id="73" name="Shape 71"/>
          <p:cNvSpPr/>
          <p:nvPr/>
        </p:nvSpPr>
        <p:spPr>
          <a:xfrm>
            <a:off x="3822192" y="3369564"/>
            <a:ext cx="165671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822192" y="3369564"/>
            <a:ext cx="165671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010-0000-0001</a:t>
            </a:r>
            <a:endParaRPr lang="ko-KR" sz="900" dirty="0"/>
          </a:p>
        </p:txBody>
      </p:sp>
      <p:sp>
        <p:nvSpPr>
          <p:cNvPr id="75" name="Shape 73"/>
          <p:cNvSpPr/>
          <p:nvPr/>
        </p:nvSpPr>
        <p:spPr>
          <a:xfrm>
            <a:off x="621792" y="3547872"/>
            <a:ext cx="105156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76656" y="3547872"/>
            <a:ext cx="99669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2026-000122</a:t>
            </a:r>
            <a:endParaRPr lang="ko-KR" sz="900" dirty="0"/>
          </a:p>
        </p:txBody>
      </p:sp>
      <p:sp>
        <p:nvSpPr>
          <p:cNvPr id="77" name="Shape 75"/>
          <p:cNvSpPr/>
          <p:nvPr/>
        </p:nvSpPr>
        <p:spPr>
          <a:xfrm>
            <a:off x="1673352" y="3547872"/>
            <a:ext cx="73152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673352" y="3547872"/>
            <a:ext cx="7315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수검자2</a:t>
            </a:r>
            <a:endParaRPr lang="ko-KR" sz="900" dirty="0"/>
          </a:p>
        </p:txBody>
      </p:sp>
      <p:sp>
        <p:nvSpPr>
          <p:cNvPr id="79" name="Shape 77"/>
          <p:cNvSpPr/>
          <p:nvPr/>
        </p:nvSpPr>
        <p:spPr>
          <a:xfrm>
            <a:off x="2404872" y="3547872"/>
            <a:ext cx="91440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404872" y="3547872"/>
            <a:ext cx="91440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1972-11-03</a:t>
            </a:r>
            <a:endParaRPr lang="ko-KR" sz="900" dirty="0"/>
          </a:p>
        </p:txBody>
      </p:sp>
      <p:sp>
        <p:nvSpPr>
          <p:cNvPr id="81" name="Shape 79"/>
          <p:cNvSpPr/>
          <p:nvPr/>
        </p:nvSpPr>
        <p:spPr>
          <a:xfrm>
            <a:off x="3319272" y="3547872"/>
            <a:ext cx="50292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319272" y="3547872"/>
            <a:ext cx="5029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</a:t>
            </a:r>
            <a:endParaRPr lang="ko-KR" sz="900" dirty="0"/>
          </a:p>
        </p:txBody>
      </p:sp>
      <p:sp>
        <p:nvSpPr>
          <p:cNvPr id="83" name="Shape 81"/>
          <p:cNvSpPr/>
          <p:nvPr/>
        </p:nvSpPr>
        <p:spPr>
          <a:xfrm>
            <a:off x="3822192" y="3547872"/>
            <a:ext cx="165671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822192" y="3547872"/>
            <a:ext cx="165671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010-0000-0002</a:t>
            </a:r>
            <a:endParaRPr lang="ko-KR" sz="900" dirty="0"/>
          </a:p>
        </p:txBody>
      </p:sp>
      <p:sp>
        <p:nvSpPr>
          <p:cNvPr id="85" name="Shape 83"/>
          <p:cNvSpPr/>
          <p:nvPr/>
        </p:nvSpPr>
        <p:spPr>
          <a:xfrm>
            <a:off x="621792" y="3726180"/>
            <a:ext cx="105156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76656" y="3726180"/>
            <a:ext cx="99669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2026-000123</a:t>
            </a:r>
            <a:endParaRPr lang="ko-KR" sz="900" dirty="0"/>
          </a:p>
        </p:txBody>
      </p:sp>
      <p:sp>
        <p:nvSpPr>
          <p:cNvPr id="87" name="Shape 85"/>
          <p:cNvSpPr/>
          <p:nvPr/>
        </p:nvSpPr>
        <p:spPr>
          <a:xfrm>
            <a:off x="1673352" y="3726180"/>
            <a:ext cx="73152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673352" y="3726180"/>
            <a:ext cx="7315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홍길동</a:t>
            </a:r>
            <a:endParaRPr lang="ko-KR" sz="900" dirty="0"/>
          </a:p>
        </p:txBody>
      </p:sp>
      <p:sp>
        <p:nvSpPr>
          <p:cNvPr id="89" name="Shape 87"/>
          <p:cNvSpPr/>
          <p:nvPr/>
        </p:nvSpPr>
        <p:spPr>
          <a:xfrm>
            <a:off x="2404872" y="3726180"/>
            <a:ext cx="91440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404872" y="3726180"/>
            <a:ext cx="91440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1966-03-12</a:t>
            </a:r>
            <a:endParaRPr lang="ko-KR" sz="900" dirty="0"/>
          </a:p>
        </p:txBody>
      </p:sp>
      <p:sp>
        <p:nvSpPr>
          <p:cNvPr id="91" name="Shape 89"/>
          <p:cNvSpPr/>
          <p:nvPr/>
        </p:nvSpPr>
        <p:spPr>
          <a:xfrm>
            <a:off x="3319272" y="3726180"/>
            <a:ext cx="50292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319272" y="3726180"/>
            <a:ext cx="5029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</a:t>
            </a:r>
            <a:endParaRPr lang="ko-KR" sz="900" dirty="0"/>
          </a:p>
        </p:txBody>
      </p:sp>
      <p:sp>
        <p:nvSpPr>
          <p:cNvPr id="93" name="Shape 91"/>
          <p:cNvSpPr/>
          <p:nvPr/>
        </p:nvSpPr>
        <p:spPr>
          <a:xfrm>
            <a:off x="3822192" y="3726180"/>
            <a:ext cx="165671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822192" y="3726180"/>
            <a:ext cx="165671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010-0000-0003</a:t>
            </a:r>
            <a:endParaRPr lang="ko-KR" sz="900" dirty="0"/>
          </a:p>
        </p:txBody>
      </p:sp>
      <p:sp>
        <p:nvSpPr>
          <p:cNvPr id="95" name="Shape 93"/>
          <p:cNvSpPr/>
          <p:nvPr/>
        </p:nvSpPr>
        <p:spPr>
          <a:xfrm>
            <a:off x="621792" y="3904488"/>
            <a:ext cx="105156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76656" y="3904488"/>
            <a:ext cx="99669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2026-000124</a:t>
            </a:r>
            <a:endParaRPr lang="ko-KR" sz="900" dirty="0"/>
          </a:p>
        </p:txBody>
      </p:sp>
      <p:sp>
        <p:nvSpPr>
          <p:cNvPr id="97" name="Shape 95"/>
          <p:cNvSpPr/>
          <p:nvPr/>
        </p:nvSpPr>
        <p:spPr>
          <a:xfrm>
            <a:off x="1673352" y="3904488"/>
            <a:ext cx="73152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673352" y="3904488"/>
            <a:ext cx="7315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수검자4</a:t>
            </a:r>
            <a:endParaRPr lang="ko-KR" sz="900" dirty="0"/>
          </a:p>
        </p:txBody>
      </p:sp>
      <p:sp>
        <p:nvSpPr>
          <p:cNvPr id="99" name="Shape 97"/>
          <p:cNvSpPr/>
          <p:nvPr/>
        </p:nvSpPr>
        <p:spPr>
          <a:xfrm>
            <a:off x="2404872" y="3904488"/>
            <a:ext cx="91440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2404872" y="3904488"/>
            <a:ext cx="91440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1995-08-27</a:t>
            </a:r>
            <a:endParaRPr lang="ko-KR" sz="900" dirty="0"/>
          </a:p>
        </p:txBody>
      </p:sp>
      <p:sp>
        <p:nvSpPr>
          <p:cNvPr id="101" name="Shape 99"/>
          <p:cNvSpPr/>
          <p:nvPr/>
        </p:nvSpPr>
        <p:spPr>
          <a:xfrm>
            <a:off x="3319272" y="3904488"/>
            <a:ext cx="50292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319272" y="3904488"/>
            <a:ext cx="5029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</a:t>
            </a:r>
            <a:endParaRPr lang="ko-KR" sz="900" dirty="0"/>
          </a:p>
        </p:txBody>
      </p:sp>
      <p:sp>
        <p:nvSpPr>
          <p:cNvPr id="103" name="Shape 101"/>
          <p:cNvSpPr/>
          <p:nvPr/>
        </p:nvSpPr>
        <p:spPr>
          <a:xfrm>
            <a:off x="3822192" y="3904488"/>
            <a:ext cx="165671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822192" y="3904488"/>
            <a:ext cx="165671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010-0000-0004</a:t>
            </a:r>
            <a:endParaRPr lang="ko-KR" sz="900" dirty="0"/>
          </a:p>
        </p:txBody>
      </p:sp>
      <p:sp>
        <p:nvSpPr>
          <p:cNvPr id="105" name="Shape 103"/>
          <p:cNvSpPr/>
          <p:nvPr/>
        </p:nvSpPr>
        <p:spPr>
          <a:xfrm>
            <a:off x="621792" y="3726180"/>
            <a:ext cx="4857110" cy="178308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661782" y="2944368"/>
            <a:ext cx="3089026" cy="3081528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734934" y="2971800"/>
            <a:ext cx="294272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 상세 · ReadOnly</a:t>
            </a:r>
            <a:endParaRPr lang="ko-KR" sz="800" dirty="0"/>
          </a:p>
        </p:txBody>
      </p:sp>
      <p:sp>
        <p:nvSpPr>
          <p:cNvPr id="108" name="Shape 106"/>
          <p:cNvSpPr/>
          <p:nvPr/>
        </p:nvSpPr>
        <p:spPr>
          <a:xfrm>
            <a:off x="5661782" y="3154680"/>
            <a:ext cx="3089026" cy="0"/>
          </a:xfrm>
          <a:prstGeom prst="line">
            <a:avLst/>
          </a:prstGeom>
          <a:noFill/>
          <a:ln w="9525">
            <a:solidFill>
              <a:srgbClr val="8C9BB5"/>
            </a:solidFill>
            <a:prstDash val="solid"/>
            <a:tailEnd type="none"/>
          </a:ln>
        </p:spPr>
      </p:sp>
      <p:sp>
        <p:nvSpPr>
          <p:cNvPr id="109" name="Text 107"/>
          <p:cNvSpPr/>
          <p:nvPr/>
        </p:nvSpPr>
        <p:spPr>
          <a:xfrm>
            <a:off x="5753222" y="3191256"/>
            <a:ext cx="2906146" cy="1737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기본정보 ]</a:t>
            </a:r>
            <a:endParaRPr lang="ko-KR" sz="800" dirty="0"/>
          </a:p>
        </p:txBody>
      </p:sp>
      <p:sp>
        <p:nvSpPr>
          <p:cNvPr id="110" name="Text 108"/>
          <p:cNvSpPr/>
          <p:nvPr/>
        </p:nvSpPr>
        <p:spPr>
          <a:xfrm>
            <a:off x="5753222" y="3374136"/>
            <a:ext cx="93268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차트번호</a:t>
            </a:r>
            <a:endParaRPr lang="ko-KR" sz="800" dirty="0"/>
          </a:p>
        </p:txBody>
      </p:sp>
      <p:sp>
        <p:nvSpPr>
          <p:cNvPr id="111" name="Shape 109"/>
          <p:cNvSpPr/>
          <p:nvPr/>
        </p:nvSpPr>
        <p:spPr>
          <a:xfrm>
            <a:off x="6685910" y="3374136"/>
            <a:ext cx="1973458" cy="219456"/>
          </a:xfrm>
          <a:prstGeom prst="rect">
            <a:avLst/>
          </a:prstGeom>
          <a:solidFill>
            <a:srgbClr val="F2F2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685910" y="3374136"/>
            <a:ext cx="197345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2026-000123</a:t>
            </a:r>
            <a:endParaRPr lang="ko-KR" sz="900" dirty="0"/>
          </a:p>
        </p:txBody>
      </p:sp>
      <p:sp>
        <p:nvSpPr>
          <p:cNvPr id="113" name="Text 111"/>
          <p:cNvSpPr/>
          <p:nvPr/>
        </p:nvSpPr>
        <p:spPr>
          <a:xfrm>
            <a:off x="5753222" y="3611880"/>
            <a:ext cx="93268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</a:t>
            </a:r>
            <a:endParaRPr lang="ko-KR" sz="800" dirty="0"/>
          </a:p>
        </p:txBody>
      </p:sp>
      <p:sp>
        <p:nvSpPr>
          <p:cNvPr id="114" name="Shape 112"/>
          <p:cNvSpPr/>
          <p:nvPr/>
        </p:nvSpPr>
        <p:spPr>
          <a:xfrm>
            <a:off x="6685910" y="3611880"/>
            <a:ext cx="1973458" cy="219456"/>
          </a:xfrm>
          <a:prstGeom prst="rect">
            <a:avLst/>
          </a:prstGeom>
          <a:solidFill>
            <a:srgbClr val="F2F2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685910" y="3611880"/>
            <a:ext cx="197345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홍길동</a:t>
            </a:r>
            <a:endParaRPr lang="ko-KR" sz="900" dirty="0"/>
          </a:p>
        </p:txBody>
      </p:sp>
      <p:sp>
        <p:nvSpPr>
          <p:cNvPr id="116" name="Text 114"/>
          <p:cNvSpPr/>
          <p:nvPr/>
        </p:nvSpPr>
        <p:spPr>
          <a:xfrm>
            <a:off x="5753222" y="3849624"/>
            <a:ext cx="93268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주민등록번호</a:t>
            </a:r>
            <a:endParaRPr lang="ko-KR" sz="800" dirty="0"/>
          </a:p>
        </p:txBody>
      </p:sp>
      <p:sp>
        <p:nvSpPr>
          <p:cNvPr id="117" name="Shape 115"/>
          <p:cNvSpPr/>
          <p:nvPr/>
        </p:nvSpPr>
        <p:spPr>
          <a:xfrm>
            <a:off x="6685910" y="3849624"/>
            <a:ext cx="1973458" cy="219456"/>
          </a:xfrm>
          <a:prstGeom prst="rect">
            <a:avLst/>
          </a:prstGeom>
          <a:solidFill>
            <a:srgbClr val="F2F2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685910" y="3849624"/>
            <a:ext cx="197345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660312-2000019</a:t>
            </a:r>
            <a:endParaRPr lang="ko-KR" sz="900" dirty="0"/>
          </a:p>
        </p:txBody>
      </p:sp>
      <p:sp>
        <p:nvSpPr>
          <p:cNvPr id="119" name="Text 117"/>
          <p:cNvSpPr/>
          <p:nvPr/>
        </p:nvSpPr>
        <p:spPr>
          <a:xfrm>
            <a:off x="5753222" y="4087368"/>
            <a:ext cx="93268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생년월일 / 성별</a:t>
            </a:r>
            <a:endParaRPr lang="ko-KR" sz="800" dirty="0"/>
          </a:p>
        </p:txBody>
      </p:sp>
      <p:sp>
        <p:nvSpPr>
          <p:cNvPr id="120" name="Shape 118"/>
          <p:cNvSpPr/>
          <p:nvPr/>
        </p:nvSpPr>
        <p:spPr>
          <a:xfrm>
            <a:off x="6685910" y="4087368"/>
            <a:ext cx="1973458" cy="219456"/>
          </a:xfrm>
          <a:prstGeom prst="rect">
            <a:avLst/>
          </a:prstGeom>
          <a:solidFill>
            <a:srgbClr val="F2F2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685910" y="4087368"/>
            <a:ext cx="197345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1966-03-12  /  여</a:t>
            </a:r>
            <a:endParaRPr lang="ko-KR" sz="900" dirty="0"/>
          </a:p>
        </p:txBody>
      </p:sp>
      <p:sp>
        <p:nvSpPr>
          <p:cNvPr id="122" name="Text 120"/>
          <p:cNvSpPr/>
          <p:nvPr/>
        </p:nvSpPr>
        <p:spPr>
          <a:xfrm>
            <a:off x="5753222" y="4325112"/>
            <a:ext cx="2906146" cy="1737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연락처 ]</a:t>
            </a:r>
            <a:endParaRPr lang="ko-KR" sz="800" dirty="0"/>
          </a:p>
        </p:txBody>
      </p:sp>
      <p:sp>
        <p:nvSpPr>
          <p:cNvPr id="123" name="Text 121"/>
          <p:cNvSpPr/>
          <p:nvPr/>
        </p:nvSpPr>
        <p:spPr>
          <a:xfrm>
            <a:off x="5753222" y="4507992"/>
            <a:ext cx="93268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휴대전화</a:t>
            </a:r>
            <a:endParaRPr lang="ko-KR" sz="800" dirty="0"/>
          </a:p>
        </p:txBody>
      </p:sp>
      <p:sp>
        <p:nvSpPr>
          <p:cNvPr id="124" name="Shape 122"/>
          <p:cNvSpPr/>
          <p:nvPr/>
        </p:nvSpPr>
        <p:spPr>
          <a:xfrm>
            <a:off x="6685910" y="4507992"/>
            <a:ext cx="1973458" cy="219456"/>
          </a:xfrm>
          <a:prstGeom prst="rect">
            <a:avLst/>
          </a:prstGeom>
          <a:solidFill>
            <a:srgbClr val="F2F2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685910" y="4507992"/>
            <a:ext cx="197345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010-0000-0003</a:t>
            </a:r>
            <a:endParaRPr lang="ko-KR" sz="900" dirty="0"/>
          </a:p>
        </p:txBody>
      </p:sp>
      <p:sp>
        <p:nvSpPr>
          <p:cNvPr id="126" name="Text 124"/>
          <p:cNvSpPr/>
          <p:nvPr/>
        </p:nvSpPr>
        <p:spPr>
          <a:xfrm>
            <a:off x="5753222" y="4745736"/>
            <a:ext cx="93268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전화번호 / E-mail</a:t>
            </a:r>
            <a:endParaRPr lang="ko-KR" sz="800" dirty="0"/>
          </a:p>
        </p:txBody>
      </p:sp>
      <p:sp>
        <p:nvSpPr>
          <p:cNvPr id="127" name="Shape 125"/>
          <p:cNvSpPr/>
          <p:nvPr/>
        </p:nvSpPr>
        <p:spPr>
          <a:xfrm>
            <a:off x="6685910" y="4745736"/>
            <a:ext cx="1973458" cy="219456"/>
          </a:xfrm>
          <a:prstGeom prst="rect">
            <a:avLst/>
          </a:prstGeom>
          <a:solidFill>
            <a:srgbClr val="F2F2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5753222" y="4983480"/>
            <a:ext cx="2906146" cy="1737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주소 ]</a:t>
            </a:r>
            <a:endParaRPr lang="ko-KR" sz="800" dirty="0"/>
          </a:p>
        </p:txBody>
      </p:sp>
      <p:sp>
        <p:nvSpPr>
          <p:cNvPr id="129" name="Text 127"/>
          <p:cNvSpPr/>
          <p:nvPr/>
        </p:nvSpPr>
        <p:spPr>
          <a:xfrm>
            <a:off x="5753222" y="5166360"/>
            <a:ext cx="93268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우편번호 / 주소</a:t>
            </a:r>
            <a:endParaRPr lang="ko-KR" sz="800" dirty="0"/>
          </a:p>
        </p:txBody>
      </p:sp>
      <p:sp>
        <p:nvSpPr>
          <p:cNvPr id="130" name="Shape 128"/>
          <p:cNvSpPr/>
          <p:nvPr/>
        </p:nvSpPr>
        <p:spPr>
          <a:xfrm>
            <a:off x="6685910" y="5166360"/>
            <a:ext cx="1973458" cy="219456"/>
          </a:xfrm>
          <a:prstGeom prst="rect">
            <a:avLst/>
          </a:prstGeom>
          <a:solidFill>
            <a:srgbClr val="F2F2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5753222" y="5404104"/>
            <a:ext cx="93268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상세주소</a:t>
            </a:r>
            <a:endParaRPr lang="ko-KR" sz="800" dirty="0"/>
          </a:p>
        </p:txBody>
      </p:sp>
      <p:sp>
        <p:nvSpPr>
          <p:cNvPr id="132" name="Shape 130"/>
          <p:cNvSpPr/>
          <p:nvPr/>
        </p:nvSpPr>
        <p:spPr>
          <a:xfrm>
            <a:off x="6685910" y="5404104"/>
            <a:ext cx="1973458" cy="219456"/>
          </a:xfrm>
          <a:prstGeom prst="rect">
            <a:avLst/>
          </a:prstGeom>
          <a:solidFill>
            <a:srgbClr val="F2F2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5753222" y="5641848"/>
            <a:ext cx="2906146" cy="1737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메모 ]</a:t>
            </a:r>
            <a:endParaRPr lang="ko-KR" sz="800" dirty="0"/>
          </a:p>
        </p:txBody>
      </p:sp>
      <p:sp>
        <p:nvSpPr>
          <p:cNvPr id="134" name="Shape 132"/>
          <p:cNvSpPr/>
          <p:nvPr/>
        </p:nvSpPr>
        <p:spPr>
          <a:xfrm>
            <a:off x="5753222" y="5824728"/>
            <a:ext cx="2906146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8C9BB5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420624" y="164592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 관리</a:t>
            </a:r>
            <a:endParaRPr lang="ko-KR" sz="3000" dirty="0"/>
          </a:p>
        </p:txBody>
      </p:sp>
      <p:sp>
        <p:nvSpPr>
          <p:cNvPr id="136" name="Shape 134"/>
          <p:cNvSpPr/>
          <p:nvPr/>
        </p:nvSpPr>
        <p:spPr>
          <a:xfrm>
            <a:off x="8897112" y="932688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9262872" y="932688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9313164" y="982980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WF-PAT-01  수검자 관리 · Main Tab ·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P01-01~05 · F-PAT-001~003</a:t>
            </a:r>
            <a:endParaRPr lang="ko-KR" sz="1000" dirty="0"/>
          </a:p>
        </p:txBody>
      </p:sp>
      <p:sp>
        <p:nvSpPr>
          <p:cNvPr id="139" name="Shape 137"/>
          <p:cNvSpPr/>
          <p:nvPr/>
        </p:nvSpPr>
        <p:spPr>
          <a:xfrm>
            <a:off x="8897112" y="1371117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9262872" y="1371117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8897112" y="1371117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1000" dirty="0"/>
          </a:p>
        </p:txBody>
      </p:sp>
      <p:sp>
        <p:nvSpPr>
          <p:cNvPr id="142" name="Text 140"/>
          <p:cNvSpPr/>
          <p:nvPr/>
        </p:nvSpPr>
        <p:spPr>
          <a:xfrm>
            <a:off x="9313164" y="1421409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 미선택이면 [정보수정]·[신규예약]·[변경이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력] 비활성</a:t>
            </a:r>
            <a:endParaRPr lang="ko-KR" sz="1000" dirty="0"/>
          </a:p>
        </p:txBody>
      </p:sp>
      <p:sp>
        <p:nvSpPr>
          <p:cNvPr id="143" name="Shape 141"/>
          <p:cNvSpPr/>
          <p:nvPr/>
        </p:nvSpPr>
        <p:spPr>
          <a:xfrm>
            <a:off x="8897112" y="1809547"/>
            <a:ext cx="365760" cy="607352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9262872" y="1809547"/>
            <a:ext cx="2697480" cy="607352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9313164" y="1859839"/>
            <a:ext cx="2596896" cy="506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업무불가는 Action을 닫지 않는다 — 상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태영역 안내이고 판정은 저장 시점에 DB가 한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</a:t>
            </a:r>
            <a:endParaRPr lang="ko-KR" sz="1000" dirty="0"/>
          </a:p>
        </p:txBody>
      </p:sp>
      <p:sp>
        <p:nvSpPr>
          <p:cNvPr id="146" name="Shape 144"/>
          <p:cNvSpPr/>
          <p:nvPr/>
        </p:nvSpPr>
        <p:spPr>
          <a:xfrm>
            <a:off x="8897112" y="2416899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9262872" y="2416899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8897112" y="2416899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sz="1000" dirty="0"/>
          </a:p>
        </p:txBody>
      </p:sp>
      <p:sp>
        <p:nvSpPr>
          <p:cNvPr id="149" name="Text 147"/>
          <p:cNvSpPr/>
          <p:nvPr/>
        </p:nvSpPr>
        <p:spPr>
          <a:xfrm>
            <a:off x="9313164" y="2467191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없으면 전체 조회. 차트번호·이름은 포함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검색. 조건은 AND 결합</a:t>
            </a:r>
            <a:endParaRPr lang="ko-KR" sz="1000" dirty="0"/>
          </a:p>
        </p:txBody>
      </p:sp>
      <p:sp>
        <p:nvSpPr>
          <p:cNvPr id="150" name="Shape 148"/>
          <p:cNvSpPr/>
          <p:nvPr/>
        </p:nvSpPr>
        <p:spPr>
          <a:xfrm>
            <a:off x="8897112" y="2855328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9262872" y="2855328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8897112" y="2855328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sz="1000" dirty="0"/>
          </a:p>
        </p:txBody>
      </p:sp>
      <p:sp>
        <p:nvSpPr>
          <p:cNvPr id="153" name="Text 151"/>
          <p:cNvSpPr/>
          <p:nvPr/>
        </p:nvSpPr>
        <p:spPr>
          <a:xfrm>
            <a:off x="9313164" y="2905620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차트번호·주민번호·생년월일·휴대전화는 정확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검색, 이름은 앞부분 일치</a:t>
            </a:r>
            <a:endParaRPr lang="ko-KR" sz="1000" dirty="0"/>
          </a:p>
        </p:txBody>
      </p:sp>
      <p:sp>
        <p:nvSpPr>
          <p:cNvPr id="154" name="Shape 152"/>
          <p:cNvSpPr/>
          <p:nvPr/>
        </p:nvSpPr>
        <p:spPr>
          <a:xfrm>
            <a:off x="8897112" y="3293758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9262872" y="3293758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8897112" y="3293758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sz="1000" dirty="0"/>
          </a:p>
        </p:txBody>
      </p:sp>
      <p:sp>
        <p:nvSpPr>
          <p:cNvPr id="157" name="Text 155"/>
          <p:cNvSpPr/>
          <p:nvPr/>
        </p:nvSpPr>
        <p:spPr>
          <a:xfrm>
            <a:off x="9313164" y="3344050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행 선택. 재조회 시 선택행과 상세를 초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기화한다</a:t>
            </a:r>
            <a:endParaRPr lang="ko-KR" sz="1000" dirty="0"/>
          </a:p>
        </p:txBody>
      </p:sp>
      <p:sp>
        <p:nvSpPr>
          <p:cNvPr id="158" name="Shape 156"/>
          <p:cNvSpPr/>
          <p:nvPr/>
        </p:nvSpPr>
        <p:spPr>
          <a:xfrm>
            <a:off x="8897112" y="3732187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9262872" y="3732187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8897112" y="3732187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ko-KR" sz="1000" dirty="0"/>
          </a:p>
        </p:txBody>
      </p:sp>
      <p:sp>
        <p:nvSpPr>
          <p:cNvPr id="161" name="Text 159"/>
          <p:cNvSpPr/>
          <p:nvPr/>
        </p:nvSpPr>
        <p:spPr>
          <a:xfrm>
            <a:off x="9313164" y="3782479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주민등록번호는 마스킹 없이 전체값을 표시한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 (SocialNumber)</a:t>
            </a:r>
            <a:endParaRPr lang="ko-KR" sz="1000" dirty="0"/>
          </a:p>
        </p:txBody>
      </p:sp>
      <p:sp>
        <p:nvSpPr>
          <p:cNvPr id="162" name="Shape 160"/>
          <p:cNvSpPr/>
          <p:nvPr/>
        </p:nvSpPr>
        <p:spPr>
          <a:xfrm>
            <a:off x="8897112" y="4170617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9262872" y="4170617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8897112" y="4170617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ko-KR" sz="1000" dirty="0"/>
          </a:p>
        </p:txBody>
      </p:sp>
      <p:sp>
        <p:nvSpPr>
          <p:cNvPr id="165" name="Text 163"/>
          <p:cNvSpPr/>
          <p:nvPr/>
        </p:nvSpPr>
        <p:spPr>
          <a:xfrm>
            <a:off x="9313164" y="4220909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삭제는 제공하지 않는다. 정보 오류는 [정보수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정]으로 처리 (EP-10)</a:t>
            </a:r>
            <a:endParaRPr lang="ko-KR" sz="1000" dirty="0"/>
          </a:p>
        </p:txBody>
      </p:sp>
      <p:sp>
        <p:nvSpPr>
          <p:cNvPr id="166" name="Shape 164"/>
          <p:cNvSpPr/>
          <p:nvPr/>
        </p:nvSpPr>
        <p:spPr>
          <a:xfrm>
            <a:off x="8897112" y="4609046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9262872" y="4609046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8897112" y="4609046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ko-KR" sz="1000" dirty="0"/>
          </a:p>
        </p:txBody>
      </p:sp>
      <p:sp>
        <p:nvSpPr>
          <p:cNvPr id="169" name="Text 167"/>
          <p:cNvSpPr/>
          <p:nvPr/>
        </p:nvSpPr>
        <p:spPr>
          <a:xfrm>
            <a:off x="9313164" y="4659338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PatientId·정규화 컬럼·생성/수정시각은 Grid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노출하지 않는다</a:t>
            </a:r>
            <a:endParaRPr lang="ko-KR" sz="1000" dirty="0"/>
          </a:p>
        </p:txBody>
      </p:sp>
      <p:sp>
        <p:nvSpPr>
          <p:cNvPr id="170" name="Shape 168"/>
          <p:cNvSpPr/>
          <p:nvPr/>
        </p:nvSpPr>
        <p:spPr>
          <a:xfrm>
            <a:off x="512064" y="1435608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512064" y="1435608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1000" dirty="0"/>
          </a:p>
        </p:txBody>
      </p:sp>
      <p:sp>
        <p:nvSpPr>
          <p:cNvPr id="172" name="Shape 170"/>
          <p:cNvSpPr/>
          <p:nvPr/>
        </p:nvSpPr>
        <p:spPr>
          <a:xfrm>
            <a:off x="274320" y="6062472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274320" y="6062472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ko-KR" sz="1000" dirty="0"/>
          </a:p>
        </p:txBody>
      </p:sp>
      <p:sp>
        <p:nvSpPr>
          <p:cNvPr id="174" name="Shape 172"/>
          <p:cNvSpPr/>
          <p:nvPr/>
        </p:nvSpPr>
        <p:spPr>
          <a:xfrm>
            <a:off x="384048" y="2350008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384048" y="2350008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sz="1000" dirty="0"/>
          </a:p>
        </p:txBody>
      </p:sp>
      <p:sp>
        <p:nvSpPr>
          <p:cNvPr id="176" name="Shape 174"/>
          <p:cNvSpPr/>
          <p:nvPr/>
        </p:nvSpPr>
        <p:spPr>
          <a:xfrm>
            <a:off x="384048" y="4375404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384048" y="4375404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sz="1000" dirty="0"/>
          </a:p>
        </p:txBody>
      </p:sp>
      <p:sp>
        <p:nvSpPr>
          <p:cNvPr id="178" name="Shape 176"/>
          <p:cNvSpPr/>
          <p:nvPr/>
        </p:nvSpPr>
        <p:spPr>
          <a:xfrm>
            <a:off x="5515478" y="4375404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5515478" y="4375404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sz="1000" dirty="0"/>
          </a:p>
        </p:txBody>
      </p:sp>
      <p:sp>
        <p:nvSpPr>
          <p:cNvPr id="180" name="Shape 178"/>
          <p:cNvSpPr/>
          <p:nvPr/>
        </p:nvSpPr>
        <p:spPr>
          <a:xfrm>
            <a:off x="6539606" y="3849624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6539606" y="3849624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ko-KR" sz="1000" dirty="0"/>
          </a:p>
        </p:txBody>
      </p:sp>
      <p:sp>
        <p:nvSpPr>
          <p:cNvPr id="182" name="Shape 180"/>
          <p:cNvSpPr/>
          <p:nvPr/>
        </p:nvSpPr>
        <p:spPr>
          <a:xfrm>
            <a:off x="5606918" y="5852160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5606918" y="5852160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ko-KR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932688"/>
            <a:ext cx="8439912" cy="5349240"/>
          </a:xfrm>
          <a:prstGeom prst="rect">
            <a:avLst/>
          </a:prstGeom>
          <a:ln w="19050">
            <a:solidFill>
              <a:srgbClr val="C8C8C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0624" y="932688"/>
            <a:ext cx="8439912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C8C8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32688"/>
            <a:ext cx="54864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예약 (WF-RSV-01)  ·  접수 관리 (WF-WRK-01)   —   비활성(Modal)</a:t>
            </a:r>
            <a:endParaRPr lang="ko-KR" sz="800" dirty="0"/>
          </a:p>
        </p:txBody>
      </p:sp>
      <p:sp>
        <p:nvSpPr>
          <p:cNvPr id="5" name="Shape 3"/>
          <p:cNvSpPr/>
          <p:nvPr/>
        </p:nvSpPr>
        <p:spPr>
          <a:xfrm>
            <a:off x="1165860" y="1641348"/>
            <a:ext cx="694944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86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09060" y="1504188"/>
            <a:ext cx="146304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09060" y="1504188"/>
            <a:ext cx="14630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 선택</a:t>
            </a:r>
            <a:endParaRPr lang="ko-KR" sz="950" dirty="0"/>
          </a:p>
        </p:txBody>
      </p:sp>
      <p:sp>
        <p:nvSpPr>
          <p:cNvPr id="8" name="Shape 6"/>
          <p:cNvSpPr/>
          <p:nvPr/>
        </p:nvSpPr>
        <p:spPr>
          <a:xfrm>
            <a:off x="7008876" y="5189220"/>
            <a:ext cx="960120" cy="256032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08876" y="5189220"/>
            <a:ext cx="9601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닫기</a:t>
            </a:r>
            <a:endParaRPr lang="ko-KR" sz="950" dirty="0"/>
          </a:p>
        </p:txBody>
      </p:sp>
      <p:sp>
        <p:nvSpPr>
          <p:cNvPr id="10" name="Shape 8"/>
          <p:cNvSpPr/>
          <p:nvPr/>
        </p:nvSpPr>
        <p:spPr>
          <a:xfrm>
            <a:off x="5957316" y="5189220"/>
            <a:ext cx="960120" cy="256032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57316" y="5189220"/>
            <a:ext cx="9601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</a:t>
            </a:r>
            <a:endParaRPr lang="ko-KR" sz="950" dirty="0"/>
          </a:p>
        </p:txBody>
      </p:sp>
      <p:sp>
        <p:nvSpPr>
          <p:cNvPr id="12" name="Shape 10"/>
          <p:cNvSpPr/>
          <p:nvPr/>
        </p:nvSpPr>
        <p:spPr>
          <a:xfrm>
            <a:off x="1312164" y="1879092"/>
            <a:ext cx="6656832" cy="859536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85316" y="1906524"/>
            <a:ext cx="65105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조회조건</a:t>
            </a:r>
            <a:endParaRPr lang="ko-KR" sz="800" dirty="0"/>
          </a:p>
        </p:txBody>
      </p:sp>
      <p:sp>
        <p:nvSpPr>
          <p:cNvPr id="14" name="Shape 12"/>
          <p:cNvSpPr/>
          <p:nvPr/>
        </p:nvSpPr>
        <p:spPr>
          <a:xfrm>
            <a:off x="1312164" y="2089404"/>
            <a:ext cx="6656832" cy="0"/>
          </a:xfrm>
          <a:prstGeom prst="line">
            <a:avLst/>
          </a:prstGeom>
          <a:noFill/>
          <a:ln w="9525">
            <a:solidFill>
              <a:srgbClr val="8C9BB5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7029196" y="2125980"/>
            <a:ext cx="811784" cy="237744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29196" y="2125980"/>
            <a:ext cx="81178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신규등록</a:t>
            </a:r>
            <a:endParaRPr lang="ko-KR" sz="950" dirty="0"/>
          </a:p>
        </p:txBody>
      </p:sp>
      <p:sp>
        <p:nvSpPr>
          <p:cNvPr id="17" name="Shape 15"/>
          <p:cNvSpPr/>
          <p:nvPr/>
        </p:nvSpPr>
        <p:spPr>
          <a:xfrm>
            <a:off x="6224524" y="2125980"/>
            <a:ext cx="731520" cy="237744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24524" y="2125980"/>
            <a:ext cx="731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</a:t>
            </a:r>
            <a:endParaRPr lang="ko-KR" sz="950" dirty="0"/>
          </a:p>
        </p:txBody>
      </p:sp>
      <p:sp>
        <p:nvSpPr>
          <p:cNvPr id="19" name="Text 17"/>
          <p:cNvSpPr/>
          <p:nvPr/>
        </p:nvSpPr>
        <p:spPr>
          <a:xfrm>
            <a:off x="1403604" y="2125980"/>
            <a:ext cx="62179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차트번호</a:t>
            </a:r>
            <a:endParaRPr lang="ko-KR" sz="800" dirty="0"/>
          </a:p>
        </p:txBody>
      </p:sp>
      <p:sp>
        <p:nvSpPr>
          <p:cNvPr id="20" name="Shape 18"/>
          <p:cNvSpPr/>
          <p:nvPr/>
        </p:nvSpPr>
        <p:spPr>
          <a:xfrm>
            <a:off x="2025396" y="2125980"/>
            <a:ext cx="914400" cy="21945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86100" y="2125980"/>
            <a:ext cx="457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</a:t>
            </a:r>
            <a:endParaRPr lang="ko-KR" sz="800" dirty="0"/>
          </a:p>
        </p:txBody>
      </p:sp>
      <p:sp>
        <p:nvSpPr>
          <p:cNvPr id="22" name="Shape 20"/>
          <p:cNvSpPr/>
          <p:nvPr/>
        </p:nvSpPr>
        <p:spPr>
          <a:xfrm>
            <a:off x="3543300" y="2125980"/>
            <a:ext cx="749808" cy="21945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9412" y="2125980"/>
            <a:ext cx="62179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주민번호</a:t>
            </a:r>
            <a:endParaRPr lang="ko-KR" sz="800" dirty="0"/>
          </a:p>
        </p:txBody>
      </p:sp>
      <p:sp>
        <p:nvSpPr>
          <p:cNvPr id="24" name="Shape 22"/>
          <p:cNvSpPr/>
          <p:nvPr/>
        </p:nvSpPr>
        <p:spPr>
          <a:xfrm>
            <a:off x="5061204" y="2125980"/>
            <a:ext cx="1024128" cy="21945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03604" y="2418588"/>
            <a:ext cx="62179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생년월일</a:t>
            </a:r>
            <a:endParaRPr lang="ko-KR" sz="800" dirty="0"/>
          </a:p>
        </p:txBody>
      </p:sp>
      <p:sp>
        <p:nvSpPr>
          <p:cNvPr id="26" name="Shape 24"/>
          <p:cNvSpPr/>
          <p:nvPr/>
        </p:nvSpPr>
        <p:spPr>
          <a:xfrm>
            <a:off x="2025396" y="2418588"/>
            <a:ext cx="1051560" cy="21945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23260" y="2418588"/>
            <a:ext cx="62179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휴대전화</a:t>
            </a:r>
            <a:endParaRPr lang="ko-KR" sz="800" dirty="0"/>
          </a:p>
        </p:txBody>
      </p:sp>
      <p:sp>
        <p:nvSpPr>
          <p:cNvPr id="28" name="Shape 26"/>
          <p:cNvSpPr/>
          <p:nvPr/>
        </p:nvSpPr>
        <p:spPr>
          <a:xfrm>
            <a:off x="3845052" y="2418588"/>
            <a:ext cx="1234440" cy="21945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12164" y="2811780"/>
            <a:ext cx="6656832" cy="2212848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85316" y="2839212"/>
            <a:ext cx="65105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결과</a:t>
            </a:r>
            <a:endParaRPr lang="ko-KR" sz="800" dirty="0"/>
          </a:p>
        </p:txBody>
      </p:sp>
      <p:sp>
        <p:nvSpPr>
          <p:cNvPr id="31" name="Shape 29"/>
          <p:cNvSpPr/>
          <p:nvPr/>
        </p:nvSpPr>
        <p:spPr>
          <a:xfrm>
            <a:off x="1312164" y="3022092"/>
            <a:ext cx="6656832" cy="0"/>
          </a:xfrm>
          <a:prstGeom prst="line">
            <a:avLst/>
          </a:prstGeom>
          <a:noFill/>
          <a:ln w="9525">
            <a:solidFill>
              <a:srgbClr val="8C9BB5"/>
            </a:solidFill>
            <a:prstDash val="solid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1403604" y="3058668"/>
            <a:ext cx="1051560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58468" y="3058668"/>
            <a:ext cx="99669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차트번호</a:t>
            </a:r>
            <a:endParaRPr lang="ko-KR" sz="900" dirty="0"/>
          </a:p>
        </p:txBody>
      </p:sp>
      <p:sp>
        <p:nvSpPr>
          <p:cNvPr id="34" name="Shape 32"/>
          <p:cNvSpPr/>
          <p:nvPr/>
        </p:nvSpPr>
        <p:spPr>
          <a:xfrm>
            <a:off x="2455164" y="3058668"/>
            <a:ext cx="731520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55164" y="3058668"/>
            <a:ext cx="7315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</a:t>
            </a:r>
            <a:endParaRPr lang="ko-KR" sz="900" dirty="0"/>
          </a:p>
        </p:txBody>
      </p:sp>
      <p:sp>
        <p:nvSpPr>
          <p:cNvPr id="36" name="Shape 34"/>
          <p:cNvSpPr/>
          <p:nvPr/>
        </p:nvSpPr>
        <p:spPr>
          <a:xfrm>
            <a:off x="3186684" y="3058668"/>
            <a:ext cx="1234440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86684" y="3058668"/>
            <a:ext cx="123444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주민번호</a:t>
            </a:r>
            <a:endParaRPr lang="ko-KR" sz="900" dirty="0"/>
          </a:p>
        </p:txBody>
      </p:sp>
      <p:sp>
        <p:nvSpPr>
          <p:cNvPr id="38" name="Shape 36"/>
          <p:cNvSpPr/>
          <p:nvPr/>
        </p:nvSpPr>
        <p:spPr>
          <a:xfrm>
            <a:off x="4421124" y="3058668"/>
            <a:ext cx="914400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21124" y="3058668"/>
            <a:ext cx="91440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생년월일</a:t>
            </a:r>
            <a:endParaRPr lang="ko-KR" sz="900" dirty="0"/>
          </a:p>
        </p:txBody>
      </p:sp>
      <p:sp>
        <p:nvSpPr>
          <p:cNvPr id="40" name="Shape 38"/>
          <p:cNvSpPr/>
          <p:nvPr/>
        </p:nvSpPr>
        <p:spPr>
          <a:xfrm>
            <a:off x="5335524" y="3058668"/>
            <a:ext cx="457200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35524" y="3058668"/>
            <a:ext cx="45720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성별</a:t>
            </a:r>
            <a:endParaRPr lang="ko-KR" sz="900" dirty="0"/>
          </a:p>
        </p:txBody>
      </p:sp>
      <p:sp>
        <p:nvSpPr>
          <p:cNvPr id="42" name="Shape 40"/>
          <p:cNvSpPr/>
          <p:nvPr/>
        </p:nvSpPr>
        <p:spPr>
          <a:xfrm>
            <a:off x="5792724" y="3058668"/>
            <a:ext cx="2084832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92724" y="3058668"/>
            <a:ext cx="2084832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휴대전화</a:t>
            </a:r>
            <a:endParaRPr lang="ko-KR" sz="900" dirty="0"/>
          </a:p>
        </p:txBody>
      </p:sp>
      <p:sp>
        <p:nvSpPr>
          <p:cNvPr id="44" name="Shape 42"/>
          <p:cNvSpPr/>
          <p:nvPr/>
        </p:nvSpPr>
        <p:spPr>
          <a:xfrm>
            <a:off x="1403604" y="3236976"/>
            <a:ext cx="105156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458468" y="3236976"/>
            <a:ext cx="99669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2026-000123</a:t>
            </a:r>
            <a:endParaRPr lang="ko-KR" sz="900" dirty="0"/>
          </a:p>
        </p:txBody>
      </p:sp>
      <p:sp>
        <p:nvSpPr>
          <p:cNvPr id="46" name="Shape 44"/>
          <p:cNvSpPr/>
          <p:nvPr/>
        </p:nvSpPr>
        <p:spPr>
          <a:xfrm>
            <a:off x="2455164" y="3236976"/>
            <a:ext cx="73152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455164" y="3236976"/>
            <a:ext cx="7315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홍길동</a:t>
            </a:r>
            <a:endParaRPr lang="ko-KR" sz="900" dirty="0"/>
          </a:p>
        </p:txBody>
      </p:sp>
      <p:sp>
        <p:nvSpPr>
          <p:cNvPr id="48" name="Shape 46"/>
          <p:cNvSpPr/>
          <p:nvPr/>
        </p:nvSpPr>
        <p:spPr>
          <a:xfrm>
            <a:off x="3186684" y="3236976"/>
            <a:ext cx="123444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86684" y="3236976"/>
            <a:ext cx="123444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660312-2000019</a:t>
            </a:r>
            <a:endParaRPr lang="ko-KR" sz="900" dirty="0"/>
          </a:p>
        </p:txBody>
      </p:sp>
      <p:sp>
        <p:nvSpPr>
          <p:cNvPr id="50" name="Shape 48"/>
          <p:cNvSpPr/>
          <p:nvPr/>
        </p:nvSpPr>
        <p:spPr>
          <a:xfrm>
            <a:off x="4421124" y="3236976"/>
            <a:ext cx="91440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21124" y="3236976"/>
            <a:ext cx="91440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1966-03-12</a:t>
            </a:r>
            <a:endParaRPr lang="ko-KR" sz="900" dirty="0"/>
          </a:p>
        </p:txBody>
      </p:sp>
      <p:sp>
        <p:nvSpPr>
          <p:cNvPr id="52" name="Shape 50"/>
          <p:cNvSpPr/>
          <p:nvPr/>
        </p:nvSpPr>
        <p:spPr>
          <a:xfrm>
            <a:off x="5335524" y="3236976"/>
            <a:ext cx="45720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35524" y="3236976"/>
            <a:ext cx="45720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</a:t>
            </a:r>
            <a:endParaRPr lang="ko-KR" sz="900" dirty="0"/>
          </a:p>
        </p:txBody>
      </p:sp>
      <p:sp>
        <p:nvSpPr>
          <p:cNvPr id="54" name="Shape 52"/>
          <p:cNvSpPr/>
          <p:nvPr/>
        </p:nvSpPr>
        <p:spPr>
          <a:xfrm>
            <a:off x="5792724" y="3236976"/>
            <a:ext cx="2084832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92724" y="3236976"/>
            <a:ext cx="2084832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010-0000-0003</a:t>
            </a:r>
            <a:endParaRPr lang="ko-KR" sz="900" dirty="0"/>
          </a:p>
        </p:txBody>
      </p:sp>
      <p:sp>
        <p:nvSpPr>
          <p:cNvPr id="56" name="Shape 54"/>
          <p:cNvSpPr/>
          <p:nvPr/>
        </p:nvSpPr>
        <p:spPr>
          <a:xfrm>
            <a:off x="1403604" y="3415284"/>
            <a:ext cx="105156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458468" y="3415284"/>
            <a:ext cx="99669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2026-000121</a:t>
            </a:r>
            <a:endParaRPr lang="ko-KR" sz="900" dirty="0"/>
          </a:p>
        </p:txBody>
      </p:sp>
      <p:sp>
        <p:nvSpPr>
          <p:cNvPr id="58" name="Shape 56"/>
          <p:cNvSpPr/>
          <p:nvPr/>
        </p:nvSpPr>
        <p:spPr>
          <a:xfrm>
            <a:off x="2455164" y="3415284"/>
            <a:ext cx="73152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455164" y="3415284"/>
            <a:ext cx="7315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수검자1</a:t>
            </a:r>
            <a:endParaRPr lang="ko-KR" sz="900" dirty="0"/>
          </a:p>
        </p:txBody>
      </p:sp>
      <p:sp>
        <p:nvSpPr>
          <p:cNvPr id="60" name="Shape 58"/>
          <p:cNvSpPr/>
          <p:nvPr/>
        </p:nvSpPr>
        <p:spPr>
          <a:xfrm>
            <a:off x="3186684" y="3415284"/>
            <a:ext cx="123444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186684" y="3415284"/>
            <a:ext cx="123444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800511-1000015</a:t>
            </a:r>
            <a:endParaRPr lang="ko-KR" sz="900" dirty="0"/>
          </a:p>
        </p:txBody>
      </p:sp>
      <p:sp>
        <p:nvSpPr>
          <p:cNvPr id="62" name="Shape 60"/>
          <p:cNvSpPr/>
          <p:nvPr/>
        </p:nvSpPr>
        <p:spPr>
          <a:xfrm>
            <a:off x="4421124" y="3415284"/>
            <a:ext cx="91440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421124" y="3415284"/>
            <a:ext cx="91440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1980-05-11</a:t>
            </a:r>
            <a:endParaRPr lang="ko-KR" sz="900" dirty="0"/>
          </a:p>
        </p:txBody>
      </p:sp>
      <p:sp>
        <p:nvSpPr>
          <p:cNvPr id="64" name="Shape 62"/>
          <p:cNvSpPr/>
          <p:nvPr/>
        </p:nvSpPr>
        <p:spPr>
          <a:xfrm>
            <a:off x="5335524" y="3415284"/>
            <a:ext cx="45720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335524" y="3415284"/>
            <a:ext cx="45720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</a:t>
            </a:r>
            <a:endParaRPr lang="ko-KR" sz="900" dirty="0"/>
          </a:p>
        </p:txBody>
      </p:sp>
      <p:sp>
        <p:nvSpPr>
          <p:cNvPr id="66" name="Shape 64"/>
          <p:cNvSpPr/>
          <p:nvPr/>
        </p:nvSpPr>
        <p:spPr>
          <a:xfrm>
            <a:off x="5792724" y="3415284"/>
            <a:ext cx="2084832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792724" y="3415284"/>
            <a:ext cx="2084832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010-0000-0001</a:t>
            </a:r>
            <a:endParaRPr lang="ko-KR" sz="900" dirty="0"/>
          </a:p>
        </p:txBody>
      </p:sp>
      <p:sp>
        <p:nvSpPr>
          <p:cNvPr id="68" name="Shape 66"/>
          <p:cNvSpPr/>
          <p:nvPr/>
        </p:nvSpPr>
        <p:spPr>
          <a:xfrm>
            <a:off x="1403604" y="3236976"/>
            <a:ext cx="6473952" cy="178308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20624" y="164592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 선택</a:t>
            </a:r>
            <a:endParaRPr lang="ko-KR" sz="3000" dirty="0"/>
          </a:p>
        </p:txBody>
      </p:sp>
      <p:sp>
        <p:nvSpPr>
          <p:cNvPr id="70" name="Shape 68"/>
          <p:cNvSpPr/>
          <p:nvPr/>
        </p:nvSpPr>
        <p:spPr>
          <a:xfrm>
            <a:off x="8897112" y="932688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262872" y="932688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313164" y="982980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DLG-PAT-02  수검자 선택 · Modal ·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P01-01~03 · F-PAT-001~002</a:t>
            </a:r>
            <a:endParaRPr lang="ko-KR" sz="1000" dirty="0"/>
          </a:p>
        </p:txBody>
      </p:sp>
      <p:sp>
        <p:nvSpPr>
          <p:cNvPr id="73" name="Shape 71"/>
          <p:cNvSpPr/>
          <p:nvPr/>
        </p:nvSpPr>
        <p:spPr>
          <a:xfrm>
            <a:off x="8897112" y="1371117"/>
            <a:ext cx="365760" cy="274320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262872" y="1371117"/>
            <a:ext cx="2697480" cy="274320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897112" y="1371117"/>
            <a:ext cx="3657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1000" dirty="0"/>
          </a:p>
        </p:txBody>
      </p:sp>
      <p:sp>
        <p:nvSpPr>
          <p:cNvPr id="76" name="Text 74"/>
          <p:cNvSpPr/>
          <p:nvPr/>
        </p:nvSpPr>
        <p:spPr>
          <a:xfrm>
            <a:off x="9313164" y="1421409"/>
            <a:ext cx="2596896" cy="173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조회계약은 수검자 관리 화면과 동일하다</a:t>
            </a:r>
            <a:endParaRPr lang="ko-KR" sz="1000" dirty="0"/>
          </a:p>
        </p:txBody>
      </p:sp>
      <p:sp>
        <p:nvSpPr>
          <p:cNvPr id="77" name="Shape 75"/>
          <p:cNvSpPr/>
          <p:nvPr/>
        </p:nvSpPr>
        <p:spPr>
          <a:xfrm>
            <a:off x="8897112" y="1645437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262872" y="1645437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897112" y="1645437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sz="1000" dirty="0"/>
          </a:p>
        </p:txBody>
      </p:sp>
      <p:sp>
        <p:nvSpPr>
          <p:cNvPr id="80" name="Text 78"/>
          <p:cNvSpPr/>
          <p:nvPr/>
        </p:nvSpPr>
        <p:spPr>
          <a:xfrm>
            <a:off x="9313164" y="1695729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결과가 없으면 [신규등록]으로 DLG-PAT-01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New Mode 진입</a:t>
            </a:r>
            <a:endParaRPr lang="ko-KR" sz="1000" dirty="0"/>
          </a:p>
        </p:txBody>
      </p:sp>
      <p:sp>
        <p:nvSpPr>
          <p:cNvPr id="81" name="Shape 79"/>
          <p:cNvSpPr/>
          <p:nvPr/>
        </p:nvSpPr>
        <p:spPr>
          <a:xfrm>
            <a:off x="8897112" y="2083867"/>
            <a:ext cx="365760" cy="607352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262872" y="2083867"/>
            <a:ext cx="2697480" cy="607352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313164" y="2134159"/>
            <a:ext cx="2596896" cy="506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신규저장 또는 동일 기존수검자 확정 후 재검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색을 요구하지 않고 PatientId를 즉시 호출 화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면에 반환한다.</a:t>
            </a:r>
            <a:endParaRPr lang="ko-KR" sz="1000" dirty="0"/>
          </a:p>
        </p:txBody>
      </p:sp>
      <p:sp>
        <p:nvSpPr>
          <p:cNvPr id="84" name="Shape 82"/>
          <p:cNvSpPr/>
          <p:nvPr/>
        </p:nvSpPr>
        <p:spPr>
          <a:xfrm>
            <a:off x="8897112" y="2691219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262872" y="2691219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897112" y="2691219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sz="1000" dirty="0"/>
          </a:p>
        </p:txBody>
      </p:sp>
      <p:sp>
        <p:nvSpPr>
          <p:cNvPr id="87" name="Text 85"/>
          <p:cNvSpPr/>
          <p:nvPr/>
        </p:nvSpPr>
        <p:spPr>
          <a:xfrm>
            <a:off x="9313164" y="2741511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행 선택. 주민등록번호는 전체값을 표시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</a:t>
            </a:r>
            <a:endParaRPr lang="ko-KR" sz="1000" dirty="0"/>
          </a:p>
        </p:txBody>
      </p:sp>
      <p:sp>
        <p:nvSpPr>
          <p:cNvPr id="88" name="Shape 86"/>
          <p:cNvSpPr/>
          <p:nvPr/>
        </p:nvSpPr>
        <p:spPr>
          <a:xfrm>
            <a:off x="8897112" y="3129648"/>
            <a:ext cx="365760" cy="274320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262872" y="3129648"/>
            <a:ext cx="2697480" cy="274320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897112" y="3129648"/>
            <a:ext cx="3657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sz="1000" dirty="0"/>
          </a:p>
        </p:txBody>
      </p:sp>
      <p:sp>
        <p:nvSpPr>
          <p:cNvPr id="91" name="Text 89"/>
          <p:cNvSpPr/>
          <p:nvPr/>
        </p:nvSpPr>
        <p:spPr>
          <a:xfrm>
            <a:off x="9313164" y="3179940"/>
            <a:ext cx="2596896" cy="173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[선택]으로 PatientId를 호출 화면에 반환한다</a:t>
            </a:r>
            <a:endParaRPr lang="ko-KR" sz="1000" dirty="0"/>
          </a:p>
        </p:txBody>
      </p:sp>
      <p:sp>
        <p:nvSpPr>
          <p:cNvPr id="92" name="Shape 90"/>
          <p:cNvSpPr/>
          <p:nvPr/>
        </p:nvSpPr>
        <p:spPr>
          <a:xfrm>
            <a:off x="8897112" y="3403968"/>
            <a:ext cx="365760" cy="274320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262872" y="3403968"/>
            <a:ext cx="2697480" cy="274320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9313164" y="3454260"/>
            <a:ext cx="2596896" cy="173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DLG-PAT-01을 취소해도 이 창은 유지된다.</a:t>
            </a:r>
            <a:endParaRPr lang="ko-KR" sz="1000" dirty="0"/>
          </a:p>
        </p:txBody>
      </p:sp>
      <p:sp>
        <p:nvSpPr>
          <p:cNvPr id="95" name="Shape 93"/>
          <p:cNvSpPr/>
          <p:nvPr/>
        </p:nvSpPr>
        <p:spPr>
          <a:xfrm>
            <a:off x="1165860" y="2199132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165860" y="2199132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1000" dirty="0"/>
          </a:p>
        </p:txBody>
      </p:sp>
      <p:sp>
        <p:nvSpPr>
          <p:cNvPr id="97" name="Shape 95"/>
          <p:cNvSpPr/>
          <p:nvPr/>
        </p:nvSpPr>
        <p:spPr>
          <a:xfrm>
            <a:off x="6862572" y="2153412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862572" y="2153412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sz="1000" dirty="0"/>
          </a:p>
        </p:txBody>
      </p:sp>
      <p:sp>
        <p:nvSpPr>
          <p:cNvPr id="99" name="Shape 97"/>
          <p:cNvSpPr/>
          <p:nvPr/>
        </p:nvSpPr>
        <p:spPr>
          <a:xfrm>
            <a:off x="1165860" y="3808476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165860" y="3808476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sz="1000" dirty="0"/>
          </a:p>
        </p:txBody>
      </p:sp>
      <p:sp>
        <p:nvSpPr>
          <p:cNvPr id="101" name="Shape 99"/>
          <p:cNvSpPr/>
          <p:nvPr/>
        </p:nvSpPr>
        <p:spPr>
          <a:xfrm>
            <a:off x="5811012" y="5207508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811012" y="5207508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932688"/>
            <a:ext cx="8439912" cy="5349240"/>
          </a:xfrm>
          <a:prstGeom prst="rect">
            <a:avLst/>
          </a:prstGeom>
          <a:ln w="19050">
            <a:solidFill>
              <a:srgbClr val="C8C8C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0624" y="932688"/>
            <a:ext cx="8439912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C8C8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32688"/>
            <a:ext cx="54864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 관리 (WF-PAT-01)  ·  수검자 선택 (DLG-PAT-02)   —   비활성(Modal)</a:t>
            </a:r>
            <a:endParaRPr lang="ko-KR" sz="800" dirty="0"/>
          </a:p>
        </p:txBody>
      </p:sp>
      <p:sp>
        <p:nvSpPr>
          <p:cNvPr id="5" name="Shape 3"/>
          <p:cNvSpPr/>
          <p:nvPr/>
        </p:nvSpPr>
        <p:spPr>
          <a:xfrm>
            <a:off x="1805940" y="1074420"/>
            <a:ext cx="5669280" cy="5065776"/>
          </a:xfrm>
          <a:prstGeom prst="rect">
            <a:avLst/>
          </a:prstGeom>
          <a:solidFill>
            <a:srgbClr val="FFFFFF"/>
          </a:solidFill>
          <a:ln w="25400">
            <a:solidFill>
              <a:srgbClr val="1F386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18476" y="937260"/>
            <a:ext cx="2044207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18476" y="937260"/>
            <a:ext cx="2044207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 신규등록  /  정보수정</a:t>
            </a:r>
            <a:endParaRPr lang="ko-KR" sz="950" dirty="0"/>
          </a:p>
        </p:txBody>
      </p:sp>
      <p:sp>
        <p:nvSpPr>
          <p:cNvPr id="8" name="Shape 6"/>
          <p:cNvSpPr/>
          <p:nvPr/>
        </p:nvSpPr>
        <p:spPr>
          <a:xfrm>
            <a:off x="6368796" y="5756148"/>
            <a:ext cx="960120" cy="256032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68796" y="5756148"/>
            <a:ext cx="9601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닫기</a:t>
            </a:r>
            <a:endParaRPr lang="ko-KR" sz="950" dirty="0"/>
          </a:p>
        </p:txBody>
      </p:sp>
      <p:sp>
        <p:nvSpPr>
          <p:cNvPr id="10" name="Shape 8"/>
          <p:cNvSpPr/>
          <p:nvPr/>
        </p:nvSpPr>
        <p:spPr>
          <a:xfrm>
            <a:off x="5317236" y="5756148"/>
            <a:ext cx="960120" cy="256032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17236" y="5756148"/>
            <a:ext cx="9601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endParaRPr lang="ko-KR" sz="950" dirty="0"/>
          </a:p>
        </p:txBody>
      </p:sp>
      <p:sp>
        <p:nvSpPr>
          <p:cNvPr id="12" name="Text 10"/>
          <p:cNvSpPr/>
          <p:nvPr/>
        </p:nvSpPr>
        <p:spPr>
          <a:xfrm>
            <a:off x="1952244" y="1312164"/>
            <a:ext cx="5376672" cy="1737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기본정보 ]</a:t>
            </a:r>
            <a:endParaRPr lang="ko-KR" sz="800" dirty="0"/>
          </a:p>
        </p:txBody>
      </p:sp>
      <p:sp>
        <p:nvSpPr>
          <p:cNvPr id="13" name="Text 11"/>
          <p:cNvSpPr/>
          <p:nvPr/>
        </p:nvSpPr>
        <p:spPr>
          <a:xfrm>
            <a:off x="1952244" y="1495044"/>
            <a:ext cx="118872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차트번호 방식</a:t>
            </a:r>
            <a:endParaRPr lang="ko-KR" sz="800" dirty="0"/>
          </a:p>
        </p:txBody>
      </p:sp>
      <p:sp>
        <p:nvSpPr>
          <p:cNvPr id="14" name="Shape 12"/>
          <p:cNvSpPr/>
          <p:nvPr/>
        </p:nvSpPr>
        <p:spPr>
          <a:xfrm>
            <a:off x="3140964" y="1495044"/>
            <a:ext cx="1097280" cy="21945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40964" y="1495044"/>
            <a:ext cx="109728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◉  자동발급</a:t>
            </a:r>
            <a:endParaRPr lang="ko-KR" sz="900" dirty="0"/>
          </a:p>
        </p:txBody>
      </p:sp>
      <p:sp>
        <p:nvSpPr>
          <p:cNvPr id="16" name="Shape 14"/>
          <p:cNvSpPr/>
          <p:nvPr/>
        </p:nvSpPr>
        <p:spPr>
          <a:xfrm>
            <a:off x="4311396" y="1495044"/>
            <a:ext cx="1097280" cy="21945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11396" y="1495044"/>
            <a:ext cx="109728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 수동입력</a:t>
            </a:r>
            <a:endParaRPr lang="ko-KR" sz="900" dirty="0"/>
          </a:p>
        </p:txBody>
      </p:sp>
      <p:sp>
        <p:nvSpPr>
          <p:cNvPr id="18" name="Text 16"/>
          <p:cNvSpPr/>
          <p:nvPr/>
        </p:nvSpPr>
        <p:spPr>
          <a:xfrm>
            <a:off x="1952244" y="1755648"/>
            <a:ext cx="118872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차트번호</a:t>
            </a:r>
            <a:endParaRPr lang="ko-KR" sz="800" dirty="0"/>
          </a:p>
        </p:txBody>
      </p:sp>
      <p:sp>
        <p:nvSpPr>
          <p:cNvPr id="19" name="Shape 17"/>
          <p:cNvSpPr/>
          <p:nvPr/>
        </p:nvSpPr>
        <p:spPr>
          <a:xfrm>
            <a:off x="3140964" y="1755648"/>
            <a:ext cx="4187952" cy="219456"/>
          </a:xfrm>
          <a:prstGeom prst="rect">
            <a:avLst/>
          </a:prstGeom>
          <a:ln w="12700">
            <a:solidFill>
              <a:srgbClr val="8C9B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65876" y="1755648"/>
            <a:ext cx="146304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시 자동발급</a:t>
            </a:r>
            <a:endParaRPr lang="ko-KR" sz="800" dirty="0"/>
          </a:p>
        </p:txBody>
      </p:sp>
      <p:sp>
        <p:nvSpPr>
          <p:cNvPr id="21" name="Text 19"/>
          <p:cNvSpPr/>
          <p:nvPr/>
        </p:nvSpPr>
        <p:spPr>
          <a:xfrm>
            <a:off x="1952244" y="2016252"/>
            <a:ext cx="118872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 *</a:t>
            </a:r>
            <a:endParaRPr lang="ko-KR" sz="800" dirty="0"/>
          </a:p>
        </p:txBody>
      </p:sp>
      <p:sp>
        <p:nvSpPr>
          <p:cNvPr id="22" name="Shape 20"/>
          <p:cNvSpPr/>
          <p:nvPr/>
        </p:nvSpPr>
        <p:spPr>
          <a:xfrm>
            <a:off x="3140964" y="2016252"/>
            <a:ext cx="4187952" cy="21945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52244" y="2276856"/>
            <a:ext cx="118872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주민등록번호  *</a:t>
            </a:r>
            <a:endParaRPr lang="ko-KR" sz="800" dirty="0"/>
          </a:p>
        </p:txBody>
      </p:sp>
      <p:sp>
        <p:nvSpPr>
          <p:cNvPr id="24" name="Shape 22"/>
          <p:cNvSpPr/>
          <p:nvPr/>
        </p:nvSpPr>
        <p:spPr>
          <a:xfrm>
            <a:off x="3140964" y="2276856"/>
            <a:ext cx="4187952" cy="21945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40964" y="2276856"/>
            <a:ext cx="418795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990707-2000018</a:t>
            </a:r>
            <a:endParaRPr lang="ko-KR" sz="900" dirty="0"/>
          </a:p>
        </p:txBody>
      </p:sp>
      <p:sp>
        <p:nvSpPr>
          <p:cNvPr id="26" name="Text 24"/>
          <p:cNvSpPr/>
          <p:nvPr/>
        </p:nvSpPr>
        <p:spPr>
          <a:xfrm>
            <a:off x="1952244" y="2537460"/>
            <a:ext cx="118872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생년월일</a:t>
            </a:r>
            <a:endParaRPr lang="ko-KR" sz="800" dirty="0"/>
          </a:p>
        </p:txBody>
      </p:sp>
      <p:sp>
        <p:nvSpPr>
          <p:cNvPr id="27" name="Shape 25"/>
          <p:cNvSpPr/>
          <p:nvPr/>
        </p:nvSpPr>
        <p:spPr>
          <a:xfrm>
            <a:off x="3140964" y="2537460"/>
            <a:ext cx="4187952" cy="219456"/>
          </a:xfrm>
          <a:prstGeom prst="rect">
            <a:avLst/>
          </a:prstGeom>
          <a:solidFill>
            <a:srgbClr val="F2F2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40964" y="2537460"/>
            <a:ext cx="418795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1999-07-07</a:t>
            </a:r>
            <a:endParaRPr lang="ko-KR" sz="900" dirty="0"/>
          </a:p>
        </p:txBody>
      </p:sp>
      <p:sp>
        <p:nvSpPr>
          <p:cNvPr id="29" name="Text 27"/>
          <p:cNvSpPr/>
          <p:nvPr/>
        </p:nvSpPr>
        <p:spPr>
          <a:xfrm>
            <a:off x="6231636" y="2537460"/>
            <a:ext cx="109728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ReadOnly</a:t>
            </a:r>
            <a:endParaRPr lang="ko-KR" sz="800" dirty="0"/>
          </a:p>
        </p:txBody>
      </p:sp>
      <p:sp>
        <p:nvSpPr>
          <p:cNvPr id="30" name="Text 28"/>
          <p:cNvSpPr/>
          <p:nvPr/>
        </p:nvSpPr>
        <p:spPr>
          <a:xfrm>
            <a:off x="1952244" y="2798064"/>
            <a:ext cx="118872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성별</a:t>
            </a:r>
            <a:endParaRPr lang="ko-KR" sz="800" dirty="0"/>
          </a:p>
        </p:txBody>
      </p:sp>
      <p:sp>
        <p:nvSpPr>
          <p:cNvPr id="31" name="Shape 29"/>
          <p:cNvSpPr/>
          <p:nvPr/>
        </p:nvSpPr>
        <p:spPr>
          <a:xfrm>
            <a:off x="3140964" y="2798064"/>
            <a:ext cx="4187952" cy="219456"/>
          </a:xfrm>
          <a:prstGeom prst="rect">
            <a:avLst/>
          </a:prstGeom>
          <a:solidFill>
            <a:srgbClr val="F2F2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40964" y="2798064"/>
            <a:ext cx="418795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</a:t>
            </a:r>
            <a:endParaRPr lang="ko-KR" sz="900" dirty="0"/>
          </a:p>
        </p:txBody>
      </p:sp>
      <p:sp>
        <p:nvSpPr>
          <p:cNvPr id="33" name="Text 31"/>
          <p:cNvSpPr/>
          <p:nvPr/>
        </p:nvSpPr>
        <p:spPr>
          <a:xfrm>
            <a:off x="6231636" y="2798064"/>
            <a:ext cx="109728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ReadOnly</a:t>
            </a:r>
            <a:endParaRPr lang="ko-KR" sz="800" dirty="0"/>
          </a:p>
        </p:txBody>
      </p:sp>
      <p:sp>
        <p:nvSpPr>
          <p:cNvPr id="34" name="Text 32"/>
          <p:cNvSpPr/>
          <p:nvPr/>
        </p:nvSpPr>
        <p:spPr>
          <a:xfrm>
            <a:off x="1952244" y="3058668"/>
            <a:ext cx="5376672" cy="1737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연락처 ]</a:t>
            </a:r>
            <a:endParaRPr lang="ko-KR" sz="800" dirty="0"/>
          </a:p>
        </p:txBody>
      </p:sp>
      <p:sp>
        <p:nvSpPr>
          <p:cNvPr id="35" name="Text 33"/>
          <p:cNvSpPr/>
          <p:nvPr/>
        </p:nvSpPr>
        <p:spPr>
          <a:xfrm>
            <a:off x="1952244" y="3241548"/>
            <a:ext cx="118872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휴대전화</a:t>
            </a:r>
            <a:endParaRPr lang="ko-KR" sz="800" dirty="0"/>
          </a:p>
        </p:txBody>
      </p:sp>
      <p:sp>
        <p:nvSpPr>
          <p:cNvPr id="36" name="Shape 34"/>
          <p:cNvSpPr/>
          <p:nvPr/>
        </p:nvSpPr>
        <p:spPr>
          <a:xfrm>
            <a:off x="3140964" y="3241548"/>
            <a:ext cx="4187952" cy="21945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52244" y="3502152"/>
            <a:ext cx="118872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전화번호</a:t>
            </a:r>
            <a:endParaRPr lang="ko-KR" sz="800" dirty="0"/>
          </a:p>
        </p:txBody>
      </p:sp>
      <p:sp>
        <p:nvSpPr>
          <p:cNvPr id="38" name="Shape 36"/>
          <p:cNvSpPr/>
          <p:nvPr/>
        </p:nvSpPr>
        <p:spPr>
          <a:xfrm>
            <a:off x="3140964" y="3502152"/>
            <a:ext cx="4187952" cy="21945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52244" y="3762756"/>
            <a:ext cx="118872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E-mail</a:t>
            </a:r>
            <a:endParaRPr lang="ko-KR" sz="800" dirty="0"/>
          </a:p>
        </p:txBody>
      </p:sp>
      <p:sp>
        <p:nvSpPr>
          <p:cNvPr id="40" name="Shape 38"/>
          <p:cNvSpPr/>
          <p:nvPr/>
        </p:nvSpPr>
        <p:spPr>
          <a:xfrm>
            <a:off x="3140964" y="3762756"/>
            <a:ext cx="4187952" cy="21945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952244" y="4023360"/>
            <a:ext cx="5376672" cy="1737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주소 ]</a:t>
            </a:r>
            <a:endParaRPr lang="ko-KR" sz="800" dirty="0"/>
          </a:p>
        </p:txBody>
      </p:sp>
      <p:sp>
        <p:nvSpPr>
          <p:cNvPr id="42" name="Text 40"/>
          <p:cNvSpPr/>
          <p:nvPr/>
        </p:nvSpPr>
        <p:spPr>
          <a:xfrm>
            <a:off x="1952244" y="4206240"/>
            <a:ext cx="118872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우편번호 / 주소</a:t>
            </a:r>
            <a:endParaRPr lang="ko-KR" sz="800" dirty="0"/>
          </a:p>
        </p:txBody>
      </p:sp>
      <p:sp>
        <p:nvSpPr>
          <p:cNvPr id="43" name="Shape 41"/>
          <p:cNvSpPr/>
          <p:nvPr/>
        </p:nvSpPr>
        <p:spPr>
          <a:xfrm>
            <a:off x="3140964" y="4206240"/>
            <a:ext cx="4187952" cy="21945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952244" y="4466844"/>
            <a:ext cx="118872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상세주소</a:t>
            </a:r>
            <a:endParaRPr lang="ko-KR" sz="800" dirty="0"/>
          </a:p>
        </p:txBody>
      </p:sp>
      <p:sp>
        <p:nvSpPr>
          <p:cNvPr id="45" name="Shape 43"/>
          <p:cNvSpPr/>
          <p:nvPr/>
        </p:nvSpPr>
        <p:spPr>
          <a:xfrm>
            <a:off x="3140964" y="4466844"/>
            <a:ext cx="4187952" cy="21945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52244" y="4727448"/>
            <a:ext cx="118872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검사 제외 ]</a:t>
            </a:r>
            <a:endParaRPr lang="ko-KR" sz="800" dirty="0"/>
          </a:p>
        </p:txBody>
      </p:sp>
      <p:sp>
        <p:nvSpPr>
          <p:cNvPr id="47" name="Shape 45"/>
          <p:cNvSpPr/>
          <p:nvPr/>
        </p:nvSpPr>
        <p:spPr>
          <a:xfrm>
            <a:off x="3140964" y="4727448"/>
            <a:ext cx="1463040" cy="21945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40964" y="4727448"/>
            <a:ext cx="146304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B형간염 검사 제외</a:t>
            </a:r>
            <a:endParaRPr lang="ko-KR" sz="900" dirty="0"/>
          </a:p>
        </p:txBody>
      </p:sp>
      <p:sp>
        <p:nvSpPr>
          <p:cNvPr id="49" name="Text 47"/>
          <p:cNvSpPr/>
          <p:nvPr/>
        </p:nvSpPr>
        <p:spPr>
          <a:xfrm>
            <a:off x="1952244" y="4988052"/>
            <a:ext cx="5376672" cy="1737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메모 ]</a:t>
            </a:r>
            <a:endParaRPr lang="ko-KR" sz="800" dirty="0"/>
          </a:p>
        </p:txBody>
      </p:sp>
      <p:sp>
        <p:nvSpPr>
          <p:cNvPr id="50" name="Shape 48"/>
          <p:cNvSpPr/>
          <p:nvPr/>
        </p:nvSpPr>
        <p:spPr>
          <a:xfrm>
            <a:off x="1952244" y="5170932"/>
            <a:ext cx="5376672" cy="438912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0624" y="164592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 등록 · 정보수정</a:t>
            </a:r>
            <a:endParaRPr lang="ko-KR" sz="3000" dirty="0"/>
          </a:p>
        </p:txBody>
      </p:sp>
      <p:sp>
        <p:nvSpPr>
          <p:cNvPr id="52" name="Shape 50"/>
          <p:cNvSpPr/>
          <p:nvPr/>
        </p:nvSpPr>
        <p:spPr>
          <a:xfrm>
            <a:off x="8897112" y="932688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262872" y="932688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313164" y="982980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DLG-PAT-01  수검자 등록 / 정보수정 ·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Modal · P01-02~05 · F-PAT-002~003</a:t>
            </a:r>
            <a:endParaRPr lang="ko-KR" sz="1000" dirty="0"/>
          </a:p>
        </p:txBody>
      </p:sp>
      <p:sp>
        <p:nvSpPr>
          <p:cNvPr id="55" name="Shape 53"/>
          <p:cNvSpPr/>
          <p:nvPr/>
        </p:nvSpPr>
        <p:spPr>
          <a:xfrm>
            <a:off x="8897112" y="1371117"/>
            <a:ext cx="365760" cy="607352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262872" y="1371117"/>
            <a:ext cx="2697480" cy="607352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313164" y="1421409"/>
            <a:ext cx="2596896" cy="506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그림은 New Mode 기준. Edit Mode는 자동발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 전환 없이 기존 차트번호 수동수정만 허용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한다.</a:t>
            </a:r>
            <a:endParaRPr lang="ko-KR" sz="1000" dirty="0"/>
          </a:p>
        </p:txBody>
      </p:sp>
      <p:sp>
        <p:nvSpPr>
          <p:cNvPr id="58" name="Shape 56"/>
          <p:cNvSpPr/>
          <p:nvPr/>
        </p:nvSpPr>
        <p:spPr>
          <a:xfrm>
            <a:off x="8897112" y="1978470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262872" y="1978470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897112" y="1978470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1000" dirty="0"/>
          </a:p>
        </p:txBody>
      </p:sp>
      <p:sp>
        <p:nvSpPr>
          <p:cNvPr id="61" name="Text 59"/>
          <p:cNvSpPr/>
          <p:nvPr/>
        </p:nvSpPr>
        <p:spPr>
          <a:xfrm>
            <a:off x="9313164" y="2028762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New는 자동발급이 기본값. Edit에서는 이 선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택이 없다</a:t>
            </a:r>
            <a:endParaRPr lang="ko-KR" sz="1000" dirty="0"/>
          </a:p>
        </p:txBody>
      </p:sp>
      <p:sp>
        <p:nvSpPr>
          <p:cNvPr id="62" name="Shape 60"/>
          <p:cNvSpPr/>
          <p:nvPr/>
        </p:nvSpPr>
        <p:spPr>
          <a:xfrm>
            <a:off x="8897112" y="2416899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262872" y="2416899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897112" y="2416899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sz="1000" dirty="0"/>
          </a:p>
        </p:txBody>
      </p:sp>
      <p:sp>
        <p:nvSpPr>
          <p:cNvPr id="65" name="Text 63"/>
          <p:cNvSpPr/>
          <p:nvPr/>
        </p:nvSpPr>
        <p:spPr>
          <a:xfrm>
            <a:off x="9313164" y="2467191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자동발급 번호는 화면 진입 시 점유하지 않고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Transaction에서 확정</a:t>
            </a:r>
            <a:endParaRPr lang="ko-KR" sz="1000" dirty="0"/>
          </a:p>
        </p:txBody>
      </p:sp>
      <p:sp>
        <p:nvSpPr>
          <p:cNvPr id="66" name="Shape 64"/>
          <p:cNvSpPr/>
          <p:nvPr/>
        </p:nvSpPr>
        <p:spPr>
          <a:xfrm>
            <a:off x="8897112" y="2855328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262872" y="2855328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897112" y="2855328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sz="1000" dirty="0"/>
          </a:p>
        </p:txBody>
      </p:sp>
      <p:sp>
        <p:nvSpPr>
          <p:cNvPr id="69" name="Text 67"/>
          <p:cNvSpPr/>
          <p:nvPr/>
        </p:nvSpPr>
        <p:spPr>
          <a:xfrm>
            <a:off x="9313164" y="2905620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이름·주민등록번호가 필수. 미입력이면 저장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비활성 (EP-04)</a:t>
            </a:r>
            <a:endParaRPr lang="ko-KR" sz="1000" dirty="0"/>
          </a:p>
        </p:txBody>
      </p:sp>
      <p:sp>
        <p:nvSpPr>
          <p:cNvPr id="70" name="Shape 68"/>
          <p:cNvSpPr/>
          <p:nvPr/>
        </p:nvSpPr>
        <p:spPr>
          <a:xfrm>
            <a:off x="8897112" y="3293758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262872" y="3293758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897112" y="3293758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sz="1000" dirty="0"/>
          </a:p>
        </p:txBody>
      </p:sp>
      <p:sp>
        <p:nvSpPr>
          <p:cNvPr id="73" name="Text 71"/>
          <p:cNvSpPr/>
          <p:nvPr/>
        </p:nvSpPr>
        <p:spPr>
          <a:xfrm>
            <a:off x="9313164" y="3344050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전체값 표시. `-` 제거 후 숫자 13자리로 정규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화하여 저장</a:t>
            </a:r>
            <a:endParaRPr lang="ko-KR" sz="1000" dirty="0"/>
          </a:p>
        </p:txBody>
      </p:sp>
      <p:sp>
        <p:nvSpPr>
          <p:cNvPr id="74" name="Shape 72"/>
          <p:cNvSpPr/>
          <p:nvPr/>
        </p:nvSpPr>
        <p:spPr>
          <a:xfrm>
            <a:off x="8897112" y="3732187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262872" y="3732187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897112" y="3732187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ko-KR" sz="1000" dirty="0"/>
          </a:p>
        </p:txBody>
      </p:sp>
      <p:sp>
        <p:nvSpPr>
          <p:cNvPr id="77" name="Text 75"/>
          <p:cNvSpPr/>
          <p:nvPr/>
        </p:nvSpPr>
        <p:spPr>
          <a:xfrm>
            <a:off x="9313164" y="3782479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주민등록번호에서 자동 산출. 형식·날짜·파생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 Clear + 저장 차단</a:t>
            </a:r>
            <a:endParaRPr lang="ko-KR" sz="1000" dirty="0"/>
          </a:p>
        </p:txBody>
      </p:sp>
      <p:sp>
        <p:nvSpPr>
          <p:cNvPr id="78" name="Shape 76"/>
          <p:cNvSpPr/>
          <p:nvPr/>
        </p:nvSpPr>
        <p:spPr>
          <a:xfrm>
            <a:off x="8897112" y="4170617"/>
            <a:ext cx="365760" cy="274320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262872" y="4170617"/>
            <a:ext cx="2697480" cy="274320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897112" y="4170617"/>
            <a:ext cx="3657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ko-KR" sz="1000" dirty="0"/>
          </a:p>
        </p:txBody>
      </p:sp>
      <p:sp>
        <p:nvSpPr>
          <p:cNvPr id="81" name="Text 79"/>
          <p:cNvSpPr/>
          <p:nvPr/>
        </p:nvSpPr>
        <p:spPr>
          <a:xfrm>
            <a:off x="9313164" y="4220909"/>
            <a:ext cx="2596896" cy="173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 = 제외. 신규 기본값은 해제 (NEX-03)</a:t>
            </a:r>
            <a:endParaRPr lang="ko-KR" sz="1000" dirty="0"/>
          </a:p>
        </p:txBody>
      </p:sp>
      <p:sp>
        <p:nvSpPr>
          <p:cNvPr id="82" name="Shape 80"/>
          <p:cNvSpPr/>
          <p:nvPr/>
        </p:nvSpPr>
        <p:spPr>
          <a:xfrm>
            <a:off x="8897112" y="4444937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262872" y="4444937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897112" y="4444937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ko-KR" sz="1000" dirty="0"/>
          </a:p>
        </p:txBody>
      </p:sp>
      <p:sp>
        <p:nvSpPr>
          <p:cNvPr id="85" name="Text 83"/>
          <p:cNvSpPr/>
          <p:nvPr/>
        </p:nvSpPr>
        <p:spPr>
          <a:xfrm>
            <a:off x="9313164" y="4495229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주민번호·차트번호 고유성은 저장 SP가 최종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재검증한다 (EP-03, EP-05)</a:t>
            </a:r>
            <a:endParaRPr lang="ko-KR" sz="1000" dirty="0"/>
          </a:p>
        </p:txBody>
      </p:sp>
      <p:sp>
        <p:nvSpPr>
          <p:cNvPr id="86" name="Shape 84"/>
          <p:cNvSpPr/>
          <p:nvPr/>
        </p:nvSpPr>
        <p:spPr>
          <a:xfrm>
            <a:off x="8897112" y="4883366"/>
            <a:ext cx="365760" cy="776275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262872" y="4883366"/>
            <a:ext cx="2697480" cy="776275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313164" y="4933658"/>
            <a:ext cx="2596896" cy="675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주민등록번호 변경은 해당 수검자에게 예약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(RSV)·접수완료(RCP) 업무가 하나라도 있으면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차단된다. 차트번호 변경에는 이 조건을 적용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 않는다 (EP-08).</a:t>
            </a:r>
            <a:endParaRPr lang="ko-KR" sz="1000" dirty="0"/>
          </a:p>
        </p:txBody>
      </p:sp>
      <p:sp>
        <p:nvSpPr>
          <p:cNvPr id="89" name="Shape 87"/>
          <p:cNvSpPr/>
          <p:nvPr/>
        </p:nvSpPr>
        <p:spPr>
          <a:xfrm>
            <a:off x="8897112" y="5659641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262872" y="5659641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313164" y="5709933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저장된 예약·접수의 검사구성은 다시 만들지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않는다. 다음 예약부터 적용된다</a:t>
            </a:r>
            <a:endParaRPr lang="ko-KR" sz="1000" dirty="0"/>
          </a:p>
        </p:txBody>
      </p:sp>
      <p:sp>
        <p:nvSpPr>
          <p:cNvPr id="92" name="Shape 90"/>
          <p:cNvSpPr/>
          <p:nvPr/>
        </p:nvSpPr>
        <p:spPr>
          <a:xfrm>
            <a:off x="8897112" y="6098070"/>
            <a:ext cx="365760" cy="274320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262872" y="6098070"/>
            <a:ext cx="2697480" cy="274320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9313164" y="6148362"/>
            <a:ext cx="2596896" cy="173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제외 사유는 입력받지 않는다</a:t>
            </a:r>
            <a:endParaRPr lang="ko-KR" sz="1000" dirty="0"/>
          </a:p>
        </p:txBody>
      </p:sp>
      <p:sp>
        <p:nvSpPr>
          <p:cNvPr id="95" name="Shape 93"/>
          <p:cNvSpPr/>
          <p:nvPr/>
        </p:nvSpPr>
        <p:spPr>
          <a:xfrm>
            <a:off x="2994660" y="1495044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994660" y="1495044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1000" dirty="0"/>
          </a:p>
        </p:txBody>
      </p:sp>
      <p:sp>
        <p:nvSpPr>
          <p:cNvPr id="97" name="Shape 95"/>
          <p:cNvSpPr/>
          <p:nvPr/>
        </p:nvSpPr>
        <p:spPr>
          <a:xfrm>
            <a:off x="2994660" y="1755648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994660" y="1755648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sz="1000" dirty="0"/>
          </a:p>
        </p:txBody>
      </p:sp>
      <p:sp>
        <p:nvSpPr>
          <p:cNvPr id="99" name="Shape 97"/>
          <p:cNvSpPr/>
          <p:nvPr/>
        </p:nvSpPr>
        <p:spPr>
          <a:xfrm>
            <a:off x="2994660" y="2016252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2994660" y="2016252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sz="1000" dirty="0"/>
          </a:p>
        </p:txBody>
      </p:sp>
      <p:sp>
        <p:nvSpPr>
          <p:cNvPr id="101" name="Shape 99"/>
          <p:cNvSpPr/>
          <p:nvPr/>
        </p:nvSpPr>
        <p:spPr>
          <a:xfrm>
            <a:off x="2994660" y="2276856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994660" y="2276856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sz="1000" dirty="0"/>
          </a:p>
        </p:txBody>
      </p:sp>
      <p:sp>
        <p:nvSpPr>
          <p:cNvPr id="103" name="Shape 101"/>
          <p:cNvSpPr/>
          <p:nvPr/>
        </p:nvSpPr>
        <p:spPr>
          <a:xfrm>
            <a:off x="2994660" y="2702052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994660" y="2702052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ko-KR" sz="1000" dirty="0"/>
          </a:p>
        </p:txBody>
      </p:sp>
      <p:sp>
        <p:nvSpPr>
          <p:cNvPr id="105" name="Shape 103"/>
          <p:cNvSpPr/>
          <p:nvPr/>
        </p:nvSpPr>
        <p:spPr>
          <a:xfrm>
            <a:off x="2994660" y="4727448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994660" y="4727448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ko-KR" sz="1000" dirty="0"/>
          </a:p>
        </p:txBody>
      </p:sp>
      <p:sp>
        <p:nvSpPr>
          <p:cNvPr id="107" name="Shape 105"/>
          <p:cNvSpPr/>
          <p:nvPr/>
        </p:nvSpPr>
        <p:spPr>
          <a:xfrm>
            <a:off x="5170932" y="5774436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5170932" y="5774436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ko-KR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932688"/>
            <a:ext cx="8439912" cy="5349240"/>
          </a:xfrm>
          <a:prstGeom prst="rect">
            <a:avLst/>
          </a:prstGeom>
          <a:ln w="19050">
            <a:solidFill>
              <a:srgbClr val="C8C8C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0624" y="932688"/>
            <a:ext cx="8439912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C8C8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32688"/>
            <a:ext cx="54864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 등록 / 정보수정 (DLG-PAT-01)   —   비활성(Modal)</a:t>
            </a:r>
            <a:endParaRPr lang="ko-KR" sz="800" dirty="0"/>
          </a:p>
        </p:txBody>
      </p:sp>
      <p:sp>
        <p:nvSpPr>
          <p:cNvPr id="5" name="Shape 3"/>
          <p:cNvSpPr/>
          <p:nvPr/>
        </p:nvSpPr>
        <p:spPr>
          <a:xfrm>
            <a:off x="891540" y="1961388"/>
            <a:ext cx="749808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86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09060" y="1824228"/>
            <a:ext cx="146304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09060" y="1824228"/>
            <a:ext cx="14630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후보 확인</a:t>
            </a:r>
            <a:endParaRPr lang="ko-KR" sz="950" dirty="0"/>
          </a:p>
        </p:txBody>
      </p:sp>
      <p:sp>
        <p:nvSpPr>
          <p:cNvPr id="8" name="Shape 6"/>
          <p:cNvSpPr/>
          <p:nvPr/>
        </p:nvSpPr>
        <p:spPr>
          <a:xfrm>
            <a:off x="7283196" y="4869180"/>
            <a:ext cx="960120" cy="256032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83196" y="4869180"/>
            <a:ext cx="9601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닫기</a:t>
            </a:r>
            <a:endParaRPr lang="ko-KR" sz="950" dirty="0"/>
          </a:p>
        </p:txBody>
      </p:sp>
      <p:sp>
        <p:nvSpPr>
          <p:cNvPr id="10" name="Shape 8"/>
          <p:cNvSpPr/>
          <p:nvPr/>
        </p:nvSpPr>
        <p:spPr>
          <a:xfrm>
            <a:off x="5775964" y="4869180"/>
            <a:ext cx="1415792" cy="256032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75964" y="4869180"/>
            <a:ext cx="1415792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수검자로 계속</a:t>
            </a:r>
            <a:endParaRPr lang="ko-KR" sz="950" dirty="0"/>
          </a:p>
        </p:txBody>
      </p:sp>
      <p:sp>
        <p:nvSpPr>
          <p:cNvPr id="12" name="Shape 10"/>
          <p:cNvSpPr/>
          <p:nvPr/>
        </p:nvSpPr>
        <p:spPr>
          <a:xfrm>
            <a:off x="4673098" y="4869180"/>
            <a:ext cx="1011426" cy="256032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73098" y="4869180"/>
            <a:ext cx="1011426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입력값 수정</a:t>
            </a:r>
            <a:endParaRPr lang="ko-KR" sz="950" dirty="0"/>
          </a:p>
        </p:txBody>
      </p:sp>
      <p:sp>
        <p:nvSpPr>
          <p:cNvPr id="14" name="Shape 12"/>
          <p:cNvSpPr/>
          <p:nvPr/>
        </p:nvSpPr>
        <p:spPr>
          <a:xfrm>
            <a:off x="1037844" y="2199132"/>
            <a:ext cx="7205472" cy="566928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0996" y="2226564"/>
            <a:ext cx="705916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입력값</a:t>
            </a:r>
            <a:endParaRPr lang="ko-KR" sz="800" dirty="0"/>
          </a:p>
        </p:txBody>
      </p:sp>
      <p:sp>
        <p:nvSpPr>
          <p:cNvPr id="16" name="Shape 14"/>
          <p:cNvSpPr/>
          <p:nvPr/>
        </p:nvSpPr>
        <p:spPr>
          <a:xfrm>
            <a:off x="1037844" y="2409444"/>
            <a:ext cx="7205472" cy="0"/>
          </a:xfrm>
          <a:prstGeom prst="line">
            <a:avLst/>
          </a:prstGeom>
          <a:noFill/>
          <a:ln w="9525">
            <a:solidFill>
              <a:srgbClr val="8C9BB5"/>
            </a:solidFill>
            <a:prstDash val="solid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1129284" y="2446020"/>
            <a:ext cx="60350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</a:t>
            </a:r>
            <a:endParaRPr lang="ko-KR" sz="800" dirty="0"/>
          </a:p>
        </p:txBody>
      </p:sp>
      <p:sp>
        <p:nvSpPr>
          <p:cNvPr id="18" name="Shape 16"/>
          <p:cNvSpPr/>
          <p:nvPr/>
        </p:nvSpPr>
        <p:spPr>
          <a:xfrm>
            <a:off x="1732788" y="2446020"/>
            <a:ext cx="822960" cy="219456"/>
          </a:xfrm>
          <a:prstGeom prst="rect">
            <a:avLst/>
          </a:prstGeom>
          <a:solidFill>
            <a:srgbClr val="F2F2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83764" y="2446020"/>
            <a:ext cx="60350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생년월일</a:t>
            </a:r>
            <a:endParaRPr lang="ko-KR" sz="800" dirty="0"/>
          </a:p>
        </p:txBody>
      </p:sp>
      <p:sp>
        <p:nvSpPr>
          <p:cNvPr id="20" name="Shape 18"/>
          <p:cNvSpPr/>
          <p:nvPr/>
        </p:nvSpPr>
        <p:spPr>
          <a:xfrm>
            <a:off x="3287268" y="2446020"/>
            <a:ext cx="914400" cy="219456"/>
          </a:xfrm>
          <a:prstGeom prst="rect">
            <a:avLst/>
          </a:prstGeom>
          <a:solidFill>
            <a:srgbClr val="F2F2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29684" y="2446020"/>
            <a:ext cx="60350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주민번호</a:t>
            </a:r>
            <a:endParaRPr lang="ko-KR" sz="800" dirty="0"/>
          </a:p>
        </p:txBody>
      </p:sp>
      <p:sp>
        <p:nvSpPr>
          <p:cNvPr id="22" name="Shape 20"/>
          <p:cNvSpPr/>
          <p:nvPr/>
        </p:nvSpPr>
        <p:spPr>
          <a:xfrm>
            <a:off x="4933188" y="2446020"/>
            <a:ext cx="1234440" cy="219456"/>
          </a:xfrm>
          <a:prstGeom prst="rect">
            <a:avLst/>
          </a:prstGeom>
          <a:solidFill>
            <a:srgbClr val="F2F2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95644" y="2446020"/>
            <a:ext cx="60350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휴대전화</a:t>
            </a:r>
            <a:endParaRPr lang="ko-KR" sz="800" dirty="0"/>
          </a:p>
        </p:txBody>
      </p:sp>
      <p:sp>
        <p:nvSpPr>
          <p:cNvPr id="24" name="Shape 22"/>
          <p:cNvSpPr/>
          <p:nvPr/>
        </p:nvSpPr>
        <p:spPr>
          <a:xfrm>
            <a:off x="6899148" y="2446020"/>
            <a:ext cx="1097280" cy="219456"/>
          </a:xfrm>
          <a:prstGeom prst="rect">
            <a:avLst/>
          </a:prstGeom>
          <a:solidFill>
            <a:srgbClr val="F2F2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7844" y="2857500"/>
            <a:ext cx="7205472" cy="1298448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10996" y="2884932"/>
            <a:ext cx="705916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후보  ·  이름 + 생년월일 동일 / 주민등록번호 상이</a:t>
            </a:r>
            <a:endParaRPr lang="ko-KR" sz="800" dirty="0"/>
          </a:p>
        </p:txBody>
      </p:sp>
      <p:sp>
        <p:nvSpPr>
          <p:cNvPr id="27" name="Shape 25"/>
          <p:cNvSpPr/>
          <p:nvPr/>
        </p:nvSpPr>
        <p:spPr>
          <a:xfrm>
            <a:off x="1037844" y="3067812"/>
            <a:ext cx="7205472" cy="0"/>
          </a:xfrm>
          <a:prstGeom prst="line">
            <a:avLst/>
          </a:prstGeom>
          <a:noFill/>
          <a:ln w="9525">
            <a:solidFill>
              <a:srgbClr val="8C9BB5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1129284" y="3104388"/>
            <a:ext cx="1097280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84148" y="3104388"/>
            <a:ext cx="104241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차트번호</a:t>
            </a:r>
            <a:endParaRPr lang="ko-KR" sz="900" dirty="0"/>
          </a:p>
        </p:txBody>
      </p:sp>
      <p:sp>
        <p:nvSpPr>
          <p:cNvPr id="30" name="Shape 28"/>
          <p:cNvSpPr/>
          <p:nvPr/>
        </p:nvSpPr>
        <p:spPr>
          <a:xfrm>
            <a:off x="2226564" y="3104388"/>
            <a:ext cx="731520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26564" y="3104388"/>
            <a:ext cx="7315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</a:t>
            </a:r>
            <a:endParaRPr lang="ko-KR" sz="900" dirty="0"/>
          </a:p>
        </p:txBody>
      </p:sp>
      <p:sp>
        <p:nvSpPr>
          <p:cNvPr id="32" name="Shape 30"/>
          <p:cNvSpPr/>
          <p:nvPr/>
        </p:nvSpPr>
        <p:spPr>
          <a:xfrm>
            <a:off x="2958084" y="3104388"/>
            <a:ext cx="960120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58084" y="3104388"/>
            <a:ext cx="9601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생년월일</a:t>
            </a:r>
            <a:endParaRPr lang="ko-KR" sz="900" dirty="0"/>
          </a:p>
        </p:txBody>
      </p:sp>
      <p:sp>
        <p:nvSpPr>
          <p:cNvPr id="34" name="Shape 32"/>
          <p:cNvSpPr/>
          <p:nvPr/>
        </p:nvSpPr>
        <p:spPr>
          <a:xfrm>
            <a:off x="3918204" y="3104388"/>
            <a:ext cx="502920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18204" y="3104388"/>
            <a:ext cx="5029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성별</a:t>
            </a:r>
            <a:endParaRPr lang="ko-KR" sz="900" dirty="0"/>
          </a:p>
        </p:txBody>
      </p:sp>
      <p:sp>
        <p:nvSpPr>
          <p:cNvPr id="36" name="Shape 34"/>
          <p:cNvSpPr/>
          <p:nvPr/>
        </p:nvSpPr>
        <p:spPr>
          <a:xfrm>
            <a:off x="4421124" y="3104388"/>
            <a:ext cx="1280160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21124" y="3104388"/>
            <a:ext cx="128016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주민번호</a:t>
            </a:r>
            <a:endParaRPr lang="ko-KR" sz="900" dirty="0"/>
          </a:p>
        </p:txBody>
      </p:sp>
      <p:sp>
        <p:nvSpPr>
          <p:cNvPr id="38" name="Shape 36"/>
          <p:cNvSpPr/>
          <p:nvPr/>
        </p:nvSpPr>
        <p:spPr>
          <a:xfrm>
            <a:off x="5701284" y="3104388"/>
            <a:ext cx="2450592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01284" y="3104388"/>
            <a:ext cx="2450592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휴대전화</a:t>
            </a:r>
            <a:endParaRPr lang="ko-KR" sz="900" dirty="0"/>
          </a:p>
        </p:txBody>
      </p:sp>
      <p:sp>
        <p:nvSpPr>
          <p:cNvPr id="40" name="Shape 38"/>
          <p:cNvSpPr/>
          <p:nvPr/>
        </p:nvSpPr>
        <p:spPr>
          <a:xfrm>
            <a:off x="1129284" y="3282696"/>
            <a:ext cx="109728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84148" y="3282696"/>
            <a:ext cx="104241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2026-000098</a:t>
            </a:r>
            <a:endParaRPr lang="ko-KR" sz="900" dirty="0"/>
          </a:p>
        </p:txBody>
      </p:sp>
      <p:sp>
        <p:nvSpPr>
          <p:cNvPr id="42" name="Shape 40"/>
          <p:cNvSpPr/>
          <p:nvPr/>
        </p:nvSpPr>
        <p:spPr>
          <a:xfrm>
            <a:off x="2226564" y="3282696"/>
            <a:ext cx="73152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26564" y="3282696"/>
            <a:ext cx="7315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홍길동</a:t>
            </a:r>
            <a:endParaRPr lang="ko-KR" sz="900" dirty="0"/>
          </a:p>
        </p:txBody>
      </p:sp>
      <p:sp>
        <p:nvSpPr>
          <p:cNvPr id="44" name="Shape 42"/>
          <p:cNvSpPr/>
          <p:nvPr/>
        </p:nvSpPr>
        <p:spPr>
          <a:xfrm>
            <a:off x="2958084" y="3282696"/>
            <a:ext cx="96012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58084" y="3282696"/>
            <a:ext cx="9601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1966-03-12</a:t>
            </a:r>
            <a:endParaRPr lang="ko-KR" sz="900" dirty="0"/>
          </a:p>
        </p:txBody>
      </p:sp>
      <p:sp>
        <p:nvSpPr>
          <p:cNvPr id="46" name="Shape 44"/>
          <p:cNvSpPr/>
          <p:nvPr/>
        </p:nvSpPr>
        <p:spPr>
          <a:xfrm>
            <a:off x="3918204" y="3282696"/>
            <a:ext cx="50292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18204" y="3282696"/>
            <a:ext cx="5029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</a:t>
            </a:r>
            <a:endParaRPr lang="ko-KR" sz="900" dirty="0"/>
          </a:p>
        </p:txBody>
      </p:sp>
      <p:sp>
        <p:nvSpPr>
          <p:cNvPr id="48" name="Shape 46"/>
          <p:cNvSpPr/>
          <p:nvPr/>
        </p:nvSpPr>
        <p:spPr>
          <a:xfrm>
            <a:off x="4421124" y="3282696"/>
            <a:ext cx="128016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21124" y="3282696"/>
            <a:ext cx="128016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660312-2000035</a:t>
            </a:r>
            <a:endParaRPr lang="ko-KR" sz="900" dirty="0"/>
          </a:p>
        </p:txBody>
      </p:sp>
      <p:sp>
        <p:nvSpPr>
          <p:cNvPr id="50" name="Shape 48"/>
          <p:cNvSpPr/>
          <p:nvPr/>
        </p:nvSpPr>
        <p:spPr>
          <a:xfrm>
            <a:off x="5701284" y="3282696"/>
            <a:ext cx="2450592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01284" y="3282696"/>
            <a:ext cx="2450592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010-0000-0098</a:t>
            </a:r>
            <a:endParaRPr lang="ko-KR" sz="900" dirty="0"/>
          </a:p>
        </p:txBody>
      </p:sp>
      <p:sp>
        <p:nvSpPr>
          <p:cNvPr id="52" name="Shape 50"/>
          <p:cNvSpPr/>
          <p:nvPr/>
        </p:nvSpPr>
        <p:spPr>
          <a:xfrm>
            <a:off x="1129284" y="3461004"/>
            <a:ext cx="109728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84148" y="3461004"/>
            <a:ext cx="104241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2026-000114</a:t>
            </a:r>
            <a:endParaRPr lang="ko-KR" sz="900" dirty="0"/>
          </a:p>
        </p:txBody>
      </p:sp>
      <p:sp>
        <p:nvSpPr>
          <p:cNvPr id="54" name="Shape 52"/>
          <p:cNvSpPr/>
          <p:nvPr/>
        </p:nvSpPr>
        <p:spPr>
          <a:xfrm>
            <a:off x="2226564" y="3461004"/>
            <a:ext cx="73152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26564" y="3461004"/>
            <a:ext cx="7315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홍길동</a:t>
            </a:r>
            <a:endParaRPr lang="ko-KR" sz="900" dirty="0"/>
          </a:p>
        </p:txBody>
      </p:sp>
      <p:sp>
        <p:nvSpPr>
          <p:cNvPr id="56" name="Shape 54"/>
          <p:cNvSpPr/>
          <p:nvPr/>
        </p:nvSpPr>
        <p:spPr>
          <a:xfrm>
            <a:off x="2958084" y="3461004"/>
            <a:ext cx="96012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958084" y="3461004"/>
            <a:ext cx="9601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1966-03-12</a:t>
            </a:r>
            <a:endParaRPr lang="ko-KR" sz="900" dirty="0"/>
          </a:p>
        </p:txBody>
      </p:sp>
      <p:sp>
        <p:nvSpPr>
          <p:cNvPr id="58" name="Shape 56"/>
          <p:cNvSpPr/>
          <p:nvPr/>
        </p:nvSpPr>
        <p:spPr>
          <a:xfrm>
            <a:off x="3918204" y="3461004"/>
            <a:ext cx="50292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918204" y="3461004"/>
            <a:ext cx="5029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</a:t>
            </a:r>
            <a:endParaRPr lang="ko-KR" sz="900" dirty="0"/>
          </a:p>
        </p:txBody>
      </p:sp>
      <p:sp>
        <p:nvSpPr>
          <p:cNvPr id="60" name="Shape 58"/>
          <p:cNvSpPr/>
          <p:nvPr/>
        </p:nvSpPr>
        <p:spPr>
          <a:xfrm>
            <a:off x="4421124" y="3461004"/>
            <a:ext cx="128016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421124" y="3461004"/>
            <a:ext cx="128016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660312-2000043</a:t>
            </a:r>
            <a:endParaRPr lang="ko-KR" sz="900" dirty="0"/>
          </a:p>
        </p:txBody>
      </p:sp>
      <p:sp>
        <p:nvSpPr>
          <p:cNvPr id="62" name="Shape 60"/>
          <p:cNvSpPr/>
          <p:nvPr/>
        </p:nvSpPr>
        <p:spPr>
          <a:xfrm>
            <a:off x="5701284" y="3461004"/>
            <a:ext cx="2450592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701284" y="3461004"/>
            <a:ext cx="2450592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010-0000-0114</a:t>
            </a:r>
            <a:endParaRPr lang="ko-KR" sz="900" dirty="0"/>
          </a:p>
        </p:txBody>
      </p:sp>
      <p:sp>
        <p:nvSpPr>
          <p:cNvPr id="64" name="Text 62"/>
          <p:cNvSpPr/>
          <p:nvPr/>
        </p:nvSpPr>
        <p:spPr>
          <a:xfrm>
            <a:off x="1037844" y="4247388"/>
            <a:ext cx="720547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주민등록번호 오입력 여부를 확인하십시오.</a:t>
            </a:r>
            <a:endParaRPr lang="ko-KR" sz="950" dirty="0"/>
          </a:p>
        </p:txBody>
      </p:sp>
      <p:sp>
        <p:nvSpPr>
          <p:cNvPr id="65" name="Text 63"/>
          <p:cNvSpPr/>
          <p:nvPr/>
        </p:nvSpPr>
        <p:spPr>
          <a:xfrm>
            <a:off x="420624" y="164592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후보 확인</a:t>
            </a:r>
            <a:endParaRPr lang="ko-KR" sz="3000" dirty="0"/>
          </a:p>
        </p:txBody>
      </p:sp>
      <p:sp>
        <p:nvSpPr>
          <p:cNvPr id="66" name="Shape 64"/>
          <p:cNvSpPr/>
          <p:nvPr/>
        </p:nvSpPr>
        <p:spPr>
          <a:xfrm>
            <a:off x="8897112" y="932688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262872" y="932688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313164" y="982980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DLG-PAT-03  중복 후보 확인 · Modal ·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P01-03 · F-COM-002</a:t>
            </a:r>
            <a:endParaRPr lang="ko-KR" sz="1000" dirty="0"/>
          </a:p>
        </p:txBody>
      </p:sp>
      <p:sp>
        <p:nvSpPr>
          <p:cNvPr id="69" name="Shape 67"/>
          <p:cNvSpPr/>
          <p:nvPr/>
        </p:nvSpPr>
        <p:spPr>
          <a:xfrm>
            <a:off x="8897112" y="1371117"/>
            <a:ext cx="365760" cy="607352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262872" y="1371117"/>
            <a:ext cx="2697480" cy="607352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313164" y="1421409"/>
            <a:ext cx="2596896" cy="506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주민등록번호는 이 창을 거치지 않는다.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이름이 달라도 신규등록 없이 기존 PatientId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반환한다 (EP-05, EP-06).</a:t>
            </a:r>
            <a:endParaRPr lang="ko-KR" sz="1000" dirty="0"/>
          </a:p>
        </p:txBody>
      </p:sp>
      <p:sp>
        <p:nvSpPr>
          <p:cNvPr id="72" name="Shape 70"/>
          <p:cNvSpPr/>
          <p:nvPr/>
        </p:nvSpPr>
        <p:spPr>
          <a:xfrm>
            <a:off x="8897112" y="1978470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262872" y="1978470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897112" y="1978470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1000" dirty="0"/>
          </a:p>
        </p:txBody>
      </p:sp>
      <p:sp>
        <p:nvSpPr>
          <p:cNvPr id="75" name="Text 73"/>
          <p:cNvSpPr/>
          <p:nvPr/>
        </p:nvSpPr>
        <p:spPr>
          <a:xfrm>
            <a:off x="9313164" y="2028762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+ 생년월일이 같고 주민등록번호가 다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때만 표시된다 (EP-07)</a:t>
            </a:r>
            <a:endParaRPr lang="ko-KR" sz="1000" dirty="0"/>
          </a:p>
        </p:txBody>
      </p:sp>
      <p:sp>
        <p:nvSpPr>
          <p:cNvPr id="76" name="Shape 74"/>
          <p:cNvSpPr/>
          <p:nvPr/>
        </p:nvSpPr>
        <p:spPr>
          <a:xfrm>
            <a:off x="8897112" y="2416899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262872" y="2416899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897112" y="2416899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sz="1000" dirty="0"/>
          </a:p>
        </p:txBody>
      </p:sp>
      <p:sp>
        <p:nvSpPr>
          <p:cNvPr id="79" name="Text 77"/>
          <p:cNvSpPr/>
          <p:nvPr/>
        </p:nvSpPr>
        <p:spPr>
          <a:xfrm>
            <a:off x="9313164" y="2467191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경고·확인 대상이지 자동 동일인 확정조건이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아니다</a:t>
            </a:r>
            <a:endParaRPr lang="ko-KR" sz="1000" dirty="0"/>
          </a:p>
        </p:txBody>
      </p:sp>
      <p:sp>
        <p:nvSpPr>
          <p:cNvPr id="80" name="Shape 78"/>
          <p:cNvSpPr/>
          <p:nvPr/>
        </p:nvSpPr>
        <p:spPr>
          <a:xfrm>
            <a:off x="8897112" y="2855328"/>
            <a:ext cx="365760" cy="274320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262872" y="2855328"/>
            <a:ext cx="2697480" cy="274320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897112" y="2855328"/>
            <a:ext cx="3657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sz="1000" dirty="0"/>
          </a:p>
        </p:txBody>
      </p:sp>
      <p:sp>
        <p:nvSpPr>
          <p:cNvPr id="83" name="Text 81"/>
          <p:cNvSpPr/>
          <p:nvPr/>
        </p:nvSpPr>
        <p:spPr>
          <a:xfrm>
            <a:off x="9313164" y="2905620"/>
            <a:ext cx="2596896" cy="173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[입력값 수정] → Editor로 복귀 후 다시 검증</a:t>
            </a:r>
            <a:endParaRPr lang="ko-KR" sz="1000" dirty="0"/>
          </a:p>
        </p:txBody>
      </p:sp>
      <p:sp>
        <p:nvSpPr>
          <p:cNvPr id="84" name="Shape 82"/>
          <p:cNvSpPr/>
          <p:nvPr/>
        </p:nvSpPr>
        <p:spPr>
          <a:xfrm>
            <a:off x="8897112" y="3129648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262872" y="3129648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897112" y="3129648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sz="1000" dirty="0"/>
          </a:p>
        </p:txBody>
      </p:sp>
      <p:sp>
        <p:nvSpPr>
          <p:cNvPr id="87" name="Text 85"/>
          <p:cNvSpPr/>
          <p:nvPr/>
        </p:nvSpPr>
        <p:spPr>
          <a:xfrm>
            <a:off x="9313164" y="3179940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[별도 수검자로 계속] → 현재 이름+생년월일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+주민번호 조합에만 유효</a:t>
            </a:r>
            <a:endParaRPr lang="ko-KR" sz="1000" dirty="0"/>
          </a:p>
        </p:txBody>
      </p:sp>
      <p:sp>
        <p:nvSpPr>
          <p:cNvPr id="88" name="Shape 86"/>
          <p:cNvSpPr/>
          <p:nvPr/>
        </p:nvSpPr>
        <p:spPr>
          <a:xfrm>
            <a:off x="8897112" y="3568078"/>
            <a:ext cx="365760" cy="607352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262872" y="3568078"/>
            <a:ext cx="2697480" cy="607352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9313164" y="3618370"/>
            <a:ext cx="2596896" cy="506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값 중 하나라도 바뀌면 확인상태를 해제하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 다시 후보검증한다. 같은 확인값으로 저장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재시도하면 이 창을 반복 표시하지 않는다.</a:t>
            </a:r>
            <a:endParaRPr lang="ko-KR" sz="1000" dirty="0"/>
          </a:p>
        </p:txBody>
      </p:sp>
      <p:sp>
        <p:nvSpPr>
          <p:cNvPr id="91" name="Shape 89"/>
          <p:cNvSpPr/>
          <p:nvPr/>
        </p:nvSpPr>
        <p:spPr>
          <a:xfrm>
            <a:off x="8897112" y="4175430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262872" y="4175430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313164" y="4225722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고유성은 저장 Transaction이 수검자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.SocialNumber 정확값으로 다시 판정한다.</a:t>
            </a:r>
            <a:endParaRPr lang="ko-KR" sz="1000" dirty="0"/>
          </a:p>
        </p:txBody>
      </p:sp>
      <p:sp>
        <p:nvSpPr>
          <p:cNvPr id="94" name="Shape 92"/>
          <p:cNvSpPr/>
          <p:nvPr/>
        </p:nvSpPr>
        <p:spPr>
          <a:xfrm>
            <a:off x="891540" y="2372868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91540" y="2372868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1000" dirty="0"/>
          </a:p>
        </p:txBody>
      </p:sp>
      <p:sp>
        <p:nvSpPr>
          <p:cNvPr id="96" name="Shape 94"/>
          <p:cNvSpPr/>
          <p:nvPr/>
        </p:nvSpPr>
        <p:spPr>
          <a:xfrm>
            <a:off x="891540" y="3396996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891540" y="3396996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sz="1000" dirty="0"/>
          </a:p>
        </p:txBody>
      </p:sp>
      <p:sp>
        <p:nvSpPr>
          <p:cNvPr id="98" name="Shape 96"/>
          <p:cNvSpPr/>
          <p:nvPr/>
        </p:nvSpPr>
        <p:spPr>
          <a:xfrm>
            <a:off x="4526794" y="4887468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526794" y="4887468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sz="1000" dirty="0"/>
          </a:p>
        </p:txBody>
      </p:sp>
      <p:sp>
        <p:nvSpPr>
          <p:cNvPr id="100" name="Shape 98"/>
          <p:cNvSpPr/>
          <p:nvPr/>
        </p:nvSpPr>
        <p:spPr>
          <a:xfrm>
            <a:off x="5629660" y="4887468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629660" y="4887468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932688"/>
            <a:ext cx="8439912" cy="5349240"/>
          </a:xfrm>
          <a:prstGeom prst="rect">
            <a:avLst/>
          </a:prstGeom>
          <a:ln w="254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0624" y="932688"/>
            <a:ext cx="8439912" cy="274320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" y="969264"/>
            <a:ext cx="1170432" cy="201168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969264"/>
            <a:ext cx="117043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 관리</a:t>
            </a:r>
            <a:endParaRPr lang="ko-KR" sz="950" dirty="0"/>
          </a:p>
        </p:txBody>
      </p:sp>
      <p:sp>
        <p:nvSpPr>
          <p:cNvPr id="6" name="Shape 4"/>
          <p:cNvSpPr/>
          <p:nvPr/>
        </p:nvSpPr>
        <p:spPr>
          <a:xfrm>
            <a:off x="1755648" y="969264"/>
            <a:ext cx="1170432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55648" y="969264"/>
            <a:ext cx="117043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예약</a:t>
            </a:r>
            <a:endParaRPr lang="ko-KR" sz="950" dirty="0"/>
          </a:p>
        </p:txBody>
      </p:sp>
      <p:sp>
        <p:nvSpPr>
          <p:cNvPr id="8" name="Shape 6"/>
          <p:cNvSpPr/>
          <p:nvPr/>
        </p:nvSpPr>
        <p:spPr>
          <a:xfrm>
            <a:off x="2980944" y="969264"/>
            <a:ext cx="1170432" cy="201168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80944" y="969264"/>
            <a:ext cx="117043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관리</a:t>
            </a:r>
            <a:endParaRPr lang="ko-KR" sz="950" dirty="0"/>
          </a:p>
        </p:txBody>
      </p:sp>
      <p:sp>
        <p:nvSpPr>
          <p:cNvPr id="10" name="Shape 8"/>
          <p:cNvSpPr/>
          <p:nvPr/>
        </p:nvSpPr>
        <p:spPr>
          <a:xfrm>
            <a:off x="4206240" y="969264"/>
            <a:ext cx="1170432" cy="201168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969264"/>
            <a:ext cx="117043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관리</a:t>
            </a:r>
            <a:endParaRPr lang="ko-KR" sz="950" dirty="0"/>
          </a:p>
        </p:txBody>
      </p:sp>
      <p:sp>
        <p:nvSpPr>
          <p:cNvPr id="12" name="Shape 10"/>
          <p:cNvSpPr/>
          <p:nvPr/>
        </p:nvSpPr>
        <p:spPr>
          <a:xfrm>
            <a:off x="5431536" y="969264"/>
            <a:ext cx="1170432" cy="201168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31536" y="969264"/>
            <a:ext cx="117043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휴무일 관리</a:t>
            </a:r>
            <a:endParaRPr lang="ko-KR" sz="950" dirty="0"/>
          </a:p>
        </p:txBody>
      </p:sp>
      <p:sp>
        <p:nvSpPr>
          <p:cNvPr id="14" name="Shape 12"/>
          <p:cNvSpPr/>
          <p:nvPr/>
        </p:nvSpPr>
        <p:spPr>
          <a:xfrm>
            <a:off x="420624" y="1207008"/>
            <a:ext cx="8439912" cy="530352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1243584"/>
            <a:ext cx="756920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</a:t>
            </a:r>
            <a:endParaRPr lang="ko-KR" sz="800" dirty="0"/>
          </a:p>
        </p:txBody>
      </p:sp>
      <p:sp>
        <p:nvSpPr>
          <p:cNvPr id="16" name="Shape 14"/>
          <p:cNvSpPr/>
          <p:nvPr/>
        </p:nvSpPr>
        <p:spPr>
          <a:xfrm>
            <a:off x="658368" y="1408176"/>
            <a:ext cx="756920" cy="274320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1408176"/>
            <a:ext cx="7569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예약저장</a:t>
            </a:r>
            <a:endParaRPr lang="ko-KR" sz="950" dirty="0"/>
          </a:p>
        </p:txBody>
      </p:sp>
      <p:sp>
        <p:nvSpPr>
          <p:cNvPr id="18" name="Shape 16"/>
          <p:cNvSpPr/>
          <p:nvPr/>
        </p:nvSpPr>
        <p:spPr>
          <a:xfrm>
            <a:off x="420624" y="1737360"/>
            <a:ext cx="8439912" cy="237744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1755648"/>
            <a:ext cx="1188720" cy="201168"/>
          </a:xfrm>
          <a:prstGeom prst="rect">
            <a:avLst/>
          </a:prstGeom>
          <a:ln w="9525">
            <a:solidFill>
              <a:srgbClr val="1F38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1755648"/>
            <a:ext cx="118872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 관리  ×</a:t>
            </a:r>
            <a:endParaRPr lang="ko-KR" sz="800" dirty="0"/>
          </a:p>
        </p:txBody>
      </p:sp>
      <p:sp>
        <p:nvSpPr>
          <p:cNvPr id="21" name="Shape 19"/>
          <p:cNvSpPr/>
          <p:nvPr/>
        </p:nvSpPr>
        <p:spPr>
          <a:xfrm>
            <a:off x="1764792" y="1755648"/>
            <a:ext cx="1188720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64792" y="1755648"/>
            <a:ext cx="118872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예약  ×</a:t>
            </a:r>
            <a:endParaRPr lang="ko-KR" sz="800" dirty="0"/>
          </a:p>
        </p:txBody>
      </p:sp>
      <p:sp>
        <p:nvSpPr>
          <p:cNvPr id="23" name="Shape 21"/>
          <p:cNvSpPr/>
          <p:nvPr/>
        </p:nvSpPr>
        <p:spPr>
          <a:xfrm>
            <a:off x="420624" y="6062472"/>
            <a:ext cx="8439912" cy="219456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6062472"/>
            <a:ext cx="4572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상태 :  업무 가능</a:t>
            </a:r>
            <a:endParaRPr lang="ko-KR" sz="800" dirty="0"/>
          </a:p>
        </p:txBody>
      </p:sp>
      <p:sp>
        <p:nvSpPr>
          <p:cNvPr id="25" name="Shape 23"/>
          <p:cNvSpPr/>
          <p:nvPr/>
        </p:nvSpPr>
        <p:spPr>
          <a:xfrm>
            <a:off x="530352" y="2029968"/>
            <a:ext cx="3658057" cy="1261872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" y="2057400"/>
            <a:ext cx="351175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 정보</a:t>
            </a:r>
            <a:endParaRPr lang="ko-KR" sz="800" dirty="0"/>
          </a:p>
        </p:txBody>
      </p:sp>
      <p:sp>
        <p:nvSpPr>
          <p:cNvPr id="27" name="Shape 25"/>
          <p:cNvSpPr/>
          <p:nvPr/>
        </p:nvSpPr>
        <p:spPr>
          <a:xfrm>
            <a:off x="530352" y="2240280"/>
            <a:ext cx="3658057" cy="0"/>
          </a:xfrm>
          <a:prstGeom prst="line">
            <a:avLst/>
          </a:prstGeom>
          <a:noFill/>
          <a:ln w="9525">
            <a:solidFill>
              <a:srgbClr val="8C9BB5"/>
            </a:solidFill>
            <a:prstDash val="solid"/>
            <a:tailEnd type="none"/>
          </a:ln>
        </p:spPr>
      </p:sp>
      <p:sp>
        <p:nvSpPr>
          <p:cNvPr id="28" name="Text 26"/>
          <p:cNvSpPr/>
          <p:nvPr/>
        </p:nvSpPr>
        <p:spPr>
          <a:xfrm>
            <a:off x="621792" y="2313432"/>
            <a:ext cx="585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차트번호</a:t>
            </a:r>
            <a:endParaRPr lang="ko-KR" sz="800" dirty="0"/>
          </a:p>
        </p:txBody>
      </p:sp>
      <p:sp>
        <p:nvSpPr>
          <p:cNvPr id="29" name="Shape 27"/>
          <p:cNvSpPr/>
          <p:nvPr/>
        </p:nvSpPr>
        <p:spPr>
          <a:xfrm>
            <a:off x="1207008" y="2313432"/>
            <a:ext cx="1124941" cy="219456"/>
          </a:xfrm>
          <a:prstGeom prst="rect">
            <a:avLst/>
          </a:prstGeom>
          <a:solidFill>
            <a:srgbClr val="F2F2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07008" y="2313432"/>
            <a:ext cx="1124941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2026-000123</a:t>
            </a:r>
            <a:endParaRPr lang="ko-KR" sz="900" dirty="0"/>
          </a:p>
        </p:txBody>
      </p:sp>
      <p:sp>
        <p:nvSpPr>
          <p:cNvPr id="31" name="Text 29"/>
          <p:cNvSpPr/>
          <p:nvPr/>
        </p:nvSpPr>
        <p:spPr>
          <a:xfrm>
            <a:off x="2386813" y="2313432"/>
            <a:ext cx="585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</a:t>
            </a:r>
            <a:endParaRPr lang="ko-KR" sz="800" dirty="0"/>
          </a:p>
        </p:txBody>
      </p:sp>
      <p:sp>
        <p:nvSpPr>
          <p:cNvPr id="32" name="Shape 30"/>
          <p:cNvSpPr/>
          <p:nvPr/>
        </p:nvSpPr>
        <p:spPr>
          <a:xfrm>
            <a:off x="2972029" y="2313432"/>
            <a:ext cx="1124941" cy="219456"/>
          </a:xfrm>
          <a:prstGeom prst="rect">
            <a:avLst/>
          </a:prstGeom>
          <a:solidFill>
            <a:srgbClr val="F2F2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72029" y="2313432"/>
            <a:ext cx="1124941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홍길동</a:t>
            </a:r>
            <a:endParaRPr lang="ko-KR" sz="900" dirty="0"/>
          </a:p>
        </p:txBody>
      </p:sp>
      <p:sp>
        <p:nvSpPr>
          <p:cNvPr id="34" name="Text 32"/>
          <p:cNvSpPr/>
          <p:nvPr/>
        </p:nvSpPr>
        <p:spPr>
          <a:xfrm>
            <a:off x="621792" y="2587752"/>
            <a:ext cx="585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생년월일</a:t>
            </a:r>
            <a:endParaRPr lang="ko-KR" sz="800" dirty="0"/>
          </a:p>
        </p:txBody>
      </p:sp>
      <p:sp>
        <p:nvSpPr>
          <p:cNvPr id="35" name="Shape 33"/>
          <p:cNvSpPr/>
          <p:nvPr/>
        </p:nvSpPr>
        <p:spPr>
          <a:xfrm>
            <a:off x="1207008" y="2587752"/>
            <a:ext cx="1124941" cy="219456"/>
          </a:xfrm>
          <a:prstGeom prst="rect">
            <a:avLst/>
          </a:prstGeom>
          <a:solidFill>
            <a:srgbClr val="F2F2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07008" y="2587752"/>
            <a:ext cx="1124941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1966-03-12</a:t>
            </a:r>
            <a:endParaRPr lang="ko-KR" sz="900" dirty="0"/>
          </a:p>
        </p:txBody>
      </p:sp>
      <p:sp>
        <p:nvSpPr>
          <p:cNvPr id="37" name="Text 35"/>
          <p:cNvSpPr/>
          <p:nvPr/>
        </p:nvSpPr>
        <p:spPr>
          <a:xfrm>
            <a:off x="2386813" y="2587752"/>
            <a:ext cx="585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성별</a:t>
            </a:r>
            <a:endParaRPr lang="ko-KR" sz="800" dirty="0"/>
          </a:p>
        </p:txBody>
      </p:sp>
      <p:sp>
        <p:nvSpPr>
          <p:cNvPr id="38" name="Shape 36"/>
          <p:cNvSpPr/>
          <p:nvPr/>
        </p:nvSpPr>
        <p:spPr>
          <a:xfrm>
            <a:off x="2972029" y="2587752"/>
            <a:ext cx="1124941" cy="219456"/>
          </a:xfrm>
          <a:prstGeom prst="rect">
            <a:avLst/>
          </a:prstGeom>
          <a:solidFill>
            <a:srgbClr val="F2F2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72029" y="2587752"/>
            <a:ext cx="1124941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</a:t>
            </a:r>
            <a:endParaRPr lang="ko-KR" sz="900" dirty="0"/>
          </a:p>
        </p:txBody>
      </p:sp>
      <p:sp>
        <p:nvSpPr>
          <p:cNvPr id="40" name="Shape 38"/>
          <p:cNvSpPr/>
          <p:nvPr/>
        </p:nvSpPr>
        <p:spPr>
          <a:xfrm>
            <a:off x="621792" y="2926080"/>
            <a:ext cx="960120" cy="256032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" y="2926080"/>
            <a:ext cx="9601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 선택</a:t>
            </a:r>
            <a:endParaRPr lang="ko-KR" sz="950" dirty="0"/>
          </a:p>
        </p:txBody>
      </p:sp>
      <p:sp>
        <p:nvSpPr>
          <p:cNvPr id="42" name="Shape 40"/>
          <p:cNvSpPr/>
          <p:nvPr/>
        </p:nvSpPr>
        <p:spPr>
          <a:xfrm>
            <a:off x="4279849" y="2029968"/>
            <a:ext cx="4470959" cy="1261872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53001" y="2057400"/>
            <a:ext cx="432465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일정</a:t>
            </a:r>
            <a:endParaRPr lang="ko-KR" sz="800" dirty="0"/>
          </a:p>
        </p:txBody>
      </p:sp>
      <p:sp>
        <p:nvSpPr>
          <p:cNvPr id="44" name="Shape 42"/>
          <p:cNvSpPr/>
          <p:nvPr/>
        </p:nvSpPr>
        <p:spPr>
          <a:xfrm>
            <a:off x="4279849" y="2240280"/>
            <a:ext cx="4470959" cy="0"/>
          </a:xfrm>
          <a:prstGeom prst="line">
            <a:avLst/>
          </a:prstGeom>
          <a:noFill/>
          <a:ln w="9525">
            <a:solidFill>
              <a:srgbClr val="8C9BB5"/>
            </a:solidFill>
            <a:prstDash val="solid"/>
            <a:tailEnd type="none"/>
          </a:ln>
        </p:spPr>
      </p:sp>
      <p:sp>
        <p:nvSpPr>
          <p:cNvPr id="45" name="Text 43"/>
          <p:cNvSpPr/>
          <p:nvPr/>
        </p:nvSpPr>
        <p:spPr>
          <a:xfrm>
            <a:off x="4371289" y="2313432"/>
            <a:ext cx="62179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예약일</a:t>
            </a:r>
            <a:endParaRPr lang="ko-KR" sz="800" dirty="0"/>
          </a:p>
        </p:txBody>
      </p:sp>
      <p:sp>
        <p:nvSpPr>
          <p:cNvPr id="46" name="Shape 44"/>
          <p:cNvSpPr/>
          <p:nvPr/>
        </p:nvSpPr>
        <p:spPr>
          <a:xfrm>
            <a:off x="4993081" y="2313432"/>
            <a:ext cx="1417320" cy="21945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93081" y="2313432"/>
            <a:ext cx="141732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2026-09-15 (화)</a:t>
            </a:r>
            <a:endParaRPr lang="ko-KR" sz="900" dirty="0"/>
          </a:p>
        </p:txBody>
      </p:sp>
      <p:sp>
        <p:nvSpPr>
          <p:cNvPr id="48" name="Shape 46"/>
          <p:cNvSpPr/>
          <p:nvPr/>
        </p:nvSpPr>
        <p:spPr>
          <a:xfrm>
            <a:off x="6428689" y="2313432"/>
            <a:ext cx="237744" cy="21945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28689" y="2313432"/>
            <a:ext cx="23774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▦</a:t>
            </a:r>
            <a:endParaRPr lang="ko-KR" sz="800" dirty="0"/>
          </a:p>
        </p:txBody>
      </p:sp>
      <p:sp>
        <p:nvSpPr>
          <p:cNvPr id="50" name="Text 48"/>
          <p:cNvSpPr/>
          <p:nvPr/>
        </p:nvSpPr>
        <p:spPr>
          <a:xfrm>
            <a:off x="4371289" y="2624328"/>
            <a:ext cx="62179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시간대</a:t>
            </a:r>
            <a:endParaRPr lang="ko-KR" sz="800" dirty="0"/>
          </a:p>
        </p:txBody>
      </p:sp>
      <p:sp>
        <p:nvSpPr>
          <p:cNvPr id="51" name="Shape 49"/>
          <p:cNvSpPr/>
          <p:nvPr/>
        </p:nvSpPr>
        <p:spPr>
          <a:xfrm>
            <a:off x="4993081" y="2624328"/>
            <a:ext cx="896112" cy="21945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93081" y="2624328"/>
            <a:ext cx="89611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◉  오전</a:t>
            </a:r>
            <a:endParaRPr lang="ko-KR" sz="900" dirty="0"/>
          </a:p>
        </p:txBody>
      </p:sp>
      <p:sp>
        <p:nvSpPr>
          <p:cNvPr id="53" name="Text 51"/>
          <p:cNvSpPr/>
          <p:nvPr/>
        </p:nvSpPr>
        <p:spPr>
          <a:xfrm>
            <a:off x="5980633" y="2624328"/>
            <a:ext cx="164592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20</a:t>
            </a:r>
            <a:endParaRPr lang="ko-KR" sz="900" dirty="0"/>
          </a:p>
        </p:txBody>
      </p:sp>
      <p:sp>
        <p:nvSpPr>
          <p:cNvPr id="54" name="Shape 52"/>
          <p:cNvSpPr/>
          <p:nvPr/>
        </p:nvSpPr>
        <p:spPr>
          <a:xfrm>
            <a:off x="4993081" y="2898648"/>
            <a:ext cx="896112" cy="219456"/>
          </a:xfrm>
          <a:prstGeom prst="rect">
            <a:avLst/>
          </a:prstGeom>
          <a:ln w="12700">
            <a:solidFill>
              <a:srgbClr val="8C9BB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93081" y="2898648"/>
            <a:ext cx="89611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 오후</a:t>
            </a:r>
            <a:endParaRPr lang="ko-KR" sz="900" dirty="0"/>
          </a:p>
        </p:txBody>
      </p:sp>
      <p:sp>
        <p:nvSpPr>
          <p:cNvPr id="56" name="Text 54"/>
          <p:cNvSpPr/>
          <p:nvPr/>
        </p:nvSpPr>
        <p:spPr>
          <a:xfrm>
            <a:off x="5980633" y="2898648"/>
            <a:ext cx="164592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/ 20      마감</a:t>
            </a:r>
            <a:endParaRPr lang="ko-KR" sz="900" dirty="0"/>
          </a:p>
        </p:txBody>
      </p:sp>
      <p:sp>
        <p:nvSpPr>
          <p:cNvPr id="57" name="Shape 55"/>
          <p:cNvSpPr/>
          <p:nvPr/>
        </p:nvSpPr>
        <p:spPr>
          <a:xfrm>
            <a:off x="530352" y="3346704"/>
            <a:ext cx="8220456" cy="274320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8368" y="3346704"/>
            <a:ext cx="5486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대상판정 :   대상 — 최근 완료연도 2024</a:t>
            </a:r>
            <a:endParaRPr lang="ko-KR" sz="900" dirty="0"/>
          </a:p>
        </p:txBody>
      </p:sp>
      <p:sp>
        <p:nvSpPr>
          <p:cNvPr id="59" name="Shape 57"/>
          <p:cNvSpPr/>
          <p:nvPr/>
        </p:nvSpPr>
        <p:spPr>
          <a:xfrm>
            <a:off x="530352" y="3675888"/>
            <a:ext cx="4470959" cy="2386584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03504" y="3703320"/>
            <a:ext cx="432465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국가검진 검사항목 (NEX) · ReadOnly</a:t>
            </a:r>
            <a:endParaRPr lang="ko-KR" sz="800" dirty="0"/>
          </a:p>
        </p:txBody>
      </p:sp>
      <p:sp>
        <p:nvSpPr>
          <p:cNvPr id="61" name="Shape 59"/>
          <p:cNvSpPr/>
          <p:nvPr/>
        </p:nvSpPr>
        <p:spPr>
          <a:xfrm>
            <a:off x="530352" y="3886200"/>
            <a:ext cx="4470959" cy="0"/>
          </a:xfrm>
          <a:prstGeom prst="line">
            <a:avLst/>
          </a:prstGeom>
          <a:noFill/>
          <a:ln w="9525">
            <a:solidFill>
              <a:srgbClr val="8C9BB5"/>
            </a:solidFill>
            <a:prstDash val="solid"/>
            <a:tailEnd type="none"/>
          </a:ln>
        </p:spPr>
      </p:sp>
      <p:sp>
        <p:nvSpPr>
          <p:cNvPr id="62" name="Shape 60"/>
          <p:cNvSpPr/>
          <p:nvPr/>
        </p:nvSpPr>
        <p:spPr>
          <a:xfrm>
            <a:off x="621792" y="3922776"/>
            <a:ext cx="3190799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76656" y="3922776"/>
            <a:ext cx="3135935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검사명</a:t>
            </a:r>
            <a:endParaRPr lang="ko-KR" sz="900" dirty="0"/>
          </a:p>
        </p:txBody>
      </p:sp>
      <p:sp>
        <p:nvSpPr>
          <p:cNvPr id="64" name="Shape 62"/>
          <p:cNvSpPr/>
          <p:nvPr/>
        </p:nvSpPr>
        <p:spPr>
          <a:xfrm>
            <a:off x="3812591" y="3922776"/>
            <a:ext cx="1097280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812591" y="3922776"/>
            <a:ext cx="109728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ko-KR" sz="900" dirty="0"/>
          </a:p>
        </p:txBody>
      </p:sp>
      <p:sp>
        <p:nvSpPr>
          <p:cNvPr id="66" name="Shape 64"/>
          <p:cNvSpPr/>
          <p:nvPr/>
        </p:nvSpPr>
        <p:spPr>
          <a:xfrm>
            <a:off x="621792" y="4101084"/>
            <a:ext cx="3190799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76656" y="4101084"/>
            <a:ext cx="3135935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문진/진찰</a:t>
            </a:r>
            <a:endParaRPr lang="ko-KR" sz="900" dirty="0"/>
          </a:p>
        </p:txBody>
      </p:sp>
      <p:sp>
        <p:nvSpPr>
          <p:cNvPr id="68" name="Shape 66"/>
          <p:cNvSpPr/>
          <p:nvPr/>
        </p:nvSpPr>
        <p:spPr>
          <a:xfrm>
            <a:off x="3812591" y="4101084"/>
            <a:ext cx="109728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812591" y="4101084"/>
            <a:ext cx="109728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ko-KR" sz="900" dirty="0"/>
          </a:p>
        </p:txBody>
      </p:sp>
      <p:sp>
        <p:nvSpPr>
          <p:cNvPr id="70" name="Shape 68"/>
          <p:cNvSpPr/>
          <p:nvPr/>
        </p:nvSpPr>
        <p:spPr>
          <a:xfrm>
            <a:off x="621792" y="4279392"/>
            <a:ext cx="3190799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76656" y="4279392"/>
            <a:ext cx="3135935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신체계측</a:t>
            </a:r>
            <a:endParaRPr lang="ko-KR" sz="900" dirty="0"/>
          </a:p>
        </p:txBody>
      </p:sp>
      <p:sp>
        <p:nvSpPr>
          <p:cNvPr id="72" name="Shape 70"/>
          <p:cNvSpPr/>
          <p:nvPr/>
        </p:nvSpPr>
        <p:spPr>
          <a:xfrm>
            <a:off x="3812591" y="4279392"/>
            <a:ext cx="109728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812591" y="4279392"/>
            <a:ext cx="109728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ko-KR" sz="900" dirty="0"/>
          </a:p>
        </p:txBody>
      </p:sp>
      <p:sp>
        <p:nvSpPr>
          <p:cNvPr id="74" name="Shape 72"/>
          <p:cNvSpPr/>
          <p:nvPr/>
        </p:nvSpPr>
        <p:spPr>
          <a:xfrm>
            <a:off x="621792" y="4457700"/>
            <a:ext cx="3190799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76656" y="4457700"/>
            <a:ext cx="3135935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혈압</a:t>
            </a:r>
            <a:endParaRPr lang="ko-KR" sz="900" dirty="0"/>
          </a:p>
        </p:txBody>
      </p:sp>
      <p:sp>
        <p:nvSpPr>
          <p:cNvPr id="76" name="Shape 74"/>
          <p:cNvSpPr/>
          <p:nvPr/>
        </p:nvSpPr>
        <p:spPr>
          <a:xfrm>
            <a:off x="3812591" y="4457700"/>
            <a:ext cx="109728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812591" y="4457700"/>
            <a:ext cx="109728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ko-KR" sz="900" dirty="0"/>
          </a:p>
        </p:txBody>
      </p:sp>
      <p:sp>
        <p:nvSpPr>
          <p:cNvPr id="78" name="Shape 76"/>
          <p:cNvSpPr/>
          <p:nvPr/>
        </p:nvSpPr>
        <p:spPr>
          <a:xfrm>
            <a:off x="621792" y="4636008"/>
            <a:ext cx="3190799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76656" y="4636008"/>
            <a:ext cx="3135935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시력·청력</a:t>
            </a:r>
            <a:endParaRPr lang="ko-KR" sz="900" dirty="0"/>
          </a:p>
        </p:txBody>
      </p:sp>
      <p:sp>
        <p:nvSpPr>
          <p:cNvPr id="80" name="Shape 78"/>
          <p:cNvSpPr/>
          <p:nvPr/>
        </p:nvSpPr>
        <p:spPr>
          <a:xfrm>
            <a:off x="3812591" y="4636008"/>
            <a:ext cx="109728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812591" y="4636008"/>
            <a:ext cx="109728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ko-KR" sz="900" dirty="0"/>
          </a:p>
        </p:txBody>
      </p:sp>
      <p:sp>
        <p:nvSpPr>
          <p:cNvPr id="82" name="Shape 80"/>
          <p:cNvSpPr/>
          <p:nvPr/>
        </p:nvSpPr>
        <p:spPr>
          <a:xfrm>
            <a:off x="621792" y="4814316"/>
            <a:ext cx="3190799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76656" y="4814316"/>
            <a:ext cx="3135935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흉부 X-ray</a:t>
            </a:r>
            <a:endParaRPr lang="ko-KR" sz="900" dirty="0"/>
          </a:p>
        </p:txBody>
      </p:sp>
      <p:sp>
        <p:nvSpPr>
          <p:cNvPr id="84" name="Shape 82"/>
          <p:cNvSpPr/>
          <p:nvPr/>
        </p:nvSpPr>
        <p:spPr>
          <a:xfrm>
            <a:off x="3812591" y="4814316"/>
            <a:ext cx="109728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812591" y="4814316"/>
            <a:ext cx="109728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ko-KR" sz="900" dirty="0"/>
          </a:p>
        </p:txBody>
      </p:sp>
      <p:sp>
        <p:nvSpPr>
          <p:cNvPr id="86" name="Shape 84"/>
          <p:cNvSpPr/>
          <p:nvPr/>
        </p:nvSpPr>
        <p:spPr>
          <a:xfrm>
            <a:off x="621792" y="4992624"/>
            <a:ext cx="3190799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76656" y="4992624"/>
            <a:ext cx="3135935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요검사</a:t>
            </a:r>
            <a:endParaRPr lang="ko-KR" sz="900" dirty="0"/>
          </a:p>
        </p:txBody>
      </p:sp>
      <p:sp>
        <p:nvSpPr>
          <p:cNvPr id="88" name="Shape 86"/>
          <p:cNvSpPr/>
          <p:nvPr/>
        </p:nvSpPr>
        <p:spPr>
          <a:xfrm>
            <a:off x="3812591" y="4992624"/>
            <a:ext cx="109728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812591" y="4992624"/>
            <a:ext cx="109728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ko-KR" sz="900" dirty="0"/>
          </a:p>
        </p:txBody>
      </p:sp>
      <p:sp>
        <p:nvSpPr>
          <p:cNvPr id="90" name="Shape 88"/>
          <p:cNvSpPr/>
          <p:nvPr/>
        </p:nvSpPr>
        <p:spPr>
          <a:xfrm>
            <a:off x="621792" y="5170932"/>
            <a:ext cx="3190799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76656" y="5170932"/>
            <a:ext cx="3135935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혈액검사</a:t>
            </a:r>
            <a:endParaRPr lang="ko-KR" sz="900" dirty="0"/>
          </a:p>
        </p:txBody>
      </p:sp>
      <p:sp>
        <p:nvSpPr>
          <p:cNvPr id="92" name="Shape 90"/>
          <p:cNvSpPr/>
          <p:nvPr/>
        </p:nvSpPr>
        <p:spPr>
          <a:xfrm>
            <a:off x="3812591" y="5170932"/>
            <a:ext cx="109728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812591" y="5170932"/>
            <a:ext cx="109728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ko-KR" sz="900" dirty="0"/>
          </a:p>
        </p:txBody>
      </p:sp>
      <p:sp>
        <p:nvSpPr>
          <p:cNvPr id="94" name="Shape 92"/>
          <p:cNvSpPr/>
          <p:nvPr/>
        </p:nvSpPr>
        <p:spPr>
          <a:xfrm>
            <a:off x="621792" y="5349240"/>
            <a:ext cx="3190799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76656" y="5349240"/>
            <a:ext cx="3135935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구강검진</a:t>
            </a:r>
            <a:endParaRPr lang="ko-KR" sz="900" dirty="0"/>
          </a:p>
        </p:txBody>
      </p:sp>
      <p:sp>
        <p:nvSpPr>
          <p:cNvPr id="96" name="Shape 94"/>
          <p:cNvSpPr/>
          <p:nvPr/>
        </p:nvSpPr>
        <p:spPr>
          <a:xfrm>
            <a:off x="3812591" y="5349240"/>
            <a:ext cx="109728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812591" y="5349240"/>
            <a:ext cx="109728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ko-KR" sz="900" dirty="0"/>
          </a:p>
        </p:txBody>
      </p:sp>
      <p:sp>
        <p:nvSpPr>
          <p:cNvPr id="98" name="Shape 96"/>
          <p:cNvSpPr/>
          <p:nvPr/>
        </p:nvSpPr>
        <p:spPr>
          <a:xfrm>
            <a:off x="621792" y="5527548"/>
            <a:ext cx="3190799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76656" y="5527548"/>
            <a:ext cx="3135935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이상지질혈증</a:t>
            </a:r>
            <a:endParaRPr lang="ko-KR" sz="900" dirty="0"/>
          </a:p>
        </p:txBody>
      </p:sp>
      <p:sp>
        <p:nvSpPr>
          <p:cNvPr id="100" name="Shape 98"/>
          <p:cNvSpPr/>
          <p:nvPr/>
        </p:nvSpPr>
        <p:spPr>
          <a:xfrm>
            <a:off x="3812591" y="5527548"/>
            <a:ext cx="109728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812591" y="5527548"/>
            <a:ext cx="109728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조건부</a:t>
            </a:r>
            <a:endParaRPr lang="ko-KR" sz="900" dirty="0"/>
          </a:p>
        </p:txBody>
      </p:sp>
      <p:sp>
        <p:nvSpPr>
          <p:cNvPr id="102" name="Shape 100"/>
          <p:cNvSpPr/>
          <p:nvPr/>
        </p:nvSpPr>
        <p:spPr>
          <a:xfrm>
            <a:off x="621792" y="5705856"/>
            <a:ext cx="3190799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76656" y="5705856"/>
            <a:ext cx="3135935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골밀도검사</a:t>
            </a:r>
            <a:endParaRPr lang="ko-KR" sz="900" dirty="0"/>
          </a:p>
        </p:txBody>
      </p:sp>
      <p:sp>
        <p:nvSpPr>
          <p:cNvPr id="104" name="Shape 102"/>
          <p:cNvSpPr/>
          <p:nvPr/>
        </p:nvSpPr>
        <p:spPr>
          <a:xfrm>
            <a:off x="3812591" y="5705856"/>
            <a:ext cx="109728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812591" y="5705856"/>
            <a:ext cx="109728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조건부</a:t>
            </a:r>
            <a:endParaRPr lang="ko-KR" sz="900" dirty="0"/>
          </a:p>
        </p:txBody>
      </p:sp>
      <p:sp>
        <p:nvSpPr>
          <p:cNvPr id="106" name="Shape 104"/>
          <p:cNvSpPr/>
          <p:nvPr/>
        </p:nvSpPr>
        <p:spPr>
          <a:xfrm>
            <a:off x="5092751" y="3675888"/>
            <a:ext cx="3658057" cy="2386584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165903" y="3703320"/>
            <a:ext cx="351175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추가검사 (AEX) · 본인부담 · 선택</a:t>
            </a:r>
            <a:endParaRPr lang="ko-KR" sz="800" dirty="0"/>
          </a:p>
        </p:txBody>
      </p:sp>
      <p:sp>
        <p:nvSpPr>
          <p:cNvPr id="108" name="Shape 106"/>
          <p:cNvSpPr/>
          <p:nvPr/>
        </p:nvSpPr>
        <p:spPr>
          <a:xfrm>
            <a:off x="5092751" y="3886200"/>
            <a:ext cx="3658057" cy="0"/>
          </a:xfrm>
          <a:prstGeom prst="line">
            <a:avLst/>
          </a:prstGeom>
          <a:noFill/>
          <a:ln w="9525">
            <a:solidFill>
              <a:srgbClr val="8C9BB5"/>
            </a:solidFill>
            <a:prstDash val="solid"/>
            <a:tailEnd type="none"/>
          </a:ln>
        </p:spPr>
      </p:sp>
      <p:sp>
        <p:nvSpPr>
          <p:cNvPr id="109" name="Shape 107"/>
          <p:cNvSpPr/>
          <p:nvPr/>
        </p:nvSpPr>
        <p:spPr>
          <a:xfrm>
            <a:off x="5184191" y="3922776"/>
            <a:ext cx="402336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184191" y="3922776"/>
            <a:ext cx="40233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</a:t>
            </a:r>
            <a:endParaRPr lang="ko-KR" sz="900" dirty="0"/>
          </a:p>
        </p:txBody>
      </p:sp>
      <p:sp>
        <p:nvSpPr>
          <p:cNvPr id="111" name="Shape 109"/>
          <p:cNvSpPr/>
          <p:nvPr/>
        </p:nvSpPr>
        <p:spPr>
          <a:xfrm>
            <a:off x="5586527" y="3922776"/>
            <a:ext cx="1024128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641391" y="3922776"/>
            <a:ext cx="969264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검사명</a:t>
            </a:r>
            <a:endParaRPr lang="ko-KR" sz="900" dirty="0"/>
          </a:p>
        </p:txBody>
      </p:sp>
      <p:sp>
        <p:nvSpPr>
          <p:cNvPr id="113" name="Shape 111"/>
          <p:cNvSpPr/>
          <p:nvPr/>
        </p:nvSpPr>
        <p:spPr>
          <a:xfrm>
            <a:off x="6610655" y="3922776"/>
            <a:ext cx="2048713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665519" y="3922776"/>
            <a:ext cx="1993849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선택불가 사유</a:t>
            </a:r>
            <a:endParaRPr lang="ko-KR" sz="900" dirty="0"/>
          </a:p>
        </p:txBody>
      </p:sp>
      <p:sp>
        <p:nvSpPr>
          <p:cNvPr id="115" name="Shape 113"/>
          <p:cNvSpPr/>
          <p:nvPr/>
        </p:nvSpPr>
        <p:spPr>
          <a:xfrm>
            <a:off x="5184191" y="4101084"/>
            <a:ext cx="402336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184191" y="4101084"/>
            <a:ext cx="40233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</a:t>
            </a:r>
            <a:endParaRPr lang="ko-KR" sz="900" dirty="0"/>
          </a:p>
        </p:txBody>
      </p:sp>
      <p:sp>
        <p:nvSpPr>
          <p:cNvPr id="117" name="Shape 115"/>
          <p:cNvSpPr/>
          <p:nvPr/>
        </p:nvSpPr>
        <p:spPr>
          <a:xfrm>
            <a:off x="5586527" y="4101084"/>
            <a:ext cx="1024128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641391" y="4101084"/>
            <a:ext cx="969264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복부초음파</a:t>
            </a:r>
            <a:endParaRPr lang="ko-KR" sz="900" dirty="0"/>
          </a:p>
        </p:txBody>
      </p:sp>
      <p:sp>
        <p:nvSpPr>
          <p:cNvPr id="119" name="Shape 117"/>
          <p:cNvSpPr/>
          <p:nvPr/>
        </p:nvSpPr>
        <p:spPr>
          <a:xfrm>
            <a:off x="6610655" y="4101084"/>
            <a:ext cx="2048713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184191" y="4279392"/>
            <a:ext cx="402336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5184191" y="4279392"/>
            <a:ext cx="40233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☑</a:t>
            </a:r>
            <a:endParaRPr lang="ko-KR" sz="900" dirty="0"/>
          </a:p>
        </p:txBody>
      </p:sp>
      <p:sp>
        <p:nvSpPr>
          <p:cNvPr id="122" name="Shape 120"/>
          <p:cNvSpPr/>
          <p:nvPr/>
        </p:nvSpPr>
        <p:spPr>
          <a:xfrm>
            <a:off x="5586527" y="4279392"/>
            <a:ext cx="1024128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5641391" y="4279392"/>
            <a:ext cx="969264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갑상선초음파</a:t>
            </a:r>
            <a:endParaRPr lang="ko-KR" sz="900" dirty="0"/>
          </a:p>
        </p:txBody>
      </p:sp>
      <p:sp>
        <p:nvSpPr>
          <p:cNvPr id="124" name="Shape 122"/>
          <p:cNvSpPr/>
          <p:nvPr/>
        </p:nvSpPr>
        <p:spPr>
          <a:xfrm>
            <a:off x="6610655" y="4279392"/>
            <a:ext cx="2048713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184191" y="4457700"/>
            <a:ext cx="402336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5184191" y="4457700"/>
            <a:ext cx="40233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</a:t>
            </a:r>
            <a:endParaRPr lang="ko-KR" sz="900" dirty="0"/>
          </a:p>
        </p:txBody>
      </p:sp>
      <p:sp>
        <p:nvSpPr>
          <p:cNvPr id="127" name="Shape 125"/>
          <p:cNvSpPr/>
          <p:nvPr/>
        </p:nvSpPr>
        <p:spPr>
          <a:xfrm>
            <a:off x="5586527" y="4457700"/>
            <a:ext cx="1024128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5641391" y="4457700"/>
            <a:ext cx="969264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유방초음파</a:t>
            </a:r>
            <a:endParaRPr lang="ko-KR" sz="900" dirty="0"/>
          </a:p>
        </p:txBody>
      </p:sp>
      <p:sp>
        <p:nvSpPr>
          <p:cNvPr id="129" name="Shape 127"/>
          <p:cNvSpPr/>
          <p:nvPr/>
        </p:nvSpPr>
        <p:spPr>
          <a:xfrm>
            <a:off x="6610655" y="4457700"/>
            <a:ext cx="2048713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184191" y="4636008"/>
            <a:ext cx="402336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5184191" y="4636008"/>
            <a:ext cx="40233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ko-KR" sz="900" dirty="0"/>
          </a:p>
        </p:txBody>
      </p:sp>
      <p:sp>
        <p:nvSpPr>
          <p:cNvPr id="132" name="Shape 130"/>
          <p:cNvSpPr/>
          <p:nvPr/>
        </p:nvSpPr>
        <p:spPr>
          <a:xfrm>
            <a:off x="5586527" y="4636008"/>
            <a:ext cx="1024128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5641391" y="4636008"/>
            <a:ext cx="969264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골밀도검사</a:t>
            </a:r>
            <a:endParaRPr lang="ko-KR" sz="900" dirty="0"/>
          </a:p>
        </p:txBody>
      </p:sp>
      <p:sp>
        <p:nvSpPr>
          <p:cNvPr id="134" name="Shape 132"/>
          <p:cNvSpPr/>
          <p:nvPr/>
        </p:nvSpPr>
        <p:spPr>
          <a:xfrm>
            <a:off x="6610655" y="4636008"/>
            <a:ext cx="2048713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6665519" y="4636008"/>
            <a:ext cx="1993849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일반건강검진에 포함된 검사입니다.</a:t>
            </a:r>
            <a:endParaRPr lang="ko-KR" sz="800" dirty="0"/>
          </a:p>
        </p:txBody>
      </p:sp>
      <p:sp>
        <p:nvSpPr>
          <p:cNvPr id="136" name="Shape 134"/>
          <p:cNvSpPr/>
          <p:nvPr/>
        </p:nvSpPr>
        <p:spPr>
          <a:xfrm>
            <a:off x="5184191" y="4814316"/>
            <a:ext cx="402336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5184191" y="4814316"/>
            <a:ext cx="40233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ko-KR" sz="900" dirty="0"/>
          </a:p>
        </p:txBody>
      </p:sp>
      <p:sp>
        <p:nvSpPr>
          <p:cNvPr id="138" name="Shape 136"/>
          <p:cNvSpPr/>
          <p:nvPr/>
        </p:nvSpPr>
        <p:spPr>
          <a:xfrm>
            <a:off x="5586527" y="4814316"/>
            <a:ext cx="1024128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5641391" y="4814316"/>
            <a:ext cx="969264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PSA</a:t>
            </a:r>
            <a:endParaRPr lang="ko-KR" sz="900" dirty="0"/>
          </a:p>
        </p:txBody>
      </p:sp>
      <p:sp>
        <p:nvSpPr>
          <p:cNvPr id="140" name="Shape 138"/>
          <p:cNvSpPr/>
          <p:nvPr/>
        </p:nvSpPr>
        <p:spPr>
          <a:xfrm>
            <a:off x="6610655" y="4814316"/>
            <a:ext cx="2048713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6665519" y="4814316"/>
            <a:ext cx="1993849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성별 조건 불충족</a:t>
            </a:r>
            <a:endParaRPr lang="ko-KR" sz="800" dirty="0"/>
          </a:p>
        </p:txBody>
      </p:sp>
      <p:sp>
        <p:nvSpPr>
          <p:cNvPr id="142" name="Shape 140"/>
          <p:cNvSpPr/>
          <p:nvPr/>
        </p:nvSpPr>
        <p:spPr>
          <a:xfrm>
            <a:off x="5184191" y="4992624"/>
            <a:ext cx="402336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5184191" y="4992624"/>
            <a:ext cx="40233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</a:t>
            </a:r>
            <a:endParaRPr lang="ko-KR" sz="900" dirty="0"/>
          </a:p>
        </p:txBody>
      </p:sp>
      <p:sp>
        <p:nvSpPr>
          <p:cNvPr id="144" name="Shape 142"/>
          <p:cNvSpPr/>
          <p:nvPr/>
        </p:nvSpPr>
        <p:spPr>
          <a:xfrm>
            <a:off x="5586527" y="4992624"/>
            <a:ext cx="1024128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5641391" y="4992624"/>
            <a:ext cx="969264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HbA1c</a:t>
            </a:r>
            <a:endParaRPr lang="ko-KR" sz="900" dirty="0"/>
          </a:p>
        </p:txBody>
      </p:sp>
      <p:sp>
        <p:nvSpPr>
          <p:cNvPr id="146" name="Shape 144"/>
          <p:cNvSpPr/>
          <p:nvPr/>
        </p:nvSpPr>
        <p:spPr>
          <a:xfrm>
            <a:off x="6610655" y="4992624"/>
            <a:ext cx="2048713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184191" y="5170932"/>
            <a:ext cx="402336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5184191" y="5170932"/>
            <a:ext cx="40233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</a:t>
            </a:r>
            <a:endParaRPr lang="ko-KR" sz="900" dirty="0"/>
          </a:p>
        </p:txBody>
      </p:sp>
      <p:sp>
        <p:nvSpPr>
          <p:cNvPr id="149" name="Shape 147"/>
          <p:cNvSpPr/>
          <p:nvPr/>
        </p:nvSpPr>
        <p:spPr>
          <a:xfrm>
            <a:off x="5586527" y="5170932"/>
            <a:ext cx="1024128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5641391" y="5170932"/>
            <a:ext cx="969264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HPV 검사</a:t>
            </a:r>
            <a:endParaRPr lang="ko-KR" sz="900" dirty="0"/>
          </a:p>
        </p:txBody>
      </p:sp>
      <p:sp>
        <p:nvSpPr>
          <p:cNvPr id="151" name="Shape 149"/>
          <p:cNvSpPr/>
          <p:nvPr/>
        </p:nvSpPr>
        <p:spPr>
          <a:xfrm>
            <a:off x="6610655" y="5170932"/>
            <a:ext cx="2048713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420624" y="164592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예약</a:t>
            </a:r>
            <a:endParaRPr lang="ko-KR" sz="3000" dirty="0"/>
          </a:p>
        </p:txBody>
      </p:sp>
      <p:sp>
        <p:nvSpPr>
          <p:cNvPr id="153" name="Shape 151"/>
          <p:cNvSpPr/>
          <p:nvPr/>
        </p:nvSpPr>
        <p:spPr>
          <a:xfrm>
            <a:off x="8897112" y="932688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262872" y="932688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9313164" y="982980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WF-RSV-01  신규 예약 · Main Tab ·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P02-01~04 · F-RSV-001</a:t>
            </a:r>
            <a:endParaRPr lang="ko-KR" sz="1000" dirty="0"/>
          </a:p>
        </p:txBody>
      </p:sp>
      <p:sp>
        <p:nvSpPr>
          <p:cNvPr id="156" name="Shape 154"/>
          <p:cNvSpPr/>
          <p:nvPr/>
        </p:nvSpPr>
        <p:spPr>
          <a:xfrm>
            <a:off x="8897112" y="1371117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9262872" y="1371117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8897112" y="1371117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1000" dirty="0"/>
          </a:p>
        </p:txBody>
      </p:sp>
      <p:sp>
        <p:nvSpPr>
          <p:cNvPr id="159" name="Text 157"/>
          <p:cNvSpPr/>
          <p:nvPr/>
        </p:nvSpPr>
        <p:spPr>
          <a:xfrm>
            <a:off x="9313164" y="1421409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상단 업무 Navigation. 각 업무 Tab은 1개만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열린다</a:t>
            </a:r>
            <a:endParaRPr lang="ko-KR" sz="1000" dirty="0"/>
          </a:p>
        </p:txBody>
      </p:sp>
      <p:sp>
        <p:nvSpPr>
          <p:cNvPr id="160" name="Shape 158"/>
          <p:cNvSpPr/>
          <p:nvPr/>
        </p:nvSpPr>
        <p:spPr>
          <a:xfrm>
            <a:off x="8897112" y="1809547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9262872" y="1809547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8897112" y="1809547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sz="1000" dirty="0"/>
          </a:p>
        </p:txBody>
      </p:sp>
      <p:sp>
        <p:nvSpPr>
          <p:cNvPr id="163" name="Text 161"/>
          <p:cNvSpPr/>
          <p:nvPr/>
        </p:nvSpPr>
        <p:spPr>
          <a:xfrm>
            <a:off x="9313164" y="1859839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준비상태 충족 시 활성. 저장 후 DB가 최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 재검증</a:t>
            </a:r>
            <a:endParaRPr lang="ko-KR" sz="1000" dirty="0"/>
          </a:p>
        </p:txBody>
      </p:sp>
      <p:sp>
        <p:nvSpPr>
          <p:cNvPr id="164" name="Shape 162"/>
          <p:cNvSpPr/>
          <p:nvPr/>
        </p:nvSpPr>
        <p:spPr>
          <a:xfrm>
            <a:off x="8897112" y="2247976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9262872" y="2247976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8897112" y="2247976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sz="1000" dirty="0"/>
          </a:p>
        </p:txBody>
      </p:sp>
      <p:sp>
        <p:nvSpPr>
          <p:cNvPr id="167" name="Text 165"/>
          <p:cNvSpPr/>
          <p:nvPr/>
        </p:nvSpPr>
        <p:spPr>
          <a:xfrm>
            <a:off x="9313164" y="2298268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[수검자 선택]으로 확정. 전달받은 경우 즉시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 (ReadOnly)</a:t>
            </a:r>
            <a:endParaRPr lang="ko-KR" sz="1000" dirty="0"/>
          </a:p>
        </p:txBody>
      </p:sp>
      <p:sp>
        <p:nvSpPr>
          <p:cNvPr id="168" name="Shape 166"/>
          <p:cNvSpPr/>
          <p:nvPr/>
        </p:nvSpPr>
        <p:spPr>
          <a:xfrm>
            <a:off x="8897112" y="2686406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9262872" y="2686406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8897112" y="2686406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sz="1000" dirty="0"/>
          </a:p>
        </p:txBody>
      </p:sp>
      <p:sp>
        <p:nvSpPr>
          <p:cNvPr id="171" name="Text 169"/>
          <p:cNvSpPr/>
          <p:nvPr/>
        </p:nvSpPr>
        <p:spPr>
          <a:xfrm>
            <a:off x="9313164" y="2736698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과거일·일요일·휴무일은 선택 불가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(CP-01~03, HOL, RP-04)</a:t>
            </a:r>
            <a:endParaRPr lang="ko-KR" sz="1000" dirty="0"/>
          </a:p>
        </p:txBody>
      </p:sp>
      <p:sp>
        <p:nvSpPr>
          <p:cNvPr id="172" name="Shape 170"/>
          <p:cNvSpPr/>
          <p:nvPr/>
        </p:nvSpPr>
        <p:spPr>
          <a:xfrm>
            <a:off x="8897112" y="3124835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9262872" y="3124835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8897112" y="3124835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ko-KR" sz="1000" dirty="0"/>
          </a:p>
        </p:txBody>
      </p:sp>
      <p:sp>
        <p:nvSpPr>
          <p:cNvPr id="175" name="Text 173"/>
          <p:cNvSpPr/>
          <p:nvPr/>
        </p:nvSpPr>
        <p:spPr>
          <a:xfrm>
            <a:off x="9313164" y="3175127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정원 20 도달 시 선택 불가. 취소 건은 산정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제외 (RP-03)</a:t>
            </a:r>
            <a:endParaRPr lang="ko-KR" sz="1000" dirty="0"/>
          </a:p>
        </p:txBody>
      </p:sp>
      <p:sp>
        <p:nvSpPr>
          <p:cNvPr id="176" name="Shape 174"/>
          <p:cNvSpPr/>
          <p:nvPr/>
        </p:nvSpPr>
        <p:spPr>
          <a:xfrm>
            <a:off x="8897112" y="3563264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9262872" y="3563264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8897112" y="3563264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ko-KR" sz="1000" dirty="0"/>
          </a:p>
        </p:txBody>
      </p:sp>
      <p:sp>
        <p:nvSpPr>
          <p:cNvPr id="179" name="Text 177"/>
          <p:cNvSpPr/>
          <p:nvPr/>
        </p:nvSpPr>
        <p:spPr>
          <a:xfrm>
            <a:off x="9313164" y="3613556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예약일 기준 판정. 비대상이면 저장 불가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(TGT, RP-07)</a:t>
            </a:r>
            <a:endParaRPr lang="ko-KR" sz="1000" dirty="0"/>
          </a:p>
        </p:txBody>
      </p:sp>
      <p:sp>
        <p:nvSpPr>
          <p:cNvPr id="180" name="Shape 178"/>
          <p:cNvSpPr/>
          <p:nvPr/>
        </p:nvSpPr>
        <p:spPr>
          <a:xfrm>
            <a:off x="8897112" y="4001694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9262872" y="4001694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8897112" y="4001694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ko-KR" sz="1000" dirty="0"/>
          </a:p>
        </p:txBody>
      </p:sp>
      <p:sp>
        <p:nvSpPr>
          <p:cNvPr id="183" name="Text 181"/>
          <p:cNvSpPr/>
          <p:nvPr/>
        </p:nvSpPr>
        <p:spPr>
          <a:xfrm>
            <a:off x="9313164" y="4051986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8종 + 조건부 0~3종 = 8~11행. 사용자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불가 (NEX)</a:t>
            </a:r>
            <a:endParaRPr lang="ko-KR" sz="1000" dirty="0"/>
          </a:p>
        </p:txBody>
      </p:sp>
      <p:sp>
        <p:nvSpPr>
          <p:cNvPr id="184" name="Shape 182"/>
          <p:cNvSpPr/>
          <p:nvPr/>
        </p:nvSpPr>
        <p:spPr>
          <a:xfrm>
            <a:off x="8897112" y="4440123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9262872" y="4440123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8897112" y="4440123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ko-KR" sz="1000" dirty="0"/>
          </a:p>
        </p:txBody>
      </p:sp>
      <p:sp>
        <p:nvSpPr>
          <p:cNvPr id="187" name="Text 185"/>
          <p:cNvSpPr/>
          <p:nvPr/>
        </p:nvSpPr>
        <p:spPr>
          <a:xfrm>
            <a:off x="9313164" y="4490415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0개 이상 선택. 성별 불충족·NEX 중복은 비활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 (AEX-02~04)</a:t>
            </a:r>
            <a:endParaRPr lang="ko-KR" sz="1000" dirty="0"/>
          </a:p>
        </p:txBody>
      </p:sp>
      <p:sp>
        <p:nvSpPr>
          <p:cNvPr id="188" name="Shape 186"/>
          <p:cNvSpPr/>
          <p:nvPr/>
        </p:nvSpPr>
        <p:spPr>
          <a:xfrm>
            <a:off x="8897112" y="4878553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9262872" y="4878553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8897112" y="4878553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ko-KR" sz="1000" dirty="0"/>
          </a:p>
        </p:txBody>
      </p:sp>
      <p:sp>
        <p:nvSpPr>
          <p:cNvPr id="191" name="Text 189"/>
          <p:cNvSpPr/>
          <p:nvPr/>
        </p:nvSpPr>
        <p:spPr>
          <a:xfrm>
            <a:off x="9313164" y="4928845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휴무일·운영시간 외에는 업무 Action 전체 비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활성 (CP-04)</a:t>
            </a:r>
            <a:endParaRPr lang="ko-KR" sz="1000" dirty="0"/>
          </a:p>
        </p:txBody>
      </p:sp>
      <p:sp>
        <p:nvSpPr>
          <p:cNvPr id="192" name="Shape 190"/>
          <p:cNvSpPr/>
          <p:nvPr/>
        </p:nvSpPr>
        <p:spPr>
          <a:xfrm>
            <a:off x="384048" y="960120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384048" y="960120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1000" dirty="0"/>
          </a:p>
        </p:txBody>
      </p:sp>
      <p:sp>
        <p:nvSpPr>
          <p:cNvPr id="194" name="Shape 192"/>
          <p:cNvSpPr/>
          <p:nvPr/>
        </p:nvSpPr>
        <p:spPr>
          <a:xfrm>
            <a:off x="512064" y="1435608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512064" y="1435608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sz="1000" dirty="0"/>
          </a:p>
        </p:txBody>
      </p:sp>
      <p:sp>
        <p:nvSpPr>
          <p:cNvPr id="196" name="Shape 194"/>
          <p:cNvSpPr/>
          <p:nvPr/>
        </p:nvSpPr>
        <p:spPr>
          <a:xfrm>
            <a:off x="274320" y="6062472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274320" y="6062472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ko-KR" sz="1000" dirty="0"/>
          </a:p>
        </p:txBody>
      </p:sp>
      <p:sp>
        <p:nvSpPr>
          <p:cNvPr id="198" name="Shape 196"/>
          <p:cNvSpPr/>
          <p:nvPr/>
        </p:nvSpPr>
        <p:spPr>
          <a:xfrm>
            <a:off x="384048" y="2551176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384048" y="2551176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sz="1000" dirty="0"/>
          </a:p>
        </p:txBody>
      </p:sp>
      <p:sp>
        <p:nvSpPr>
          <p:cNvPr id="200" name="Shape 198"/>
          <p:cNvSpPr/>
          <p:nvPr/>
        </p:nvSpPr>
        <p:spPr>
          <a:xfrm>
            <a:off x="4846777" y="2313432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4846777" y="2313432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sz="1000" dirty="0"/>
          </a:p>
        </p:txBody>
      </p:sp>
      <p:sp>
        <p:nvSpPr>
          <p:cNvPr id="202" name="Shape 200"/>
          <p:cNvSpPr/>
          <p:nvPr/>
        </p:nvSpPr>
        <p:spPr>
          <a:xfrm>
            <a:off x="4846777" y="2761488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4846777" y="2761488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ko-KR" sz="1000" dirty="0"/>
          </a:p>
        </p:txBody>
      </p:sp>
      <p:sp>
        <p:nvSpPr>
          <p:cNvPr id="204" name="Shape 202"/>
          <p:cNvSpPr/>
          <p:nvPr/>
        </p:nvSpPr>
        <p:spPr>
          <a:xfrm>
            <a:off x="384048" y="3374136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384048" y="3374136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ko-KR" sz="1000" dirty="0"/>
          </a:p>
        </p:txBody>
      </p:sp>
      <p:sp>
        <p:nvSpPr>
          <p:cNvPr id="206" name="Shape 204"/>
          <p:cNvSpPr/>
          <p:nvPr/>
        </p:nvSpPr>
        <p:spPr>
          <a:xfrm>
            <a:off x="384048" y="4759452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384048" y="4759452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ko-KR" sz="1000" dirty="0"/>
          </a:p>
        </p:txBody>
      </p:sp>
      <p:sp>
        <p:nvSpPr>
          <p:cNvPr id="208" name="Shape 206"/>
          <p:cNvSpPr/>
          <p:nvPr/>
        </p:nvSpPr>
        <p:spPr>
          <a:xfrm>
            <a:off x="4946447" y="4759452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4946447" y="4759452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ko-KR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932688"/>
            <a:ext cx="8439912" cy="5349240"/>
          </a:xfrm>
          <a:prstGeom prst="rect">
            <a:avLst/>
          </a:prstGeom>
          <a:ln w="254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0624" y="932688"/>
            <a:ext cx="8439912" cy="274320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" y="969264"/>
            <a:ext cx="1170432" cy="201168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969264"/>
            <a:ext cx="117043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 관리</a:t>
            </a:r>
            <a:endParaRPr lang="ko-KR" sz="950" dirty="0"/>
          </a:p>
        </p:txBody>
      </p:sp>
      <p:sp>
        <p:nvSpPr>
          <p:cNvPr id="6" name="Shape 4"/>
          <p:cNvSpPr/>
          <p:nvPr/>
        </p:nvSpPr>
        <p:spPr>
          <a:xfrm>
            <a:off x="1755648" y="969264"/>
            <a:ext cx="1170432" cy="201168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55648" y="969264"/>
            <a:ext cx="117043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예약</a:t>
            </a:r>
            <a:endParaRPr lang="ko-KR" sz="950" dirty="0"/>
          </a:p>
        </p:txBody>
      </p:sp>
      <p:sp>
        <p:nvSpPr>
          <p:cNvPr id="8" name="Shape 6"/>
          <p:cNvSpPr/>
          <p:nvPr/>
        </p:nvSpPr>
        <p:spPr>
          <a:xfrm>
            <a:off x="2980944" y="969264"/>
            <a:ext cx="1170432" cy="201168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80944" y="969264"/>
            <a:ext cx="117043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관리</a:t>
            </a:r>
            <a:endParaRPr lang="ko-KR" sz="950" dirty="0"/>
          </a:p>
        </p:txBody>
      </p:sp>
      <p:sp>
        <p:nvSpPr>
          <p:cNvPr id="10" name="Shape 8"/>
          <p:cNvSpPr/>
          <p:nvPr/>
        </p:nvSpPr>
        <p:spPr>
          <a:xfrm>
            <a:off x="4206240" y="969264"/>
            <a:ext cx="1170432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969264"/>
            <a:ext cx="117043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관리</a:t>
            </a:r>
            <a:endParaRPr lang="ko-KR" sz="950" dirty="0"/>
          </a:p>
        </p:txBody>
      </p:sp>
      <p:sp>
        <p:nvSpPr>
          <p:cNvPr id="12" name="Shape 10"/>
          <p:cNvSpPr/>
          <p:nvPr/>
        </p:nvSpPr>
        <p:spPr>
          <a:xfrm>
            <a:off x="5431536" y="969264"/>
            <a:ext cx="1170432" cy="201168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31536" y="969264"/>
            <a:ext cx="117043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휴무일 관리</a:t>
            </a:r>
            <a:endParaRPr lang="ko-KR" sz="950" dirty="0"/>
          </a:p>
        </p:txBody>
      </p:sp>
      <p:sp>
        <p:nvSpPr>
          <p:cNvPr id="14" name="Shape 12"/>
          <p:cNvSpPr/>
          <p:nvPr/>
        </p:nvSpPr>
        <p:spPr>
          <a:xfrm>
            <a:off x="420624" y="1207008"/>
            <a:ext cx="8439912" cy="530352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1243584"/>
            <a:ext cx="731520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endParaRPr lang="ko-KR" sz="800" dirty="0"/>
          </a:p>
        </p:txBody>
      </p:sp>
      <p:sp>
        <p:nvSpPr>
          <p:cNvPr id="16" name="Shape 14"/>
          <p:cNvSpPr/>
          <p:nvPr/>
        </p:nvSpPr>
        <p:spPr>
          <a:xfrm>
            <a:off x="658368" y="1408176"/>
            <a:ext cx="731520" cy="274320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1408176"/>
            <a:ext cx="7315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</a:t>
            </a:r>
            <a:endParaRPr lang="ko-KR" sz="950" dirty="0"/>
          </a:p>
        </p:txBody>
      </p:sp>
      <p:sp>
        <p:nvSpPr>
          <p:cNvPr id="18" name="Shape 16"/>
          <p:cNvSpPr/>
          <p:nvPr/>
        </p:nvSpPr>
        <p:spPr>
          <a:xfrm>
            <a:off x="1490472" y="1261872"/>
            <a:ext cx="0" cy="420624"/>
          </a:xfrm>
          <a:prstGeom prst="line">
            <a:avLst/>
          </a:prstGeom>
          <a:noFill/>
          <a:ln w="9525">
            <a:solidFill>
              <a:srgbClr val="8C9BB5"/>
            </a:solidFill>
            <a:prstDash val="solid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1591056" y="1243584"/>
            <a:ext cx="4576824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업무</a:t>
            </a:r>
            <a:endParaRPr lang="ko-KR" sz="800" dirty="0"/>
          </a:p>
        </p:txBody>
      </p:sp>
      <p:sp>
        <p:nvSpPr>
          <p:cNvPr id="20" name="Shape 18"/>
          <p:cNvSpPr/>
          <p:nvPr/>
        </p:nvSpPr>
        <p:spPr>
          <a:xfrm>
            <a:off x="1591056" y="1408176"/>
            <a:ext cx="1040636" cy="274320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91056" y="1408176"/>
            <a:ext cx="104063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당일예약</a:t>
            </a:r>
            <a:endParaRPr lang="ko-KR" sz="950" dirty="0"/>
          </a:p>
        </p:txBody>
      </p:sp>
      <p:sp>
        <p:nvSpPr>
          <p:cNvPr id="22" name="Shape 20"/>
          <p:cNvSpPr/>
          <p:nvPr/>
        </p:nvSpPr>
        <p:spPr>
          <a:xfrm>
            <a:off x="2704844" y="1408176"/>
            <a:ext cx="756920" cy="274320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04844" y="1408176"/>
            <a:ext cx="7569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예약변경</a:t>
            </a:r>
            <a:endParaRPr lang="ko-KR" sz="950" dirty="0"/>
          </a:p>
        </p:txBody>
      </p:sp>
      <p:sp>
        <p:nvSpPr>
          <p:cNvPr id="24" name="Shape 22"/>
          <p:cNvSpPr/>
          <p:nvPr/>
        </p:nvSpPr>
        <p:spPr>
          <a:xfrm>
            <a:off x="3534916" y="1408176"/>
            <a:ext cx="731520" cy="274320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34916" y="1408176"/>
            <a:ext cx="7315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</a:t>
            </a:r>
            <a:endParaRPr lang="ko-KR" sz="950" dirty="0"/>
          </a:p>
        </p:txBody>
      </p:sp>
      <p:sp>
        <p:nvSpPr>
          <p:cNvPr id="26" name="Shape 24"/>
          <p:cNvSpPr/>
          <p:nvPr/>
        </p:nvSpPr>
        <p:spPr>
          <a:xfrm>
            <a:off x="4339588" y="1408176"/>
            <a:ext cx="998220" cy="274320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39588" y="1408176"/>
            <a:ext cx="9982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추가검사변경</a:t>
            </a:r>
            <a:endParaRPr lang="ko-KR" sz="950" dirty="0"/>
          </a:p>
        </p:txBody>
      </p:sp>
      <p:sp>
        <p:nvSpPr>
          <p:cNvPr id="28" name="Shape 26"/>
          <p:cNvSpPr/>
          <p:nvPr/>
        </p:nvSpPr>
        <p:spPr>
          <a:xfrm>
            <a:off x="5410960" y="1408176"/>
            <a:ext cx="756920" cy="274320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10960" y="1408176"/>
            <a:ext cx="7569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접수취소</a:t>
            </a:r>
            <a:endParaRPr lang="ko-KR" sz="950" dirty="0"/>
          </a:p>
        </p:txBody>
      </p:sp>
      <p:sp>
        <p:nvSpPr>
          <p:cNvPr id="30" name="Shape 28"/>
          <p:cNvSpPr/>
          <p:nvPr/>
        </p:nvSpPr>
        <p:spPr>
          <a:xfrm>
            <a:off x="6268464" y="1261872"/>
            <a:ext cx="0" cy="420624"/>
          </a:xfrm>
          <a:prstGeom prst="line">
            <a:avLst/>
          </a:prstGeom>
          <a:noFill/>
          <a:ln w="9525">
            <a:solidFill>
              <a:srgbClr val="8C9BB5"/>
            </a:solidFill>
            <a:prstDash val="solid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6369048" y="1243584"/>
            <a:ext cx="1586992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보기</a:t>
            </a:r>
            <a:endParaRPr lang="ko-KR" sz="800" dirty="0"/>
          </a:p>
        </p:txBody>
      </p:sp>
      <p:sp>
        <p:nvSpPr>
          <p:cNvPr id="32" name="Shape 30"/>
          <p:cNvSpPr/>
          <p:nvPr/>
        </p:nvSpPr>
        <p:spPr>
          <a:xfrm>
            <a:off x="6369048" y="1408176"/>
            <a:ext cx="756920" cy="274320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69048" y="1408176"/>
            <a:ext cx="7569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변경이력</a:t>
            </a:r>
            <a:endParaRPr lang="ko-KR" sz="950" dirty="0"/>
          </a:p>
        </p:txBody>
      </p:sp>
      <p:sp>
        <p:nvSpPr>
          <p:cNvPr id="34" name="Shape 32"/>
          <p:cNvSpPr/>
          <p:nvPr/>
        </p:nvSpPr>
        <p:spPr>
          <a:xfrm>
            <a:off x="7199120" y="1408176"/>
            <a:ext cx="756920" cy="274320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99120" y="1408176"/>
            <a:ext cx="7569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컬럼설정</a:t>
            </a:r>
            <a:endParaRPr lang="ko-KR" sz="950" dirty="0"/>
          </a:p>
        </p:txBody>
      </p:sp>
      <p:sp>
        <p:nvSpPr>
          <p:cNvPr id="36" name="Shape 34"/>
          <p:cNvSpPr/>
          <p:nvPr/>
        </p:nvSpPr>
        <p:spPr>
          <a:xfrm>
            <a:off x="420624" y="1737360"/>
            <a:ext cx="8439912" cy="237744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0352" y="1755648"/>
            <a:ext cx="1188720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" y="1755648"/>
            <a:ext cx="118872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관리  ×</a:t>
            </a:r>
            <a:endParaRPr lang="ko-KR" sz="800" dirty="0"/>
          </a:p>
        </p:txBody>
      </p:sp>
      <p:sp>
        <p:nvSpPr>
          <p:cNvPr id="39" name="Shape 37"/>
          <p:cNvSpPr/>
          <p:nvPr/>
        </p:nvSpPr>
        <p:spPr>
          <a:xfrm>
            <a:off x="420624" y="6062472"/>
            <a:ext cx="8439912" cy="219456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" y="6062472"/>
            <a:ext cx="4572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상태 :  업무 가능</a:t>
            </a:r>
            <a:endParaRPr lang="ko-KR" sz="800" dirty="0"/>
          </a:p>
        </p:txBody>
      </p:sp>
      <p:sp>
        <p:nvSpPr>
          <p:cNvPr id="41" name="Shape 39"/>
          <p:cNvSpPr/>
          <p:nvPr/>
        </p:nvSpPr>
        <p:spPr>
          <a:xfrm>
            <a:off x="530352" y="2029968"/>
            <a:ext cx="8220456" cy="566928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3504" y="2057400"/>
            <a:ext cx="80741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조회조건</a:t>
            </a:r>
            <a:endParaRPr lang="ko-KR" sz="800" dirty="0"/>
          </a:p>
        </p:txBody>
      </p:sp>
      <p:sp>
        <p:nvSpPr>
          <p:cNvPr id="43" name="Shape 41"/>
          <p:cNvSpPr/>
          <p:nvPr/>
        </p:nvSpPr>
        <p:spPr>
          <a:xfrm>
            <a:off x="530352" y="2240280"/>
            <a:ext cx="8220456" cy="0"/>
          </a:xfrm>
          <a:prstGeom prst="line">
            <a:avLst/>
          </a:prstGeom>
          <a:noFill/>
          <a:ln w="9525">
            <a:solidFill>
              <a:srgbClr val="8C9BB5"/>
            </a:solidFill>
            <a:prstDash val="solid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7891272" y="2276856"/>
            <a:ext cx="731520" cy="237744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91272" y="2276856"/>
            <a:ext cx="731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</a:t>
            </a:r>
            <a:endParaRPr lang="ko-KR" sz="950" dirty="0"/>
          </a:p>
        </p:txBody>
      </p:sp>
      <p:sp>
        <p:nvSpPr>
          <p:cNvPr id="46" name="Text 44"/>
          <p:cNvSpPr/>
          <p:nvPr/>
        </p:nvSpPr>
        <p:spPr>
          <a:xfrm>
            <a:off x="621792" y="2276856"/>
            <a:ext cx="73152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예약/접수일</a:t>
            </a:r>
            <a:endParaRPr lang="ko-KR" sz="800" dirty="0"/>
          </a:p>
        </p:txBody>
      </p:sp>
      <p:sp>
        <p:nvSpPr>
          <p:cNvPr id="47" name="Shape 45"/>
          <p:cNvSpPr/>
          <p:nvPr/>
        </p:nvSpPr>
        <p:spPr>
          <a:xfrm>
            <a:off x="1353312" y="2276856"/>
            <a:ext cx="868680" cy="21945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68296" y="2276856"/>
            <a:ext cx="1280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</a:t>
            </a:r>
            <a:endParaRPr lang="ko-KR" sz="800" dirty="0"/>
          </a:p>
        </p:txBody>
      </p:sp>
      <p:sp>
        <p:nvSpPr>
          <p:cNvPr id="49" name="Shape 47"/>
          <p:cNvSpPr/>
          <p:nvPr/>
        </p:nvSpPr>
        <p:spPr>
          <a:xfrm>
            <a:off x="2496312" y="2276856"/>
            <a:ext cx="868680" cy="21945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11296" y="2276856"/>
            <a:ext cx="40233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ko-KR" sz="800" dirty="0"/>
          </a:p>
        </p:txBody>
      </p:sp>
      <p:sp>
        <p:nvSpPr>
          <p:cNvPr id="51" name="Shape 49"/>
          <p:cNvSpPr/>
          <p:nvPr/>
        </p:nvSpPr>
        <p:spPr>
          <a:xfrm>
            <a:off x="3913632" y="2276856"/>
            <a:ext cx="804672" cy="21945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13632" y="2276856"/>
            <a:ext cx="80467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</a:t>
            </a:r>
            <a:endParaRPr lang="ko-KR" sz="900" dirty="0"/>
          </a:p>
        </p:txBody>
      </p:sp>
      <p:sp>
        <p:nvSpPr>
          <p:cNvPr id="53" name="Text 51"/>
          <p:cNvSpPr/>
          <p:nvPr/>
        </p:nvSpPr>
        <p:spPr>
          <a:xfrm>
            <a:off x="4864608" y="2276856"/>
            <a:ext cx="62179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차트번호</a:t>
            </a:r>
            <a:endParaRPr lang="ko-KR" sz="800" dirty="0"/>
          </a:p>
        </p:txBody>
      </p:sp>
      <p:sp>
        <p:nvSpPr>
          <p:cNvPr id="54" name="Shape 52"/>
          <p:cNvSpPr/>
          <p:nvPr/>
        </p:nvSpPr>
        <p:spPr>
          <a:xfrm>
            <a:off x="5486400" y="2276856"/>
            <a:ext cx="914400" cy="21945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47104" y="2276856"/>
            <a:ext cx="457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</a:t>
            </a:r>
            <a:endParaRPr lang="ko-KR" sz="800" dirty="0"/>
          </a:p>
        </p:txBody>
      </p:sp>
      <p:sp>
        <p:nvSpPr>
          <p:cNvPr id="56" name="Shape 54"/>
          <p:cNvSpPr/>
          <p:nvPr/>
        </p:nvSpPr>
        <p:spPr>
          <a:xfrm>
            <a:off x="7004304" y="2276856"/>
            <a:ext cx="731520" cy="21945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30352" y="2651760"/>
            <a:ext cx="4877410" cy="3374136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03504" y="2679192"/>
            <a:ext cx="47311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· 접수 업무내역</a:t>
            </a:r>
            <a:endParaRPr lang="ko-KR" sz="800" dirty="0"/>
          </a:p>
        </p:txBody>
      </p:sp>
      <p:sp>
        <p:nvSpPr>
          <p:cNvPr id="59" name="Shape 57"/>
          <p:cNvSpPr/>
          <p:nvPr/>
        </p:nvSpPr>
        <p:spPr>
          <a:xfrm>
            <a:off x="530352" y="2862072"/>
            <a:ext cx="4877410" cy="0"/>
          </a:xfrm>
          <a:prstGeom prst="line">
            <a:avLst/>
          </a:prstGeom>
          <a:noFill/>
          <a:ln w="9525">
            <a:solidFill>
              <a:srgbClr val="8C9BB5"/>
            </a:solidFill>
            <a:prstDash val="solid"/>
            <a:tailEnd type="none"/>
          </a:ln>
        </p:spPr>
      </p:sp>
      <p:sp>
        <p:nvSpPr>
          <p:cNvPr id="60" name="Shape 58"/>
          <p:cNvSpPr/>
          <p:nvPr/>
        </p:nvSpPr>
        <p:spPr>
          <a:xfrm>
            <a:off x="621792" y="2898648"/>
            <a:ext cx="1097280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1792" y="2898648"/>
            <a:ext cx="109728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예약/접수일</a:t>
            </a:r>
            <a:endParaRPr lang="ko-KR" sz="900" dirty="0"/>
          </a:p>
        </p:txBody>
      </p:sp>
      <p:sp>
        <p:nvSpPr>
          <p:cNvPr id="62" name="Shape 60"/>
          <p:cNvSpPr/>
          <p:nvPr/>
        </p:nvSpPr>
        <p:spPr>
          <a:xfrm>
            <a:off x="1719072" y="2898648"/>
            <a:ext cx="685800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719072" y="2898648"/>
            <a:ext cx="68580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시간대</a:t>
            </a:r>
            <a:endParaRPr lang="ko-KR" sz="900" dirty="0"/>
          </a:p>
        </p:txBody>
      </p:sp>
      <p:sp>
        <p:nvSpPr>
          <p:cNvPr id="64" name="Shape 62"/>
          <p:cNvSpPr/>
          <p:nvPr/>
        </p:nvSpPr>
        <p:spPr>
          <a:xfrm>
            <a:off x="2404872" y="2898648"/>
            <a:ext cx="822960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404872" y="2898648"/>
            <a:ext cx="82296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ko-KR" sz="900" dirty="0"/>
          </a:p>
        </p:txBody>
      </p:sp>
      <p:sp>
        <p:nvSpPr>
          <p:cNvPr id="66" name="Shape 64"/>
          <p:cNvSpPr/>
          <p:nvPr/>
        </p:nvSpPr>
        <p:spPr>
          <a:xfrm>
            <a:off x="3227832" y="2898648"/>
            <a:ext cx="777240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27832" y="2898648"/>
            <a:ext cx="77724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</a:t>
            </a:r>
            <a:endParaRPr lang="ko-KR" sz="900" dirty="0"/>
          </a:p>
        </p:txBody>
      </p:sp>
      <p:sp>
        <p:nvSpPr>
          <p:cNvPr id="68" name="Shape 66"/>
          <p:cNvSpPr/>
          <p:nvPr/>
        </p:nvSpPr>
        <p:spPr>
          <a:xfrm>
            <a:off x="4005072" y="2898648"/>
            <a:ext cx="1311250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005072" y="2898648"/>
            <a:ext cx="131125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차트번호</a:t>
            </a:r>
            <a:endParaRPr lang="ko-KR" sz="900" dirty="0"/>
          </a:p>
        </p:txBody>
      </p:sp>
      <p:sp>
        <p:nvSpPr>
          <p:cNvPr id="70" name="Shape 68"/>
          <p:cNvSpPr/>
          <p:nvPr/>
        </p:nvSpPr>
        <p:spPr>
          <a:xfrm>
            <a:off x="621792" y="3076956"/>
            <a:ext cx="109728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21792" y="3076956"/>
            <a:ext cx="109728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2026-09-15</a:t>
            </a:r>
            <a:endParaRPr lang="ko-KR" sz="900" dirty="0"/>
          </a:p>
        </p:txBody>
      </p:sp>
      <p:sp>
        <p:nvSpPr>
          <p:cNvPr id="72" name="Shape 70"/>
          <p:cNvSpPr/>
          <p:nvPr/>
        </p:nvSpPr>
        <p:spPr>
          <a:xfrm>
            <a:off x="1719072" y="3076956"/>
            <a:ext cx="68580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719072" y="3076956"/>
            <a:ext cx="68580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</a:t>
            </a:r>
            <a:endParaRPr lang="ko-KR" sz="900" dirty="0"/>
          </a:p>
        </p:txBody>
      </p:sp>
      <p:sp>
        <p:nvSpPr>
          <p:cNvPr id="74" name="Shape 72"/>
          <p:cNvSpPr/>
          <p:nvPr/>
        </p:nvSpPr>
        <p:spPr>
          <a:xfrm>
            <a:off x="2404872" y="3076956"/>
            <a:ext cx="82296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404872" y="3076956"/>
            <a:ext cx="82296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</a:t>
            </a:r>
            <a:endParaRPr lang="ko-KR" sz="900" dirty="0"/>
          </a:p>
        </p:txBody>
      </p:sp>
      <p:sp>
        <p:nvSpPr>
          <p:cNvPr id="76" name="Shape 74"/>
          <p:cNvSpPr/>
          <p:nvPr/>
        </p:nvSpPr>
        <p:spPr>
          <a:xfrm>
            <a:off x="3227832" y="3076956"/>
            <a:ext cx="77724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227832" y="3076956"/>
            <a:ext cx="77724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수검자1</a:t>
            </a:r>
            <a:endParaRPr lang="ko-KR" sz="900" dirty="0"/>
          </a:p>
        </p:txBody>
      </p:sp>
      <p:sp>
        <p:nvSpPr>
          <p:cNvPr id="78" name="Shape 76"/>
          <p:cNvSpPr/>
          <p:nvPr/>
        </p:nvSpPr>
        <p:spPr>
          <a:xfrm>
            <a:off x="4005072" y="3076956"/>
            <a:ext cx="131125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005072" y="3076956"/>
            <a:ext cx="131125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2026-000121</a:t>
            </a:r>
            <a:endParaRPr lang="ko-KR" sz="900" dirty="0"/>
          </a:p>
        </p:txBody>
      </p:sp>
      <p:sp>
        <p:nvSpPr>
          <p:cNvPr id="80" name="Shape 78"/>
          <p:cNvSpPr/>
          <p:nvPr/>
        </p:nvSpPr>
        <p:spPr>
          <a:xfrm>
            <a:off x="621792" y="3255264"/>
            <a:ext cx="109728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21792" y="3255264"/>
            <a:ext cx="109728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2026-09-15</a:t>
            </a:r>
            <a:endParaRPr lang="ko-KR" sz="900" dirty="0"/>
          </a:p>
        </p:txBody>
      </p:sp>
      <p:sp>
        <p:nvSpPr>
          <p:cNvPr id="82" name="Shape 80"/>
          <p:cNvSpPr/>
          <p:nvPr/>
        </p:nvSpPr>
        <p:spPr>
          <a:xfrm>
            <a:off x="1719072" y="3255264"/>
            <a:ext cx="68580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719072" y="3255264"/>
            <a:ext cx="68580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</a:t>
            </a:r>
            <a:endParaRPr lang="ko-KR" sz="900" dirty="0"/>
          </a:p>
        </p:txBody>
      </p:sp>
      <p:sp>
        <p:nvSpPr>
          <p:cNvPr id="84" name="Shape 82"/>
          <p:cNvSpPr/>
          <p:nvPr/>
        </p:nvSpPr>
        <p:spPr>
          <a:xfrm>
            <a:off x="2404872" y="3255264"/>
            <a:ext cx="82296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404872" y="3255264"/>
            <a:ext cx="82296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접수완료</a:t>
            </a:r>
            <a:endParaRPr lang="ko-KR" sz="900" dirty="0"/>
          </a:p>
        </p:txBody>
      </p:sp>
      <p:sp>
        <p:nvSpPr>
          <p:cNvPr id="86" name="Shape 84"/>
          <p:cNvSpPr/>
          <p:nvPr/>
        </p:nvSpPr>
        <p:spPr>
          <a:xfrm>
            <a:off x="3227832" y="3255264"/>
            <a:ext cx="77724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227832" y="3255264"/>
            <a:ext cx="77724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홍길동</a:t>
            </a:r>
            <a:endParaRPr lang="ko-KR" sz="900" dirty="0"/>
          </a:p>
        </p:txBody>
      </p:sp>
      <p:sp>
        <p:nvSpPr>
          <p:cNvPr id="88" name="Shape 86"/>
          <p:cNvSpPr/>
          <p:nvPr/>
        </p:nvSpPr>
        <p:spPr>
          <a:xfrm>
            <a:off x="4005072" y="3255264"/>
            <a:ext cx="131125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005072" y="3255264"/>
            <a:ext cx="131125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2026-000123</a:t>
            </a:r>
            <a:endParaRPr lang="ko-KR" sz="900" dirty="0"/>
          </a:p>
        </p:txBody>
      </p:sp>
      <p:sp>
        <p:nvSpPr>
          <p:cNvPr id="90" name="Shape 88"/>
          <p:cNvSpPr/>
          <p:nvPr/>
        </p:nvSpPr>
        <p:spPr>
          <a:xfrm>
            <a:off x="621792" y="3433572"/>
            <a:ext cx="109728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21792" y="3433572"/>
            <a:ext cx="109728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2026-09-15</a:t>
            </a:r>
            <a:endParaRPr lang="ko-KR" sz="900" dirty="0"/>
          </a:p>
        </p:txBody>
      </p:sp>
      <p:sp>
        <p:nvSpPr>
          <p:cNvPr id="92" name="Shape 90"/>
          <p:cNvSpPr/>
          <p:nvPr/>
        </p:nvSpPr>
        <p:spPr>
          <a:xfrm>
            <a:off x="1719072" y="3433572"/>
            <a:ext cx="68580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719072" y="3433572"/>
            <a:ext cx="68580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오후</a:t>
            </a:r>
            <a:endParaRPr lang="ko-KR" sz="900" dirty="0"/>
          </a:p>
        </p:txBody>
      </p:sp>
      <p:sp>
        <p:nvSpPr>
          <p:cNvPr id="94" name="Shape 92"/>
          <p:cNvSpPr/>
          <p:nvPr/>
        </p:nvSpPr>
        <p:spPr>
          <a:xfrm>
            <a:off x="2404872" y="3433572"/>
            <a:ext cx="82296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404872" y="3433572"/>
            <a:ext cx="82296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예약취소</a:t>
            </a:r>
            <a:endParaRPr lang="ko-KR" sz="900" dirty="0"/>
          </a:p>
        </p:txBody>
      </p:sp>
      <p:sp>
        <p:nvSpPr>
          <p:cNvPr id="96" name="Shape 94"/>
          <p:cNvSpPr/>
          <p:nvPr/>
        </p:nvSpPr>
        <p:spPr>
          <a:xfrm>
            <a:off x="3227832" y="3433572"/>
            <a:ext cx="77724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227832" y="3433572"/>
            <a:ext cx="77724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수검자4</a:t>
            </a:r>
            <a:endParaRPr lang="ko-KR" sz="900" dirty="0"/>
          </a:p>
        </p:txBody>
      </p:sp>
      <p:sp>
        <p:nvSpPr>
          <p:cNvPr id="98" name="Shape 96"/>
          <p:cNvSpPr/>
          <p:nvPr/>
        </p:nvSpPr>
        <p:spPr>
          <a:xfrm>
            <a:off x="4005072" y="3433572"/>
            <a:ext cx="131125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005072" y="3433572"/>
            <a:ext cx="131125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2026-000124</a:t>
            </a:r>
            <a:endParaRPr lang="ko-KR" sz="900" dirty="0"/>
          </a:p>
        </p:txBody>
      </p:sp>
      <p:sp>
        <p:nvSpPr>
          <p:cNvPr id="100" name="Shape 98"/>
          <p:cNvSpPr/>
          <p:nvPr/>
        </p:nvSpPr>
        <p:spPr>
          <a:xfrm>
            <a:off x="621792" y="3611880"/>
            <a:ext cx="109728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21792" y="3611880"/>
            <a:ext cx="109728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2026-09-16</a:t>
            </a:r>
            <a:endParaRPr lang="ko-KR" sz="900" dirty="0"/>
          </a:p>
        </p:txBody>
      </p:sp>
      <p:sp>
        <p:nvSpPr>
          <p:cNvPr id="102" name="Shape 100"/>
          <p:cNvSpPr/>
          <p:nvPr/>
        </p:nvSpPr>
        <p:spPr>
          <a:xfrm>
            <a:off x="1719072" y="3611880"/>
            <a:ext cx="68580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719072" y="3611880"/>
            <a:ext cx="68580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</a:t>
            </a:r>
            <a:endParaRPr lang="ko-KR" sz="900" dirty="0"/>
          </a:p>
        </p:txBody>
      </p:sp>
      <p:sp>
        <p:nvSpPr>
          <p:cNvPr id="104" name="Shape 102"/>
          <p:cNvSpPr/>
          <p:nvPr/>
        </p:nvSpPr>
        <p:spPr>
          <a:xfrm>
            <a:off x="2404872" y="3611880"/>
            <a:ext cx="82296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404872" y="3611880"/>
            <a:ext cx="82296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</a:t>
            </a:r>
            <a:endParaRPr lang="ko-KR" sz="900" dirty="0"/>
          </a:p>
        </p:txBody>
      </p:sp>
      <p:sp>
        <p:nvSpPr>
          <p:cNvPr id="106" name="Shape 104"/>
          <p:cNvSpPr/>
          <p:nvPr/>
        </p:nvSpPr>
        <p:spPr>
          <a:xfrm>
            <a:off x="3227832" y="3611880"/>
            <a:ext cx="77724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227832" y="3611880"/>
            <a:ext cx="77724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수검자2</a:t>
            </a:r>
            <a:endParaRPr lang="ko-KR" sz="900" dirty="0"/>
          </a:p>
        </p:txBody>
      </p:sp>
      <p:sp>
        <p:nvSpPr>
          <p:cNvPr id="108" name="Shape 106"/>
          <p:cNvSpPr/>
          <p:nvPr/>
        </p:nvSpPr>
        <p:spPr>
          <a:xfrm>
            <a:off x="4005072" y="3611880"/>
            <a:ext cx="131125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005072" y="3611880"/>
            <a:ext cx="131125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2026-000122</a:t>
            </a:r>
            <a:endParaRPr lang="ko-KR" sz="900" dirty="0"/>
          </a:p>
        </p:txBody>
      </p:sp>
      <p:sp>
        <p:nvSpPr>
          <p:cNvPr id="110" name="Shape 108"/>
          <p:cNvSpPr/>
          <p:nvPr/>
        </p:nvSpPr>
        <p:spPr>
          <a:xfrm>
            <a:off x="621792" y="3255264"/>
            <a:ext cx="4694530" cy="178308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499202" y="2651760"/>
            <a:ext cx="3251606" cy="3374136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572354" y="2679192"/>
            <a:ext cx="310530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상세 · ReadOnly</a:t>
            </a:r>
            <a:endParaRPr lang="ko-KR" sz="800" dirty="0"/>
          </a:p>
        </p:txBody>
      </p:sp>
      <p:sp>
        <p:nvSpPr>
          <p:cNvPr id="113" name="Shape 111"/>
          <p:cNvSpPr/>
          <p:nvPr/>
        </p:nvSpPr>
        <p:spPr>
          <a:xfrm>
            <a:off x="5499202" y="2862072"/>
            <a:ext cx="3251606" cy="0"/>
          </a:xfrm>
          <a:prstGeom prst="line">
            <a:avLst/>
          </a:prstGeom>
          <a:noFill/>
          <a:ln w="9525">
            <a:solidFill>
              <a:srgbClr val="8C9BB5"/>
            </a:solidFill>
            <a:prstDash val="solid"/>
            <a:tailEnd type="none"/>
          </a:ln>
        </p:spPr>
      </p:sp>
      <p:sp>
        <p:nvSpPr>
          <p:cNvPr id="114" name="Text 112"/>
          <p:cNvSpPr/>
          <p:nvPr/>
        </p:nvSpPr>
        <p:spPr>
          <a:xfrm>
            <a:off x="5590642" y="2898648"/>
            <a:ext cx="3068726" cy="1737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수검자 ]</a:t>
            </a:r>
            <a:endParaRPr lang="ko-KR" sz="800" dirty="0"/>
          </a:p>
        </p:txBody>
      </p:sp>
      <p:sp>
        <p:nvSpPr>
          <p:cNvPr id="115" name="Text 113"/>
          <p:cNvSpPr/>
          <p:nvPr/>
        </p:nvSpPr>
        <p:spPr>
          <a:xfrm>
            <a:off x="5590642" y="3081528"/>
            <a:ext cx="100584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차트번호 / 이름</a:t>
            </a:r>
            <a:endParaRPr lang="ko-KR" sz="800" dirty="0"/>
          </a:p>
        </p:txBody>
      </p:sp>
      <p:sp>
        <p:nvSpPr>
          <p:cNvPr id="116" name="Shape 114"/>
          <p:cNvSpPr/>
          <p:nvPr/>
        </p:nvSpPr>
        <p:spPr>
          <a:xfrm>
            <a:off x="6596482" y="3081528"/>
            <a:ext cx="2062886" cy="219456"/>
          </a:xfrm>
          <a:prstGeom prst="rect">
            <a:avLst/>
          </a:prstGeom>
          <a:solidFill>
            <a:srgbClr val="F2F2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596482" y="3081528"/>
            <a:ext cx="206288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2026-000123 / 홍길동</a:t>
            </a:r>
            <a:endParaRPr lang="ko-KR" sz="900" dirty="0"/>
          </a:p>
        </p:txBody>
      </p:sp>
      <p:sp>
        <p:nvSpPr>
          <p:cNvPr id="118" name="Text 116"/>
          <p:cNvSpPr/>
          <p:nvPr/>
        </p:nvSpPr>
        <p:spPr>
          <a:xfrm>
            <a:off x="5590642" y="3319272"/>
            <a:ext cx="100584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생년월일 / 성별</a:t>
            </a:r>
            <a:endParaRPr lang="ko-KR" sz="800" dirty="0"/>
          </a:p>
        </p:txBody>
      </p:sp>
      <p:sp>
        <p:nvSpPr>
          <p:cNvPr id="119" name="Shape 117"/>
          <p:cNvSpPr/>
          <p:nvPr/>
        </p:nvSpPr>
        <p:spPr>
          <a:xfrm>
            <a:off x="6596482" y="3319272"/>
            <a:ext cx="2062886" cy="219456"/>
          </a:xfrm>
          <a:prstGeom prst="rect">
            <a:avLst/>
          </a:prstGeom>
          <a:solidFill>
            <a:srgbClr val="F2F2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6596482" y="3319272"/>
            <a:ext cx="206288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1966-03-12  /  여</a:t>
            </a:r>
            <a:endParaRPr lang="ko-KR" sz="900" dirty="0"/>
          </a:p>
        </p:txBody>
      </p:sp>
      <p:sp>
        <p:nvSpPr>
          <p:cNvPr id="121" name="Text 119"/>
          <p:cNvSpPr/>
          <p:nvPr/>
        </p:nvSpPr>
        <p:spPr>
          <a:xfrm>
            <a:off x="5590642" y="3557016"/>
            <a:ext cx="3068726" cy="1737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예약 ]</a:t>
            </a:r>
            <a:endParaRPr lang="ko-KR" sz="800" dirty="0"/>
          </a:p>
        </p:txBody>
      </p:sp>
      <p:sp>
        <p:nvSpPr>
          <p:cNvPr id="122" name="Text 120"/>
          <p:cNvSpPr/>
          <p:nvPr/>
        </p:nvSpPr>
        <p:spPr>
          <a:xfrm>
            <a:off x="5590642" y="3739896"/>
            <a:ext cx="100584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예약일 / 시간대</a:t>
            </a:r>
            <a:endParaRPr lang="ko-KR" sz="800" dirty="0"/>
          </a:p>
        </p:txBody>
      </p:sp>
      <p:sp>
        <p:nvSpPr>
          <p:cNvPr id="123" name="Shape 121"/>
          <p:cNvSpPr/>
          <p:nvPr/>
        </p:nvSpPr>
        <p:spPr>
          <a:xfrm>
            <a:off x="6596482" y="3739896"/>
            <a:ext cx="2062886" cy="219456"/>
          </a:xfrm>
          <a:prstGeom prst="rect">
            <a:avLst/>
          </a:prstGeom>
          <a:solidFill>
            <a:srgbClr val="F2F2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6596482" y="3739896"/>
            <a:ext cx="206288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2026-09-15 (화)  /  오전</a:t>
            </a:r>
            <a:endParaRPr lang="ko-KR" sz="900" dirty="0"/>
          </a:p>
        </p:txBody>
      </p:sp>
      <p:sp>
        <p:nvSpPr>
          <p:cNvPr id="125" name="Text 123"/>
          <p:cNvSpPr/>
          <p:nvPr/>
        </p:nvSpPr>
        <p:spPr>
          <a:xfrm>
            <a:off x="5590642" y="3977640"/>
            <a:ext cx="100584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정원 / 상태</a:t>
            </a:r>
            <a:endParaRPr lang="ko-KR" sz="800" dirty="0"/>
          </a:p>
        </p:txBody>
      </p:sp>
      <p:sp>
        <p:nvSpPr>
          <p:cNvPr id="126" name="Shape 124"/>
          <p:cNvSpPr/>
          <p:nvPr/>
        </p:nvSpPr>
        <p:spPr>
          <a:xfrm>
            <a:off x="6596482" y="3977640"/>
            <a:ext cx="2062886" cy="219456"/>
          </a:xfrm>
          <a:prstGeom prst="rect">
            <a:avLst/>
          </a:prstGeom>
          <a:solidFill>
            <a:srgbClr val="F2F2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6596482" y="3977640"/>
            <a:ext cx="206288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20     ·     접수완료</a:t>
            </a:r>
            <a:endParaRPr lang="ko-KR" sz="900" dirty="0"/>
          </a:p>
        </p:txBody>
      </p:sp>
      <p:sp>
        <p:nvSpPr>
          <p:cNvPr id="128" name="Text 126"/>
          <p:cNvSpPr/>
          <p:nvPr/>
        </p:nvSpPr>
        <p:spPr>
          <a:xfrm>
            <a:off x="5590642" y="4215384"/>
            <a:ext cx="3068726" cy="1737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NEX  ·  실제 저장 구성 ]</a:t>
            </a:r>
            <a:endParaRPr lang="ko-KR" sz="800" dirty="0"/>
          </a:p>
        </p:txBody>
      </p:sp>
      <p:sp>
        <p:nvSpPr>
          <p:cNvPr id="129" name="Shape 127"/>
          <p:cNvSpPr/>
          <p:nvPr/>
        </p:nvSpPr>
        <p:spPr>
          <a:xfrm>
            <a:off x="5590642" y="4398264"/>
            <a:ext cx="3068726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8C9BB5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5663794" y="4416552"/>
            <a:ext cx="2922422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문진/진찰 · 신체계측 · 혈압 · 시력·청력 · 흉부 X-ray</a:t>
            </a:r>
            <a:endParaRPr lang="ko-KR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요검사 · 혈액검사 · 구강검진 · 이상지질혈증</a:t>
            </a:r>
            <a:endParaRPr lang="ko-KR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골밀도검사        (10종)</a:t>
            </a:r>
            <a:endParaRPr lang="ko-KR" sz="800" dirty="0"/>
          </a:p>
        </p:txBody>
      </p:sp>
      <p:sp>
        <p:nvSpPr>
          <p:cNvPr id="131" name="Text 129"/>
          <p:cNvSpPr/>
          <p:nvPr/>
        </p:nvSpPr>
        <p:spPr>
          <a:xfrm>
            <a:off x="5590642" y="5001768"/>
            <a:ext cx="3068726" cy="1737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AEX  ·  실제 저장 구성 ]</a:t>
            </a:r>
            <a:endParaRPr lang="ko-KR" sz="800" dirty="0"/>
          </a:p>
        </p:txBody>
      </p:sp>
      <p:sp>
        <p:nvSpPr>
          <p:cNvPr id="132" name="Shape 130"/>
          <p:cNvSpPr/>
          <p:nvPr/>
        </p:nvSpPr>
        <p:spPr>
          <a:xfrm>
            <a:off x="5590642" y="5184648"/>
            <a:ext cx="3068726" cy="749808"/>
          </a:xfrm>
          <a:prstGeom prst="rect">
            <a:avLst/>
          </a:prstGeom>
          <a:solidFill>
            <a:srgbClr val="F2F2F2"/>
          </a:solidFill>
          <a:ln w="12700">
            <a:solidFill>
              <a:srgbClr val="8C9BB5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5663794" y="5202936"/>
            <a:ext cx="2922422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갑상선초음파        (1종)</a:t>
            </a:r>
            <a:endParaRPr lang="ko-KR" sz="800" dirty="0"/>
          </a:p>
        </p:txBody>
      </p:sp>
      <p:sp>
        <p:nvSpPr>
          <p:cNvPr id="134" name="Text 132"/>
          <p:cNvSpPr/>
          <p:nvPr/>
        </p:nvSpPr>
        <p:spPr>
          <a:xfrm>
            <a:off x="420624" y="164592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· 접수 공통 Workbench</a:t>
            </a:r>
            <a:endParaRPr lang="ko-KR" sz="3000" dirty="0"/>
          </a:p>
        </p:txBody>
      </p:sp>
      <p:sp>
        <p:nvSpPr>
          <p:cNvPr id="135" name="Shape 133"/>
          <p:cNvSpPr/>
          <p:nvPr/>
        </p:nvSpPr>
        <p:spPr>
          <a:xfrm>
            <a:off x="8897112" y="932688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9262872" y="932688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9313164" y="982980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WF-WRK-01  예약/접수 공통 Workbench ·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Tab · P02-05, P03-04 · F-COM-001</a:t>
            </a:r>
            <a:endParaRPr lang="ko-KR" sz="1000" dirty="0"/>
          </a:p>
        </p:txBody>
      </p:sp>
      <p:sp>
        <p:nvSpPr>
          <p:cNvPr id="138" name="Shape 136"/>
          <p:cNvSpPr/>
          <p:nvPr/>
        </p:nvSpPr>
        <p:spPr>
          <a:xfrm>
            <a:off x="8897112" y="1371117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9262872" y="1371117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8897112" y="1371117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1000" dirty="0"/>
          </a:p>
        </p:txBody>
      </p:sp>
      <p:sp>
        <p:nvSpPr>
          <p:cNvPr id="141" name="Text 139"/>
          <p:cNvSpPr/>
          <p:nvPr/>
        </p:nvSpPr>
        <p:spPr>
          <a:xfrm>
            <a:off x="9313164" y="1421409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[예약 관리]·[접수 관리]가 같은 Tab을 Context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바꿔 공유한다</a:t>
            </a:r>
            <a:endParaRPr lang="ko-KR" sz="1000" dirty="0"/>
          </a:p>
        </p:txBody>
      </p:sp>
      <p:sp>
        <p:nvSpPr>
          <p:cNvPr id="142" name="Shape 140"/>
          <p:cNvSpPr/>
          <p:nvPr/>
        </p:nvSpPr>
        <p:spPr>
          <a:xfrm>
            <a:off x="8897112" y="1809547"/>
            <a:ext cx="365760" cy="274320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9262872" y="1809547"/>
            <a:ext cx="2697480" cy="274320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8897112" y="1809547"/>
            <a:ext cx="3657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sz="1000" dirty="0"/>
          </a:p>
        </p:txBody>
      </p:sp>
      <p:sp>
        <p:nvSpPr>
          <p:cNvPr id="145" name="Text 143"/>
          <p:cNvSpPr/>
          <p:nvPr/>
        </p:nvSpPr>
        <p:spPr>
          <a:xfrm>
            <a:off x="9313164" y="1859839"/>
            <a:ext cx="2596896" cy="173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 Caption과 같은 접수 Context 구성이다</a:t>
            </a:r>
            <a:endParaRPr lang="ko-KR" sz="1000" dirty="0"/>
          </a:p>
        </p:txBody>
      </p:sp>
      <p:sp>
        <p:nvSpPr>
          <p:cNvPr id="146" name="Shape 144"/>
          <p:cNvSpPr/>
          <p:nvPr/>
        </p:nvSpPr>
        <p:spPr>
          <a:xfrm>
            <a:off x="8897112" y="2083867"/>
            <a:ext cx="365760" cy="1451966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9262872" y="2083867"/>
            <a:ext cx="2697480" cy="1451966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9313164" y="2134159"/>
            <a:ext cx="2596896" cy="1351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Context는 [현장 당일예약]·[추가검사변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경]·[접수취소] 없이 [예약취소]가 대신 있다. [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변경이력]은 두 Context 공통이며 상태와 무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관하게 행이 선택되면 열린다. 공통 업무불가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Action을 닫지 않는다. 상태별 활성/비활성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부록 D 참조. 접수 Context 미선택 상태에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 활성인 것은 [조회]·[컬럼설정]·[현장 당일예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약]뿐이다.</a:t>
            </a:r>
            <a:endParaRPr lang="ko-KR" sz="1000" dirty="0"/>
          </a:p>
        </p:txBody>
      </p:sp>
      <p:sp>
        <p:nvSpPr>
          <p:cNvPr id="149" name="Shape 147"/>
          <p:cNvSpPr/>
          <p:nvPr/>
        </p:nvSpPr>
        <p:spPr>
          <a:xfrm>
            <a:off x="8897112" y="3535832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9262872" y="3535832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8897112" y="3535832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sz="1000" dirty="0"/>
          </a:p>
        </p:txBody>
      </p:sp>
      <p:sp>
        <p:nvSpPr>
          <p:cNvPr id="152" name="Text 150"/>
          <p:cNvSpPr/>
          <p:nvPr/>
        </p:nvSpPr>
        <p:spPr>
          <a:xfrm>
            <a:off x="9313164" y="3586124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1개 실질 조건 필요. 상태 `전체`만은 조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건으로 보지 않는다</a:t>
            </a:r>
            <a:endParaRPr lang="ko-KR" sz="1000" dirty="0"/>
          </a:p>
        </p:txBody>
      </p:sp>
      <p:sp>
        <p:nvSpPr>
          <p:cNvPr id="153" name="Shape 151"/>
          <p:cNvSpPr/>
          <p:nvPr/>
        </p:nvSpPr>
        <p:spPr>
          <a:xfrm>
            <a:off x="8897112" y="3974262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262872" y="3974262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8897112" y="3974262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sz="1000" dirty="0"/>
          </a:p>
        </p:txBody>
      </p:sp>
      <p:sp>
        <p:nvSpPr>
          <p:cNvPr id="156" name="Text 154"/>
          <p:cNvSpPr/>
          <p:nvPr/>
        </p:nvSpPr>
        <p:spPr>
          <a:xfrm>
            <a:off x="9313164" y="4024554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날짜는 양끝 포함. From&gt;To는 Inline 오류. 시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간대는 조회조건 제외</a:t>
            </a:r>
            <a:endParaRPr lang="ko-KR" sz="1000" dirty="0"/>
          </a:p>
        </p:txBody>
      </p:sp>
      <p:sp>
        <p:nvSpPr>
          <p:cNvPr id="157" name="Shape 155"/>
          <p:cNvSpPr/>
          <p:nvPr/>
        </p:nvSpPr>
        <p:spPr>
          <a:xfrm>
            <a:off x="8897112" y="4412691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9262872" y="4412691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8897112" y="4412691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ko-KR" sz="1000" dirty="0"/>
          </a:p>
        </p:txBody>
      </p:sp>
      <p:sp>
        <p:nvSpPr>
          <p:cNvPr id="160" name="Text 158"/>
          <p:cNvSpPr/>
          <p:nvPr/>
        </p:nvSpPr>
        <p:spPr>
          <a:xfrm>
            <a:off x="9313164" y="4462983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행 선택. 재조회 시 선택·상세·Action을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 초기화</a:t>
            </a:r>
            <a:endParaRPr lang="ko-KR" sz="1000" dirty="0"/>
          </a:p>
        </p:txBody>
      </p:sp>
      <p:sp>
        <p:nvSpPr>
          <p:cNvPr id="161" name="Shape 159"/>
          <p:cNvSpPr/>
          <p:nvPr/>
        </p:nvSpPr>
        <p:spPr>
          <a:xfrm>
            <a:off x="8897112" y="4851121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9262872" y="4851121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8897112" y="4851121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ko-KR" sz="1000" dirty="0"/>
          </a:p>
        </p:txBody>
      </p:sp>
      <p:sp>
        <p:nvSpPr>
          <p:cNvPr id="164" name="Text 162"/>
          <p:cNvSpPr/>
          <p:nvPr/>
        </p:nvSpPr>
        <p:spPr>
          <a:xfrm>
            <a:off x="9313164" y="4901413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정원은 현재 조회값이며 저장 Snapshot 컬럼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아니다</a:t>
            </a:r>
            <a:endParaRPr lang="ko-KR" sz="1000" dirty="0"/>
          </a:p>
        </p:txBody>
      </p:sp>
      <p:sp>
        <p:nvSpPr>
          <p:cNvPr id="165" name="Shape 163"/>
          <p:cNvSpPr/>
          <p:nvPr/>
        </p:nvSpPr>
        <p:spPr>
          <a:xfrm>
            <a:off x="8897112" y="5289550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9262872" y="5289550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8897112" y="5289550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ko-KR" sz="1000" dirty="0"/>
          </a:p>
        </p:txBody>
      </p:sp>
      <p:sp>
        <p:nvSpPr>
          <p:cNvPr id="168" name="Text 166"/>
          <p:cNvSpPr/>
          <p:nvPr/>
        </p:nvSpPr>
        <p:spPr>
          <a:xfrm>
            <a:off x="9313164" y="5339842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NEX/AEX는 실제 저장된 구성. 이 화면에서는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ReadOnly</a:t>
            </a:r>
            <a:endParaRPr lang="ko-KR" sz="1000" dirty="0"/>
          </a:p>
        </p:txBody>
      </p:sp>
      <p:sp>
        <p:nvSpPr>
          <p:cNvPr id="169" name="Shape 167"/>
          <p:cNvSpPr/>
          <p:nvPr/>
        </p:nvSpPr>
        <p:spPr>
          <a:xfrm>
            <a:off x="8897112" y="5727979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9262872" y="5727979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8897112" y="5727979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ko-KR" sz="1000" dirty="0"/>
          </a:p>
        </p:txBody>
      </p:sp>
      <p:sp>
        <p:nvSpPr>
          <p:cNvPr id="172" name="Text 170"/>
          <p:cNvSpPr/>
          <p:nvPr/>
        </p:nvSpPr>
        <p:spPr>
          <a:xfrm>
            <a:off x="9313164" y="5778271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WorkId·PatientId·주민등록번호는 이 Grid에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노출하지 않는다</a:t>
            </a:r>
            <a:endParaRPr lang="ko-KR" sz="1000" dirty="0"/>
          </a:p>
        </p:txBody>
      </p:sp>
      <p:sp>
        <p:nvSpPr>
          <p:cNvPr id="173" name="Shape 171"/>
          <p:cNvSpPr/>
          <p:nvPr/>
        </p:nvSpPr>
        <p:spPr>
          <a:xfrm>
            <a:off x="384048" y="960120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384048" y="960120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1000" dirty="0"/>
          </a:p>
        </p:txBody>
      </p:sp>
      <p:sp>
        <p:nvSpPr>
          <p:cNvPr id="175" name="Shape 173"/>
          <p:cNvSpPr/>
          <p:nvPr/>
        </p:nvSpPr>
        <p:spPr>
          <a:xfrm>
            <a:off x="512064" y="1435608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512064" y="1435608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sz="1000" dirty="0"/>
          </a:p>
        </p:txBody>
      </p:sp>
      <p:sp>
        <p:nvSpPr>
          <p:cNvPr id="177" name="Shape 175"/>
          <p:cNvSpPr/>
          <p:nvPr/>
        </p:nvSpPr>
        <p:spPr>
          <a:xfrm>
            <a:off x="274320" y="6062472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274320" y="6062472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ko-KR" sz="1000" dirty="0"/>
          </a:p>
        </p:txBody>
      </p:sp>
      <p:sp>
        <p:nvSpPr>
          <p:cNvPr id="179" name="Shape 177"/>
          <p:cNvSpPr/>
          <p:nvPr/>
        </p:nvSpPr>
        <p:spPr>
          <a:xfrm>
            <a:off x="384048" y="2203704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384048" y="2203704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sz="1000" dirty="0"/>
          </a:p>
        </p:txBody>
      </p:sp>
      <p:sp>
        <p:nvSpPr>
          <p:cNvPr id="181" name="Shape 179"/>
          <p:cNvSpPr/>
          <p:nvPr/>
        </p:nvSpPr>
        <p:spPr>
          <a:xfrm>
            <a:off x="384048" y="4229100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384048" y="4229100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sz="1000" dirty="0"/>
          </a:p>
        </p:txBody>
      </p:sp>
      <p:sp>
        <p:nvSpPr>
          <p:cNvPr id="183" name="Shape 181"/>
          <p:cNvSpPr/>
          <p:nvPr/>
        </p:nvSpPr>
        <p:spPr>
          <a:xfrm>
            <a:off x="5352898" y="2816352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5352898" y="2816352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ko-KR" sz="1000" dirty="0"/>
          </a:p>
        </p:txBody>
      </p:sp>
      <p:sp>
        <p:nvSpPr>
          <p:cNvPr id="185" name="Shape 183"/>
          <p:cNvSpPr/>
          <p:nvPr/>
        </p:nvSpPr>
        <p:spPr>
          <a:xfrm>
            <a:off x="6450178" y="3977640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450178" y="3977640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ko-KR" sz="1000" dirty="0"/>
          </a:p>
        </p:txBody>
      </p:sp>
      <p:sp>
        <p:nvSpPr>
          <p:cNvPr id="187" name="Shape 185"/>
          <p:cNvSpPr/>
          <p:nvPr/>
        </p:nvSpPr>
        <p:spPr>
          <a:xfrm>
            <a:off x="5444338" y="4572000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5444338" y="4572000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ko-KR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932688"/>
            <a:ext cx="8439912" cy="5349240"/>
          </a:xfrm>
          <a:prstGeom prst="rect">
            <a:avLst/>
          </a:prstGeom>
          <a:ln w="19050">
            <a:solidFill>
              <a:srgbClr val="C8C8C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0624" y="932688"/>
            <a:ext cx="8439912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C8C8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32688"/>
            <a:ext cx="54864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예약/접수 공통 Workbench (WF-WRK-01)  ·  예약 Context   —   비활성(Modal)</a:t>
            </a:r>
            <a:endParaRPr lang="ko-KR" sz="800" dirty="0"/>
          </a:p>
        </p:txBody>
      </p:sp>
      <p:sp>
        <p:nvSpPr>
          <p:cNvPr id="5" name="Shape 3"/>
          <p:cNvSpPr/>
          <p:nvPr/>
        </p:nvSpPr>
        <p:spPr>
          <a:xfrm>
            <a:off x="708660" y="1184148"/>
            <a:ext cx="786384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86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09060" y="1046988"/>
            <a:ext cx="146304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09060" y="1046988"/>
            <a:ext cx="14630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변경</a:t>
            </a:r>
            <a:endParaRPr lang="ko-KR" sz="950" dirty="0"/>
          </a:p>
        </p:txBody>
      </p:sp>
      <p:sp>
        <p:nvSpPr>
          <p:cNvPr id="8" name="Shape 6"/>
          <p:cNvSpPr/>
          <p:nvPr/>
        </p:nvSpPr>
        <p:spPr>
          <a:xfrm>
            <a:off x="7466076" y="5646420"/>
            <a:ext cx="960120" cy="256032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66076" y="5646420"/>
            <a:ext cx="9601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닫기</a:t>
            </a:r>
            <a:endParaRPr lang="ko-KR" sz="950" dirty="0"/>
          </a:p>
        </p:txBody>
      </p:sp>
      <p:sp>
        <p:nvSpPr>
          <p:cNvPr id="10" name="Shape 8"/>
          <p:cNvSpPr/>
          <p:nvPr/>
        </p:nvSpPr>
        <p:spPr>
          <a:xfrm>
            <a:off x="6414516" y="5646420"/>
            <a:ext cx="960120" cy="256032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4516" y="5646420"/>
            <a:ext cx="9601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endParaRPr lang="ko-KR" sz="950" dirty="0"/>
          </a:p>
        </p:txBody>
      </p:sp>
      <p:sp>
        <p:nvSpPr>
          <p:cNvPr id="12" name="Shape 10"/>
          <p:cNvSpPr/>
          <p:nvPr/>
        </p:nvSpPr>
        <p:spPr>
          <a:xfrm>
            <a:off x="854964" y="1421892"/>
            <a:ext cx="3141513" cy="932688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" y="1449324"/>
            <a:ext cx="29952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 정보 · ReadOnly</a:t>
            </a:r>
            <a:endParaRPr lang="ko-KR" sz="800" dirty="0"/>
          </a:p>
        </p:txBody>
      </p:sp>
      <p:sp>
        <p:nvSpPr>
          <p:cNvPr id="14" name="Shape 12"/>
          <p:cNvSpPr/>
          <p:nvPr/>
        </p:nvSpPr>
        <p:spPr>
          <a:xfrm>
            <a:off x="854964" y="1632204"/>
            <a:ext cx="3141513" cy="0"/>
          </a:xfrm>
          <a:prstGeom prst="line">
            <a:avLst/>
          </a:prstGeom>
          <a:noFill/>
          <a:ln w="9525">
            <a:solidFill>
              <a:srgbClr val="8C9BB5"/>
            </a:solidFill>
            <a:prstDash val="solid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946404" y="1687068"/>
            <a:ext cx="100584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차트번호 / 이름</a:t>
            </a:r>
            <a:endParaRPr lang="ko-KR" sz="800" dirty="0"/>
          </a:p>
        </p:txBody>
      </p:sp>
      <p:sp>
        <p:nvSpPr>
          <p:cNvPr id="16" name="Shape 14"/>
          <p:cNvSpPr/>
          <p:nvPr/>
        </p:nvSpPr>
        <p:spPr>
          <a:xfrm>
            <a:off x="1952244" y="1687068"/>
            <a:ext cx="1952793" cy="219456"/>
          </a:xfrm>
          <a:prstGeom prst="rect">
            <a:avLst/>
          </a:prstGeom>
          <a:solidFill>
            <a:srgbClr val="F2F2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52244" y="1687068"/>
            <a:ext cx="195279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2026-000123 / 홍길동</a:t>
            </a:r>
            <a:endParaRPr lang="ko-KR" sz="900" dirty="0"/>
          </a:p>
        </p:txBody>
      </p:sp>
      <p:sp>
        <p:nvSpPr>
          <p:cNvPr id="18" name="Text 16"/>
          <p:cNvSpPr/>
          <p:nvPr/>
        </p:nvSpPr>
        <p:spPr>
          <a:xfrm>
            <a:off x="946404" y="1961388"/>
            <a:ext cx="100584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생년월일 / 성별</a:t>
            </a:r>
            <a:endParaRPr lang="ko-KR" sz="800" dirty="0"/>
          </a:p>
        </p:txBody>
      </p:sp>
      <p:sp>
        <p:nvSpPr>
          <p:cNvPr id="19" name="Shape 17"/>
          <p:cNvSpPr/>
          <p:nvPr/>
        </p:nvSpPr>
        <p:spPr>
          <a:xfrm>
            <a:off x="1952244" y="1961388"/>
            <a:ext cx="1952793" cy="219456"/>
          </a:xfrm>
          <a:prstGeom prst="rect">
            <a:avLst/>
          </a:prstGeom>
          <a:solidFill>
            <a:srgbClr val="F2F2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52244" y="1961388"/>
            <a:ext cx="195279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1966-03-12  /  여</a:t>
            </a:r>
            <a:endParaRPr lang="ko-KR" sz="900" dirty="0"/>
          </a:p>
        </p:txBody>
      </p:sp>
      <p:sp>
        <p:nvSpPr>
          <p:cNvPr id="21" name="Shape 19"/>
          <p:cNvSpPr/>
          <p:nvPr/>
        </p:nvSpPr>
        <p:spPr>
          <a:xfrm>
            <a:off x="4087917" y="1421892"/>
            <a:ext cx="4338279" cy="932688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61069" y="1449324"/>
            <a:ext cx="41919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예약일 · 시간대 · Editable</a:t>
            </a:r>
            <a:endParaRPr lang="ko-KR" sz="800" dirty="0"/>
          </a:p>
        </p:txBody>
      </p:sp>
      <p:sp>
        <p:nvSpPr>
          <p:cNvPr id="23" name="Shape 21"/>
          <p:cNvSpPr/>
          <p:nvPr/>
        </p:nvSpPr>
        <p:spPr>
          <a:xfrm>
            <a:off x="4087917" y="1632204"/>
            <a:ext cx="4338279" cy="0"/>
          </a:xfrm>
          <a:prstGeom prst="line">
            <a:avLst/>
          </a:prstGeom>
          <a:noFill/>
          <a:ln w="9525">
            <a:solidFill>
              <a:srgbClr val="8C9BB5"/>
            </a:solidFill>
            <a:prstDash val="solid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4179357" y="1687068"/>
            <a:ext cx="62179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예약일</a:t>
            </a:r>
            <a:endParaRPr lang="ko-KR" sz="800" dirty="0"/>
          </a:p>
        </p:txBody>
      </p:sp>
      <p:sp>
        <p:nvSpPr>
          <p:cNvPr id="25" name="Shape 23"/>
          <p:cNvSpPr/>
          <p:nvPr/>
        </p:nvSpPr>
        <p:spPr>
          <a:xfrm>
            <a:off x="4801149" y="1687068"/>
            <a:ext cx="1371600" cy="21945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1149" y="1687068"/>
            <a:ext cx="1371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2026-09-22 (화)</a:t>
            </a:r>
            <a:endParaRPr lang="ko-KR" sz="900" dirty="0"/>
          </a:p>
        </p:txBody>
      </p:sp>
      <p:sp>
        <p:nvSpPr>
          <p:cNvPr id="27" name="Shape 25"/>
          <p:cNvSpPr/>
          <p:nvPr/>
        </p:nvSpPr>
        <p:spPr>
          <a:xfrm>
            <a:off x="6191037" y="1687068"/>
            <a:ext cx="237744" cy="21945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91037" y="1687068"/>
            <a:ext cx="23774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▦</a:t>
            </a:r>
            <a:endParaRPr lang="ko-KR" sz="800" dirty="0"/>
          </a:p>
        </p:txBody>
      </p:sp>
      <p:sp>
        <p:nvSpPr>
          <p:cNvPr id="29" name="Text 27"/>
          <p:cNvSpPr/>
          <p:nvPr/>
        </p:nvSpPr>
        <p:spPr>
          <a:xfrm>
            <a:off x="4179357" y="1961388"/>
            <a:ext cx="62179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시간대</a:t>
            </a:r>
            <a:endParaRPr lang="ko-KR" sz="800" dirty="0"/>
          </a:p>
        </p:txBody>
      </p:sp>
      <p:sp>
        <p:nvSpPr>
          <p:cNvPr id="30" name="Shape 28"/>
          <p:cNvSpPr/>
          <p:nvPr/>
        </p:nvSpPr>
        <p:spPr>
          <a:xfrm>
            <a:off x="4801149" y="1961388"/>
            <a:ext cx="822960" cy="21945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1149" y="1961388"/>
            <a:ext cx="82296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◉  오전</a:t>
            </a:r>
            <a:endParaRPr lang="ko-KR" sz="900" dirty="0"/>
          </a:p>
        </p:txBody>
      </p:sp>
      <p:sp>
        <p:nvSpPr>
          <p:cNvPr id="32" name="Shape 30"/>
          <p:cNvSpPr/>
          <p:nvPr/>
        </p:nvSpPr>
        <p:spPr>
          <a:xfrm>
            <a:off x="5660685" y="1961388"/>
            <a:ext cx="822960" cy="21945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0685" y="1961388"/>
            <a:ext cx="82296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 오후</a:t>
            </a:r>
            <a:endParaRPr lang="ko-KR" sz="900" dirty="0"/>
          </a:p>
        </p:txBody>
      </p:sp>
      <p:sp>
        <p:nvSpPr>
          <p:cNvPr id="34" name="Text 32"/>
          <p:cNvSpPr/>
          <p:nvPr/>
        </p:nvSpPr>
        <p:spPr>
          <a:xfrm>
            <a:off x="6556797" y="1961388"/>
            <a:ext cx="146304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20</a:t>
            </a:r>
            <a:endParaRPr lang="ko-KR" sz="900" dirty="0"/>
          </a:p>
        </p:txBody>
      </p:sp>
      <p:sp>
        <p:nvSpPr>
          <p:cNvPr id="35" name="Shape 33"/>
          <p:cNvSpPr/>
          <p:nvPr/>
        </p:nvSpPr>
        <p:spPr>
          <a:xfrm>
            <a:off x="854964" y="2409444"/>
            <a:ext cx="7571232" cy="256032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2980" y="2409444"/>
            <a:ext cx="54864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대상판정 :   대상 — 최근 완료연도 2024</a:t>
            </a:r>
            <a:endParaRPr lang="ko-KR" sz="900" dirty="0"/>
          </a:p>
        </p:txBody>
      </p:sp>
      <p:sp>
        <p:nvSpPr>
          <p:cNvPr id="37" name="Shape 35"/>
          <p:cNvSpPr/>
          <p:nvPr/>
        </p:nvSpPr>
        <p:spPr>
          <a:xfrm>
            <a:off x="854964" y="2720340"/>
            <a:ext cx="3889492" cy="2798064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28116" y="2747772"/>
            <a:ext cx="37431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 · ReadOnly</a:t>
            </a:r>
            <a:endParaRPr lang="ko-KR" sz="800" dirty="0"/>
          </a:p>
        </p:txBody>
      </p:sp>
      <p:sp>
        <p:nvSpPr>
          <p:cNvPr id="39" name="Shape 37"/>
          <p:cNvSpPr/>
          <p:nvPr/>
        </p:nvSpPr>
        <p:spPr>
          <a:xfrm>
            <a:off x="854964" y="2930652"/>
            <a:ext cx="3889492" cy="0"/>
          </a:xfrm>
          <a:prstGeom prst="line">
            <a:avLst/>
          </a:prstGeom>
          <a:noFill/>
          <a:ln w="9525">
            <a:solidFill>
              <a:srgbClr val="8C9BB5"/>
            </a:solidFill>
            <a:prstDash val="solid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946404" y="2967228"/>
            <a:ext cx="2746492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01268" y="2967228"/>
            <a:ext cx="2691628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검사명</a:t>
            </a:r>
            <a:endParaRPr lang="ko-KR" sz="900" dirty="0"/>
          </a:p>
        </p:txBody>
      </p:sp>
      <p:sp>
        <p:nvSpPr>
          <p:cNvPr id="42" name="Shape 40"/>
          <p:cNvSpPr/>
          <p:nvPr/>
        </p:nvSpPr>
        <p:spPr>
          <a:xfrm>
            <a:off x="3692896" y="2967228"/>
            <a:ext cx="960120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92896" y="2967228"/>
            <a:ext cx="9601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ko-KR" sz="900" dirty="0"/>
          </a:p>
        </p:txBody>
      </p:sp>
      <p:sp>
        <p:nvSpPr>
          <p:cNvPr id="44" name="Shape 42"/>
          <p:cNvSpPr/>
          <p:nvPr/>
        </p:nvSpPr>
        <p:spPr>
          <a:xfrm>
            <a:off x="946404" y="3145536"/>
            <a:ext cx="2746492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01268" y="3145536"/>
            <a:ext cx="2691628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문진/진찰</a:t>
            </a:r>
            <a:endParaRPr lang="ko-KR" sz="900" dirty="0"/>
          </a:p>
        </p:txBody>
      </p:sp>
      <p:sp>
        <p:nvSpPr>
          <p:cNvPr id="46" name="Shape 44"/>
          <p:cNvSpPr/>
          <p:nvPr/>
        </p:nvSpPr>
        <p:spPr>
          <a:xfrm>
            <a:off x="3692896" y="3145536"/>
            <a:ext cx="96012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92896" y="3145536"/>
            <a:ext cx="9601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ko-KR" sz="900" dirty="0"/>
          </a:p>
        </p:txBody>
      </p:sp>
      <p:sp>
        <p:nvSpPr>
          <p:cNvPr id="48" name="Shape 46"/>
          <p:cNvSpPr/>
          <p:nvPr/>
        </p:nvSpPr>
        <p:spPr>
          <a:xfrm>
            <a:off x="946404" y="3323844"/>
            <a:ext cx="2746492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01268" y="3323844"/>
            <a:ext cx="2691628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신체계측</a:t>
            </a:r>
            <a:endParaRPr lang="ko-KR" sz="900" dirty="0"/>
          </a:p>
        </p:txBody>
      </p:sp>
      <p:sp>
        <p:nvSpPr>
          <p:cNvPr id="50" name="Shape 48"/>
          <p:cNvSpPr/>
          <p:nvPr/>
        </p:nvSpPr>
        <p:spPr>
          <a:xfrm>
            <a:off x="3692896" y="3323844"/>
            <a:ext cx="96012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92896" y="3323844"/>
            <a:ext cx="9601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ko-KR" sz="900" dirty="0"/>
          </a:p>
        </p:txBody>
      </p:sp>
      <p:sp>
        <p:nvSpPr>
          <p:cNvPr id="52" name="Shape 50"/>
          <p:cNvSpPr/>
          <p:nvPr/>
        </p:nvSpPr>
        <p:spPr>
          <a:xfrm>
            <a:off x="946404" y="3502152"/>
            <a:ext cx="2746492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01268" y="3502152"/>
            <a:ext cx="2691628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혈압</a:t>
            </a:r>
            <a:endParaRPr lang="ko-KR" sz="900" dirty="0"/>
          </a:p>
        </p:txBody>
      </p:sp>
      <p:sp>
        <p:nvSpPr>
          <p:cNvPr id="54" name="Shape 52"/>
          <p:cNvSpPr/>
          <p:nvPr/>
        </p:nvSpPr>
        <p:spPr>
          <a:xfrm>
            <a:off x="3692896" y="3502152"/>
            <a:ext cx="96012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92896" y="3502152"/>
            <a:ext cx="9601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ko-KR" sz="900" dirty="0"/>
          </a:p>
        </p:txBody>
      </p:sp>
      <p:sp>
        <p:nvSpPr>
          <p:cNvPr id="56" name="Shape 54"/>
          <p:cNvSpPr/>
          <p:nvPr/>
        </p:nvSpPr>
        <p:spPr>
          <a:xfrm>
            <a:off x="946404" y="3680460"/>
            <a:ext cx="2746492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01268" y="3680460"/>
            <a:ext cx="2691628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시력·청력</a:t>
            </a:r>
            <a:endParaRPr lang="ko-KR" sz="900" dirty="0"/>
          </a:p>
        </p:txBody>
      </p:sp>
      <p:sp>
        <p:nvSpPr>
          <p:cNvPr id="58" name="Shape 56"/>
          <p:cNvSpPr/>
          <p:nvPr/>
        </p:nvSpPr>
        <p:spPr>
          <a:xfrm>
            <a:off x="3692896" y="3680460"/>
            <a:ext cx="96012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92896" y="3680460"/>
            <a:ext cx="9601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ko-KR" sz="900" dirty="0"/>
          </a:p>
        </p:txBody>
      </p:sp>
      <p:sp>
        <p:nvSpPr>
          <p:cNvPr id="60" name="Shape 58"/>
          <p:cNvSpPr/>
          <p:nvPr/>
        </p:nvSpPr>
        <p:spPr>
          <a:xfrm>
            <a:off x="946404" y="3858768"/>
            <a:ext cx="2746492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01268" y="3858768"/>
            <a:ext cx="2691628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흉부 X-ray</a:t>
            </a:r>
            <a:endParaRPr lang="ko-KR" sz="900" dirty="0"/>
          </a:p>
        </p:txBody>
      </p:sp>
      <p:sp>
        <p:nvSpPr>
          <p:cNvPr id="62" name="Shape 60"/>
          <p:cNvSpPr/>
          <p:nvPr/>
        </p:nvSpPr>
        <p:spPr>
          <a:xfrm>
            <a:off x="3692896" y="3858768"/>
            <a:ext cx="96012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692896" y="3858768"/>
            <a:ext cx="9601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ko-KR" sz="900" dirty="0"/>
          </a:p>
        </p:txBody>
      </p:sp>
      <p:sp>
        <p:nvSpPr>
          <p:cNvPr id="64" name="Shape 62"/>
          <p:cNvSpPr/>
          <p:nvPr/>
        </p:nvSpPr>
        <p:spPr>
          <a:xfrm>
            <a:off x="946404" y="4037076"/>
            <a:ext cx="2746492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01268" y="4037076"/>
            <a:ext cx="2691628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요검사</a:t>
            </a:r>
            <a:endParaRPr lang="ko-KR" sz="900" dirty="0"/>
          </a:p>
        </p:txBody>
      </p:sp>
      <p:sp>
        <p:nvSpPr>
          <p:cNvPr id="66" name="Shape 64"/>
          <p:cNvSpPr/>
          <p:nvPr/>
        </p:nvSpPr>
        <p:spPr>
          <a:xfrm>
            <a:off x="3692896" y="4037076"/>
            <a:ext cx="96012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92896" y="4037076"/>
            <a:ext cx="9601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ko-KR" sz="900" dirty="0"/>
          </a:p>
        </p:txBody>
      </p:sp>
      <p:sp>
        <p:nvSpPr>
          <p:cNvPr id="68" name="Shape 66"/>
          <p:cNvSpPr/>
          <p:nvPr/>
        </p:nvSpPr>
        <p:spPr>
          <a:xfrm>
            <a:off x="946404" y="4215384"/>
            <a:ext cx="2746492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01268" y="4215384"/>
            <a:ext cx="2691628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혈액검사</a:t>
            </a:r>
            <a:endParaRPr lang="ko-KR" sz="900" dirty="0"/>
          </a:p>
        </p:txBody>
      </p:sp>
      <p:sp>
        <p:nvSpPr>
          <p:cNvPr id="70" name="Shape 68"/>
          <p:cNvSpPr/>
          <p:nvPr/>
        </p:nvSpPr>
        <p:spPr>
          <a:xfrm>
            <a:off x="3692896" y="4215384"/>
            <a:ext cx="96012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692896" y="4215384"/>
            <a:ext cx="9601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ko-KR" sz="900" dirty="0"/>
          </a:p>
        </p:txBody>
      </p:sp>
      <p:sp>
        <p:nvSpPr>
          <p:cNvPr id="72" name="Shape 70"/>
          <p:cNvSpPr/>
          <p:nvPr/>
        </p:nvSpPr>
        <p:spPr>
          <a:xfrm>
            <a:off x="946404" y="4393692"/>
            <a:ext cx="2746492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001268" y="4393692"/>
            <a:ext cx="2691628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구강검진</a:t>
            </a:r>
            <a:endParaRPr lang="ko-KR" sz="900" dirty="0"/>
          </a:p>
        </p:txBody>
      </p:sp>
      <p:sp>
        <p:nvSpPr>
          <p:cNvPr id="74" name="Shape 72"/>
          <p:cNvSpPr/>
          <p:nvPr/>
        </p:nvSpPr>
        <p:spPr>
          <a:xfrm>
            <a:off x="3692896" y="4393692"/>
            <a:ext cx="96012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692896" y="4393692"/>
            <a:ext cx="9601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ko-KR" sz="900" dirty="0"/>
          </a:p>
        </p:txBody>
      </p:sp>
      <p:sp>
        <p:nvSpPr>
          <p:cNvPr id="76" name="Shape 74"/>
          <p:cNvSpPr/>
          <p:nvPr/>
        </p:nvSpPr>
        <p:spPr>
          <a:xfrm>
            <a:off x="946404" y="4572000"/>
            <a:ext cx="2746492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01268" y="4572000"/>
            <a:ext cx="2691628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이상지질혈증</a:t>
            </a:r>
            <a:endParaRPr lang="ko-KR" sz="900" dirty="0"/>
          </a:p>
        </p:txBody>
      </p:sp>
      <p:sp>
        <p:nvSpPr>
          <p:cNvPr id="78" name="Shape 76"/>
          <p:cNvSpPr/>
          <p:nvPr/>
        </p:nvSpPr>
        <p:spPr>
          <a:xfrm>
            <a:off x="3692896" y="4572000"/>
            <a:ext cx="96012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692896" y="4572000"/>
            <a:ext cx="9601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조건부</a:t>
            </a:r>
            <a:endParaRPr lang="ko-KR" sz="900" dirty="0"/>
          </a:p>
        </p:txBody>
      </p:sp>
      <p:sp>
        <p:nvSpPr>
          <p:cNvPr id="80" name="Shape 78"/>
          <p:cNvSpPr/>
          <p:nvPr/>
        </p:nvSpPr>
        <p:spPr>
          <a:xfrm>
            <a:off x="946404" y="4750308"/>
            <a:ext cx="2746492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001268" y="4750308"/>
            <a:ext cx="2691628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골밀도검사</a:t>
            </a:r>
            <a:endParaRPr lang="ko-KR" sz="900" dirty="0"/>
          </a:p>
        </p:txBody>
      </p:sp>
      <p:sp>
        <p:nvSpPr>
          <p:cNvPr id="82" name="Shape 80"/>
          <p:cNvSpPr/>
          <p:nvPr/>
        </p:nvSpPr>
        <p:spPr>
          <a:xfrm>
            <a:off x="3692896" y="4750308"/>
            <a:ext cx="96012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692896" y="4750308"/>
            <a:ext cx="9601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조건부</a:t>
            </a:r>
            <a:endParaRPr lang="ko-KR" sz="900" dirty="0"/>
          </a:p>
        </p:txBody>
      </p:sp>
      <p:sp>
        <p:nvSpPr>
          <p:cNvPr id="84" name="Shape 82"/>
          <p:cNvSpPr/>
          <p:nvPr/>
        </p:nvSpPr>
        <p:spPr>
          <a:xfrm>
            <a:off x="4835896" y="2720340"/>
            <a:ext cx="3590300" cy="2798064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909048" y="2747772"/>
            <a:ext cx="344399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AEX · Editable</a:t>
            </a:r>
            <a:endParaRPr lang="ko-KR" sz="800" dirty="0"/>
          </a:p>
        </p:txBody>
      </p:sp>
      <p:sp>
        <p:nvSpPr>
          <p:cNvPr id="86" name="Shape 84"/>
          <p:cNvSpPr/>
          <p:nvPr/>
        </p:nvSpPr>
        <p:spPr>
          <a:xfrm>
            <a:off x="4835896" y="2930652"/>
            <a:ext cx="3590300" cy="0"/>
          </a:xfrm>
          <a:prstGeom prst="line">
            <a:avLst/>
          </a:prstGeom>
          <a:noFill/>
          <a:ln w="9525">
            <a:solidFill>
              <a:srgbClr val="8C9BB5"/>
            </a:solidFill>
            <a:prstDash val="solid"/>
            <a:tailEnd type="none"/>
          </a:ln>
        </p:spPr>
      </p:sp>
      <p:sp>
        <p:nvSpPr>
          <p:cNvPr id="87" name="Shape 85"/>
          <p:cNvSpPr/>
          <p:nvPr/>
        </p:nvSpPr>
        <p:spPr>
          <a:xfrm>
            <a:off x="4927336" y="2967228"/>
            <a:ext cx="402336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927336" y="2967228"/>
            <a:ext cx="40233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</a:t>
            </a:r>
            <a:endParaRPr lang="ko-KR" sz="900" dirty="0"/>
          </a:p>
        </p:txBody>
      </p:sp>
      <p:sp>
        <p:nvSpPr>
          <p:cNvPr id="89" name="Shape 87"/>
          <p:cNvSpPr/>
          <p:nvPr/>
        </p:nvSpPr>
        <p:spPr>
          <a:xfrm>
            <a:off x="5329672" y="2967228"/>
            <a:ext cx="1005840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384536" y="2967228"/>
            <a:ext cx="95097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검사명</a:t>
            </a:r>
            <a:endParaRPr lang="ko-KR" sz="900" dirty="0"/>
          </a:p>
        </p:txBody>
      </p:sp>
      <p:sp>
        <p:nvSpPr>
          <p:cNvPr id="91" name="Shape 89"/>
          <p:cNvSpPr/>
          <p:nvPr/>
        </p:nvSpPr>
        <p:spPr>
          <a:xfrm>
            <a:off x="6335512" y="2967228"/>
            <a:ext cx="1999244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390376" y="2967228"/>
            <a:ext cx="194438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선택불가 사유</a:t>
            </a:r>
            <a:endParaRPr lang="ko-KR" sz="900" dirty="0"/>
          </a:p>
        </p:txBody>
      </p:sp>
      <p:sp>
        <p:nvSpPr>
          <p:cNvPr id="93" name="Shape 91"/>
          <p:cNvSpPr/>
          <p:nvPr/>
        </p:nvSpPr>
        <p:spPr>
          <a:xfrm>
            <a:off x="4927336" y="3145536"/>
            <a:ext cx="402336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927336" y="3145536"/>
            <a:ext cx="40233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</a:t>
            </a:r>
            <a:endParaRPr lang="ko-KR" sz="900" dirty="0"/>
          </a:p>
        </p:txBody>
      </p:sp>
      <p:sp>
        <p:nvSpPr>
          <p:cNvPr id="95" name="Shape 93"/>
          <p:cNvSpPr/>
          <p:nvPr/>
        </p:nvSpPr>
        <p:spPr>
          <a:xfrm>
            <a:off x="5329672" y="3145536"/>
            <a:ext cx="100584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384536" y="3145536"/>
            <a:ext cx="95097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복부초음파</a:t>
            </a:r>
            <a:endParaRPr lang="ko-KR" sz="900" dirty="0"/>
          </a:p>
        </p:txBody>
      </p:sp>
      <p:sp>
        <p:nvSpPr>
          <p:cNvPr id="97" name="Shape 95"/>
          <p:cNvSpPr/>
          <p:nvPr/>
        </p:nvSpPr>
        <p:spPr>
          <a:xfrm>
            <a:off x="6335512" y="3145536"/>
            <a:ext cx="1999244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927336" y="3323844"/>
            <a:ext cx="402336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927336" y="3323844"/>
            <a:ext cx="40233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☑</a:t>
            </a:r>
            <a:endParaRPr lang="ko-KR" sz="900" dirty="0"/>
          </a:p>
        </p:txBody>
      </p:sp>
      <p:sp>
        <p:nvSpPr>
          <p:cNvPr id="100" name="Shape 98"/>
          <p:cNvSpPr/>
          <p:nvPr/>
        </p:nvSpPr>
        <p:spPr>
          <a:xfrm>
            <a:off x="5329672" y="3323844"/>
            <a:ext cx="100584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384536" y="3323844"/>
            <a:ext cx="95097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갑상선초음파</a:t>
            </a:r>
            <a:endParaRPr lang="ko-KR" sz="900" dirty="0"/>
          </a:p>
        </p:txBody>
      </p:sp>
      <p:sp>
        <p:nvSpPr>
          <p:cNvPr id="102" name="Shape 100"/>
          <p:cNvSpPr/>
          <p:nvPr/>
        </p:nvSpPr>
        <p:spPr>
          <a:xfrm>
            <a:off x="6335512" y="3323844"/>
            <a:ext cx="1999244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927336" y="3502152"/>
            <a:ext cx="402336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927336" y="3502152"/>
            <a:ext cx="40233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</a:t>
            </a:r>
            <a:endParaRPr lang="ko-KR" sz="900" dirty="0"/>
          </a:p>
        </p:txBody>
      </p:sp>
      <p:sp>
        <p:nvSpPr>
          <p:cNvPr id="105" name="Shape 103"/>
          <p:cNvSpPr/>
          <p:nvPr/>
        </p:nvSpPr>
        <p:spPr>
          <a:xfrm>
            <a:off x="5329672" y="3502152"/>
            <a:ext cx="100584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384536" y="3502152"/>
            <a:ext cx="95097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유방초음파</a:t>
            </a:r>
            <a:endParaRPr lang="ko-KR" sz="900" dirty="0"/>
          </a:p>
        </p:txBody>
      </p:sp>
      <p:sp>
        <p:nvSpPr>
          <p:cNvPr id="107" name="Shape 105"/>
          <p:cNvSpPr/>
          <p:nvPr/>
        </p:nvSpPr>
        <p:spPr>
          <a:xfrm>
            <a:off x="6335512" y="3502152"/>
            <a:ext cx="1999244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927336" y="3680460"/>
            <a:ext cx="402336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927336" y="3680460"/>
            <a:ext cx="40233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ko-KR" sz="900" dirty="0"/>
          </a:p>
        </p:txBody>
      </p:sp>
      <p:sp>
        <p:nvSpPr>
          <p:cNvPr id="110" name="Shape 108"/>
          <p:cNvSpPr/>
          <p:nvPr/>
        </p:nvSpPr>
        <p:spPr>
          <a:xfrm>
            <a:off x="5329672" y="3680460"/>
            <a:ext cx="100584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384536" y="3680460"/>
            <a:ext cx="95097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골밀도검사</a:t>
            </a:r>
            <a:endParaRPr lang="ko-KR" sz="900" dirty="0"/>
          </a:p>
        </p:txBody>
      </p:sp>
      <p:sp>
        <p:nvSpPr>
          <p:cNvPr id="112" name="Shape 110"/>
          <p:cNvSpPr/>
          <p:nvPr/>
        </p:nvSpPr>
        <p:spPr>
          <a:xfrm>
            <a:off x="6335512" y="3680460"/>
            <a:ext cx="1999244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390376" y="3680460"/>
            <a:ext cx="194438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일반건강검진에 포함된 검사입니다.</a:t>
            </a:r>
            <a:endParaRPr lang="ko-KR" sz="800" dirty="0"/>
          </a:p>
        </p:txBody>
      </p:sp>
      <p:sp>
        <p:nvSpPr>
          <p:cNvPr id="114" name="Shape 112"/>
          <p:cNvSpPr/>
          <p:nvPr/>
        </p:nvSpPr>
        <p:spPr>
          <a:xfrm>
            <a:off x="4927336" y="3858768"/>
            <a:ext cx="402336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927336" y="3858768"/>
            <a:ext cx="40233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ko-KR" sz="900" dirty="0"/>
          </a:p>
        </p:txBody>
      </p:sp>
      <p:sp>
        <p:nvSpPr>
          <p:cNvPr id="116" name="Shape 114"/>
          <p:cNvSpPr/>
          <p:nvPr/>
        </p:nvSpPr>
        <p:spPr>
          <a:xfrm>
            <a:off x="5329672" y="3858768"/>
            <a:ext cx="100584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5384536" y="3858768"/>
            <a:ext cx="95097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PSA</a:t>
            </a:r>
            <a:endParaRPr lang="ko-KR" sz="900" dirty="0"/>
          </a:p>
        </p:txBody>
      </p:sp>
      <p:sp>
        <p:nvSpPr>
          <p:cNvPr id="118" name="Shape 116"/>
          <p:cNvSpPr/>
          <p:nvPr/>
        </p:nvSpPr>
        <p:spPr>
          <a:xfrm>
            <a:off x="6335512" y="3858768"/>
            <a:ext cx="1999244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390376" y="3858768"/>
            <a:ext cx="194438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성별 조건 불충족</a:t>
            </a:r>
            <a:endParaRPr lang="ko-KR" sz="800" dirty="0"/>
          </a:p>
        </p:txBody>
      </p:sp>
      <p:sp>
        <p:nvSpPr>
          <p:cNvPr id="120" name="Shape 118"/>
          <p:cNvSpPr/>
          <p:nvPr/>
        </p:nvSpPr>
        <p:spPr>
          <a:xfrm>
            <a:off x="4927336" y="4037076"/>
            <a:ext cx="402336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927336" y="4037076"/>
            <a:ext cx="40233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</a:t>
            </a:r>
            <a:endParaRPr lang="ko-KR" sz="900" dirty="0"/>
          </a:p>
        </p:txBody>
      </p:sp>
      <p:sp>
        <p:nvSpPr>
          <p:cNvPr id="122" name="Shape 120"/>
          <p:cNvSpPr/>
          <p:nvPr/>
        </p:nvSpPr>
        <p:spPr>
          <a:xfrm>
            <a:off x="5329672" y="4037076"/>
            <a:ext cx="100584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5384536" y="4037076"/>
            <a:ext cx="95097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HbA1c</a:t>
            </a:r>
            <a:endParaRPr lang="ko-KR" sz="900" dirty="0"/>
          </a:p>
        </p:txBody>
      </p:sp>
      <p:sp>
        <p:nvSpPr>
          <p:cNvPr id="124" name="Shape 122"/>
          <p:cNvSpPr/>
          <p:nvPr/>
        </p:nvSpPr>
        <p:spPr>
          <a:xfrm>
            <a:off x="6335512" y="4037076"/>
            <a:ext cx="1999244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927336" y="4215384"/>
            <a:ext cx="402336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4927336" y="4215384"/>
            <a:ext cx="40233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</a:t>
            </a:r>
            <a:endParaRPr lang="ko-KR" sz="900" dirty="0"/>
          </a:p>
        </p:txBody>
      </p:sp>
      <p:sp>
        <p:nvSpPr>
          <p:cNvPr id="127" name="Shape 125"/>
          <p:cNvSpPr/>
          <p:nvPr/>
        </p:nvSpPr>
        <p:spPr>
          <a:xfrm>
            <a:off x="5329672" y="4215384"/>
            <a:ext cx="100584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5384536" y="4215384"/>
            <a:ext cx="95097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HPV 검사</a:t>
            </a:r>
            <a:endParaRPr lang="ko-KR" sz="900" dirty="0"/>
          </a:p>
        </p:txBody>
      </p:sp>
      <p:sp>
        <p:nvSpPr>
          <p:cNvPr id="129" name="Shape 127"/>
          <p:cNvSpPr/>
          <p:nvPr/>
        </p:nvSpPr>
        <p:spPr>
          <a:xfrm>
            <a:off x="6335512" y="4215384"/>
            <a:ext cx="1999244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420624" y="164592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변경</a:t>
            </a:r>
            <a:endParaRPr lang="ko-KR" sz="3000" dirty="0"/>
          </a:p>
        </p:txBody>
      </p:sp>
      <p:sp>
        <p:nvSpPr>
          <p:cNvPr id="131" name="Shape 129"/>
          <p:cNvSpPr/>
          <p:nvPr/>
        </p:nvSpPr>
        <p:spPr>
          <a:xfrm>
            <a:off x="8897112" y="932688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9262872" y="932688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9313164" y="982980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DLG-RSV-01  예약 변경 · Modal · P02-06 ·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F-RSV-002</a:t>
            </a:r>
            <a:endParaRPr lang="ko-KR" sz="1000" dirty="0"/>
          </a:p>
        </p:txBody>
      </p:sp>
      <p:sp>
        <p:nvSpPr>
          <p:cNvPr id="134" name="Shape 132"/>
          <p:cNvSpPr/>
          <p:nvPr/>
        </p:nvSpPr>
        <p:spPr>
          <a:xfrm>
            <a:off x="8897112" y="1371117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9262872" y="1371117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8897112" y="1371117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1000" dirty="0"/>
          </a:p>
        </p:txBody>
      </p:sp>
      <p:sp>
        <p:nvSpPr>
          <p:cNvPr id="137" name="Text 135"/>
          <p:cNvSpPr/>
          <p:nvPr/>
        </p:nvSpPr>
        <p:spPr>
          <a:xfrm>
            <a:off x="9313164" y="1421409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예약(RSV) 상태에서만 진입한다. 수검자는 변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경할 수 없다 (RP-09)</a:t>
            </a:r>
            <a:endParaRPr lang="ko-KR" sz="1000" dirty="0"/>
          </a:p>
        </p:txBody>
      </p:sp>
      <p:sp>
        <p:nvSpPr>
          <p:cNvPr id="138" name="Shape 136"/>
          <p:cNvSpPr/>
          <p:nvPr/>
        </p:nvSpPr>
        <p:spPr>
          <a:xfrm>
            <a:off x="8897112" y="1809547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9262872" y="1809547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8897112" y="1809547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sz="1000" dirty="0"/>
          </a:p>
        </p:txBody>
      </p:sp>
      <p:sp>
        <p:nvSpPr>
          <p:cNvPr id="141" name="Text 139"/>
          <p:cNvSpPr/>
          <p:nvPr/>
        </p:nvSpPr>
        <p:spPr>
          <a:xfrm>
            <a:off x="9313164" y="1859839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예약일 변경 → 일정 → TGT → NEX → AEX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순으로 전부 재평가</a:t>
            </a:r>
            <a:endParaRPr lang="ko-KR" sz="1000" dirty="0"/>
          </a:p>
        </p:txBody>
      </p:sp>
      <p:sp>
        <p:nvSpPr>
          <p:cNvPr id="142" name="Shape 140"/>
          <p:cNvSpPr/>
          <p:nvPr/>
        </p:nvSpPr>
        <p:spPr>
          <a:xfrm>
            <a:off x="8897112" y="2247976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9262872" y="2247976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8897112" y="2247976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sz="1000" dirty="0"/>
          </a:p>
        </p:txBody>
      </p:sp>
      <p:sp>
        <p:nvSpPr>
          <p:cNvPr id="145" name="Text 143"/>
          <p:cNvSpPr/>
          <p:nvPr/>
        </p:nvSpPr>
        <p:spPr>
          <a:xfrm>
            <a:off x="9313164" y="2298268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시간대만 변경 → 일정·마감·정원만 재평가.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TGT/NEX/AEX는 유지</a:t>
            </a:r>
            <a:endParaRPr lang="ko-KR" sz="1000" dirty="0"/>
          </a:p>
        </p:txBody>
      </p:sp>
      <p:sp>
        <p:nvSpPr>
          <p:cNvPr id="146" name="Shape 144"/>
          <p:cNvSpPr/>
          <p:nvPr/>
        </p:nvSpPr>
        <p:spPr>
          <a:xfrm>
            <a:off x="8897112" y="2686406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9262872" y="2686406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8897112" y="2686406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sz="1000" dirty="0"/>
          </a:p>
        </p:txBody>
      </p:sp>
      <p:sp>
        <p:nvSpPr>
          <p:cNvPr id="149" name="Text 147"/>
          <p:cNvSpPr/>
          <p:nvPr/>
        </p:nvSpPr>
        <p:spPr>
          <a:xfrm>
            <a:off x="9313164" y="2736698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예약일 변경 후 비대상이면 저장하지 않고 기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 예약을 유지한다</a:t>
            </a:r>
            <a:endParaRPr lang="ko-KR" sz="1000" dirty="0"/>
          </a:p>
        </p:txBody>
      </p:sp>
      <p:sp>
        <p:nvSpPr>
          <p:cNvPr id="150" name="Shape 148"/>
          <p:cNvSpPr/>
          <p:nvPr/>
        </p:nvSpPr>
        <p:spPr>
          <a:xfrm>
            <a:off x="8897112" y="3124835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9262872" y="3124835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8897112" y="3124835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ko-KR" sz="1000" dirty="0"/>
          </a:p>
        </p:txBody>
      </p:sp>
      <p:sp>
        <p:nvSpPr>
          <p:cNvPr id="153" name="Text 151"/>
          <p:cNvSpPr/>
          <p:nvPr/>
        </p:nvSpPr>
        <p:spPr>
          <a:xfrm>
            <a:off x="9313164" y="3175127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예약일이 바뀌면 자동 재구성된다. 사용자 변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 불가 (NEX-07)</a:t>
            </a:r>
            <a:endParaRPr lang="ko-KR" sz="1000" dirty="0"/>
          </a:p>
        </p:txBody>
      </p:sp>
      <p:sp>
        <p:nvSpPr>
          <p:cNvPr id="154" name="Shape 152"/>
          <p:cNvSpPr/>
          <p:nvPr/>
        </p:nvSpPr>
        <p:spPr>
          <a:xfrm>
            <a:off x="8897112" y="3563264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9262872" y="3563264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8897112" y="3563264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ko-KR" sz="1000" dirty="0"/>
          </a:p>
        </p:txBody>
      </p:sp>
      <p:sp>
        <p:nvSpPr>
          <p:cNvPr id="157" name="Text 155"/>
          <p:cNvSpPr/>
          <p:nvPr/>
        </p:nvSpPr>
        <p:spPr>
          <a:xfrm>
            <a:off x="9313164" y="3613556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AEX만 변경해도 Work의 RowVersion이 갱신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된다</a:t>
            </a:r>
            <a:endParaRPr lang="ko-KR" sz="1000" dirty="0"/>
          </a:p>
        </p:txBody>
      </p:sp>
      <p:sp>
        <p:nvSpPr>
          <p:cNvPr id="158" name="Shape 156"/>
          <p:cNvSpPr/>
          <p:nvPr/>
        </p:nvSpPr>
        <p:spPr>
          <a:xfrm>
            <a:off x="8897112" y="4001694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9262872" y="4001694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8897112" y="4001694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ko-KR" sz="1000" dirty="0"/>
          </a:p>
        </p:txBody>
      </p:sp>
      <p:sp>
        <p:nvSpPr>
          <p:cNvPr id="161" name="Text 159"/>
          <p:cNvSpPr/>
          <p:nvPr/>
        </p:nvSpPr>
        <p:spPr>
          <a:xfrm>
            <a:off x="9313164" y="4051986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RowVersion을 보관했다가 저장 시 함께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전달한다</a:t>
            </a:r>
            <a:endParaRPr lang="ko-KR" sz="1000" dirty="0"/>
          </a:p>
        </p:txBody>
      </p:sp>
      <p:sp>
        <p:nvSpPr>
          <p:cNvPr id="162" name="Shape 160"/>
          <p:cNvSpPr/>
          <p:nvPr/>
        </p:nvSpPr>
        <p:spPr>
          <a:xfrm>
            <a:off x="8897112" y="4440123"/>
            <a:ext cx="365760" cy="607352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9262872" y="4440123"/>
            <a:ext cx="2697480" cy="607352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9313164" y="4490415"/>
            <a:ext cx="2596896" cy="506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일정·중복 검증에서 현재 WorkId 자체는 제외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다른 RSV/RCP 업무만 충돌로 판단한다.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변경이 없으면 No-op으로 처리한다.</a:t>
            </a:r>
            <a:endParaRPr lang="ko-KR" sz="1000" dirty="0"/>
          </a:p>
        </p:txBody>
      </p:sp>
      <p:sp>
        <p:nvSpPr>
          <p:cNvPr id="165" name="Shape 163"/>
          <p:cNvSpPr/>
          <p:nvPr/>
        </p:nvSpPr>
        <p:spPr>
          <a:xfrm>
            <a:off x="708660" y="1778508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708660" y="1778508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1000" dirty="0"/>
          </a:p>
        </p:txBody>
      </p:sp>
      <p:sp>
        <p:nvSpPr>
          <p:cNvPr id="167" name="Shape 165"/>
          <p:cNvSpPr/>
          <p:nvPr/>
        </p:nvSpPr>
        <p:spPr>
          <a:xfrm>
            <a:off x="4654845" y="1687068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4654845" y="1687068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sz="1000" dirty="0"/>
          </a:p>
        </p:txBody>
      </p:sp>
      <p:sp>
        <p:nvSpPr>
          <p:cNvPr id="169" name="Shape 167"/>
          <p:cNvSpPr/>
          <p:nvPr/>
        </p:nvSpPr>
        <p:spPr>
          <a:xfrm>
            <a:off x="4654845" y="1961388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4654845" y="1961388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sz="1000" dirty="0"/>
          </a:p>
        </p:txBody>
      </p:sp>
      <p:sp>
        <p:nvSpPr>
          <p:cNvPr id="171" name="Shape 169"/>
          <p:cNvSpPr/>
          <p:nvPr/>
        </p:nvSpPr>
        <p:spPr>
          <a:xfrm>
            <a:off x="708660" y="2427732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708660" y="2427732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sz="1000" dirty="0"/>
          </a:p>
        </p:txBody>
      </p:sp>
      <p:sp>
        <p:nvSpPr>
          <p:cNvPr id="173" name="Shape 171"/>
          <p:cNvSpPr/>
          <p:nvPr/>
        </p:nvSpPr>
        <p:spPr>
          <a:xfrm>
            <a:off x="708660" y="4009644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708660" y="4009644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ko-KR" sz="1000" dirty="0"/>
          </a:p>
        </p:txBody>
      </p:sp>
      <p:sp>
        <p:nvSpPr>
          <p:cNvPr id="175" name="Shape 173"/>
          <p:cNvSpPr/>
          <p:nvPr/>
        </p:nvSpPr>
        <p:spPr>
          <a:xfrm>
            <a:off x="4689592" y="4009644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4689592" y="4009644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ko-KR" sz="1000" dirty="0"/>
          </a:p>
        </p:txBody>
      </p:sp>
      <p:sp>
        <p:nvSpPr>
          <p:cNvPr id="177" name="Shape 175"/>
          <p:cNvSpPr/>
          <p:nvPr/>
        </p:nvSpPr>
        <p:spPr>
          <a:xfrm>
            <a:off x="6268212" y="5664708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6268212" y="5664708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ko-KR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932688"/>
            <a:ext cx="8439912" cy="5349240"/>
          </a:xfrm>
          <a:prstGeom prst="rect">
            <a:avLst/>
          </a:prstGeom>
          <a:ln w="19050">
            <a:solidFill>
              <a:srgbClr val="C8C8C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0624" y="932688"/>
            <a:ext cx="8439912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C8C8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32688"/>
            <a:ext cx="64008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예약/접수 공통 Workbench (WF-WRK-01)  ·  예약 Context   —   비활성(Confirm)</a:t>
            </a:r>
            <a:endParaRPr lang="ko-KR" sz="800" dirty="0"/>
          </a:p>
        </p:txBody>
      </p:sp>
      <p:sp>
        <p:nvSpPr>
          <p:cNvPr id="5" name="Shape 3"/>
          <p:cNvSpPr/>
          <p:nvPr/>
        </p:nvSpPr>
        <p:spPr>
          <a:xfrm>
            <a:off x="694944" y="1408176"/>
            <a:ext cx="1051560" cy="274320"/>
          </a:xfrm>
          <a:prstGeom prst="rect">
            <a:avLst/>
          </a:prstGeom>
          <a:ln w="9525">
            <a:solidFill>
              <a:srgbClr val="C8C8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408176"/>
            <a:ext cx="10515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예약취소</a:t>
            </a:r>
            <a:endParaRPr lang="ko-KR" sz="950" dirty="0"/>
          </a:p>
        </p:txBody>
      </p:sp>
      <p:sp>
        <p:nvSpPr>
          <p:cNvPr id="7" name="Text 5"/>
          <p:cNvSpPr/>
          <p:nvPr/>
        </p:nvSpPr>
        <p:spPr>
          <a:xfrm>
            <a:off x="1837944" y="1408176"/>
            <a:ext cx="29260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선택행 상태 = 예약(RSV) 일 때만 활성</a:t>
            </a:r>
            <a:endParaRPr lang="ko-KR" sz="800" dirty="0"/>
          </a:p>
        </p:txBody>
      </p:sp>
      <p:sp>
        <p:nvSpPr>
          <p:cNvPr id="8" name="Shape 6"/>
          <p:cNvSpPr/>
          <p:nvPr/>
        </p:nvSpPr>
        <p:spPr>
          <a:xfrm>
            <a:off x="2217420" y="2738628"/>
            <a:ext cx="484632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86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54780" y="2601468"/>
            <a:ext cx="137160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54780" y="2601468"/>
            <a:ext cx="1371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취소</a:t>
            </a:r>
            <a:endParaRPr lang="ko-KR" sz="950" dirty="0"/>
          </a:p>
        </p:txBody>
      </p:sp>
      <p:sp>
        <p:nvSpPr>
          <p:cNvPr id="11" name="Text 9"/>
          <p:cNvSpPr/>
          <p:nvPr/>
        </p:nvSpPr>
        <p:spPr>
          <a:xfrm>
            <a:off x="2382012" y="3049524"/>
            <a:ext cx="4517136" cy="1604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선택한 예약을 취소하시겠습니까?</a:t>
            </a:r>
            <a:endParaRPr lang="ko-KR" sz="950" dirty="0"/>
          </a:p>
        </p:txBody>
      </p:sp>
      <p:sp>
        <p:nvSpPr>
          <p:cNvPr id="12" name="Text 10"/>
          <p:cNvSpPr/>
          <p:nvPr/>
        </p:nvSpPr>
        <p:spPr>
          <a:xfrm>
            <a:off x="2382012" y="3264865"/>
            <a:ext cx="4517136" cy="1604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후 기존 예약으로 복원할 수 없습니다.</a:t>
            </a:r>
            <a:endParaRPr lang="ko-KR" sz="950" dirty="0"/>
          </a:p>
        </p:txBody>
      </p:sp>
      <p:sp>
        <p:nvSpPr>
          <p:cNvPr id="13" name="Shape 11"/>
          <p:cNvSpPr/>
          <p:nvPr/>
        </p:nvSpPr>
        <p:spPr>
          <a:xfrm>
            <a:off x="6094476" y="4091940"/>
            <a:ext cx="822960" cy="256032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4476" y="4091940"/>
            <a:ext cx="82296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닫기</a:t>
            </a:r>
            <a:endParaRPr lang="ko-KR" sz="950" dirty="0"/>
          </a:p>
        </p:txBody>
      </p:sp>
      <p:sp>
        <p:nvSpPr>
          <p:cNvPr id="15" name="Shape 13"/>
          <p:cNvSpPr/>
          <p:nvPr/>
        </p:nvSpPr>
        <p:spPr>
          <a:xfrm>
            <a:off x="5180076" y="4091940"/>
            <a:ext cx="822960" cy="256032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80076" y="4091940"/>
            <a:ext cx="82296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ko-KR" sz="950" dirty="0"/>
          </a:p>
        </p:txBody>
      </p:sp>
      <p:sp>
        <p:nvSpPr>
          <p:cNvPr id="17" name="Text 15"/>
          <p:cNvSpPr/>
          <p:nvPr/>
        </p:nvSpPr>
        <p:spPr>
          <a:xfrm>
            <a:off x="420624" y="164592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취소 확인</a:t>
            </a:r>
            <a:endParaRPr lang="ko-KR" sz="3000" dirty="0"/>
          </a:p>
        </p:txBody>
      </p:sp>
      <p:sp>
        <p:nvSpPr>
          <p:cNvPr id="18" name="Shape 16"/>
          <p:cNvSpPr/>
          <p:nvPr/>
        </p:nvSpPr>
        <p:spPr>
          <a:xfrm>
            <a:off x="8897112" y="932688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62872" y="932688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13164" y="982980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CNF-RSV-01  예약 취소 확인 · Confirm ·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P02-07 · F-RSV-003</a:t>
            </a:r>
            <a:endParaRPr lang="ko-KR" sz="1000" dirty="0"/>
          </a:p>
        </p:txBody>
      </p:sp>
      <p:sp>
        <p:nvSpPr>
          <p:cNvPr id="21" name="Shape 19"/>
          <p:cNvSpPr/>
          <p:nvPr/>
        </p:nvSpPr>
        <p:spPr>
          <a:xfrm>
            <a:off x="8897112" y="1371117"/>
            <a:ext cx="365760" cy="274320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62872" y="1371117"/>
            <a:ext cx="2697480" cy="274320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97112" y="1371117"/>
            <a:ext cx="3657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1000" dirty="0"/>
          </a:p>
        </p:txBody>
      </p:sp>
      <p:sp>
        <p:nvSpPr>
          <p:cNvPr id="24" name="Text 22"/>
          <p:cNvSpPr/>
          <p:nvPr/>
        </p:nvSpPr>
        <p:spPr>
          <a:xfrm>
            <a:off x="9313164" y="1421409"/>
            <a:ext cx="2596896" cy="173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예약(RSV) 상태에서만 호출된다 (RP-10)</a:t>
            </a:r>
            <a:endParaRPr lang="ko-KR" sz="1000" dirty="0"/>
          </a:p>
        </p:txBody>
      </p:sp>
      <p:sp>
        <p:nvSpPr>
          <p:cNvPr id="25" name="Shape 23"/>
          <p:cNvSpPr/>
          <p:nvPr/>
        </p:nvSpPr>
        <p:spPr>
          <a:xfrm>
            <a:off x="8897112" y="1645437"/>
            <a:ext cx="365760" cy="274320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62872" y="1645437"/>
            <a:ext cx="2697480" cy="274320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97112" y="1645437"/>
            <a:ext cx="3657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sz="1000" dirty="0"/>
          </a:p>
        </p:txBody>
      </p:sp>
      <p:sp>
        <p:nvSpPr>
          <p:cNvPr id="28" name="Text 26"/>
          <p:cNvSpPr/>
          <p:nvPr/>
        </p:nvSpPr>
        <p:spPr>
          <a:xfrm>
            <a:off x="9313164" y="1695729"/>
            <a:ext cx="2596896" cy="173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문구는 원문 확정본을 그대로 사용한다</a:t>
            </a:r>
            <a:endParaRPr lang="ko-KR" sz="1000" dirty="0"/>
          </a:p>
        </p:txBody>
      </p:sp>
      <p:sp>
        <p:nvSpPr>
          <p:cNvPr id="29" name="Shape 27"/>
          <p:cNvSpPr/>
          <p:nvPr/>
        </p:nvSpPr>
        <p:spPr>
          <a:xfrm>
            <a:off x="8897112" y="1919757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62872" y="1919757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97112" y="1919757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sz="1000" dirty="0"/>
          </a:p>
        </p:txBody>
      </p:sp>
      <p:sp>
        <p:nvSpPr>
          <p:cNvPr id="32" name="Text 30"/>
          <p:cNvSpPr/>
          <p:nvPr/>
        </p:nvSpPr>
        <p:spPr>
          <a:xfrm>
            <a:off x="9313164" y="1970049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[확인] 시 DB에서 상태·RowVersion을 재확인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후 CNR로 전이</a:t>
            </a:r>
            <a:endParaRPr lang="ko-KR" sz="1000" dirty="0"/>
          </a:p>
        </p:txBody>
      </p:sp>
      <p:sp>
        <p:nvSpPr>
          <p:cNvPr id="33" name="Shape 31"/>
          <p:cNvSpPr/>
          <p:nvPr/>
        </p:nvSpPr>
        <p:spPr>
          <a:xfrm>
            <a:off x="8897112" y="2358187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262872" y="2358187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13164" y="2408479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업무 행을 취소 상태로 바꾸며 Work와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 Detail을 물리 삭제하지 않는다 (CP-05).</a:t>
            </a:r>
            <a:endParaRPr lang="ko-KR" sz="1000" dirty="0"/>
          </a:p>
        </p:txBody>
      </p:sp>
      <p:sp>
        <p:nvSpPr>
          <p:cNvPr id="36" name="Shape 34"/>
          <p:cNvSpPr/>
          <p:nvPr/>
        </p:nvSpPr>
        <p:spPr>
          <a:xfrm>
            <a:off x="8897112" y="2796616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62872" y="2796616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13164" y="2846908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상태에서 복원하지 않는다. 재진행은 신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 예약을 생성한다.</a:t>
            </a:r>
            <a:endParaRPr lang="ko-KR" sz="1000" dirty="0"/>
          </a:p>
        </p:txBody>
      </p:sp>
      <p:sp>
        <p:nvSpPr>
          <p:cNvPr id="39" name="Shape 37"/>
          <p:cNvSpPr/>
          <p:nvPr/>
        </p:nvSpPr>
        <p:spPr>
          <a:xfrm>
            <a:off x="548640" y="1435608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1435608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1000" dirty="0"/>
          </a:p>
        </p:txBody>
      </p:sp>
      <p:sp>
        <p:nvSpPr>
          <p:cNvPr id="41" name="Shape 39"/>
          <p:cNvSpPr/>
          <p:nvPr/>
        </p:nvSpPr>
        <p:spPr>
          <a:xfrm>
            <a:off x="2071116" y="3040380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71116" y="3040380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sz="1000" dirty="0"/>
          </a:p>
        </p:txBody>
      </p:sp>
      <p:sp>
        <p:nvSpPr>
          <p:cNvPr id="43" name="Shape 41"/>
          <p:cNvSpPr/>
          <p:nvPr/>
        </p:nvSpPr>
        <p:spPr>
          <a:xfrm>
            <a:off x="4997196" y="4110228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97196" y="4110228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932688"/>
            <a:ext cx="8439912" cy="5349240"/>
          </a:xfrm>
          <a:prstGeom prst="rect">
            <a:avLst/>
          </a:prstGeom>
          <a:ln w="19050">
            <a:solidFill>
              <a:srgbClr val="C8C8C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0624" y="932688"/>
            <a:ext cx="8439912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C8C8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32688"/>
            <a:ext cx="54864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예약/접수 공통 Workbench (WF-WRK-01)  ·  접수 Context   —   비활성(Modal)</a:t>
            </a:r>
            <a:endParaRPr lang="ko-KR" sz="800" dirty="0"/>
          </a:p>
        </p:txBody>
      </p:sp>
      <p:sp>
        <p:nvSpPr>
          <p:cNvPr id="5" name="Shape 3"/>
          <p:cNvSpPr/>
          <p:nvPr/>
        </p:nvSpPr>
        <p:spPr>
          <a:xfrm>
            <a:off x="708660" y="1275588"/>
            <a:ext cx="7863840" cy="4663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86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09060" y="1138428"/>
            <a:ext cx="146304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09060" y="1138428"/>
            <a:ext cx="14630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처리</a:t>
            </a:r>
            <a:endParaRPr lang="ko-KR" sz="950" dirty="0"/>
          </a:p>
        </p:txBody>
      </p:sp>
      <p:sp>
        <p:nvSpPr>
          <p:cNvPr id="8" name="Shape 6"/>
          <p:cNvSpPr/>
          <p:nvPr/>
        </p:nvSpPr>
        <p:spPr>
          <a:xfrm>
            <a:off x="7466076" y="5554980"/>
            <a:ext cx="960120" cy="256032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66076" y="5554980"/>
            <a:ext cx="9601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닫기</a:t>
            </a:r>
            <a:endParaRPr lang="ko-KR" sz="950" dirty="0"/>
          </a:p>
        </p:txBody>
      </p:sp>
      <p:sp>
        <p:nvSpPr>
          <p:cNvPr id="10" name="Shape 8"/>
          <p:cNvSpPr/>
          <p:nvPr/>
        </p:nvSpPr>
        <p:spPr>
          <a:xfrm>
            <a:off x="6414516" y="5554980"/>
            <a:ext cx="960120" cy="256032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4516" y="5554980"/>
            <a:ext cx="9601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접수처리</a:t>
            </a:r>
            <a:endParaRPr lang="ko-KR" sz="950" dirty="0"/>
          </a:p>
        </p:txBody>
      </p:sp>
      <p:sp>
        <p:nvSpPr>
          <p:cNvPr id="12" name="Shape 10"/>
          <p:cNvSpPr/>
          <p:nvPr/>
        </p:nvSpPr>
        <p:spPr>
          <a:xfrm>
            <a:off x="854964" y="1513332"/>
            <a:ext cx="3365906" cy="932688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" y="1540764"/>
            <a:ext cx="321960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 정보 · ReadOnly</a:t>
            </a:r>
            <a:endParaRPr lang="ko-KR" sz="800" dirty="0"/>
          </a:p>
        </p:txBody>
      </p:sp>
      <p:sp>
        <p:nvSpPr>
          <p:cNvPr id="14" name="Shape 12"/>
          <p:cNvSpPr/>
          <p:nvPr/>
        </p:nvSpPr>
        <p:spPr>
          <a:xfrm>
            <a:off x="854964" y="1723644"/>
            <a:ext cx="3365906" cy="0"/>
          </a:xfrm>
          <a:prstGeom prst="line">
            <a:avLst/>
          </a:prstGeom>
          <a:noFill/>
          <a:ln w="9525">
            <a:solidFill>
              <a:srgbClr val="8C9BB5"/>
            </a:solidFill>
            <a:prstDash val="solid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946404" y="1778508"/>
            <a:ext cx="100584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차트번호 / 이름</a:t>
            </a:r>
            <a:endParaRPr lang="ko-KR" sz="800" dirty="0"/>
          </a:p>
        </p:txBody>
      </p:sp>
      <p:sp>
        <p:nvSpPr>
          <p:cNvPr id="16" name="Shape 14"/>
          <p:cNvSpPr/>
          <p:nvPr/>
        </p:nvSpPr>
        <p:spPr>
          <a:xfrm>
            <a:off x="1952244" y="1778508"/>
            <a:ext cx="2177186" cy="219456"/>
          </a:xfrm>
          <a:prstGeom prst="rect">
            <a:avLst/>
          </a:prstGeom>
          <a:solidFill>
            <a:srgbClr val="F2F2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52244" y="1778508"/>
            <a:ext cx="217718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2026-000123 / 홍길동</a:t>
            </a:r>
            <a:endParaRPr lang="ko-KR" sz="900" dirty="0"/>
          </a:p>
        </p:txBody>
      </p:sp>
      <p:sp>
        <p:nvSpPr>
          <p:cNvPr id="18" name="Text 16"/>
          <p:cNvSpPr/>
          <p:nvPr/>
        </p:nvSpPr>
        <p:spPr>
          <a:xfrm>
            <a:off x="946404" y="2052828"/>
            <a:ext cx="100584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생년월일 / 성별</a:t>
            </a:r>
            <a:endParaRPr lang="ko-KR" sz="800" dirty="0"/>
          </a:p>
        </p:txBody>
      </p:sp>
      <p:sp>
        <p:nvSpPr>
          <p:cNvPr id="19" name="Shape 17"/>
          <p:cNvSpPr/>
          <p:nvPr/>
        </p:nvSpPr>
        <p:spPr>
          <a:xfrm>
            <a:off x="1952244" y="2052828"/>
            <a:ext cx="2177186" cy="219456"/>
          </a:xfrm>
          <a:prstGeom prst="rect">
            <a:avLst/>
          </a:prstGeom>
          <a:solidFill>
            <a:srgbClr val="F2F2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52244" y="2052828"/>
            <a:ext cx="217718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1966-03-12  /  여</a:t>
            </a:r>
            <a:endParaRPr lang="ko-KR" sz="900" dirty="0"/>
          </a:p>
        </p:txBody>
      </p:sp>
      <p:sp>
        <p:nvSpPr>
          <p:cNvPr id="21" name="Shape 19"/>
          <p:cNvSpPr/>
          <p:nvPr/>
        </p:nvSpPr>
        <p:spPr>
          <a:xfrm>
            <a:off x="4312310" y="1513332"/>
            <a:ext cx="4113886" cy="932688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5462" y="1540764"/>
            <a:ext cx="396758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정보 · ReadOnly</a:t>
            </a:r>
            <a:endParaRPr lang="ko-KR" sz="800" dirty="0"/>
          </a:p>
        </p:txBody>
      </p:sp>
      <p:sp>
        <p:nvSpPr>
          <p:cNvPr id="23" name="Shape 21"/>
          <p:cNvSpPr/>
          <p:nvPr/>
        </p:nvSpPr>
        <p:spPr>
          <a:xfrm>
            <a:off x="4312310" y="1723644"/>
            <a:ext cx="4113886" cy="0"/>
          </a:xfrm>
          <a:prstGeom prst="line">
            <a:avLst/>
          </a:prstGeom>
          <a:noFill/>
          <a:ln w="9525">
            <a:solidFill>
              <a:srgbClr val="8C9BB5"/>
            </a:solidFill>
            <a:prstDash val="solid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4403750" y="1778508"/>
            <a:ext cx="100584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예약일 / 시간대</a:t>
            </a:r>
            <a:endParaRPr lang="ko-KR" sz="800" dirty="0"/>
          </a:p>
        </p:txBody>
      </p:sp>
      <p:sp>
        <p:nvSpPr>
          <p:cNvPr id="25" name="Shape 23"/>
          <p:cNvSpPr/>
          <p:nvPr/>
        </p:nvSpPr>
        <p:spPr>
          <a:xfrm>
            <a:off x="5409590" y="1778508"/>
            <a:ext cx="2925166" cy="219456"/>
          </a:xfrm>
          <a:prstGeom prst="rect">
            <a:avLst/>
          </a:prstGeom>
          <a:solidFill>
            <a:srgbClr val="F2F2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09590" y="1778508"/>
            <a:ext cx="292516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2026-09-15 (화)   /   오전</a:t>
            </a:r>
            <a:endParaRPr lang="ko-KR" sz="900" dirty="0"/>
          </a:p>
        </p:txBody>
      </p:sp>
      <p:sp>
        <p:nvSpPr>
          <p:cNvPr id="27" name="Text 25"/>
          <p:cNvSpPr/>
          <p:nvPr/>
        </p:nvSpPr>
        <p:spPr>
          <a:xfrm>
            <a:off x="4403750" y="2052828"/>
            <a:ext cx="100584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상태</a:t>
            </a:r>
            <a:endParaRPr lang="ko-KR" sz="800" dirty="0"/>
          </a:p>
        </p:txBody>
      </p:sp>
      <p:sp>
        <p:nvSpPr>
          <p:cNvPr id="28" name="Shape 26"/>
          <p:cNvSpPr/>
          <p:nvPr/>
        </p:nvSpPr>
        <p:spPr>
          <a:xfrm>
            <a:off x="5409590" y="2052828"/>
            <a:ext cx="2925166" cy="219456"/>
          </a:xfrm>
          <a:prstGeom prst="rect">
            <a:avLst/>
          </a:prstGeom>
          <a:solidFill>
            <a:srgbClr val="F2F2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09590" y="2052828"/>
            <a:ext cx="292516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(RSV)</a:t>
            </a:r>
            <a:endParaRPr lang="ko-KR" sz="900" dirty="0"/>
          </a:p>
        </p:txBody>
      </p:sp>
      <p:sp>
        <p:nvSpPr>
          <p:cNvPr id="30" name="Shape 28"/>
          <p:cNvSpPr/>
          <p:nvPr/>
        </p:nvSpPr>
        <p:spPr>
          <a:xfrm>
            <a:off x="854964" y="2500884"/>
            <a:ext cx="3889492" cy="2560320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8116" y="2528316"/>
            <a:ext cx="37431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 · ReadOnly</a:t>
            </a:r>
            <a:endParaRPr lang="ko-KR" sz="800" dirty="0"/>
          </a:p>
        </p:txBody>
      </p:sp>
      <p:sp>
        <p:nvSpPr>
          <p:cNvPr id="32" name="Shape 30"/>
          <p:cNvSpPr/>
          <p:nvPr/>
        </p:nvSpPr>
        <p:spPr>
          <a:xfrm>
            <a:off x="854964" y="2711196"/>
            <a:ext cx="3889492" cy="0"/>
          </a:xfrm>
          <a:prstGeom prst="line">
            <a:avLst/>
          </a:prstGeom>
          <a:noFill/>
          <a:ln w="9525">
            <a:solidFill>
              <a:srgbClr val="8C9BB5"/>
            </a:solidFill>
            <a:prstDash val="solid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946404" y="2747772"/>
            <a:ext cx="2746492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1268" y="2747772"/>
            <a:ext cx="2691628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검사명</a:t>
            </a:r>
            <a:endParaRPr lang="ko-KR" sz="900" dirty="0"/>
          </a:p>
        </p:txBody>
      </p:sp>
      <p:sp>
        <p:nvSpPr>
          <p:cNvPr id="35" name="Shape 33"/>
          <p:cNvSpPr/>
          <p:nvPr/>
        </p:nvSpPr>
        <p:spPr>
          <a:xfrm>
            <a:off x="3692896" y="2747772"/>
            <a:ext cx="960120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92896" y="2747772"/>
            <a:ext cx="9601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ko-KR" sz="900" dirty="0"/>
          </a:p>
        </p:txBody>
      </p:sp>
      <p:sp>
        <p:nvSpPr>
          <p:cNvPr id="37" name="Shape 35"/>
          <p:cNvSpPr/>
          <p:nvPr/>
        </p:nvSpPr>
        <p:spPr>
          <a:xfrm>
            <a:off x="946404" y="2926080"/>
            <a:ext cx="2746492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01268" y="2926080"/>
            <a:ext cx="2691628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문진/진찰</a:t>
            </a:r>
            <a:endParaRPr lang="ko-KR" sz="900" dirty="0"/>
          </a:p>
        </p:txBody>
      </p:sp>
      <p:sp>
        <p:nvSpPr>
          <p:cNvPr id="39" name="Shape 37"/>
          <p:cNvSpPr/>
          <p:nvPr/>
        </p:nvSpPr>
        <p:spPr>
          <a:xfrm>
            <a:off x="3692896" y="2926080"/>
            <a:ext cx="96012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92896" y="2926080"/>
            <a:ext cx="9601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ko-KR" sz="900" dirty="0"/>
          </a:p>
        </p:txBody>
      </p:sp>
      <p:sp>
        <p:nvSpPr>
          <p:cNvPr id="41" name="Shape 39"/>
          <p:cNvSpPr/>
          <p:nvPr/>
        </p:nvSpPr>
        <p:spPr>
          <a:xfrm>
            <a:off x="946404" y="3104388"/>
            <a:ext cx="2746492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01268" y="3104388"/>
            <a:ext cx="2691628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신체계측</a:t>
            </a:r>
            <a:endParaRPr lang="ko-KR" sz="900" dirty="0"/>
          </a:p>
        </p:txBody>
      </p:sp>
      <p:sp>
        <p:nvSpPr>
          <p:cNvPr id="43" name="Shape 41"/>
          <p:cNvSpPr/>
          <p:nvPr/>
        </p:nvSpPr>
        <p:spPr>
          <a:xfrm>
            <a:off x="3692896" y="3104388"/>
            <a:ext cx="96012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92896" y="3104388"/>
            <a:ext cx="9601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ko-KR" sz="900" dirty="0"/>
          </a:p>
        </p:txBody>
      </p:sp>
      <p:sp>
        <p:nvSpPr>
          <p:cNvPr id="45" name="Shape 43"/>
          <p:cNvSpPr/>
          <p:nvPr/>
        </p:nvSpPr>
        <p:spPr>
          <a:xfrm>
            <a:off x="946404" y="3282696"/>
            <a:ext cx="2746492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01268" y="3282696"/>
            <a:ext cx="2691628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혈압</a:t>
            </a:r>
            <a:endParaRPr lang="ko-KR" sz="900" dirty="0"/>
          </a:p>
        </p:txBody>
      </p:sp>
      <p:sp>
        <p:nvSpPr>
          <p:cNvPr id="47" name="Shape 45"/>
          <p:cNvSpPr/>
          <p:nvPr/>
        </p:nvSpPr>
        <p:spPr>
          <a:xfrm>
            <a:off x="3692896" y="3282696"/>
            <a:ext cx="96012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92896" y="3282696"/>
            <a:ext cx="9601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ko-KR" sz="900" dirty="0"/>
          </a:p>
        </p:txBody>
      </p:sp>
      <p:sp>
        <p:nvSpPr>
          <p:cNvPr id="49" name="Shape 47"/>
          <p:cNvSpPr/>
          <p:nvPr/>
        </p:nvSpPr>
        <p:spPr>
          <a:xfrm>
            <a:off x="946404" y="3461004"/>
            <a:ext cx="2746492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01268" y="3461004"/>
            <a:ext cx="2691628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시력·청력</a:t>
            </a:r>
            <a:endParaRPr lang="ko-KR" sz="900" dirty="0"/>
          </a:p>
        </p:txBody>
      </p:sp>
      <p:sp>
        <p:nvSpPr>
          <p:cNvPr id="51" name="Shape 49"/>
          <p:cNvSpPr/>
          <p:nvPr/>
        </p:nvSpPr>
        <p:spPr>
          <a:xfrm>
            <a:off x="3692896" y="3461004"/>
            <a:ext cx="96012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92896" y="3461004"/>
            <a:ext cx="9601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ko-KR" sz="900" dirty="0"/>
          </a:p>
        </p:txBody>
      </p:sp>
      <p:sp>
        <p:nvSpPr>
          <p:cNvPr id="53" name="Shape 51"/>
          <p:cNvSpPr/>
          <p:nvPr/>
        </p:nvSpPr>
        <p:spPr>
          <a:xfrm>
            <a:off x="946404" y="3639312"/>
            <a:ext cx="2746492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01268" y="3639312"/>
            <a:ext cx="2691628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흉부 X-ray</a:t>
            </a:r>
            <a:endParaRPr lang="ko-KR" sz="900" dirty="0"/>
          </a:p>
        </p:txBody>
      </p:sp>
      <p:sp>
        <p:nvSpPr>
          <p:cNvPr id="55" name="Shape 53"/>
          <p:cNvSpPr/>
          <p:nvPr/>
        </p:nvSpPr>
        <p:spPr>
          <a:xfrm>
            <a:off x="3692896" y="3639312"/>
            <a:ext cx="96012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92896" y="3639312"/>
            <a:ext cx="9601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ko-KR" sz="900" dirty="0"/>
          </a:p>
        </p:txBody>
      </p:sp>
      <p:sp>
        <p:nvSpPr>
          <p:cNvPr id="57" name="Shape 55"/>
          <p:cNvSpPr/>
          <p:nvPr/>
        </p:nvSpPr>
        <p:spPr>
          <a:xfrm>
            <a:off x="946404" y="3817620"/>
            <a:ext cx="2746492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01268" y="3817620"/>
            <a:ext cx="2691628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요검사</a:t>
            </a:r>
            <a:endParaRPr lang="ko-KR" sz="900" dirty="0"/>
          </a:p>
        </p:txBody>
      </p:sp>
      <p:sp>
        <p:nvSpPr>
          <p:cNvPr id="59" name="Shape 57"/>
          <p:cNvSpPr/>
          <p:nvPr/>
        </p:nvSpPr>
        <p:spPr>
          <a:xfrm>
            <a:off x="3692896" y="3817620"/>
            <a:ext cx="96012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92896" y="3817620"/>
            <a:ext cx="9601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ko-KR" sz="900" dirty="0"/>
          </a:p>
        </p:txBody>
      </p:sp>
      <p:sp>
        <p:nvSpPr>
          <p:cNvPr id="61" name="Shape 59"/>
          <p:cNvSpPr/>
          <p:nvPr/>
        </p:nvSpPr>
        <p:spPr>
          <a:xfrm>
            <a:off x="946404" y="3995928"/>
            <a:ext cx="2746492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01268" y="3995928"/>
            <a:ext cx="2691628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혈액검사</a:t>
            </a:r>
            <a:endParaRPr lang="ko-KR" sz="900" dirty="0"/>
          </a:p>
        </p:txBody>
      </p:sp>
      <p:sp>
        <p:nvSpPr>
          <p:cNvPr id="63" name="Shape 61"/>
          <p:cNvSpPr/>
          <p:nvPr/>
        </p:nvSpPr>
        <p:spPr>
          <a:xfrm>
            <a:off x="3692896" y="3995928"/>
            <a:ext cx="96012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692896" y="3995928"/>
            <a:ext cx="9601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ko-KR" sz="900" dirty="0"/>
          </a:p>
        </p:txBody>
      </p:sp>
      <p:sp>
        <p:nvSpPr>
          <p:cNvPr id="65" name="Shape 63"/>
          <p:cNvSpPr/>
          <p:nvPr/>
        </p:nvSpPr>
        <p:spPr>
          <a:xfrm>
            <a:off x="946404" y="4174236"/>
            <a:ext cx="2746492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01268" y="4174236"/>
            <a:ext cx="2691628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구강검진</a:t>
            </a:r>
            <a:endParaRPr lang="ko-KR" sz="900" dirty="0"/>
          </a:p>
        </p:txBody>
      </p:sp>
      <p:sp>
        <p:nvSpPr>
          <p:cNvPr id="67" name="Shape 65"/>
          <p:cNvSpPr/>
          <p:nvPr/>
        </p:nvSpPr>
        <p:spPr>
          <a:xfrm>
            <a:off x="3692896" y="4174236"/>
            <a:ext cx="96012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692896" y="4174236"/>
            <a:ext cx="9601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ko-KR" sz="900" dirty="0"/>
          </a:p>
        </p:txBody>
      </p:sp>
      <p:sp>
        <p:nvSpPr>
          <p:cNvPr id="69" name="Shape 67"/>
          <p:cNvSpPr/>
          <p:nvPr/>
        </p:nvSpPr>
        <p:spPr>
          <a:xfrm>
            <a:off x="946404" y="4352544"/>
            <a:ext cx="2746492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01268" y="4352544"/>
            <a:ext cx="2691628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이상지질혈증</a:t>
            </a:r>
            <a:endParaRPr lang="ko-KR" sz="900" dirty="0"/>
          </a:p>
        </p:txBody>
      </p:sp>
      <p:sp>
        <p:nvSpPr>
          <p:cNvPr id="71" name="Shape 69"/>
          <p:cNvSpPr/>
          <p:nvPr/>
        </p:nvSpPr>
        <p:spPr>
          <a:xfrm>
            <a:off x="3692896" y="4352544"/>
            <a:ext cx="96012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692896" y="4352544"/>
            <a:ext cx="9601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조건부</a:t>
            </a:r>
            <a:endParaRPr lang="ko-KR" sz="900" dirty="0"/>
          </a:p>
        </p:txBody>
      </p:sp>
      <p:sp>
        <p:nvSpPr>
          <p:cNvPr id="73" name="Shape 71"/>
          <p:cNvSpPr/>
          <p:nvPr/>
        </p:nvSpPr>
        <p:spPr>
          <a:xfrm>
            <a:off x="946404" y="4530852"/>
            <a:ext cx="2746492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01268" y="4530852"/>
            <a:ext cx="2691628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골밀도검사</a:t>
            </a:r>
            <a:endParaRPr lang="ko-KR" sz="900" dirty="0"/>
          </a:p>
        </p:txBody>
      </p:sp>
      <p:sp>
        <p:nvSpPr>
          <p:cNvPr id="75" name="Shape 73"/>
          <p:cNvSpPr/>
          <p:nvPr/>
        </p:nvSpPr>
        <p:spPr>
          <a:xfrm>
            <a:off x="3692896" y="4530852"/>
            <a:ext cx="96012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692896" y="4530852"/>
            <a:ext cx="9601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조건부</a:t>
            </a:r>
            <a:endParaRPr lang="ko-KR" sz="900" dirty="0"/>
          </a:p>
        </p:txBody>
      </p:sp>
      <p:sp>
        <p:nvSpPr>
          <p:cNvPr id="77" name="Shape 75"/>
          <p:cNvSpPr/>
          <p:nvPr/>
        </p:nvSpPr>
        <p:spPr>
          <a:xfrm>
            <a:off x="4835896" y="2500884"/>
            <a:ext cx="3590300" cy="2560320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09048" y="2528316"/>
            <a:ext cx="344399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AEX · ReadOnly</a:t>
            </a:r>
            <a:endParaRPr lang="ko-KR" sz="800" dirty="0"/>
          </a:p>
        </p:txBody>
      </p:sp>
      <p:sp>
        <p:nvSpPr>
          <p:cNvPr id="79" name="Shape 77"/>
          <p:cNvSpPr/>
          <p:nvPr/>
        </p:nvSpPr>
        <p:spPr>
          <a:xfrm>
            <a:off x="4835896" y="2711196"/>
            <a:ext cx="3590300" cy="0"/>
          </a:xfrm>
          <a:prstGeom prst="line">
            <a:avLst/>
          </a:prstGeom>
          <a:noFill/>
          <a:ln w="9525">
            <a:solidFill>
              <a:srgbClr val="8C9BB5"/>
            </a:solidFill>
            <a:prstDash val="solid"/>
            <a:tailEnd type="none"/>
          </a:ln>
        </p:spPr>
      </p:sp>
      <p:sp>
        <p:nvSpPr>
          <p:cNvPr id="80" name="Shape 78"/>
          <p:cNvSpPr/>
          <p:nvPr/>
        </p:nvSpPr>
        <p:spPr>
          <a:xfrm>
            <a:off x="4927336" y="2747772"/>
            <a:ext cx="402336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927336" y="2747772"/>
            <a:ext cx="40233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</a:t>
            </a:r>
            <a:endParaRPr lang="ko-KR" sz="900" dirty="0"/>
          </a:p>
        </p:txBody>
      </p:sp>
      <p:sp>
        <p:nvSpPr>
          <p:cNvPr id="82" name="Shape 80"/>
          <p:cNvSpPr/>
          <p:nvPr/>
        </p:nvSpPr>
        <p:spPr>
          <a:xfrm>
            <a:off x="5329672" y="2747772"/>
            <a:ext cx="3005084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384536" y="2747772"/>
            <a:ext cx="29502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검사명</a:t>
            </a:r>
            <a:endParaRPr lang="ko-KR" sz="900" dirty="0"/>
          </a:p>
        </p:txBody>
      </p:sp>
      <p:sp>
        <p:nvSpPr>
          <p:cNvPr id="84" name="Shape 82"/>
          <p:cNvSpPr/>
          <p:nvPr/>
        </p:nvSpPr>
        <p:spPr>
          <a:xfrm>
            <a:off x="4927336" y="2926080"/>
            <a:ext cx="402336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927336" y="2926080"/>
            <a:ext cx="40233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☑</a:t>
            </a:r>
            <a:endParaRPr lang="ko-KR" sz="900" dirty="0"/>
          </a:p>
        </p:txBody>
      </p:sp>
      <p:sp>
        <p:nvSpPr>
          <p:cNvPr id="86" name="Shape 84"/>
          <p:cNvSpPr/>
          <p:nvPr/>
        </p:nvSpPr>
        <p:spPr>
          <a:xfrm>
            <a:off x="5329672" y="2926080"/>
            <a:ext cx="3005084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384536" y="2926080"/>
            <a:ext cx="29502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갑상선초음파</a:t>
            </a:r>
            <a:endParaRPr lang="ko-KR" sz="900" dirty="0"/>
          </a:p>
        </p:txBody>
      </p:sp>
      <p:sp>
        <p:nvSpPr>
          <p:cNvPr id="88" name="Text 86"/>
          <p:cNvSpPr/>
          <p:nvPr/>
        </p:nvSpPr>
        <p:spPr>
          <a:xfrm>
            <a:off x="4927336" y="3195828"/>
            <a:ext cx="340742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단계에서는 검사구성을 수정하지 않는다</a:t>
            </a:r>
            <a:endParaRPr lang="ko-KR" sz="800" dirty="0"/>
          </a:p>
        </p:txBody>
      </p:sp>
      <p:sp>
        <p:nvSpPr>
          <p:cNvPr id="89" name="Shape 87"/>
          <p:cNvSpPr/>
          <p:nvPr/>
        </p:nvSpPr>
        <p:spPr>
          <a:xfrm>
            <a:off x="854964" y="5116068"/>
            <a:ext cx="7571232" cy="310896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982980" y="5116068"/>
            <a:ext cx="731520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가능 여부 :   가능</a:t>
            </a:r>
            <a:endParaRPr lang="ko-KR" sz="950" dirty="0"/>
          </a:p>
        </p:txBody>
      </p:sp>
      <p:sp>
        <p:nvSpPr>
          <p:cNvPr id="91" name="Text 89"/>
          <p:cNvSpPr/>
          <p:nvPr/>
        </p:nvSpPr>
        <p:spPr>
          <a:xfrm>
            <a:off x="420624" y="164592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처리</a:t>
            </a:r>
            <a:endParaRPr lang="ko-KR" sz="3000" dirty="0"/>
          </a:p>
        </p:txBody>
      </p:sp>
      <p:sp>
        <p:nvSpPr>
          <p:cNvPr id="92" name="Shape 90"/>
          <p:cNvSpPr/>
          <p:nvPr/>
        </p:nvSpPr>
        <p:spPr>
          <a:xfrm>
            <a:off x="8897112" y="932688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262872" y="932688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9313164" y="982980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DLG-RCP-01  접수 처리 · Modal · P03-01~03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F-RCP-001, F-COM-006</a:t>
            </a:r>
            <a:endParaRPr lang="ko-KR" sz="1000" dirty="0"/>
          </a:p>
        </p:txBody>
      </p:sp>
      <p:sp>
        <p:nvSpPr>
          <p:cNvPr id="95" name="Shape 93"/>
          <p:cNvSpPr/>
          <p:nvPr/>
        </p:nvSpPr>
        <p:spPr>
          <a:xfrm>
            <a:off x="8897112" y="1371117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262872" y="1371117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8897112" y="1371117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1000" dirty="0"/>
          </a:p>
        </p:txBody>
      </p:sp>
      <p:sp>
        <p:nvSpPr>
          <p:cNvPr id="98" name="Text 96"/>
          <p:cNvSpPr/>
          <p:nvPr/>
        </p:nvSpPr>
        <p:spPr>
          <a:xfrm>
            <a:off x="9313164" y="1421409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 · 예약일 · 시간대 · NEX · AEX 전 영역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ReadOnly</a:t>
            </a:r>
            <a:endParaRPr lang="ko-KR" sz="1000" dirty="0"/>
          </a:p>
        </p:txBody>
      </p:sp>
      <p:sp>
        <p:nvSpPr>
          <p:cNvPr id="99" name="Shape 97"/>
          <p:cNvSpPr/>
          <p:nvPr/>
        </p:nvSpPr>
        <p:spPr>
          <a:xfrm>
            <a:off x="8897112" y="1809547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262872" y="1809547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8897112" y="1809547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sz="1000" dirty="0"/>
          </a:p>
        </p:txBody>
      </p:sp>
      <p:sp>
        <p:nvSpPr>
          <p:cNvPr id="102" name="Text 100"/>
          <p:cNvSpPr/>
          <p:nvPr/>
        </p:nvSpPr>
        <p:spPr>
          <a:xfrm>
            <a:off x="9313164" y="1859839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예약(RSV) 상태의 당일 업무만 접수 대상이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된다 (RCP-01~03)</a:t>
            </a:r>
            <a:endParaRPr lang="ko-KR" sz="1000" dirty="0"/>
          </a:p>
        </p:txBody>
      </p:sp>
      <p:sp>
        <p:nvSpPr>
          <p:cNvPr id="103" name="Shape 101"/>
          <p:cNvSpPr/>
          <p:nvPr/>
        </p:nvSpPr>
        <p:spPr>
          <a:xfrm>
            <a:off x="8897112" y="2247976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262872" y="2247976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8897112" y="2247976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sz="1000" dirty="0"/>
          </a:p>
        </p:txBody>
      </p:sp>
      <p:sp>
        <p:nvSpPr>
          <p:cNvPr id="106" name="Text 104"/>
          <p:cNvSpPr/>
          <p:nvPr/>
        </p:nvSpPr>
        <p:spPr>
          <a:xfrm>
            <a:off x="9313164" y="2298268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성공 시 예약일·시간대·검사구성은 그대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유지된다 (RCP-04)</a:t>
            </a:r>
            <a:endParaRPr lang="ko-KR" sz="1000" dirty="0"/>
          </a:p>
        </p:txBody>
      </p:sp>
      <p:sp>
        <p:nvSpPr>
          <p:cNvPr id="107" name="Shape 105"/>
          <p:cNvSpPr/>
          <p:nvPr/>
        </p:nvSpPr>
        <p:spPr>
          <a:xfrm>
            <a:off x="8897112" y="2686406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9262872" y="2686406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8897112" y="2686406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sz="1000" dirty="0"/>
          </a:p>
        </p:txBody>
      </p:sp>
      <p:sp>
        <p:nvSpPr>
          <p:cNvPr id="110" name="Text 108"/>
          <p:cNvSpPr/>
          <p:nvPr/>
        </p:nvSpPr>
        <p:spPr>
          <a:xfrm>
            <a:off x="9313164" y="2736698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전 AEX 변경이 필요하면 예약변경을 먼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 완료한다</a:t>
            </a:r>
            <a:endParaRPr lang="ko-KR" sz="1000" dirty="0"/>
          </a:p>
        </p:txBody>
      </p:sp>
      <p:sp>
        <p:nvSpPr>
          <p:cNvPr id="111" name="Shape 109"/>
          <p:cNvSpPr/>
          <p:nvPr/>
        </p:nvSpPr>
        <p:spPr>
          <a:xfrm>
            <a:off x="8897112" y="3124835"/>
            <a:ext cx="365760" cy="607352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262872" y="3124835"/>
            <a:ext cx="2697480" cy="607352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8897112" y="3124835"/>
            <a:ext cx="365760" cy="6073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ko-KR" sz="1000" dirty="0"/>
          </a:p>
        </p:txBody>
      </p:sp>
      <p:sp>
        <p:nvSpPr>
          <p:cNvPr id="114" name="Text 112"/>
          <p:cNvSpPr/>
          <p:nvPr/>
        </p:nvSpPr>
        <p:spPr>
          <a:xfrm>
            <a:off x="9313164" y="3175127"/>
            <a:ext cx="2596896" cy="506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상태=RSV · 예약일=DB 현재일 · 업무 가능일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09:00~18:00 · 해당 시간대 접수 마감 전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(RCP-02, CP-01~04, HOL)</a:t>
            </a:r>
            <a:endParaRPr lang="ko-KR" sz="1000" dirty="0"/>
          </a:p>
        </p:txBody>
      </p:sp>
      <p:sp>
        <p:nvSpPr>
          <p:cNvPr id="115" name="Shape 113"/>
          <p:cNvSpPr/>
          <p:nvPr/>
        </p:nvSpPr>
        <p:spPr>
          <a:xfrm>
            <a:off x="8897112" y="3732187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9262872" y="3732187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8897112" y="3732187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ko-KR" sz="1000" dirty="0"/>
          </a:p>
        </p:txBody>
      </p:sp>
      <p:sp>
        <p:nvSpPr>
          <p:cNvPr id="118" name="Text 116"/>
          <p:cNvSpPr/>
          <p:nvPr/>
        </p:nvSpPr>
        <p:spPr>
          <a:xfrm>
            <a:off x="9313164" y="3782479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불가 사유가 있으면 사유를 표시하고 [접수처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리]를 비활성한다</a:t>
            </a:r>
            <a:endParaRPr lang="ko-KR" sz="1000" dirty="0"/>
          </a:p>
        </p:txBody>
      </p:sp>
      <p:sp>
        <p:nvSpPr>
          <p:cNvPr id="119" name="Shape 117"/>
          <p:cNvSpPr/>
          <p:nvPr/>
        </p:nvSpPr>
        <p:spPr>
          <a:xfrm>
            <a:off x="8897112" y="4170617"/>
            <a:ext cx="365760" cy="776275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9262872" y="4170617"/>
            <a:ext cx="2697480" cy="776275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9313164" y="4220909"/>
            <a:ext cx="2596896" cy="675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 접수 가능으로 보였더라도 저장 시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Stored Procedure가 상태·시각·RowVersion을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확인한다. 동시에 두 사용자가 접수해도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하나만 성공한다.</a:t>
            </a:r>
            <a:endParaRPr lang="ko-KR" sz="1000" dirty="0"/>
          </a:p>
        </p:txBody>
      </p:sp>
      <p:sp>
        <p:nvSpPr>
          <p:cNvPr id="122" name="Shape 120"/>
          <p:cNvSpPr/>
          <p:nvPr/>
        </p:nvSpPr>
        <p:spPr>
          <a:xfrm>
            <a:off x="708660" y="1869948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708660" y="1869948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1000" dirty="0"/>
          </a:p>
        </p:txBody>
      </p:sp>
      <p:sp>
        <p:nvSpPr>
          <p:cNvPr id="124" name="Shape 122"/>
          <p:cNvSpPr/>
          <p:nvPr/>
        </p:nvSpPr>
        <p:spPr>
          <a:xfrm>
            <a:off x="4166006" y="1869948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166006" y="1869948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sz="1000" dirty="0"/>
          </a:p>
        </p:txBody>
      </p:sp>
      <p:sp>
        <p:nvSpPr>
          <p:cNvPr id="126" name="Shape 124"/>
          <p:cNvSpPr/>
          <p:nvPr/>
        </p:nvSpPr>
        <p:spPr>
          <a:xfrm>
            <a:off x="708660" y="3671316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708660" y="3671316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sz="1000" dirty="0"/>
          </a:p>
        </p:txBody>
      </p:sp>
      <p:sp>
        <p:nvSpPr>
          <p:cNvPr id="128" name="Shape 126"/>
          <p:cNvSpPr/>
          <p:nvPr/>
        </p:nvSpPr>
        <p:spPr>
          <a:xfrm>
            <a:off x="4689592" y="3671316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4689592" y="3671316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sz="1000" dirty="0"/>
          </a:p>
        </p:txBody>
      </p:sp>
      <p:sp>
        <p:nvSpPr>
          <p:cNvPr id="130" name="Shape 128"/>
          <p:cNvSpPr/>
          <p:nvPr/>
        </p:nvSpPr>
        <p:spPr>
          <a:xfrm>
            <a:off x="708660" y="5161788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708660" y="5161788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ko-KR" sz="1000" dirty="0"/>
          </a:p>
        </p:txBody>
      </p:sp>
      <p:sp>
        <p:nvSpPr>
          <p:cNvPr id="132" name="Shape 130"/>
          <p:cNvSpPr/>
          <p:nvPr/>
        </p:nvSpPr>
        <p:spPr>
          <a:xfrm>
            <a:off x="6268212" y="5573268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6268212" y="5573268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ko-KR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932688"/>
            <a:ext cx="8439912" cy="5349240"/>
          </a:xfrm>
          <a:prstGeom prst="rect">
            <a:avLst/>
          </a:prstGeom>
          <a:ln w="19050">
            <a:solidFill>
              <a:srgbClr val="C8C8C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0624" y="932688"/>
            <a:ext cx="8439912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C8C8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32688"/>
            <a:ext cx="54864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예약/접수 공통 Workbench (WF-WRK-01)  ·  접수 Context   —   비활성(Modal)</a:t>
            </a:r>
            <a:endParaRPr lang="ko-KR" sz="800" dirty="0"/>
          </a:p>
        </p:txBody>
      </p:sp>
      <p:sp>
        <p:nvSpPr>
          <p:cNvPr id="5" name="Shape 3"/>
          <p:cNvSpPr/>
          <p:nvPr/>
        </p:nvSpPr>
        <p:spPr>
          <a:xfrm>
            <a:off x="708660" y="1275588"/>
            <a:ext cx="7863840" cy="4663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86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09060" y="1138428"/>
            <a:ext cx="146304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09060" y="1138428"/>
            <a:ext cx="14630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추가검사 변경</a:t>
            </a:r>
            <a:endParaRPr lang="ko-KR" sz="950" dirty="0"/>
          </a:p>
        </p:txBody>
      </p:sp>
      <p:sp>
        <p:nvSpPr>
          <p:cNvPr id="8" name="Shape 6"/>
          <p:cNvSpPr/>
          <p:nvPr/>
        </p:nvSpPr>
        <p:spPr>
          <a:xfrm>
            <a:off x="7466076" y="5554980"/>
            <a:ext cx="960120" cy="256032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66076" y="5554980"/>
            <a:ext cx="9601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닫기</a:t>
            </a:r>
            <a:endParaRPr lang="ko-KR" sz="950" dirty="0"/>
          </a:p>
        </p:txBody>
      </p:sp>
      <p:sp>
        <p:nvSpPr>
          <p:cNvPr id="10" name="Shape 8"/>
          <p:cNvSpPr/>
          <p:nvPr/>
        </p:nvSpPr>
        <p:spPr>
          <a:xfrm>
            <a:off x="6414516" y="5554980"/>
            <a:ext cx="960120" cy="256032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4516" y="5554980"/>
            <a:ext cx="9601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endParaRPr lang="ko-KR" sz="950" dirty="0"/>
          </a:p>
        </p:txBody>
      </p:sp>
      <p:sp>
        <p:nvSpPr>
          <p:cNvPr id="12" name="Shape 10"/>
          <p:cNvSpPr/>
          <p:nvPr/>
        </p:nvSpPr>
        <p:spPr>
          <a:xfrm>
            <a:off x="854964" y="1513332"/>
            <a:ext cx="3365906" cy="932688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" y="1540764"/>
            <a:ext cx="321960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 정보 · ReadOnly</a:t>
            </a:r>
            <a:endParaRPr lang="ko-KR" sz="800" dirty="0"/>
          </a:p>
        </p:txBody>
      </p:sp>
      <p:sp>
        <p:nvSpPr>
          <p:cNvPr id="14" name="Shape 12"/>
          <p:cNvSpPr/>
          <p:nvPr/>
        </p:nvSpPr>
        <p:spPr>
          <a:xfrm>
            <a:off x="854964" y="1723644"/>
            <a:ext cx="3365906" cy="0"/>
          </a:xfrm>
          <a:prstGeom prst="line">
            <a:avLst/>
          </a:prstGeom>
          <a:noFill/>
          <a:ln w="9525">
            <a:solidFill>
              <a:srgbClr val="8C9BB5"/>
            </a:solidFill>
            <a:prstDash val="solid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946404" y="1778508"/>
            <a:ext cx="100584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차트번호 / 이름</a:t>
            </a:r>
            <a:endParaRPr lang="ko-KR" sz="800" dirty="0"/>
          </a:p>
        </p:txBody>
      </p:sp>
      <p:sp>
        <p:nvSpPr>
          <p:cNvPr id="16" name="Shape 14"/>
          <p:cNvSpPr/>
          <p:nvPr/>
        </p:nvSpPr>
        <p:spPr>
          <a:xfrm>
            <a:off x="1952244" y="1778508"/>
            <a:ext cx="2177186" cy="219456"/>
          </a:xfrm>
          <a:prstGeom prst="rect">
            <a:avLst/>
          </a:prstGeom>
          <a:solidFill>
            <a:srgbClr val="F2F2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52244" y="1778508"/>
            <a:ext cx="217718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2026-000123 / 홍길동</a:t>
            </a:r>
            <a:endParaRPr lang="ko-KR" sz="900" dirty="0"/>
          </a:p>
        </p:txBody>
      </p:sp>
      <p:sp>
        <p:nvSpPr>
          <p:cNvPr id="18" name="Text 16"/>
          <p:cNvSpPr/>
          <p:nvPr/>
        </p:nvSpPr>
        <p:spPr>
          <a:xfrm>
            <a:off x="946404" y="2052828"/>
            <a:ext cx="100584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생년월일 / 성별</a:t>
            </a:r>
            <a:endParaRPr lang="ko-KR" sz="800" dirty="0"/>
          </a:p>
        </p:txBody>
      </p:sp>
      <p:sp>
        <p:nvSpPr>
          <p:cNvPr id="19" name="Shape 17"/>
          <p:cNvSpPr/>
          <p:nvPr/>
        </p:nvSpPr>
        <p:spPr>
          <a:xfrm>
            <a:off x="1952244" y="2052828"/>
            <a:ext cx="2177186" cy="219456"/>
          </a:xfrm>
          <a:prstGeom prst="rect">
            <a:avLst/>
          </a:prstGeom>
          <a:solidFill>
            <a:srgbClr val="F2F2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52244" y="2052828"/>
            <a:ext cx="217718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1966-03-12  /  여</a:t>
            </a:r>
            <a:endParaRPr lang="ko-KR" sz="900" dirty="0"/>
          </a:p>
        </p:txBody>
      </p:sp>
      <p:sp>
        <p:nvSpPr>
          <p:cNvPr id="21" name="Shape 19"/>
          <p:cNvSpPr/>
          <p:nvPr/>
        </p:nvSpPr>
        <p:spPr>
          <a:xfrm>
            <a:off x="4312310" y="1513332"/>
            <a:ext cx="4113886" cy="932688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5462" y="1540764"/>
            <a:ext cx="396758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정보 · ReadOnly</a:t>
            </a:r>
            <a:endParaRPr lang="ko-KR" sz="800" dirty="0"/>
          </a:p>
        </p:txBody>
      </p:sp>
      <p:sp>
        <p:nvSpPr>
          <p:cNvPr id="23" name="Shape 21"/>
          <p:cNvSpPr/>
          <p:nvPr/>
        </p:nvSpPr>
        <p:spPr>
          <a:xfrm>
            <a:off x="4312310" y="1723644"/>
            <a:ext cx="4113886" cy="0"/>
          </a:xfrm>
          <a:prstGeom prst="line">
            <a:avLst/>
          </a:prstGeom>
          <a:noFill/>
          <a:ln w="9525">
            <a:solidFill>
              <a:srgbClr val="8C9BB5"/>
            </a:solidFill>
            <a:prstDash val="solid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4403750" y="1778508"/>
            <a:ext cx="100584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예약일 / 시간대</a:t>
            </a:r>
            <a:endParaRPr lang="ko-KR" sz="800" dirty="0"/>
          </a:p>
        </p:txBody>
      </p:sp>
      <p:sp>
        <p:nvSpPr>
          <p:cNvPr id="25" name="Shape 23"/>
          <p:cNvSpPr/>
          <p:nvPr/>
        </p:nvSpPr>
        <p:spPr>
          <a:xfrm>
            <a:off x="5409590" y="1778508"/>
            <a:ext cx="2925166" cy="219456"/>
          </a:xfrm>
          <a:prstGeom prst="rect">
            <a:avLst/>
          </a:prstGeom>
          <a:solidFill>
            <a:srgbClr val="F2F2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09590" y="1778508"/>
            <a:ext cx="292516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2026-09-15 (화)   /   오전</a:t>
            </a:r>
            <a:endParaRPr lang="ko-KR" sz="900" dirty="0"/>
          </a:p>
        </p:txBody>
      </p:sp>
      <p:sp>
        <p:nvSpPr>
          <p:cNvPr id="27" name="Text 25"/>
          <p:cNvSpPr/>
          <p:nvPr/>
        </p:nvSpPr>
        <p:spPr>
          <a:xfrm>
            <a:off x="4403750" y="2052828"/>
            <a:ext cx="100584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상태</a:t>
            </a:r>
            <a:endParaRPr lang="ko-KR" sz="800" dirty="0"/>
          </a:p>
        </p:txBody>
      </p:sp>
      <p:sp>
        <p:nvSpPr>
          <p:cNvPr id="28" name="Shape 26"/>
          <p:cNvSpPr/>
          <p:nvPr/>
        </p:nvSpPr>
        <p:spPr>
          <a:xfrm>
            <a:off x="5409590" y="2052828"/>
            <a:ext cx="2925166" cy="219456"/>
          </a:xfrm>
          <a:prstGeom prst="rect">
            <a:avLst/>
          </a:prstGeom>
          <a:solidFill>
            <a:srgbClr val="F2F2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09590" y="2052828"/>
            <a:ext cx="292516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접수완료 (RCP)</a:t>
            </a:r>
            <a:endParaRPr lang="ko-KR" sz="900" dirty="0"/>
          </a:p>
        </p:txBody>
      </p:sp>
      <p:sp>
        <p:nvSpPr>
          <p:cNvPr id="30" name="Shape 28"/>
          <p:cNvSpPr/>
          <p:nvPr/>
        </p:nvSpPr>
        <p:spPr>
          <a:xfrm>
            <a:off x="854964" y="2500884"/>
            <a:ext cx="3889492" cy="2926080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8116" y="2528316"/>
            <a:ext cx="37431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 · ReadOnly</a:t>
            </a:r>
            <a:endParaRPr lang="ko-KR" sz="800" dirty="0"/>
          </a:p>
        </p:txBody>
      </p:sp>
      <p:sp>
        <p:nvSpPr>
          <p:cNvPr id="32" name="Shape 30"/>
          <p:cNvSpPr/>
          <p:nvPr/>
        </p:nvSpPr>
        <p:spPr>
          <a:xfrm>
            <a:off x="854964" y="2711196"/>
            <a:ext cx="3889492" cy="0"/>
          </a:xfrm>
          <a:prstGeom prst="line">
            <a:avLst/>
          </a:prstGeom>
          <a:noFill/>
          <a:ln w="9525">
            <a:solidFill>
              <a:srgbClr val="8C9BB5"/>
            </a:solidFill>
            <a:prstDash val="solid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946404" y="2747772"/>
            <a:ext cx="2746492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1268" y="2747772"/>
            <a:ext cx="2691628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검사명</a:t>
            </a:r>
            <a:endParaRPr lang="ko-KR" sz="900" dirty="0"/>
          </a:p>
        </p:txBody>
      </p:sp>
      <p:sp>
        <p:nvSpPr>
          <p:cNvPr id="35" name="Shape 33"/>
          <p:cNvSpPr/>
          <p:nvPr/>
        </p:nvSpPr>
        <p:spPr>
          <a:xfrm>
            <a:off x="3692896" y="2747772"/>
            <a:ext cx="960120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92896" y="2747772"/>
            <a:ext cx="9601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ko-KR" sz="900" dirty="0"/>
          </a:p>
        </p:txBody>
      </p:sp>
      <p:sp>
        <p:nvSpPr>
          <p:cNvPr id="37" name="Shape 35"/>
          <p:cNvSpPr/>
          <p:nvPr/>
        </p:nvSpPr>
        <p:spPr>
          <a:xfrm>
            <a:off x="946404" y="2926080"/>
            <a:ext cx="2746492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01268" y="2926080"/>
            <a:ext cx="2691628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문진/진찰</a:t>
            </a:r>
            <a:endParaRPr lang="ko-KR" sz="900" dirty="0"/>
          </a:p>
        </p:txBody>
      </p:sp>
      <p:sp>
        <p:nvSpPr>
          <p:cNvPr id="39" name="Shape 37"/>
          <p:cNvSpPr/>
          <p:nvPr/>
        </p:nvSpPr>
        <p:spPr>
          <a:xfrm>
            <a:off x="3692896" y="2926080"/>
            <a:ext cx="96012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92896" y="2926080"/>
            <a:ext cx="9601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ko-KR" sz="900" dirty="0"/>
          </a:p>
        </p:txBody>
      </p:sp>
      <p:sp>
        <p:nvSpPr>
          <p:cNvPr id="41" name="Shape 39"/>
          <p:cNvSpPr/>
          <p:nvPr/>
        </p:nvSpPr>
        <p:spPr>
          <a:xfrm>
            <a:off x="946404" y="3104388"/>
            <a:ext cx="2746492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01268" y="3104388"/>
            <a:ext cx="2691628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신체계측</a:t>
            </a:r>
            <a:endParaRPr lang="ko-KR" sz="900" dirty="0"/>
          </a:p>
        </p:txBody>
      </p:sp>
      <p:sp>
        <p:nvSpPr>
          <p:cNvPr id="43" name="Shape 41"/>
          <p:cNvSpPr/>
          <p:nvPr/>
        </p:nvSpPr>
        <p:spPr>
          <a:xfrm>
            <a:off x="3692896" y="3104388"/>
            <a:ext cx="96012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92896" y="3104388"/>
            <a:ext cx="9601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ko-KR" sz="900" dirty="0"/>
          </a:p>
        </p:txBody>
      </p:sp>
      <p:sp>
        <p:nvSpPr>
          <p:cNvPr id="45" name="Shape 43"/>
          <p:cNvSpPr/>
          <p:nvPr/>
        </p:nvSpPr>
        <p:spPr>
          <a:xfrm>
            <a:off x="946404" y="3282696"/>
            <a:ext cx="2746492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01268" y="3282696"/>
            <a:ext cx="2691628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혈압</a:t>
            </a:r>
            <a:endParaRPr lang="ko-KR" sz="900" dirty="0"/>
          </a:p>
        </p:txBody>
      </p:sp>
      <p:sp>
        <p:nvSpPr>
          <p:cNvPr id="47" name="Shape 45"/>
          <p:cNvSpPr/>
          <p:nvPr/>
        </p:nvSpPr>
        <p:spPr>
          <a:xfrm>
            <a:off x="3692896" y="3282696"/>
            <a:ext cx="96012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92896" y="3282696"/>
            <a:ext cx="9601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ko-KR" sz="900" dirty="0"/>
          </a:p>
        </p:txBody>
      </p:sp>
      <p:sp>
        <p:nvSpPr>
          <p:cNvPr id="49" name="Shape 47"/>
          <p:cNvSpPr/>
          <p:nvPr/>
        </p:nvSpPr>
        <p:spPr>
          <a:xfrm>
            <a:off x="946404" y="3461004"/>
            <a:ext cx="2746492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01268" y="3461004"/>
            <a:ext cx="2691628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시력·청력</a:t>
            </a:r>
            <a:endParaRPr lang="ko-KR" sz="900" dirty="0"/>
          </a:p>
        </p:txBody>
      </p:sp>
      <p:sp>
        <p:nvSpPr>
          <p:cNvPr id="51" name="Shape 49"/>
          <p:cNvSpPr/>
          <p:nvPr/>
        </p:nvSpPr>
        <p:spPr>
          <a:xfrm>
            <a:off x="3692896" y="3461004"/>
            <a:ext cx="96012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92896" y="3461004"/>
            <a:ext cx="9601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ko-KR" sz="900" dirty="0"/>
          </a:p>
        </p:txBody>
      </p:sp>
      <p:sp>
        <p:nvSpPr>
          <p:cNvPr id="53" name="Shape 51"/>
          <p:cNvSpPr/>
          <p:nvPr/>
        </p:nvSpPr>
        <p:spPr>
          <a:xfrm>
            <a:off x="946404" y="3639312"/>
            <a:ext cx="2746492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01268" y="3639312"/>
            <a:ext cx="2691628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흉부 X-ray</a:t>
            </a:r>
            <a:endParaRPr lang="ko-KR" sz="900" dirty="0"/>
          </a:p>
        </p:txBody>
      </p:sp>
      <p:sp>
        <p:nvSpPr>
          <p:cNvPr id="55" name="Shape 53"/>
          <p:cNvSpPr/>
          <p:nvPr/>
        </p:nvSpPr>
        <p:spPr>
          <a:xfrm>
            <a:off x="3692896" y="3639312"/>
            <a:ext cx="96012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92896" y="3639312"/>
            <a:ext cx="9601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ko-KR" sz="900" dirty="0"/>
          </a:p>
        </p:txBody>
      </p:sp>
      <p:sp>
        <p:nvSpPr>
          <p:cNvPr id="57" name="Shape 55"/>
          <p:cNvSpPr/>
          <p:nvPr/>
        </p:nvSpPr>
        <p:spPr>
          <a:xfrm>
            <a:off x="946404" y="3817620"/>
            <a:ext cx="2746492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01268" y="3817620"/>
            <a:ext cx="2691628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요검사</a:t>
            </a:r>
            <a:endParaRPr lang="ko-KR" sz="900" dirty="0"/>
          </a:p>
        </p:txBody>
      </p:sp>
      <p:sp>
        <p:nvSpPr>
          <p:cNvPr id="59" name="Shape 57"/>
          <p:cNvSpPr/>
          <p:nvPr/>
        </p:nvSpPr>
        <p:spPr>
          <a:xfrm>
            <a:off x="3692896" y="3817620"/>
            <a:ext cx="96012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92896" y="3817620"/>
            <a:ext cx="9601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ko-KR" sz="900" dirty="0"/>
          </a:p>
        </p:txBody>
      </p:sp>
      <p:sp>
        <p:nvSpPr>
          <p:cNvPr id="61" name="Shape 59"/>
          <p:cNvSpPr/>
          <p:nvPr/>
        </p:nvSpPr>
        <p:spPr>
          <a:xfrm>
            <a:off x="946404" y="3995928"/>
            <a:ext cx="2746492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01268" y="3995928"/>
            <a:ext cx="2691628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혈액검사</a:t>
            </a:r>
            <a:endParaRPr lang="ko-KR" sz="900" dirty="0"/>
          </a:p>
        </p:txBody>
      </p:sp>
      <p:sp>
        <p:nvSpPr>
          <p:cNvPr id="63" name="Shape 61"/>
          <p:cNvSpPr/>
          <p:nvPr/>
        </p:nvSpPr>
        <p:spPr>
          <a:xfrm>
            <a:off x="3692896" y="3995928"/>
            <a:ext cx="96012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692896" y="3995928"/>
            <a:ext cx="9601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ko-KR" sz="900" dirty="0"/>
          </a:p>
        </p:txBody>
      </p:sp>
      <p:sp>
        <p:nvSpPr>
          <p:cNvPr id="65" name="Shape 63"/>
          <p:cNvSpPr/>
          <p:nvPr/>
        </p:nvSpPr>
        <p:spPr>
          <a:xfrm>
            <a:off x="946404" y="4174236"/>
            <a:ext cx="2746492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01268" y="4174236"/>
            <a:ext cx="2691628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구강검진</a:t>
            </a:r>
            <a:endParaRPr lang="ko-KR" sz="900" dirty="0"/>
          </a:p>
        </p:txBody>
      </p:sp>
      <p:sp>
        <p:nvSpPr>
          <p:cNvPr id="67" name="Shape 65"/>
          <p:cNvSpPr/>
          <p:nvPr/>
        </p:nvSpPr>
        <p:spPr>
          <a:xfrm>
            <a:off x="3692896" y="4174236"/>
            <a:ext cx="96012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692896" y="4174236"/>
            <a:ext cx="9601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ko-KR" sz="900" dirty="0"/>
          </a:p>
        </p:txBody>
      </p:sp>
      <p:sp>
        <p:nvSpPr>
          <p:cNvPr id="69" name="Shape 67"/>
          <p:cNvSpPr/>
          <p:nvPr/>
        </p:nvSpPr>
        <p:spPr>
          <a:xfrm>
            <a:off x="946404" y="4352544"/>
            <a:ext cx="2746492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01268" y="4352544"/>
            <a:ext cx="2691628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이상지질혈증</a:t>
            </a:r>
            <a:endParaRPr lang="ko-KR" sz="900" dirty="0"/>
          </a:p>
        </p:txBody>
      </p:sp>
      <p:sp>
        <p:nvSpPr>
          <p:cNvPr id="71" name="Shape 69"/>
          <p:cNvSpPr/>
          <p:nvPr/>
        </p:nvSpPr>
        <p:spPr>
          <a:xfrm>
            <a:off x="3692896" y="4352544"/>
            <a:ext cx="96012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692896" y="4352544"/>
            <a:ext cx="9601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조건부</a:t>
            </a:r>
            <a:endParaRPr lang="ko-KR" sz="900" dirty="0"/>
          </a:p>
        </p:txBody>
      </p:sp>
      <p:sp>
        <p:nvSpPr>
          <p:cNvPr id="73" name="Shape 71"/>
          <p:cNvSpPr/>
          <p:nvPr/>
        </p:nvSpPr>
        <p:spPr>
          <a:xfrm>
            <a:off x="946404" y="4530852"/>
            <a:ext cx="2746492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01268" y="4530852"/>
            <a:ext cx="2691628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골밀도검사</a:t>
            </a:r>
            <a:endParaRPr lang="ko-KR" sz="900" dirty="0"/>
          </a:p>
        </p:txBody>
      </p:sp>
      <p:sp>
        <p:nvSpPr>
          <p:cNvPr id="75" name="Shape 73"/>
          <p:cNvSpPr/>
          <p:nvPr/>
        </p:nvSpPr>
        <p:spPr>
          <a:xfrm>
            <a:off x="3692896" y="4530852"/>
            <a:ext cx="96012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692896" y="4530852"/>
            <a:ext cx="96012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조건부</a:t>
            </a:r>
            <a:endParaRPr lang="ko-KR" sz="900" dirty="0"/>
          </a:p>
        </p:txBody>
      </p:sp>
      <p:sp>
        <p:nvSpPr>
          <p:cNvPr id="77" name="Shape 75"/>
          <p:cNvSpPr/>
          <p:nvPr/>
        </p:nvSpPr>
        <p:spPr>
          <a:xfrm>
            <a:off x="4835896" y="2500884"/>
            <a:ext cx="3590300" cy="2926080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09048" y="2528316"/>
            <a:ext cx="344399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AEX · Editable</a:t>
            </a:r>
            <a:endParaRPr lang="ko-KR" sz="800" dirty="0"/>
          </a:p>
        </p:txBody>
      </p:sp>
      <p:sp>
        <p:nvSpPr>
          <p:cNvPr id="79" name="Shape 77"/>
          <p:cNvSpPr/>
          <p:nvPr/>
        </p:nvSpPr>
        <p:spPr>
          <a:xfrm>
            <a:off x="4835896" y="2711196"/>
            <a:ext cx="3590300" cy="0"/>
          </a:xfrm>
          <a:prstGeom prst="line">
            <a:avLst/>
          </a:prstGeom>
          <a:noFill/>
          <a:ln w="9525">
            <a:solidFill>
              <a:srgbClr val="8C9BB5"/>
            </a:solidFill>
            <a:prstDash val="solid"/>
            <a:tailEnd type="none"/>
          </a:ln>
        </p:spPr>
      </p:sp>
      <p:sp>
        <p:nvSpPr>
          <p:cNvPr id="80" name="Shape 78"/>
          <p:cNvSpPr/>
          <p:nvPr/>
        </p:nvSpPr>
        <p:spPr>
          <a:xfrm>
            <a:off x="4927336" y="2747772"/>
            <a:ext cx="402336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927336" y="2747772"/>
            <a:ext cx="40233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</a:t>
            </a:r>
            <a:endParaRPr lang="ko-KR" sz="900" dirty="0"/>
          </a:p>
        </p:txBody>
      </p:sp>
      <p:sp>
        <p:nvSpPr>
          <p:cNvPr id="82" name="Shape 80"/>
          <p:cNvSpPr/>
          <p:nvPr/>
        </p:nvSpPr>
        <p:spPr>
          <a:xfrm>
            <a:off x="5329672" y="2747772"/>
            <a:ext cx="1005840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384536" y="2747772"/>
            <a:ext cx="95097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검사명</a:t>
            </a:r>
            <a:endParaRPr lang="ko-KR" sz="900" dirty="0"/>
          </a:p>
        </p:txBody>
      </p:sp>
      <p:sp>
        <p:nvSpPr>
          <p:cNvPr id="84" name="Shape 82"/>
          <p:cNvSpPr/>
          <p:nvPr/>
        </p:nvSpPr>
        <p:spPr>
          <a:xfrm>
            <a:off x="6335512" y="2747772"/>
            <a:ext cx="1999244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390376" y="2747772"/>
            <a:ext cx="194438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선택불가 사유</a:t>
            </a:r>
            <a:endParaRPr lang="ko-KR" sz="900" dirty="0"/>
          </a:p>
        </p:txBody>
      </p:sp>
      <p:sp>
        <p:nvSpPr>
          <p:cNvPr id="86" name="Shape 84"/>
          <p:cNvSpPr/>
          <p:nvPr/>
        </p:nvSpPr>
        <p:spPr>
          <a:xfrm>
            <a:off x="4927336" y="2926080"/>
            <a:ext cx="402336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927336" y="2926080"/>
            <a:ext cx="40233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☑</a:t>
            </a:r>
            <a:endParaRPr lang="ko-KR" sz="900" dirty="0"/>
          </a:p>
        </p:txBody>
      </p:sp>
      <p:sp>
        <p:nvSpPr>
          <p:cNvPr id="88" name="Shape 86"/>
          <p:cNvSpPr/>
          <p:nvPr/>
        </p:nvSpPr>
        <p:spPr>
          <a:xfrm>
            <a:off x="5329672" y="2926080"/>
            <a:ext cx="100584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384536" y="2926080"/>
            <a:ext cx="95097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복부초음파</a:t>
            </a:r>
            <a:endParaRPr lang="ko-KR" sz="900" dirty="0"/>
          </a:p>
        </p:txBody>
      </p:sp>
      <p:sp>
        <p:nvSpPr>
          <p:cNvPr id="90" name="Shape 88"/>
          <p:cNvSpPr/>
          <p:nvPr/>
        </p:nvSpPr>
        <p:spPr>
          <a:xfrm>
            <a:off x="6335512" y="2926080"/>
            <a:ext cx="1999244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927336" y="3104388"/>
            <a:ext cx="402336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927336" y="3104388"/>
            <a:ext cx="40233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☑</a:t>
            </a:r>
            <a:endParaRPr lang="ko-KR" sz="900" dirty="0"/>
          </a:p>
        </p:txBody>
      </p:sp>
      <p:sp>
        <p:nvSpPr>
          <p:cNvPr id="93" name="Shape 91"/>
          <p:cNvSpPr/>
          <p:nvPr/>
        </p:nvSpPr>
        <p:spPr>
          <a:xfrm>
            <a:off x="5329672" y="3104388"/>
            <a:ext cx="100584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384536" y="3104388"/>
            <a:ext cx="95097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갑상선초음파</a:t>
            </a:r>
            <a:endParaRPr lang="ko-KR" sz="900" dirty="0"/>
          </a:p>
        </p:txBody>
      </p:sp>
      <p:sp>
        <p:nvSpPr>
          <p:cNvPr id="95" name="Shape 93"/>
          <p:cNvSpPr/>
          <p:nvPr/>
        </p:nvSpPr>
        <p:spPr>
          <a:xfrm>
            <a:off x="6335512" y="3104388"/>
            <a:ext cx="1999244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927336" y="3282696"/>
            <a:ext cx="402336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927336" y="3282696"/>
            <a:ext cx="40233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</a:t>
            </a:r>
            <a:endParaRPr lang="ko-KR" sz="900" dirty="0"/>
          </a:p>
        </p:txBody>
      </p:sp>
      <p:sp>
        <p:nvSpPr>
          <p:cNvPr id="98" name="Shape 96"/>
          <p:cNvSpPr/>
          <p:nvPr/>
        </p:nvSpPr>
        <p:spPr>
          <a:xfrm>
            <a:off x="5329672" y="3282696"/>
            <a:ext cx="100584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384536" y="3282696"/>
            <a:ext cx="95097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유방초음파</a:t>
            </a:r>
            <a:endParaRPr lang="ko-KR" sz="900" dirty="0"/>
          </a:p>
        </p:txBody>
      </p:sp>
      <p:sp>
        <p:nvSpPr>
          <p:cNvPr id="100" name="Shape 98"/>
          <p:cNvSpPr/>
          <p:nvPr/>
        </p:nvSpPr>
        <p:spPr>
          <a:xfrm>
            <a:off x="6335512" y="3282696"/>
            <a:ext cx="1999244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927336" y="3461004"/>
            <a:ext cx="402336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927336" y="3461004"/>
            <a:ext cx="40233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ko-KR" sz="900" dirty="0"/>
          </a:p>
        </p:txBody>
      </p:sp>
      <p:sp>
        <p:nvSpPr>
          <p:cNvPr id="103" name="Shape 101"/>
          <p:cNvSpPr/>
          <p:nvPr/>
        </p:nvSpPr>
        <p:spPr>
          <a:xfrm>
            <a:off x="5329672" y="3461004"/>
            <a:ext cx="100584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384536" y="3461004"/>
            <a:ext cx="95097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골밀도검사</a:t>
            </a:r>
            <a:endParaRPr lang="ko-KR" sz="900" dirty="0"/>
          </a:p>
        </p:txBody>
      </p:sp>
      <p:sp>
        <p:nvSpPr>
          <p:cNvPr id="105" name="Shape 103"/>
          <p:cNvSpPr/>
          <p:nvPr/>
        </p:nvSpPr>
        <p:spPr>
          <a:xfrm>
            <a:off x="6335512" y="3461004"/>
            <a:ext cx="1999244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390376" y="3461004"/>
            <a:ext cx="194438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일반건강검진에 포함된 검사입니다.</a:t>
            </a:r>
            <a:endParaRPr lang="ko-KR" sz="800" dirty="0"/>
          </a:p>
        </p:txBody>
      </p:sp>
      <p:sp>
        <p:nvSpPr>
          <p:cNvPr id="107" name="Shape 105"/>
          <p:cNvSpPr/>
          <p:nvPr/>
        </p:nvSpPr>
        <p:spPr>
          <a:xfrm>
            <a:off x="4927336" y="3639312"/>
            <a:ext cx="402336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927336" y="3639312"/>
            <a:ext cx="40233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ko-KR" sz="900" dirty="0"/>
          </a:p>
        </p:txBody>
      </p:sp>
      <p:sp>
        <p:nvSpPr>
          <p:cNvPr id="109" name="Shape 107"/>
          <p:cNvSpPr/>
          <p:nvPr/>
        </p:nvSpPr>
        <p:spPr>
          <a:xfrm>
            <a:off x="5329672" y="3639312"/>
            <a:ext cx="100584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384536" y="3639312"/>
            <a:ext cx="95097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PSA</a:t>
            </a:r>
            <a:endParaRPr lang="ko-KR" sz="900" dirty="0"/>
          </a:p>
        </p:txBody>
      </p:sp>
      <p:sp>
        <p:nvSpPr>
          <p:cNvPr id="111" name="Shape 109"/>
          <p:cNvSpPr/>
          <p:nvPr/>
        </p:nvSpPr>
        <p:spPr>
          <a:xfrm>
            <a:off x="6335512" y="3639312"/>
            <a:ext cx="1999244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390376" y="3639312"/>
            <a:ext cx="194438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성별 조건 불충족</a:t>
            </a:r>
            <a:endParaRPr lang="ko-KR" sz="800" dirty="0"/>
          </a:p>
        </p:txBody>
      </p:sp>
      <p:sp>
        <p:nvSpPr>
          <p:cNvPr id="113" name="Shape 111"/>
          <p:cNvSpPr/>
          <p:nvPr/>
        </p:nvSpPr>
        <p:spPr>
          <a:xfrm>
            <a:off x="4927336" y="3817620"/>
            <a:ext cx="402336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4927336" y="3817620"/>
            <a:ext cx="40233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</a:t>
            </a:r>
            <a:endParaRPr lang="ko-KR" sz="900" dirty="0"/>
          </a:p>
        </p:txBody>
      </p:sp>
      <p:sp>
        <p:nvSpPr>
          <p:cNvPr id="115" name="Shape 113"/>
          <p:cNvSpPr/>
          <p:nvPr/>
        </p:nvSpPr>
        <p:spPr>
          <a:xfrm>
            <a:off x="5329672" y="3817620"/>
            <a:ext cx="100584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384536" y="3817620"/>
            <a:ext cx="95097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HbA1c</a:t>
            </a:r>
            <a:endParaRPr lang="ko-KR" sz="900" dirty="0"/>
          </a:p>
        </p:txBody>
      </p:sp>
      <p:sp>
        <p:nvSpPr>
          <p:cNvPr id="117" name="Shape 115"/>
          <p:cNvSpPr/>
          <p:nvPr/>
        </p:nvSpPr>
        <p:spPr>
          <a:xfrm>
            <a:off x="6335512" y="3817620"/>
            <a:ext cx="1999244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927336" y="3995928"/>
            <a:ext cx="402336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927336" y="3995928"/>
            <a:ext cx="40233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</a:t>
            </a:r>
            <a:endParaRPr lang="ko-KR" sz="900" dirty="0"/>
          </a:p>
        </p:txBody>
      </p:sp>
      <p:sp>
        <p:nvSpPr>
          <p:cNvPr id="120" name="Shape 118"/>
          <p:cNvSpPr/>
          <p:nvPr/>
        </p:nvSpPr>
        <p:spPr>
          <a:xfrm>
            <a:off x="5329672" y="3995928"/>
            <a:ext cx="100584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5384536" y="3995928"/>
            <a:ext cx="95097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HPV 검사</a:t>
            </a:r>
            <a:endParaRPr lang="ko-KR" sz="900" dirty="0"/>
          </a:p>
        </p:txBody>
      </p:sp>
      <p:sp>
        <p:nvSpPr>
          <p:cNvPr id="122" name="Shape 120"/>
          <p:cNvSpPr/>
          <p:nvPr/>
        </p:nvSpPr>
        <p:spPr>
          <a:xfrm>
            <a:off x="6335512" y="3995928"/>
            <a:ext cx="1999244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20624" y="164592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추가검사 변경</a:t>
            </a:r>
            <a:endParaRPr lang="ko-KR" sz="3000" dirty="0"/>
          </a:p>
        </p:txBody>
      </p:sp>
      <p:sp>
        <p:nvSpPr>
          <p:cNvPr id="124" name="Shape 122"/>
          <p:cNvSpPr/>
          <p:nvPr/>
        </p:nvSpPr>
        <p:spPr>
          <a:xfrm>
            <a:off x="8897112" y="932688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9262872" y="932688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9313164" y="982980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DLG-RCP-02  접수완료 추가검사 변경 ·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Modal · P03-05 · F-RCP-002, F-COM-004</a:t>
            </a:r>
            <a:endParaRPr lang="ko-KR" sz="1000" dirty="0"/>
          </a:p>
        </p:txBody>
      </p:sp>
      <p:sp>
        <p:nvSpPr>
          <p:cNvPr id="127" name="Shape 125"/>
          <p:cNvSpPr/>
          <p:nvPr/>
        </p:nvSpPr>
        <p:spPr>
          <a:xfrm>
            <a:off x="8897112" y="1371117"/>
            <a:ext cx="365760" cy="274320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9262872" y="1371117"/>
            <a:ext cx="2697480" cy="274320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8897112" y="1371117"/>
            <a:ext cx="3657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1000" dirty="0"/>
          </a:p>
        </p:txBody>
      </p:sp>
      <p:sp>
        <p:nvSpPr>
          <p:cNvPr id="130" name="Text 128"/>
          <p:cNvSpPr/>
          <p:nvPr/>
        </p:nvSpPr>
        <p:spPr>
          <a:xfrm>
            <a:off x="9313164" y="1421409"/>
            <a:ext cx="2596896" cy="173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접수완료(RCP) 상태에서만 진입한다 (RCP-05)</a:t>
            </a:r>
            <a:endParaRPr lang="ko-KR" sz="1000" dirty="0"/>
          </a:p>
        </p:txBody>
      </p:sp>
      <p:sp>
        <p:nvSpPr>
          <p:cNvPr id="131" name="Shape 129"/>
          <p:cNvSpPr/>
          <p:nvPr/>
        </p:nvSpPr>
        <p:spPr>
          <a:xfrm>
            <a:off x="8897112" y="1645437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9262872" y="1645437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8897112" y="1645437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sz="1000" dirty="0"/>
          </a:p>
        </p:txBody>
      </p:sp>
      <p:sp>
        <p:nvSpPr>
          <p:cNvPr id="134" name="Text 132"/>
          <p:cNvSpPr/>
          <p:nvPr/>
        </p:nvSpPr>
        <p:spPr>
          <a:xfrm>
            <a:off x="9313164" y="1695729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예약일 · 시간대 · NEX는 변경할 수 없다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(RCP-05)</a:t>
            </a:r>
            <a:endParaRPr lang="ko-KR" sz="1000" dirty="0"/>
          </a:p>
        </p:txBody>
      </p:sp>
      <p:sp>
        <p:nvSpPr>
          <p:cNvPr id="135" name="Shape 133"/>
          <p:cNvSpPr/>
          <p:nvPr/>
        </p:nvSpPr>
        <p:spPr>
          <a:xfrm>
            <a:off x="8897112" y="2083867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9262872" y="2083867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8897112" y="2083867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sz="1000" dirty="0"/>
          </a:p>
        </p:txBody>
      </p:sp>
      <p:sp>
        <p:nvSpPr>
          <p:cNvPr id="138" name="Text 136"/>
          <p:cNvSpPr/>
          <p:nvPr/>
        </p:nvSpPr>
        <p:spPr>
          <a:xfrm>
            <a:off x="9313164" y="2134159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상태와 동일한 AEX-01~05 Rule을 적용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</a:t>
            </a:r>
            <a:endParaRPr lang="ko-KR" sz="1000" dirty="0"/>
          </a:p>
        </p:txBody>
      </p:sp>
      <p:sp>
        <p:nvSpPr>
          <p:cNvPr id="139" name="Shape 137"/>
          <p:cNvSpPr/>
          <p:nvPr/>
        </p:nvSpPr>
        <p:spPr>
          <a:xfrm>
            <a:off x="8897112" y="2522296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9262872" y="2522296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8897112" y="2522296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sz="1000" dirty="0"/>
          </a:p>
        </p:txBody>
      </p:sp>
      <p:sp>
        <p:nvSpPr>
          <p:cNvPr id="142" name="Text 140"/>
          <p:cNvSpPr/>
          <p:nvPr/>
        </p:nvSpPr>
        <p:spPr>
          <a:xfrm>
            <a:off x="9313164" y="2572588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변경 시 상태는 RCP를 유지하고 Work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RowVersion만 갱신</a:t>
            </a:r>
            <a:endParaRPr lang="ko-KR" sz="1000" dirty="0"/>
          </a:p>
        </p:txBody>
      </p:sp>
      <p:sp>
        <p:nvSpPr>
          <p:cNvPr id="143" name="Shape 141"/>
          <p:cNvSpPr/>
          <p:nvPr/>
        </p:nvSpPr>
        <p:spPr>
          <a:xfrm>
            <a:off x="8897112" y="2960726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9262872" y="2960726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9313164" y="3011018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AEX 선택집합이 동일하면 Detail과 Work를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갱신하지 않고 No-op으로 처리한다.</a:t>
            </a:r>
            <a:endParaRPr lang="ko-KR" sz="1000" dirty="0"/>
          </a:p>
        </p:txBody>
      </p:sp>
      <p:sp>
        <p:nvSpPr>
          <p:cNvPr id="146" name="Shape 144"/>
          <p:cNvSpPr/>
          <p:nvPr/>
        </p:nvSpPr>
        <p:spPr>
          <a:xfrm>
            <a:off x="8897112" y="3399155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9262872" y="3399155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9313164" y="3449447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가격·할인·수납·결제는 이 시스템의 범위가 아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니다 (AEX-05).</a:t>
            </a:r>
            <a:endParaRPr lang="ko-KR" sz="1000" dirty="0"/>
          </a:p>
        </p:txBody>
      </p:sp>
      <p:sp>
        <p:nvSpPr>
          <p:cNvPr id="149" name="Shape 147"/>
          <p:cNvSpPr/>
          <p:nvPr/>
        </p:nvSpPr>
        <p:spPr>
          <a:xfrm>
            <a:off x="5263286" y="2052828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5263286" y="2052828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1000" dirty="0"/>
          </a:p>
        </p:txBody>
      </p:sp>
      <p:sp>
        <p:nvSpPr>
          <p:cNvPr id="151" name="Shape 149"/>
          <p:cNvSpPr/>
          <p:nvPr/>
        </p:nvSpPr>
        <p:spPr>
          <a:xfrm>
            <a:off x="708660" y="3854196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708660" y="3854196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sz="1000" dirty="0"/>
          </a:p>
        </p:txBody>
      </p:sp>
      <p:sp>
        <p:nvSpPr>
          <p:cNvPr id="153" name="Shape 151"/>
          <p:cNvSpPr/>
          <p:nvPr/>
        </p:nvSpPr>
        <p:spPr>
          <a:xfrm>
            <a:off x="4689592" y="3854196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4689592" y="3854196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sz="1000" dirty="0"/>
          </a:p>
        </p:txBody>
      </p:sp>
      <p:sp>
        <p:nvSpPr>
          <p:cNvPr id="155" name="Shape 153"/>
          <p:cNvSpPr/>
          <p:nvPr/>
        </p:nvSpPr>
        <p:spPr>
          <a:xfrm>
            <a:off x="6268212" y="5573268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6268212" y="5573268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932688"/>
            <a:ext cx="8439912" cy="5349240"/>
          </a:xfrm>
          <a:prstGeom prst="rect">
            <a:avLst/>
          </a:prstGeom>
          <a:ln w="19050">
            <a:solidFill>
              <a:srgbClr val="C8C8C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0624" y="932688"/>
            <a:ext cx="8439912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C8C8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32688"/>
            <a:ext cx="64008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예약/접수 공통 Workbench (WF-WRK-01)  ·  접수 Context   —   비활성(Confirm)</a:t>
            </a:r>
            <a:endParaRPr lang="ko-KR" sz="800" dirty="0"/>
          </a:p>
        </p:txBody>
      </p:sp>
      <p:sp>
        <p:nvSpPr>
          <p:cNvPr id="5" name="Shape 3"/>
          <p:cNvSpPr/>
          <p:nvPr/>
        </p:nvSpPr>
        <p:spPr>
          <a:xfrm>
            <a:off x="694944" y="1408176"/>
            <a:ext cx="1051560" cy="274320"/>
          </a:xfrm>
          <a:prstGeom prst="rect">
            <a:avLst/>
          </a:prstGeom>
          <a:ln w="9525">
            <a:solidFill>
              <a:srgbClr val="C8C8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408176"/>
            <a:ext cx="10515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접수취소</a:t>
            </a:r>
            <a:endParaRPr lang="ko-KR" sz="950" dirty="0"/>
          </a:p>
        </p:txBody>
      </p:sp>
      <p:sp>
        <p:nvSpPr>
          <p:cNvPr id="7" name="Text 5"/>
          <p:cNvSpPr/>
          <p:nvPr/>
        </p:nvSpPr>
        <p:spPr>
          <a:xfrm>
            <a:off x="1837944" y="1408176"/>
            <a:ext cx="32918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선택행 상태 = 접수완료(RCP) 일 때만 활성</a:t>
            </a:r>
            <a:endParaRPr lang="ko-KR" sz="800" dirty="0"/>
          </a:p>
        </p:txBody>
      </p:sp>
      <p:sp>
        <p:nvSpPr>
          <p:cNvPr id="8" name="Shape 6"/>
          <p:cNvSpPr/>
          <p:nvPr/>
        </p:nvSpPr>
        <p:spPr>
          <a:xfrm>
            <a:off x="1943100" y="2738628"/>
            <a:ext cx="539496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86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54780" y="2601468"/>
            <a:ext cx="137160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54780" y="2601468"/>
            <a:ext cx="1371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취소</a:t>
            </a:r>
            <a:endParaRPr lang="ko-KR" sz="950" dirty="0"/>
          </a:p>
        </p:txBody>
      </p:sp>
      <p:sp>
        <p:nvSpPr>
          <p:cNvPr id="11" name="Text 9"/>
          <p:cNvSpPr/>
          <p:nvPr/>
        </p:nvSpPr>
        <p:spPr>
          <a:xfrm>
            <a:off x="2107692" y="3049524"/>
            <a:ext cx="5065776" cy="1604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선택한 접수를 취소하시겠습니까?</a:t>
            </a:r>
            <a:endParaRPr lang="ko-KR" sz="950" dirty="0"/>
          </a:p>
        </p:txBody>
      </p:sp>
      <p:sp>
        <p:nvSpPr>
          <p:cNvPr id="12" name="Text 10"/>
          <p:cNvSpPr/>
          <p:nvPr/>
        </p:nvSpPr>
        <p:spPr>
          <a:xfrm>
            <a:off x="2107692" y="3264865"/>
            <a:ext cx="5065776" cy="1604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상태로 되돌아가지 않으며 해당 업무 전체가 취소됩니다.</a:t>
            </a:r>
            <a:endParaRPr lang="ko-KR" sz="950" dirty="0"/>
          </a:p>
        </p:txBody>
      </p:sp>
      <p:sp>
        <p:nvSpPr>
          <p:cNvPr id="13" name="Shape 11"/>
          <p:cNvSpPr/>
          <p:nvPr/>
        </p:nvSpPr>
        <p:spPr>
          <a:xfrm>
            <a:off x="6368796" y="4091940"/>
            <a:ext cx="822960" cy="256032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8796" y="4091940"/>
            <a:ext cx="82296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닫기</a:t>
            </a:r>
            <a:endParaRPr lang="ko-KR" sz="950" dirty="0"/>
          </a:p>
        </p:txBody>
      </p:sp>
      <p:sp>
        <p:nvSpPr>
          <p:cNvPr id="15" name="Shape 13"/>
          <p:cNvSpPr/>
          <p:nvPr/>
        </p:nvSpPr>
        <p:spPr>
          <a:xfrm>
            <a:off x="5454396" y="4091940"/>
            <a:ext cx="822960" cy="256032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54396" y="4091940"/>
            <a:ext cx="82296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ko-KR" sz="950" dirty="0"/>
          </a:p>
        </p:txBody>
      </p:sp>
      <p:sp>
        <p:nvSpPr>
          <p:cNvPr id="17" name="Text 15"/>
          <p:cNvSpPr/>
          <p:nvPr/>
        </p:nvSpPr>
        <p:spPr>
          <a:xfrm>
            <a:off x="420624" y="164592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취소 확인</a:t>
            </a:r>
            <a:endParaRPr lang="ko-KR" sz="3000" dirty="0"/>
          </a:p>
        </p:txBody>
      </p:sp>
      <p:sp>
        <p:nvSpPr>
          <p:cNvPr id="18" name="Shape 16"/>
          <p:cNvSpPr/>
          <p:nvPr/>
        </p:nvSpPr>
        <p:spPr>
          <a:xfrm>
            <a:off x="8897112" y="932688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62872" y="932688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13164" y="982980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CNF-RCP-01  접수 취소 확인 · Confirm ·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P03-06 · F-RCP-003</a:t>
            </a:r>
            <a:endParaRPr lang="ko-KR" sz="1000" dirty="0"/>
          </a:p>
        </p:txBody>
      </p:sp>
      <p:sp>
        <p:nvSpPr>
          <p:cNvPr id="21" name="Shape 19"/>
          <p:cNvSpPr/>
          <p:nvPr/>
        </p:nvSpPr>
        <p:spPr>
          <a:xfrm>
            <a:off x="8897112" y="1371117"/>
            <a:ext cx="365760" cy="274320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62872" y="1371117"/>
            <a:ext cx="2697480" cy="274320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97112" y="1371117"/>
            <a:ext cx="3657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1000" dirty="0"/>
          </a:p>
        </p:txBody>
      </p:sp>
      <p:sp>
        <p:nvSpPr>
          <p:cNvPr id="24" name="Text 22"/>
          <p:cNvSpPr/>
          <p:nvPr/>
        </p:nvSpPr>
        <p:spPr>
          <a:xfrm>
            <a:off x="9313164" y="1421409"/>
            <a:ext cx="2596896" cy="173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접수완료(RCP) 상태에서만 호출된다 (RCP-06)</a:t>
            </a:r>
            <a:endParaRPr lang="ko-KR" sz="1000" dirty="0"/>
          </a:p>
        </p:txBody>
      </p:sp>
      <p:sp>
        <p:nvSpPr>
          <p:cNvPr id="25" name="Shape 23"/>
          <p:cNvSpPr/>
          <p:nvPr/>
        </p:nvSpPr>
        <p:spPr>
          <a:xfrm>
            <a:off x="8897112" y="1645437"/>
            <a:ext cx="365760" cy="274320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62872" y="1645437"/>
            <a:ext cx="2697480" cy="274320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97112" y="1645437"/>
            <a:ext cx="3657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sz="1000" dirty="0"/>
          </a:p>
        </p:txBody>
      </p:sp>
      <p:sp>
        <p:nvSpPr>
          <p:cNvPr id="28" name="Text 26"/>
          <p:cNvSpPr/>
          <p:nvPr/>
        </p:nvSpPr>
        <p:spPr>
          <a:xfrm>
            <a:off x="9313164" y="1695729"/>
            <a:ext cx="2596896" cy="173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문구는 원문 확정본을 그대로 사용한다</a:t>
            </a:r>
            <a:endParaRPr lang="ko-KR" sz="1000" dirty="0"/>
          </a:p>
        </p:txBody>
      </p:sp>
      <p:sp>
        <p:nvSpPr>
          <p:cNvPr id="29" name="Shape 27"/>
          <p:cNvSpPr/>
          <p:nvPr/>
        </p:nvSpPr>
        <p:spPr>
          <a:xfrm>
            <a:off x="8897112" y="1919757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62872" y="1919757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97112" y="1919757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sz="1000" dirty="0"/>
          </a:p>
        </p:txBody>
      </p:sp>
      <p:sp>
        <p:nvSpPr>
          <p:cNvPr id="32" name="Text 30"/>
          <p:cNvSpPr/>
          <p:nvPr/>
        </p:nvSpPr>
        <p:spPr>
          <a:xfrm>
            <a:off x="9313164" y="1970049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[확인] 시 DB에서 상태·RowVersion을 재확인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후 CNC로 전이</a:t>
            </a:r>
            <a:endParaRPr lang="ko-KR" sz="1000" dirty="0"/>
          </a:p>
        </p:txBody>
      </p:sp>
      <p:sp>
        <p:nvSpPr>
          <p:cNvPr id="33" name="Shape 31"/>
          <p:cNvSpPr/>
          <p:nvPr/>
        </p:nvSpPr>
        <p:spPr>
          <a:xfrm>
            <a:off x="8897112" y="2358187"/>
            <a:ext cx="365760" cy="607352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262872" y="2358187"/>
            <a:ext cx="2697480" cy="607352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13164" y="2408479"/>
            <a:ext cx="2596896" cy="506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예약(RSV)으로 되돌리지 않는다. 해당 예약·접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 업무 전체가 취소된 것으로 판단한다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(RCP-06).</a:t>
            </a:r>
            <a:endParaRPr lang="ko-KR" sz="1000" dirty="0"/>
          </a:p>
        </p:txBody>
      </p:sp>
      <p:sp>
        <p:nvSpPr>
          <p:cNvPr id="36" name="Shape 34"/>
          <p:cNvSpPr/>
          <p:nvPr/>
        </p:nvSpPr>
        <p:spPr>
          <a:xfrm>
            <a:off x="8897112" y="2965539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62872" y="2965539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13164" y="3015831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건은 보존·조회하되 후속 변경 Action을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허용하지 않는다 (CP-05).</a:t>
            </a:r>
            <a:endParaRPr lang="ko-KR" sz="1000" dirty="0"/>
          </a:p>
        </p:txBody>
      </p:sp>
      <p:sp>
        <p:nvSpPr>
          <p:cNvPr id="39" name="Shape 37"/>
          <p:cNvSpPr/>
          <p:nvPr/>
        </p:nvSpPr>
        <p:spPr>
          <a:xfrm>
            <a:off x="548640" y="1435608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1435608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1000" dirty="0"/>
          </a:p>
        </p:txBody>
      </p:sp>
      <p:sp>
        <p:nvSpPr>
          <p:cNvPr id="41" name="Shape 39"/>
          <p:cNvSpPr/>
          <p:nvPr/>
        </p:nvSpPr>
        <p:spPr>
          <a:xfrm>
            <a:off x="1796796" y="3040380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796796" y="3040380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sz="1000" dirty="0"/>
          </a:p>
        </p:txBody>
      </p:sp>
      <p:sp>
        <p:nvSpPr>
          <p:cNvPr id="43" name="Shape 41"/>
          <p:cNvSpPr/>
          <p:nvPr/>
        </p:nvSpPr>
        <p:spPr>
          <a:xfrm>
            <a:off x="5271516" y="4110228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71516" y="4110228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932688"/>
            <a:ext cx="8439912" cy="5349240"/>
          </a:xfrm>
          <a:prstGeom prst="rect">
            <a:avLst/>
          </a:prstGeom>
          <a:ln w="19050">
            <a:solidFill>
              <a:srgbClr val="C8C8C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0624" y="932688"/>
            <a:ext cx="8439912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C8C8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32688"/>
            <a:ext cx="54864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 관리 (WF-PAT-01)  ·  예약/접수 공통 Workbench (WF-WRK-01)   —   비활성(Modal)</a:t>
            </a:r>
            <a:endParaRPr lang="ko-KR" sz="800" dirty="0"/>
          </a:p>
        </p:txBody>
      </p:sp>
      <p:sp>
        <p:nvSpPr>
          <p:cNvPr id="5" name="Shape 3"/>
          <p:cNvSpPr/>
          <p:nvPr/>
        </p:nvSpPr>
        <p:spPr>
          <a:xfrm>
            <a:off x="708660" y="1961388"/>
            <a:ext cx="786384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86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68250" y="1824228"/>
            <a:ext cx="274466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68250" y="1824228"/>
            <a:ext cx="27446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변경이력 — 수검자 홍길동 (2026-000123)</a:t>
            </a:r>
            <a:endParaRPr lang="ko-KR" sz="950" dirty="0"/>
          </a:p>
        </p:txBody>
      </p:sp>
      <p:sp>
        <p:nvSpPr>
          <p:cNvPr id="8" name="Shape 6"/>
          <p:cNvSpPr/>
          <p:nvPr/>
        </p:nvSpPr>
        <p:spPr>
          <a:xfrm>
            <a:off x="7466076" y="4869180"/>
            <a:ext cx="960120" cy="256032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66076" y="4869180"/>
            <a:ext cx="9601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닫기</a:t>
            </a:r>
            <a:endParaRPr lang="ko-KR" sz="950" dirty="0"/>
          </a:p>
        </p:txBody>
      </p:sp>
      <p:sp>
        <p:nvSpPr>
          <p:cNvPr id="10" name="Shape 8"/>
          <p:cNvSpPr/>
          <p:nvPr/>
        </p:nvSpPr>
        <p:spPr>
          <a:xfrm>
            <a:off x="854964" y="2199132"/>
            <a:ext cx="7571232" cy="256032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2980" y="2199132"/>
            <a:ext cx="374904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:   TargetTable = 수검자     TargetKey = PatientId</a:t>
            </a:r>
            <a:endParaRPr lang="ko-KR" sz="900" dirty="0"/>
          </a:p>
        </p:txBody>
      </p:sp>
      <p:sp>
        <p:nvSpPr>
          <p:cNvPr id="12" name="Text 10"/>
          <p:cNvSpPr/>
          <p:nvPr/>
        </p:nvSpPr>
        <p:spPr>
          <a:xfrm>
            <a:off x="4786884" y="2199132"/>
            <a:ext cx="3511296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행에서 열면  TargetTable = 예약접수 · TargetKey = WorkId</a:t>
            </a:r>
            <a:endParaRPr lang="ko-KR" sz="800" dirty="0"/>
          </a:p>
        </p:txBody>
      </p:sp>
      <p:sp>
        <p:nvSpPr>
          <p:cNvPr id="13" name="Shape 11"/>
          <p:cNvSpPr/>
          <p:nvPr/>
        </p:nvSpPr>
        <p:spPr>
          <a:xfrm>
            <a:off x="854964" y="2546604"/>
            <a:ext cx="7571232" cy="1133856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" y="2574036"/>
            <a:ext cx="74249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변경기록  ·  읽기 전용  ·  기록일시 최신순 고정</a:t>
            </a:r>
            <a:endParaRPr lang="ko-KR" sz="800" dirty="0"/>
          </a:p>
        </p:txBody>
      </p:sp>
      <p:sp>
        <p:nvSpPr>
          <p:cNvPr id="15" name="Shape 13"/>
          <p:cNvSpPr/>
          <p:nvPr/>
        </p:nvSpPr>
        <p:spPr>
          <a:xfrm>
            <a:off x="854964" y="2756916"/>
            <a:ext cx="7571232" cy="0"/>
          </a:xfrm>
          <a:prstGeom prst="line">
            <a:avLst/>
          </a:prstGeom>
          <a:noFill/>
          <a:ln w="9525">
            <a:solidFill>
              <a:srgbClr val="8C9BB5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46404" y="2793492"/>
            <a:ext cx="1234440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6404" y="2793492"/>
            <a:ext cx="123444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기록일시</a:t>
            </a:r>
            <a:endParaRPr lang="ko-KR" sz="900" dirty="0"/>
          </a:p>
        </p:txBody>
      </p:sp>
      <p:sp>
        <p:nvSpPr>
          <p:cNvPr id="18" name="Shape 16"/>
          <p:cNvSpPr/>
          <p:nvPr/>
        </p:nvSpPr>
        <p:spPr>
          <a:xfrm>
            <a:off x="2180844" y="2793492"/>
            <a:ext cx="1371600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35708" y="2793492"/>
            <a:ext cx="131673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조작자(자기신고)</a:t>
            </a:r>
            <a:endParaRPr lang="ko-KR" sz="900" dirty="0"/>
          </a:p>
        </p:txBody>
      </p:sp>
      <p:sp>
        <p:nvSpPr>
          <p:cNvPr id="20" name="Shape 18"/>
          <p:cNvSpPr/>
          <p:nvPr/>
        </p:nvSpPr>
        <p:spPr>
          <a:xfrm>
            <a:off x="3552444" y="2793492"/>
            <a:ext cx="960120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07308" y="2793492"/>
            <a:ext cx="90525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ko-KR" sz="900" dirty="0"/>
          </a:p>
        </p:txBody>
      </p:sp>
      <p:sp>
        <p:nvSpPr>
          <p:cNvPr id="22" name="Shape 20"/>
          <p:cNvSpPr/>
          <p:nvPr/>
        </p:nvSpPr>
        <p:spPr>
          <a:xfrm>
            <a:off x="4512564" y="2793492"/>
            <a:ext cx="1911096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67428" y="2793492"/>
            <a:ext cx="1856232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변경전</a:t>
            </a:r>
            <a:endParaRPr lang="ko-KR" sz="900" dirty="0"/>
          </a:p>
        </p:txBody>
      </p:sp>
      <p:sp>
        <p:nvSpPr>
          <p:cNvPr id="24" name="Shape 22"/>
          <p:cNvSpPr/>
          <p:nvPr/>
        </p:nvSpPr>
        <p:spPr>
          <a:xfrm>
            <a:off x="6423660" y="2793492"/>
            <a:ext cx="1911096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8524" y="2793492"/>
            <a:ext cx="1856232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변경후</a:t>
            </a:r>
            <a:endParaRPr lang="ko-KR" sz="900" dirty="0"/>
          </a:p>
        </p:txBody>
      </p:sp>
      <p:sp>
        <p:nvSpPr>
          <p:cNvPr id="26" name="Shape 24"/>
          <p:cNvSpPr/>
          <p:nvPr/>
        </p:nvSpPr>
        <p:spPr>
          <a:xfrm>
            <a:off x="946404" y="2971800"/>
            <a:ext cx="123444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6404" y="2971800"/>
            <a:ext cx="123444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2026-09-07 14:20</a:t>
            </a:r>
            <a:endParaRPr lang="ko-KR" sz="900" dirty="0"/>
          </a:p>
        </p:txBody>
      </p:sp>
      <p:sp>
        <p:nvSpPr>
          <p:cNvPr id="28" name="Shape 26"/>
          <p:cNvSpPr/>
          <p:nvPr/>
        </p:nvSpPr>
        <p:spPr>
          <a:xfrm>
            <a:off x="2180844" y="2971800"/>
            <a:ext cx="137160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35708" y="2971800"/>
            <a:ext cx="131673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접수1번데스크</a:t>
            </a:r>
            <a:endParaRPr lang="ko-KR" sz="900" dirty="0"/>
          </a:p>
        </p:txBody>
      </p:sp>
      <p:sp>
        <p:nvSpPr>
          <p:cNvPr id="30" name="Shape 28"/>
          <p:cNvSpPr/>
          <p:nvPr/>
        </p:nvSpPr>
        <p:spPr>
          <a:xfrm>
            <a:off x="3552444" y="2971800"/>
            <a:ext cx="96012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07308" y="2971800"/>
            <a:ext cx="90525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휴대전화</a:t>
            </a:r>
            <a:endParaRPr lang="ko-KR" sz="900" dirty="0"/>
          </a:p>
        </p:txBody>
      </p:sp>
      <p:sp>
        <p:nvSpPr>
          <p:cNvPr id="32" name="Shape 30"/>
          <p:cNvSpPr/>
          <p:nvPr/>
        </p:nvSpPr>
        <p:spPr>
          <a:xfrm>
            <a:off x="4512564" y="2971800"/>
            <a:ext cx="1911096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67428" y="2971800"/>
            <a:ext cx="1856232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010-0000-0098</a:t>
            </a:r>
            <a:endParaRPr lang="ko-KR" sz="900" dirty="0"/>
          </a:p>
        </p:txBody>
      </p:sp>
      <p:sp>
        <p:nvSpPr>
          <p:cNvPr id="34" name="Shape 32"/>
          <p:cNvSpPr/>
          <p:nvPr/>
        </p:nvSpPr>
        <p:spPr>
          <a:xfrm>
            <a:off x="6423660" y="2971800"/>
            <a:ext cx="1911096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78524" y="2971800"/>
            <a:ext cx="1856232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010-0000-0123</a:t>
            </a:r>
            <a:endParaRPr lang="ko-KR" sz="900" dirty="0"/>
          </a:p>
        </p:txBody>
      </p:sp>
      <p:sp>
        <p:nvSpPr>
          <p:cNvPr id="36" name="Shape 34"/>
          <p:cNvSpPr/>
          <p:nvPr/>
        </p:nvSpPr>
        <p:spPr>
          <a:xfrm>
            <a:off x="946404" y="3150108"/>
            <a:ext cx="123444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46404" y="3150108"/>
            <a:ext cx="123444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2026-09-06 09:11</a:t>
            </a:r>
            <a:endParaRPr lang="ko-KR" sz="900" dirty="0"/>
          </a:p>
        </p:txBody>
      </p:sp>
      <p:sp>
        <p:nvSpPr>
          <p:cNvPr id="38" name="Shape 36"/>
          <p:cNvSpPr/>
          <p:nvPr/>
        </p:nvSpPr>
        <p:spPr>
          <a:xfrm>
            <a:off x="2180844" y="3150108"/>
            <a:ext cx="137160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35708" y="3150108"/>
            <a:ext cx="131673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접수1번데스크</a:t>
            </a:r>
            <a:endParaRPr lang="ko-KR" sz="900" dirty="0"/>
          </a:p>
        </p:txBody>
      </p:sp>
      <p:sp>
        <p:nvSpPr>
          <p:cNvPr id="40" name="Shape 38"/>
          <p:cNvSpPr/>
          <p:nvPr/>
        </p:nvSpPr>
        <p:spPr>
          <a:xfrm>
            <a:off x="3552444" y="3150108"/>
            <a:ext cx="96012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07308" y="3150108"/>
            <a:ext cx="90525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</a:t>
            </a:r>
            <a:endParaRPr lang="ko-KR" sz="900" dirty="0"/>
          </a:p>
        </p:txBody>
      </p:sp>
      <p:sp>
        <p:nvSpPr>
          <p:cNvPr id="42" name="Shape 40"/>
          <p:cNvSpPr/>
          <p:nvPr/>
        </p:nvSpPr>
        <p:spPr>
          <a:xfrm>
            <a:off x="4512564" y="3150108"/>
            <a:ext cx="1911096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67428" y="3150108"/>
            <a:ext cx="1856232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서울특별시 …</a:t>
            </a:r>
            <a:endParaRPr lang="ko-KR" sz="900" dirty="0"/>
          </a:p>
        </p:txBody>
      </p:sp>
      <p:sp>
        <p:nvSpPr>
          <p:cNvPr id="44" name="Shape 42"/>
          <p:cNvSpPr/>
          <p:nvPr/>
        </p:nvSpPr>
        <p:spPr>
          <a:xfrm>
            <a:off x="6423660" y="3150108"/>
            <a:ext cx="1911096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78524" y="3150108"/>
            <a:ext cx="1856232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경기도 …</a:t>
            </a:r>
            <a:endParaRPr lang="ko-KR" sz="900" dirty="0"/>
          </a:p>
        </p:txBody>
      </p:sp>
      <p:sp>
        <p:nvSpPr>
          <p:cNvPr id="46" name="Shape 44"/>
          <p:cNvSpPr/>
          <p:nvPr/>
        </p:nvSpPr>
        <p:spPr>
          <a:xfrm>
            <a:off x="854964" y="3790188"/>
            <a:ext cx="7571232" cy="841248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28116" y="3817620"/>
            <a:ext cx="74249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0건일 때</a:t>
            </a:r>
            <a:endParaRPr lang="ko-KR" sz="800" dirty="0"/>
          </a:p>
        </p:txBody>
      </p:sp>
      <p:sp>
        <p:nvSpPr>
          <p:cNvPr id="48" name="Shape 46"/>
          <p:cNvSpPr/>
          <p:nvPr/>
        </p:nvSpPr>
        <p:spPr>
          <a:xfrm>
            <a:off x="854964" y="4000500"/>
            <a:ext cx="7571232" cy="0"/>
          </a:xfrm>
          <a:prstGeom prst="line">
            <a:avLst/>
          </a:prstGeom>
          <a:noFill/>
          <a:ln w="9525">
            <a:solidFill>
              <a:srgbClr val="8C9BB5"/>
            </a:solidFill>
            <a:prstDash val="solid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946404" y="4037076"/>
            <a:ext cx="1234440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46404" y="4037076"/>
            <a:ext cx="123444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기록일시</a:t>
            </a:r>
            <a:endParaRPr lang="ko-KR" sz="900" dirty="0"/>
          </a:p>
        </p:txBody>
      </p:sp>
      <p:sp>
        <p:nvSpPr>
          <p:cNvPr id="51" name="Shape 49"/>
          <p:cNvSpPr/>
          <p:nvPr/>
        </p:nvSpPr>
        <p:spPr>
          <a:xfrm>
            <a:off x="2180844" y="4037076"/>
            <a:ext cx="1371600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235708" y="4037076"/>
            <a:ext cx="131673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조작자(자기신고)</a:t>
            </a:r>
            <a:endParaRPr lang="ko-KR" sz="900" dirty="0"/>
          </a:p>
        </p:txBody>
      </p:sp>
      <p:sp>
        <p:nvSpPr>
          <p:cNvPr id="53" name="Shape 51"/>
          <p:cNvSpPr/>
          <p:nvPr/>
        </p:nvSpPr>
        <p:spPr>
          <a:xfrm>
            <a:off x="3552444" y="4037076"/>
            <a:ext cx="960120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07308" y="4037076"/>
            <a:ext cx="90525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ko-KR" sz="900" dirty="0"/>
          </a:p>
        </p:txBody>
      </p:sp>
      <p:sp>
        <p:nvSpPr>
          <p:cNvPr id="55" name="Shape 53"/>
          <p:cNvSpPr/>
          <p:nvPr/>
        </p:nvSpPr>
        <p:spPr>
          <a:xfrm>
            <a:off x="4512564" y="4037076"/>
            <a:ext cx="1911096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67428" y="4037076"/>
            <a:ext cx="1856232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변경전</a:t>
            </a:r>
            <a:endParaRPr lang="ko-KR" sz="900" dirty="0"/>
          </a:p>
        </p:txBody>
      </p:sp>
      <p:sp>
        <p:nvSpPr>
          <p:cNvPr id="57" name="Shape 55"/>
          <p:cNvSpPr/>
          <p:nvPr/>
        </p:nvSpPr>
        <p:spPr>
          <a:xfrm>
            <a:off x="6423660" y="4037076"/>
            <a:ext cx="1911096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78524" y="4037076"/>
            <a:ext cx="1856232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변경후</a:t>
            </a:r>
            <a:endParaRPr lang="ko-KR" sz="900" dirty="0"/>
          </a:p>
        </p:txBody>
      </p:sp>
      <p:sp>
        <p:nvSpPr>
          <p:cNvPr id="59" name="Text 57"/>
          <p:cNvSpPr/>
          <p:nvPr/>
        </p:nvSpPr>
        <p:spPr>
          <a:xfrm>
            <a:off x="946404" y="4270248"/>
            <a:ext cx="7388352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표시할 변경기록이 없습니다.</a:t>
            </a:r>
            <a:endParaRPr lang="ko-KR" sz="950" dirty="0"/>
          </a:p>
        </p:txBody>
      </p:sp>
      <p:sp>
        <p:nvSpPr>
          <p:cNvPr id="60" name="Text 58"/>
          <p:cNvSpPr/>
          <p:nvPr/>
        </p:nvSpPr>
        <p:spPr>
          <a:xfrm>
            <a:off x="420624" y="164592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변경이력 열람</a:t>
            </a:r>
            <a:endParaRPr lang="ko-KR" sz="3000" dirty="0"/>
          </a:p>
        </p:txBody>
      </p:sp>
      <p:sp>
        <p:nvSpPr>
          <p:cNvPr id="61" name="Shape 59"/>
          <p:cNvSpPr/>
          <p:nvPr/>
        </p:nvSpPr>
        <p:spPr>
          <a:xfrm>
            <a:off x="8897112" y="932688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262872" y="932688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313164" y="982980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DLG-LOG-01  변경이력 열람 · Modal ·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F-COM-008</a:t>
            </a:r>
            <a:endParaRPr lang="ko-KR" sz="1000" dirty="0"/>
          </a:p>
        </p:txBody>
      </p:sp>
      <p:sp>
        <p:nvSpPr>
          <p:cNvPr id="64" name="Shape 62"/>
          <p:cNvSpPr/>
          <p:nvPr/>
        </p:nvSpPr>
        <p:spPr>
          <a:xfrm>
            <a:off x="8897112" y="1371117"/>
            <a:ext cx="365760" cy="274320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262872" y="1371117"/>
            <a:ext cx="2697480" cy="274320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897112" y="1371117"/>
            <a:ext cx="3657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1000" dirty="0"/>
          </a:p>
        </p:txBody>
      </p:sp>
      <p:sp>
        <p:nvSpPr>
          <p:cNvPr id="67" name="Text 65"/>
          <p:cNvSpPr/>
          <p:nvPr/>
        </p:nvSpPr>
        <p:spPr>
          <a:xfrm>
            <a:off x="9313164" y="1421409"/>
            <a:ext cx="2596896" cy="173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진입점이 같은 Modal을 연다</a:t>
            </a:r>
            <a:endParaRPr lang="ko-KR" sz="1000" dirty="0"/>
          </a:p>
        </p:txBody>
      </p:sp>
      <p:sp>
        <p:nvSpPr>
          <p:cNvPr id="68" name="Shape 66"/>
          <p:cNvSpPr/>
          <p:nvPr/>
        </p:nvSpPr>
        <p:spPr>
          <a:xfrm>
            <a:off x="8897112" y="1645437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262872" y="1645437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897112" y="1645437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sz="1000" dirty="0"/>
          </a:p>
        </p:txBody>
      </p:sp>
      <p:sp>
        <p:nvSpPr>
          <p:cNvPr id="71" name="Text 69"/>
          <p:cNvSpPr/>
          <p:nvPr/>
        </p:nvSpPr>
        <p:spPr>
          <a:xfrm>
            <a:off x="9313164" y="1695729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SP-LOG-01 RS1 그대로. LogId는 표시하지 않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는다</a:t>
            </a:r>
            <a:endParaRPr lang="ko-KR" sz="1000" dirty="0"/>
          </a:p>
        </p:txBody>
      </p:sp>
      <p:sp>
        <p:nvSpPr>
          <p:cNvPr id="72" name="Shape 70"/>
          <p:cNvSpPr/>
          <p:nvPr/>
        </p:nvSpPr>
        <p:spPr>
          <a:xfrm>
            <a:off x="8897112" y="2083867"/>
            <a:ext cx="365760" cy="274320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262872" y="2083867"/>
            <a:ext cx="2697480" cy="274320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897112" y="2083867"/>
            <a:ext cx="3657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sz="1000" dirty="0"/>
          </a:p>
        </p:txBody>
      </p:sp>
      <p:sp>
        <p:nvSpPr>
          <p:cNvPr id="75" name="Text 73"/>
          <p:cNvSpPr/>
          <p:nvPr/>
        </p:nvSpPr>
        <p:spPr>
          <a:xfrm>
            <a:off x="9313164" y="2134159"/>
            <a:ext cx="2596896" cy="173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인증되지 않은 자기신고 값이다</a:t>
            </a:r>
            <a:endParaRPr lang="ko-KR" sz="1000" dirty="0"/>
          </a:p>
        </p:txBody>
      </p:sp>
      <p:sp>
        <p:nvSpPr>
          <p:cNvPr id="76" name="Shape 74"/>
          <p:cNvSpPr/>
          <p:nvPr/>
        </p:nvSpPr>
        <p:spPr>
          <a:xfrm>
            <a:off x="8897112" y="2358187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262872" y="2358187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897112" y="2358187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sz="1000" dirty="0"/>
          </a:p>
        </p:txBody>
      </p:sp>
      <p:sp>
        <p:nvSpPr>
          <p:cNvPr id="79" name="Text 77"/>
          <p:cNvSpPr/>
          <p:nvPr/>
        </p:nvSpPr>
        <p:spPr>
          <a:xfrm>
            <a:off x="9313164" y="2408479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4000자에서 잘렸을 수 있다. 복원 근거가 아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니다</a:t>
            </a:r>
            <a:endParaRPr lang="ko-KR" sz="1000" dirty="0"/>
          </a:p>
        </p:txBody>
      </p:sp>
      <p:sp>
        <p:nvSpPr>
          <p:cNvPr id="80" name="Shape 78"/>
          <p:cNvSpPr/>
          <p:nvPr/>
        </p:nvSpPr>
        <p:spPr>
          <a:xfrm>
            <a:off x="8897112" y="2796616"/>
            <a:ext cx="365760" cy="274320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262872" y="2796616"/>
            <a:ext cx="2697480" cy="274320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897112" y="2796616"/>
            <a:ext cx="3657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ko-KR" sz="1000" dirty="0"/>
          </a:p>
        </p:txBody>
      </p:sp>
      <p:sp>
        <p:nvSpPr>
          <p:cNvPr id="83" name="Text 81"/>
          <p:cNvSpPr/>
          <p:nvPr/>
        </p:nvSpPr>
        <p:spPr>
          <a:xfrm>
            <a:off x="9313164" y="2846908"/>
            <a:ext cx="2596896" cy="173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0건은 오류가 아니다. Code=0을 돌려준다</a:t>
            </a:r>
            <a:endParaRPr lang="ko-KR" sz="1000" dirty="0"/>
          </a:p>
        </p:txBody>
      </p:sp>
      <p:sp>
        <p:nvSpPr>
          <p:cNvPr id="84" name="Shape 82"/>
          <p:cNvSpPr/>
          <p:nvPr/>
        </p:nvSpPr>
        <p:spPr>
          <a:xfrm>
            <a:off x="8897112" y="3070936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262872" y="3070936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313164" y="3121228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 전용이다. 편집·삭제·재적용 Action이 없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다.</a:t>
            </a:r>
            <a:endParaRPr lang="ko-KR" sz="1000" dirty="0"/>
          </a:p>
        </p:txBody>
      </p:sp>
      <p:sp>
        <p:nvSpPr>
          <p:cNvPr id="87" name="Shape 85"/>
          <p:cNvSpPr/>
          <p:nvPr/>
        </p:nvSpPr>
        <p:spPr>
          <a:xfrm>
            <a:off x="8897112" y="3509366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262872" y="3509366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313164" y="3559658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정렬은 기록일시 최신순 고정이고 사용자 정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렬이 없다.</a:t>
            </a:r>
            <a:endParaRPr lang="ko-KR" sz="1000" dirty="0"/>
          </a:p>
        </p:txBody>
      </p:sp>
      <p:sp>
        <p:nvSpPr>
          <p:cNvPr id="90" name="Shape 88"/>
          <p:cNvSpPr/>
          <p:nvPr/>
        </p:nvSpPr>
        <p:spPr>
          <a:xfrm>
            <a:off x="8897112" y="3947795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262872" y="3947795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313164" y="3998087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페이징을 두지 않는다. SP-LOG-01만 호출한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다.</a:t>
            </a:r>
            <a:endParaRPr lang="ko-KR" sz="1000" dirty="0"/>
          </a:p>
        </p:txBody>
      </p:sp>
      <p:sp>
        <p:nvSpPr>
          <p:cNvPr id="93" name="Shape 91"/>
          <p:cNvSpPr/>
          <p:nvPr/>
        </p:nvSpPr>
        <p:spPr>
          <a:xfrm>
            <a:off x="8897112" y="4386224"/>
            <a:ext cx="365760" cy="274320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262872" y="4386224"/>
            <a:ext cx="2697480" cy="274320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313164" y="4436516"/>
            <a:ext cx="2596896" cy="173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 행에서는 수검자 변경만 보인다.</a:t>
            </a:r>
            <a:endParaRPr lang="ko-KR" sz="1000" dirty="0"/>
          </a:p>
        </p:txBody>
      </p:sp>
      <p:sp>
        <p:nvSpPr>
          <p:cNvPr id="96" name="Shape 94"/>
          <p:cNvSpPr/>
          <p:nvPr/>
        </p:nvSpPr>
        <p:spPr>
          <a:xfrm>
            <a:off x="8897112" y="4660544"/>
            <a:ext cx="365760" cy="274320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262872" y="4660544"/>
            <a:ext cx="2697480" cy="274320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9313164" y="4710836"/>
            <a:ext cx="2596896" cy="173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열람은 변경이력을 남기지 않는다.</a:t>
            </a:r>
            <a:endParaRPr lang="ko-KR" sz="1000" dirty="0"/>
          </a:p>
        </p:txBody>
      </p:sp>
      <p:sp>
        <p:nvSpPr>
          <p:cNvPr id="99" name="Shape 97"/>
          <p:cNvSpPr/>
          <p:nvPr/>
        </p:nvSpPr>
        <p:spPr>
          <a:xfrm>
            <a:off x="708660" y="2217420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08660" y="2217420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1000" dirty="0"/>
          </a:p>
        </p:txBody>
      </p:sp>
      <p:sp>
        <p:nvSpPr>
          <p:cNvPr id="101" name="Shape 99"/>
          <p:cNvSpPr/>
          <p:nvPr/>
        </p:nvSpPr>
        <p:spPr>
          <a:xfrm>
            <a:off x="708660" y="3003804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08660" y="3003804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sz="1000" dirty="0"/>
          </a:p>
        </p:txBody>
      </p:sp>
      <p:sp>
        <p:nvSpPr>
          <p:cNvPr id="103" name="Shape 101"/>
          <p:cNvSpPr/>
          <p:nvPr/>
        </p:nvSpPr>
        <p:spPr>
          <a:xfrm>
            <a:off x="2034540" y="2772918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034540" y="2772918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sz="1000" dirty="0"/>
          </a:p>
        </p:txBody>
      </p:sp>
      <p:sp>
        <p:nvSpPr>
          <p:cNvPr id="105" name="Shape 103"/>
          <p:cNvSpPr/>
          <p:nvPr/>
        </p:nvSpPr>
        <p:spPr>
          <a:xfrm>
            <a:off x="4366260" y="2772918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366260" y="2772918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sz="1000" dirty="0"/>
          </a:p>
        </p:txBody>
      </p:sp>
      <p:sp>
        <p:nvSpPr>
          <p:cNvPr id="107" name="Shape 105"/>
          <p:cNvSpPr/>
          <p:nvPr/>
        </p:nvSpPr>
        <p:spPr>
          <a:xfrm>
            <a:off x="708660" y="4101084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708660" y="4101084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ko-KR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932688"/>
            <a:ext cx="8439912" cy="5349240"/>
          </a:xfrm>
          <a:prstGeom prst="rect">
            <a:avLst/>
          </a:prstGeom>
          <a:ln w="19050">
            <a:solidFill>
              <a:srgbClr val="C8C8C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0624" y="932688"/>
            <a:ext cx="8439912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C8C8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32688"/>
            <a:ext cx="54864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MainForm 상단 Navigation [휴무일 관리] (WF-00)   —   비활성(Modal)</a:t>
            </a:r>
            <a:endParaRPr lang="ko-KR" sz="800" dirty="0"/>
          </a:p>
        </p:txBody>
      </p:sp>
      <p:sp>
        <p:nvSpPr>
          <p:cNvPr id="5" name="Shape 3"/>
          <p:cNvSpPr/>
          <p:nvPr/>
        </p:nvSpPr>
        <p:spPr>
          <a:xfrm>
            <a:off x="708660" y="1641348"/>
            <a:ext cx="786384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86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09060" y="1504188"/>
            <a:ext cx="146304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09060" y="1504188"/>
            <a:ext cx="14630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휴무일 관리</a:t>
            </a:r>
            <a:endParaRPr lang="ko-KR" sz="950" dirty="0"/>
          </a:p>
        </p:txBody>
      </p:sp>
      <p:sp>
        <p:nvSpPr>
          <p:cNvPr id="8" name="Shape 6"/>
          <p:cNvSpPr/>
          <p:nvPr/>
        </p:nvSpPr>
        <p:spPr>
          <a:xfrm>
            <a:off x="7466076" y="5189220"/>
            <a:ext cx="960120" cy="256032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66076" y="5189220"/>
            <a:ext cx="9601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닫기</a:t>
            </a:r>
            <a:endParaRPr lang="ko-KR" sz="950" dirty="0"/>
          </a:p>
        </p:txBody>
      </p:sp>
      <p:sp>
        <p:nvSpPr>
          <p:cNvPr id="10" name="Shape 8"/>
          <p:cNvSpPr/>
          <p:nvPr/>
        </p:nvSpPr>
        <p:spPr>
          <a:xfrm>
            <a:off x="6414516" y="5189220"/>
            <a:ext cx="960120" cy="256032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4516" y="5189220"/>
            <a:ext cx="9601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</a:t>
            </a:r>
            <a:endParaRPr lang="ko-KR" sz="950" dirty="0"/>
          </a:p>
        </p:txBody>
      </p:sp>
      <p:sp>
        <p:nvSpPr>
          <p:cNvPr id="12" name="Shape 10"/>
          <p:cNvSpPr/>
          <p:nvPr/>
        </p:nvSpPr>
        <p:spPr>
          <a:xfrm>
            <a:off x="5362956" y="5189220"/>
            <a:ext cx="960120" cy="256032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62956" y="5189220"/>
            <a:ext cx="9601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</a:t>
            </a:r>
            <a:endParaRPr lang="ko-KR" sz="950" dirty="0"/>
          </a:p>
        </p:txBody>
      </p:sp>
      <p:sp>
        <p:nvSpPr>
          <p:cNvPr id="14" name="Shape 12"/>
          <p:cNvSpPr/>
          <p:nvPr/>
        </p:nvSpPr>
        <p:spPr>
          <a:xfrm>
            <a:off x="4311396" y="5189220"/>
            <a:ext cx="960120" cy="256032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11396" y="5189220"/>
            <a:ext cx="9601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</a:t>
            </a:r>
            <a:endParaRPr lang="ko-KR" sz="950" dirty="0"/>
          </a:p>
        </p:txBody>
      </p:sp>
      <p:sp>
        <p:nvSpPr>
          <p:cNvPr id="16" name="Shape 14"/>
          <p:cNvSpPr/>
          <p:nvPr/>
        </p:nvSpPr>
        <p:spPr>
          <a:xfrm>
            <a:off x="854964" y="1879092"/>
            <a:ext cx="7571232" cy="566928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8116" y="1906524"/>
            <a:ext cx="74249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조회조건</a:t>
            </a:r>
            <a:endParaRPr lang="ko-KR" sz="800" dirty="0"/>
          </a:p>
        </p:txBody>
      </p:sp>
      <p:sp>
        <p:nvSpPr>
          <p:cNvPr id="18" name="Shape 16"/>
          <p:cNvSpPr/>
          <p:nvPr/>
        </p:nvSpPr>
        <p:spPr>
          <a:xfrm>
            <a:off x="854964" y="2089404"/>
            <a:ext cx="7571232" cy="0"/>
          </a:xfrm>
          <a:prstGeom prst="line">
            <a:avLst/>
          </a:prstGeom>
          <a:noFill/>
          <a:ln w="9525">
            <a:solidFill>
              <a:srgbClr val="8C9BB5"/>
            </a:solidFill>
            <a:prstDash val="solid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7566660" y="2125980"/>
            <a:ext cx="731520" cy="237744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66660" y="2125980"/>
            <a:ext cx="731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</a:t>
            </a:r>
            <a:endParaRPr lang="ko-KR" sz="950" dirty="0"/>
          </a:p>
        </p:txBody>
      </p:sp>
      <p:sp>
        <p:nvSpPr>
          <p:cNvPr id="21" name="Text 19"/>
          <p:cNvSpPr/>
          <p:nvPr/>
        </p:nvSpPr>
        <p:spPr>
          <a:xfrm>
            <a:off x="946404" y="2125980"/>
            <a:ext cx="62179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조회기간</a:t>
            </a:r>
            <a:endParaRPr lang="ko-KR" sz="800" dirty="0"/>
          </a:p>
        </p:txBody>
      </p:sp>
      <p:sp>
        <p:nvSpPr>
          <p:cNvPr id="22" name="Shape 20"/>
          <p:cNvSpPr/>
          <p:nvPr/>
        </p:nvSpPr>
        <p:spPr>
          <a:xfrm>
            <a:off x="1568196" y="2125980"/>
            <a:ext cx="960120" cy="21945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68196" y="2125980"/>
            <a:ext cx="96012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2026-01-01</a:t>
            </a:r>
            <a:endParaRPr lang="ko-KR" sz="900" dirty="0"/>
          </a:p>
        </p:txBody>
      </p:sp>
      <p:sp>
        <p:nvSpPr>
          <p:cNvPr id="24" name="Text 22"/>
          <p:cNvSpPr/>
          <p:nvPr/>
        </p:nvSpPr>
        <p:spPr>
          <a:xfrm>
            <a:off x="2674620" y="2125980"/>
            <a:ext cx="14630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</a:t>
            </a:r>
            <a:endParaRPr lang="ko-KR" sz="800" dirty="0"/>
          </a:p>
        </p:txBody>
      </p:sp>
      <p:sp>
        <p:nvSpPr>
          <p:cNvPr id="25" name="Shape 23"/>
          <p:cNvSpPr/>
          <p:nvPr/>
        </p:nvSpPr>
        <p:spPr>
          <a:xfrm>
            <a:off x="2820924" y="2125980"/>
            <a:ext cx="960120" cy="21945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20924" y="2125980"/>
            <a:ext cx="96012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2027-12-31</a:t>
            </a:r>
            <a:endParaRPr lang="ko-KR" sz="900" dirty="0"/>
          </a:p>
        </p:txBody>
      </p:sp>
      <p:sp>
        <p:nvSpPr>
          <p:cNvPr id="27" name="Text 25"/>
          <p:cNvSpPr/>
          <p:nvPr/>
        </p:nvSpPr>
        <p:spPr>
          <a:xfrm>
            <a:off x="3927348" y="2125980"/>
            <a:ext cx="38404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ko-KR" sz="800" dirty="0"/>
          </a:p>
        </p:txBody>
      </p:sp>
      <p:sp>
        <p:nvSpPr>
          <p:cNvPr id="28" name="Shape 26"/>
          <p:cNvSpPr/>
          <p:nvPr/>
        </p:nvSpPr>
        <p:spPr>
          <a:xfrm>
            <a:off x="4311396" y="2125980"/>
            <a:ext cx="1005840" cy="21945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11396" y="2125980"/>
            <a:ext cx="100584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</a:t>
            </a:r>
            <a:endParaRPr lang="ko-KR" sz="900" dirty="0"/>
          </a:p>
        </p:txBody>
      </p:sp>
      <p:sp>
        <p:nvSpPr>
          <p:cNvPr id="30" name="Shape 28"/>
          <p:cNvSpPr/>
          <p:nvPr/>
        </p:nvSpPr>
        <p:spPr>
          <a:xfrm>
            <a:off x="854964" y="2537460"/>
            <a:ext cx="7571232" cy="274320"/>
          </a:xfrm>
          <a:prstGeom prst="rect">
            <a:avLst/>
          </a:prstGeom>
          <a:solidFill>
            <a:srgbClr val="F2F2F2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2980" y="2537460"/>
            <a:ext cx="7315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   공휴일 등재가 2027-12-27 에 끝납니다.  남은 기간 120일 — 갱신이 필요합니다</a:t>
            </a:r>
            <a:endParaRPr lang="ko-KR" sz="950" dirty="0"/>
          </a:p>
        </p:txBody>
      </p:sp>
      <p:sp>
        <p:nvSpPr>
          <p:cNvPr id="32" name="Shape 30"/>
          <p:cNvSpPr/>
          <p:nvPr/>
        </p:nvSpPr>
        <p:spPr>
          <a:xfrm>
            <a:off x="854964" y="2921508"/>
            <a:ext cx="7571232" cy="1051560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8116" y="2948940"/>
            <a:ext cx="74249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휴무일 목록  ·  휴무일자 오름차순 고정</a:t>
            </a:r>
            <a:endParaRPr lang="ko-KR" sz="800" dirty="0"/>
          </a:p>
        </p:txBody>
      </p:sp>
      <p:sp>
        <p:nvSpPr>
          <p:cNvPr id="34" name="Shape 32"/>
          <p:cNvSpPr/>
          <p:nvPr/>
        </p:nvSpPr>
        <p:spPr>
          <a:xfrm>
            <a:off x="854964" y="3131820"/>
            <a:ext cx="7571232" cy="0"/>
          </a:xfrm>
          <a:prstGeom prst="line">
            <a:avLst/>
          </a:prstGeom>
          <a:noFill/>
          <a:ln w="9525">
            <a:solidFill>
              <a:srgbClr val="8C9BB5"/>
            </a:solidFill>
            <a:prstDash val="solid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946404" y="3168396"/>
            <a:ext cx="1097280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6404" y="3168396"/>
            <a:ext cx="109728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휴무일자</a:t>
            </a:r>
            <a:endParaRPr lang="ko-KR" sz="900" dirty="0"/>
          </a:p>
        </p:txBody>
      </p:sp>
      <p:sp>
        <p:nvSpPr>
          <p:cNvPr id="37" name="Shape 35"/>
          <p:cNvSpPr/>
          <p:nvPr/>
        </p:nvSpPr>
        <p:spPr>
          <a:xfrm>
            <a:off x="2043684" y="3168396"/>
            <a:ext cx="1737360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98548" y="3168396"/>
            <a:ext cx="168249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휴무일명</a:t>
            </a:r>
            <a:endParaRPr lang="ko-KR" sz="900" dirty="0"/>
          </a:p>
        </p:txBody>
      </p:sp>
      <p:sp>
        <p:nvSpPr>
          <p:cNvPr id="39" name="Shape 37"/>
          <p:cNvSpPr/>
          <p:nvPr/>
        </p:nvSpPr>
        <p:spPr>
          <a:xfrm>
            <a:off x="3781044" y="3168396"/>
            <a:ext cx="1097280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81044" y="3168396"/>
            <a:ext cx="109728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휴무구분</a:t>
            </a:r>
            <a:endParaRPr lang="ko-KR" sz="900" dirty="0"/>
          </a:p>
        </p:txBody>
      </p:sp>
      <p:sp>
        <p:nvSpPr>
          <p:cNvPr id="41" name="Shape 39"/>
          <p:cNvSpPr/>
          <p:nvPr/>
        </p:nvSpPr>
        <p:spPr>
          <a:xfrm>
            <a:off x="4878324" y="3168396"/>
            <a:ext cx="822960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78324" y="3168396"/>
            <a:ext cx="82296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사용여부</a:t>
            </a:r>
            <a:endParaRPr lang="ko-KR" sz="900" dirty="0"/>
          </a:p>
        </p:txBody>
      </p:sp>
      <p:sp>
        <p:nvSpPr>
          <p:cNvPr id="43" name="Shape 41"/>
          <p:cNvSpPr/>
          <p:nvPr/>
        </p:nvSpPr>
        <p:spPr>
          <a:xfrm>
            <a:off x="5701284" y="3168396"/>
            <a:ext cx="2633472" cy="17830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56148" y="3168396"/>
            <a:ext cx="2578608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ko-KR" sz="900" dirty="0"/>
          </a:p>
        </p:txBody>
      </p:sp>
      <p:sp>
        <p:nvSpPr>
          <p:cNvPr id="45" name="Shape 43"/>
          <p:cNvSpPr/>
          <p:nvPr/>
        </p:nvSpPr>
        <p:spPr>
          <a:xfrm>
            <a:off x="946404" y="3346704"/>
            <a:ext cx="109728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46404" y="3346704"/>
            <a:ext cx="109728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2026-12-25</a:t>
            </a:r>
            <a:endParaRPr lang="ko-KR" sz="900" dirty="0"/>
          </a:p>
        </p:txBody>
      </p:sp>
      <p:sp>
        <p:nvSpPr>
          <p:cNvPr id="47" name="Shape 45"/>
          <p:cNvSpPr/>
          <p:nvPr/>
        </p:nvSpPr>
        <p:spPr>
          <a:xfrm>
            <a:off x="2043684" y="3346704"/>
            <a:ext cx="173736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098548" y="3346704"/>
            <a:ext cx="168249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성탄절</a:t>
            </a:r>
            <a:endParaRPr lang="ko-KR" sz="900" dirty="0"/>
          </a:p>
        </p:txBody>
      </p:sp>
      <p:sp>
        <p:nvSpPr>
          <p:cNvPr id="49" name="Shape 47"/>
          <p:cNvSpPr/>
          <p:nvPr/>
        </p:nvSpPr>
        <p:spPr>
          <a:xfrm>
            <a:off x="3781044" y="3346704"/>
            <a:ext cx="109728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81044" y="3346704"/>
            <a:ext cx="109728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법정공휴일</a:t>
            </a:r>
            <a:endParaRPr lang="ko-KR" sz="900" dirty="0"/>
          </a:p>
        </p:txBody>
      </p:sp>
      <p:sp>
        <p:nvSpPr>
          <p:cNvPr id="51" name="Shape 49"/>
          <p:cNvSpPr/>
          <p:nvPr/>
        </p:nvSpPr>
        <p:spPr>
          <a:xfrm>
            <a:off x="4878324" y="3346704"/>
            <a:ext cx="82296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78324" y="3346704"/>
            <a:ext cx="82296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</a:t>
            </a:r>
            <a:endParaRPr lang="ko-KR" sz="900" dirty="0"/>
          </a:p>
        </p:txBody>
      </p:sp>
      <p:sp>
        <p:nvSpPr>
          <p:cNvPr id="53" name="Shape 51"/>
          <p:cNvSpPr/>
          <p:nvPr/>
        </p:nvSpPr>
        <p:spPr>
          <a:xfrm>
            <a:off x="5701284" y="3346704"/>
            <a:ext cx="2633472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46404" y="3525012"/>
            <a:ext cx="109728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46404" y="3525012"/>
            <a:ext cx="109728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2026-12-26</a:t>
            </a:r>
            <a:endParaRPr lang="ko-KR" sz="900" dirty="0"/>
          </a:p>
        </p:txBody>
      </p:sp>
      <p:sp>
        <p:nvSpPr>
          <p:cNvPr id="56" name="Shape 54"/>
          <p:cNvSpPr/>
          <p:nvPr/>
        </p:nvSpPr>
        <p:spPr>
          <a:xfrm>
            <a:off x="2043684" y="3525012"/>
            <a:ext cx="173736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098548" y="3525012"/>
            <a:ext cx="168249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센터 휴진일</a:t>
            </a:r>
            <a:endParaRPr lang="ko-KR" sz="900" dirty="0"/>
          </a:p>
        </p:txBody>
      </p:sp>
      <p:sp>
        <p:nvSpPr>
          <p:cNvPr id="58" name="Shape 56"/>
          <p:cNvSpPr/>
          <p:nvPr/>
        </p:nvSpPr>
        <p:spPr>
          <a:xfrm>
            <a:off x="3781044" y="3525012"/>
            <a:ext cx="109728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781044" y="3525012"/>
            <a:ext cx="109728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자체휴무일</a:t>
            </a:r>
            <a:endParaRPr lang="ko-KR" sz="900" dirty="0"/>
          </a:p>
        </p:txBody>
      </p:sp>
      <p:sp>
        <p:nvSpPr>
          <p:cNvPr id="60" name="Shape 58"/>
          <p:cNvSpPr/>
          <p:nvPr/>
        </p:nvSpPr>
        <p:spPr>
          <a:xfrm>
            <a:off x="4878324" y="3525012"/>
            <a:ext cx="82296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78324" y="3525012"/>
            <a:ext cx="82296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</a:t>
            </a:r>
            <a:endParaRPr lang="ko-KR" sz="900" dirty="0"/>
          </a:p>
        </p:txBody>
      </p:sp>
      <p:sp>
        <p:nvSpPr>
          <p:cNvPr id="62" name="Shape 60"/>
          <p:cNvSpPr/>
          <p:nvPr/>
        </p:nvSpPr>
        <p:spPr>
          <a:xfrm>
            <a:off x="5701284" y="3525012"/>
            <a:ext cx="2633472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756148" y="3525012"/>
            <a:ext cx="2578608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정기 휴진</a:t>
            </a:r>
            <a:endParaRPr lang="ko-KR" sz="900" dirty="0"/>
          </a:p>
        </p:txBody>
      </p:sp>
      <p:sp>
        <p:nvSpPr>
          <p:cNvPr id="64" name="Shape 62"/>
          <p:cNvSpPr/>
          <p:nvPr/>
        </p:nvSpPr>
        <p:spPr>
          <a:xfrm>
            <a:off x="946404" y="3703320"/>
            <a:ext cx="109728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46404" y="3703320"/>
            <a:ext cx="109728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2027-01-01</a:t>
            </a:r>
            <a:endParaRPr lang="ko-KR" sz="900" dirty="0"/>
          </a:p>
        </p:txBody>
      </p:sp>
      <p:sp>
        <p:nvSpPr>
          <p:cNvPr id="66" name="Shape 64"/>
          <p:cNvSpPr/>
          <p:nvPr/>
        </p:nvSpPr>
        <p:spPr>
          <a:xfrm>
            <a:off x="2043684" y="3703320"/>
            <a:ext cx="173736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098548" y="3703320"/>
            <a:ext cx="1682496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신정</a:t>
            </a:r>
            <a:endParaRPr lang="ko-KR" sz="900" dirty="0"/>
          </a:p>
        </p:txBody>
      </p:sp>
      <p:sp>
        <p:nvSpPr>
          <p:cNvPr id="68" name="Shape 66"/>
          <p:cNvSpPr/>
          <p:nvPr/>
        </p:nvSpPr>
        <p:spPr>
          <a:xfrm>
            <a:off x="3781044" y="3703320"/>
            <a:ext cx="109728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781044" y="3703320"/>
            <a:ext cx="109728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법정공휴일</a:t>
            </a:r>
            <a:endParaRPr lang="ko-KR" sz="900" dirty="0"/>
          </a:p>
        </p:txBody>
      </p:sp>
      <p:sp>
        <p:nvSpPr>
          <p:cNvPr id="70" name="Shape 68"/>
          <p:cNvSpPr/>
          <p:nvPr/>
        </p:nvSpPr>
        <p:spPr>
          <a:xfrm>
            <a:off x="4878324" y="3703320"/>
            <a:ext cx="822960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78324" y="3703320"/>
            <a:ext cx="822960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</a:t>
            </a:r>
            <a:endParaRPr lang="ko-KR" sz="900" dirty="0"/>
          </a:p>
        </p:txBody>
      </p:sp>
      <p:sp>
        <p:nvSpPr>
          <p:cNvPr id="72" name="Shape 70"/>
          <p:cNvSpPr/>
          <p:nvPr/>
        </p:nvSpPr>
        <p:spPr>
          <a:xfrm>
            <a:off x="5701284" y="3703320"/>
            <a:ext cx="2633472" cy="178308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54964" y="4082796"/>
            <a:ext cx="7571232" cy="868680"/>
          </a:xfrm>
          <a:prstGeom prst="rect">
            <a:avLst/>
          </a:prstGeom>
          <a:ln w="19050">
            <a:solidFill>
              <a:srgbClr val="1F386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28116" y="4110228"/>
            <a:ext cx="74249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자체휴무일 입력  ·  법정·대체 공휴일 행을 고르면 비활성</a:t>
            </a:r>
            <a:endParaRPr lang="ko-KR" sz="800" dirty="0"/>
          </a:p>
        </p:txBody>
      </p:sp>
      <p:sp>
        <p:nvSpPr>
          <p:cNvPr id="75" name="Shape 73"/>
          <p:cNvSpPr/>
          <p:nvPr/>
        </p:nvSpPr>
        <p:spPr>
          <a:xfrm>
            <a:off x="854964" y="4293108"/>
            <a:ext cx="7571232" cy="0"/>
          </a:xfrm>
          <a:prstGeom prst="line">
            <a:avLst/>
          </a:prstGeom>
          <a:noFill/>
          <a:ln w="9525">
            <a:solidFill>
              <a:srgbClr val="8C9BB5"/>
            </a:solidFill>
            <a:prstDash val="solid"/>
            <a:tailEnd type="none"/>
          </a:ln>
        </p:spPr>
      </p:sp>
      <p:sp>
        <p:nvSpPr>
          <p:cNvPr id="76" name="Text 74"/>
          <p:cNvSpPr/>
          <p:nvPr/>
        </p:nvSpPr>
        <p:spPr>
          <a:xfrm>
            <a:off x="946404" y="4329684"/>
            <a:ext cx="62179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휴무일자</a:t>
            </a:r>
            <a:endParaRPr lang="ko-KR" sz="800" dirty="0"/>
          </a:p>
        </p:txBody>
      </p:sp>
      <p:sp>
        <p:nvSpPr>
          <p:cNvPr id="77" name="Shape 75"/>
          <p:cNvSpPr/>
          <p:nvPr/>
        </p:nvSpPr>
        <p:spPr>
          <a:xfrm>
            <a:off x="1568196" y="4329684"/>
            <a:ext cx="1051560" cy="21945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568196" y="4329684"/>
            <a:ext cx="105156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2027-03-14</a:t>
            </a:r>
            <a:endParaRPr lang="ko-KR" sz="900" dirty="0"/>
          </a:p>
        </p:txBody>
      </p:sp>
      <p:sp>
        <p:nvSpPr>
          <p:cNvPr id="79" name="Text 77"/>
          <p:cNvSpPr/>
          <p:nvPr/>
        </p:nvSpPr>
        <p:spPr>
          <a:xfrm>
            <a:off x="2784348" y="4329684"/>
            <a:ext cx="62179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휴무일명</a:t>
            </a:r>
            <a:endParaRPr lang="ko-KR" sz="800" dirty="0"/>
          </a:p>
        </p:txBody>
      </p:sp>
      <p:sp>
        <p:nvSpPr>
          <p:cNvPr id="80" name="Shape 78"/>
          <p:cNvSpPr/>
          <p:nvPr/>
        </p:nvSpPr>
        <p:spPr>
          <a:xfrm>
            <a:off x="3406140" y="4329684"/>
            <a:ext cx="1874520" cy="21945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406140" y="4329684"/>
            <a:ext cx="187452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센터 정기 휴진일</a:t>
            </a:r>
            <a:endParaRPr lang="ko-KR" sz="900" dirty="0"/>
          </a:p>
        </p:txBody>
      </p:sp>
      <p:sp>
        <p:nvSpPr>
          <p:cNvPr id="82" name="Text 80"/>
          <p:cNvSpPr/>
          <p:nvPr/>
        </p:nvSpPr>
        <p:spPr>
          <a:xfrm>
            <a:off x="5445252" y="4329684"/>
            <a:ext cx="62179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사용여부</a:t>
            </a:r>
            <a:endParaRPr lang="ko-KR" sz="800" dirty="0"/>
          </a:p>
        </p:txBody>
      </p:sp>
      <p:sp>
        <p:nvSpPr>
          <p:cNvPr id="83" name="Shape 81"/>
          <p:cNvSpPr/>
          <p:nvPr/>
        </p:nvSpPr>
        <p:spPr>
          <a:xfrm>
            <a:off x="6067044" y="4329684"/>
            <a:ext cx="502920" cy="21945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067044" y="4329684"/>
            <a:ext cx="50292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</a:t>
            </a:r>
            <a:endParaRPr lang="ko-KR" sz="900" dirty="0"/>
          </a:p>
        </p:txBody>
      </p:sp>
      <p:sp>
        <p:nvSpPr>
          <p:cNvPr id="85" name="Text 83"/>
          <p:cNvSpPr/>
          <p:nvPr/>
        </p:nvSpPr>
        <p:spPr>
          <a:xfrm>
            <a:off x="946404" y="4640580"/>
            <a:ext cx="62179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ko-KR" sz="800" dirty="0"/>
          </a:p>
        </p:txBody>
      </p:sp>
      <p:sp>
        <p:nvSpPr>
          <p:cNvPr id="86" name="Shape 84"/>
          <p:cNvSpPr/>
          <p:nvPr/>
        </p:nvSpPr>
        <p:spPr>
          <a:xfrm>
            <a:off x="1568196" y="4640580"/>
            <a:ext cx="4160520" cy="219456"/>
          </a:xfrm>
          <a:prstGeom prst="rect">
            <a:avLst/>
          </a:prstGeom>
          <a:ln w="12700">
            <a:solidFill>
              <a:srgbClr val="1F3864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568196" y="4640580"/>
            <a:ext cx="416052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점검</a:t>
            </a:r>
            <a:endParaRPr lang="ko-KR" sz="900" dirty="0"/>
          </a:p>
        </p:txBody>
      </p:sp>
      <p:sp>
        <p:nvSpPr>
          <p:cNvPr id="88" name="Text 86"/>
          <p:cNvSpPr/>
          <p:nvPr/>
        </p:nvSpPr>
        <p:spPr>
          <a:xfrm>
            <a:off x="420624" y="164592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휴무일 관리</a:t>
            </a:r>
            <a:endParaRPr lang="ko-KR" sz="3000" dirty="0"/>
          </a:p>
        </p:txBody>
      </p:sp>
      <p:sp>
        <p:nvSpPr>
          <p:cNvPr id="89" name="Shape 87"/>
          <p:cNvSpPr/>
          <p:nvPr/>
        </p:nvSpPr>
        <p:spPr>
          <a:xfrm>
            <a:off x="8897112" y="932688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262872" y="932688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313164" y="982980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DLG-HOL-01  휴무일 관리 · Modal ·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F-COM-009</a:t>
            </a:r>
            <a:endParaRPr lang="ko-KR" sz="1000" dirty="0"/>
          </a:p>
        </p:txBody>
      </p:sp>
      <p:sp>
        <p:nvSpPr>
          <p:cNvPr id="92" name="Shape 90"/>
          <p:cNvSpPr/>
          <p:nvPr/>
        </p:nvSpPr>
        <p:spPr>
          <a:xfrm>
            <a:off x="8897112" y="1371117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262872" y="1371117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897112" y="1371117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1000" dirty="0"/>
          </a:p>
        </p:txBody>
      </p:sp>
      <p:sp>
        <p:nvSpPr>
          <p:cNvPr id="95" name="Text 93"/>
          <p:cNvSpPr/>
          <p:nvPr/>
        </p:nvSpPr>
        <p:spPr>
          <a:xfrm>
            <a:off x="9313164" y="1421409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기간은 업무정책이 정한 공휴일 등재 범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위다</a:t>
            </a:r>
            <a:endParaRPr lang="ko-KR" sz="1000" dirty="0"/>
          </a:p>
        </p:txBody>
      </p:sp>
      <p:sp>
        <p:nvSpPr>
          <p:cNvPr id="96" name="Shape 94"/>
          <p:cNvSpPr/>
          <p:nvPr/>
        </p:nvSpPr>
        <p:spPr>
          <a:xfrm>
            <a:off x="8897112" y="1809547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262872" y="1809547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897112" y="1809547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sz="1000" dirty="0"/>
          </a:p>
        </p:txBody>
      </p:sp>
      <p:sp>
        <p:nvSpPr>
          <p:cNvPr id="99" name="Text 97"/>
          <p:cNvSpPr/>
          <p:nvPr/>
        </p:nvSpPr>
        <p:spPr>
          <a:xfrm>
            <a:off x="9313164" y="1859839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잔여가 임계 미만일 때만 나타난다. 편집을 막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 않는다</a:t>
            </a:r>
            <a:endParaRPr lang="ko-KR" sz="1000" dirty="0"/>
          </a:p>
        </p:txBody>
      </p:sp>
      <p:sp>
        <p:nvSpPr>
          <p:cNvPr id="100" name="Shape 98"/>
          <p:cNvSpPr/>
          <p:nvPr/>
        </p:nvSpPr>
        <p:spPr>
          <a:xfrm>
            <a:off x="8897112" y="2247976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262872" y="2247976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897112" y="2247976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sz="1000" dirty="0"/>
          </a:p>
        </p:txBody>
      </p:sp>
      <p:sp>
        <p:nvSpPr>
          <p:cNvPr id="103" name="Text 101"/>
          <p:cNvSpPr/>
          <p:nvPr/>
        </p:nvSpPr>
        <p:spPr>
          <a:xfrm>
            <a:off x="9313164" y="2298268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SP-HOL-01 RS1 의 다섯 컬럼. 일요일은 목록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없다</a:t>
            </a:r>
            <a:endParaRPr lang="ko-KR" sz="1000" dirty="0"/>
          </a:p>
        </p:txBody>
      </p:sp>
      <p:sp>
        <p:nvSpPr>
          <p:cNvPr id="104" name="Shape 102"/>
          <p:cNvSpPr/>
          <p:nvPr/>
        </p:nvSpPr>
        <p:spPr>
          <a:xfrm>
            <a:off x="8897112" y="2686406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262872" y="2686406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897112" y="2686406"/>
            <a:ext cx="365760" cy="438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sz="1000" dirty="0"/>
          </a:p>
        </p:txBody>
      </p:sp>
      <p:sp>
        <p:nvSpPr>
          <p:cNvPr id="107" name="Text 105"/>
          <p:cNvSpPr/>
          <p:nvPr/>
        </p:nvSpPr>
        <p:spPr>
          <a:xfrm>
            <a:off x="9313164" y="2736698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법정공휴일 · 대체공휴일 · 자체휴무일 세 값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</a:t>
            </a:r>
            <a:endParaRPr lang="ko-KR" sz="1000" dirty="0"/>
          </a:p>
        </p:txBody>
      </p:sp>
      <p:sp>
        <p:nvSpPr>
          <p:cNvPr id="108" name="Shape 106"/>
          <p:cNvSpPr/>
          <p:nvPr/>
        </p:nvSpPr>
        <p:spPr>
          <a:xfrm>
            <a:off x="8897112" y="3124835"/>
            <a:ext cx="365760" cy="274320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262872" y="3124835"/>
            <a:ext cx="2697480" cy="274320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8897112" y="3124835"/>
            <a:ext cx="3657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ko-KR" sz="1000" dirty="0"/>
          </a:p>
        </p:txBody>
      </p:sp>
      <p:sp>
        <p:nvSpPr>
          <p:cNvPr id="111" name="Text 109"/>
          <p:cNvSpPr/>
          <p:nvPr/>
        </p:nvSpPr>
        <p:spPr>
          <a:xfrm>
            <a:off x="9313164" y="3175127"/>
            <a:ext cx="2596896" cy="173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추가하면 휴무구분은 항상 자체휴무일이다</a:t>
            </a:r>
            <a:endParaRPr lang="ko-KR" sz="1000" dirty="0"/>
          </a:p>
        </p:txBody>
      </p:sp>
      <p:sp>
        <p:nvSpPr>
          <p:cNvPr id="112" name="Shape 110"/>
          <p:cNvSpPr/>
          <p:nvPr/>
        </p:nvSpPr>
        <p:spPr>
          <a:xfrm>
            <a:off x="8897112" y="3399155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262872" y="3399155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9313164" y="3449447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법정 · 대체 공휴일 행은 회색이며 선택해도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입력행에 싣지 않는다.</a:t>
            </a:r>
            <a:endParaRPr lang="ko-KR" sz="1000" dirty="0"/>
          </a:p>
        </p:txBody>
      </p:sp>
      <p:sp>
        <p:nvSpPr>
          <p:cNvPr id="115" name="Shape 113"/>
          <p:cNvSpPr/>
          <p:nvPr/>
        </p:nvSpPr>
        <p:spPr>
          <a:xfrm>
            <a:off x="8897112" y="3837584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9262872" y="3837584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9313164" y="3887876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수정은 휴무일명 · 사용여부 · 비고만 바꾼다.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휴무일자는 바꾸지 않는다.</a:t>
            </a:r>
            <a:endParaRPr lang="ko-KR" sz="1000" dirty="0"/>
          </a:p>
        </p:txBody>
      </p:sp>
      <p:sp>
        <p:nvSpPr>
          <p:cNvPr id="118" name="Shape 116"/>
          <p:cNvSpPr/>
          <p:nvPr/>
        </p:nvSpPr>
        <p:spPr>
          <a:xfrm>
            <a:off x="8897112" y="4276014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9262872" y="4276014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9313164" y="4326306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삭제는 물리 삭제다. 사용여부 0 은 일시 무효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화이며 날짜를 계속 점유한다.</a:t>
            </a:r>
            <a:endParaRPr lang="ko-KR" sz="1000" dirty="0"/>
          </a:p>
        </p:txBody>
      </p:sp>
      <p:sp>
        <p:nvSpPr>
          <p:cNvPr id="121" name="Shape 119"/>
          <p:cNvSpPr/>
          <p:nvPr/>
        </p:nvSpPr>
        <p:spPr>
          <a:xfrm>
            <a:off x="8897112" y="4714443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262872" y="4714443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9313164" y="4764735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 중복과 공백 휴무일명의 최종 판단은 저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 프로시저가 한다.</a:t>
            </a:r>
            <a:endParaRPr lang="ko-KR" sz="1000" dirty="0"/>
          </a:p>
        </p:txBody>
      </p:sp>
      <p:sp>
        <p:nvSpPr>
          <p:cNvPr id="124" name="Shape 122"/>
          <p:cNvSpPr/>
          <p:nvPr/>
        </p:nvSpPr>
        <p:spPr>
          <a:xfrm>
            <a:off x="8897112" y="5152873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9262872" y="5152873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9313164" y="5203165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Tab 을 열지 않으므로 열려 있는 업무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화면의 상태를 바꾸지 않는다.</a:t>
            </a:r>
            <a:endParaRPr lang="ko-KR" sz="1000" dirty="0"/>
          </a:p>
        </p:txBody>
      </p:sp>
      <p:sp>
        <p:nvSpPr>
          <p:cNvPr id="127" name="Shape 125"/>
          <p:cNvSpPr/>
          <p:nvPr/>
        </p:nvSpPr>
        <p:spPr>
          <a:xfrm>
            <a:off x="8897112" y="5591302"/>
            <a:ext cx="36576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9262872" y="5591302"/>
            <a:ext cx="2697480" cy="438429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9313164" y="5641594"/>
            <a:ext cx="2596896" cy="33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RowVersion 은 표시하지 않고 들고만 있는다.</a:t>
            </a:r>
            <a:endParaRPr lang="ko-KR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· 삭제가 그 값을 함께 보낸다.</a:t>
            </a:r>
            <a:endParaRPr lang="ko-KR" sz="1000" dirty="0"/>
          </a:p>
        </p:txBody>
      </p:sp>
      <p:sp>
        <p:nvSpPr>
          <p:cNvPr id="130" name="Shape 128"/>
          <p:cNvSpPr/>
          <p:nvPr/>
        </p:nvSpPr>
        <p:spPr>
          <a:xfrm>
            <a:off x="708660" y="2052828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708660" y="2052828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1000" dirty="0"/>
          </a:p>
        </p:txBody>
      </p:sp>
      <p:sp>
        <p:nvSpPr>
          <p:cNvPr id="132" name="Shape 130"/>
          <p:cNvSpPr/>
          <p:nvPr/>
        </p:nvSpPr>
        <p:spPr>
          <a:xfrm>
            <a:off x="708660" y="2564892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708660" y="2564892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sz="1000" dirty="0"/>
          </a:p>
        </p:txBody>
      </p:sp>
      <p:sp>
        <p:nvSpPr>
          <p:cNvPr id="134" name="Shape 132"/>
          <p:cNvSpPr/>
          <p:nvPr/>
        </p:nvSpPr>
        <p:spPr>
          <a:xfrm>
            <a:off x="708660" y="3337560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708660" y="3337560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sz="1000" dirty="0"/>
          </a:p>
        </p:txBody>
      </p:sp>
      <p:sp>
        <p:nvSpPr>
          <p:cNvPr id="136" name="Shape 134"/>
          <p:cNvSpPr/>
          <p:nvPr/>
        </p:nvSpPr>
        <p:spPr>
          <a:xfrm>
            <a:off x="3634740" y="3147822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3634740" y="3147822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sz="1000" dirty="0"/>
          </a:p>
        </p:txBody>
      </p:sp>
      <p:sp>
        <p:nvSpPr>
          <p:cNvPr id="138" name="Shape 136"/>
          <p:cNvSpPr/>
          <p:nvPr/>
        </p:nvSpPr>
        <p:spPr>
          <a:xfrm>
            <a:off x="708660" y="4407408"/>
            <a:ext cx="219456" cy="21945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708660" y="4407408"/>
            <a:ext cx="219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ko-KR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64592"/>
            <a:ext cx="1133856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A.  화면 동작 규칙</a:t>
            </a:r>
            <a:endParaRPr lang="ko-KR" sz="3000" dirty="0"/>
          </a:p>
        </p:txBody>
      </p:sp>
      <p:sp>
        <p:nvSpPr>
          <p:cNvPr id="3" name="Text 1"/>
          <p:cNvSpPr/>
          <p:nvPr/>
        </p:nvSpPr>
        <p:spPr>
          <a:xfrm>
            <a:off x="420624" y="950976"/>
            <a:ext cx="1134770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A-1.  검증 표현 원칙</a:t>
            </a:r>
            <a:endParaRPr lang="ko-KR" sz="1000" dirty="0"/>
          </a:p>
        </p:txBody>
      </p:sp>
      <p:sp>
        <p:nvSpPr>
          <p:cNvPr id="4" name="Shape 2"/>
          <p:cNvSpPr/>
          <p:nvPr/>
        </p:nvSpPr>
        <p:spPr>
          <a:xfrm>
            <a:off x="420624" y="1170432"/>
            <a:ext cx="3840480" cy="2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61772" y="1211580"/>
            <a:ext cx="37581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</a:t>
            </a:r>
            <a:endParaRPr lang="ko-KR" sz="850" dirty="0"/>
          </a:p>
        </p:txBody>
      </p:sp>
      <p:sp>
        <p:nvSpPr>
          <p:cNvPr id="6" name="Shape 4"/>
          <p:cNvSpPr/>
          <p:nvPr/>
        </p:nvSpPr>
        <p:spPr>
          <a:xfrm>
            <a:off x="4261104" y="1170432"/>
            <a:ext cx="7507224" cy="2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02252" y="1211580"/>
            <a:ext cx="742492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표현</a:t>
            </a:r>
            <a:endParaRPr lang="ko-KR" sz="850" dirty="0"/>
          </a:p>
        </p:txBody>
      </p:sp>
      <p:sp>
        <p:nvSpPr>
          <p:cNvPr id="8" name="Shape 6"/>
          <p:cNvSpPr/>
          <p:nvPr/>
        </p:nvSpPr>
        <p:spPr>
          <a:xfrm>
            <a:off x="420624" y="1396312"/>
            <a:ext cx="384048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" y="1437460"/>
            <a:ext cx="37581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미리 판단 가능한 선택불가</a:t>
            </a:r>
            <a:endParaRPr lang="ko-KR" sz="850" dirty="0"/>
          </a:p>
        </p:txBody>
      </p:sp>
      <p:sp>
        <p:nvSpPr>
          <p:cNvPr id="10" name="Shape 8"/>
          <p:cNvSpPr/>
          <p:nvPr/>
        </p:nvSpPr>
        <p:spPr>
          <a:xfrm>
            <a:off x="4261104" y="1396312"/>
            <a:ext cx="750722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02252" y="1437460"/>
            <a:ext cx="742492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Disabled + 사유 표시</a:t>
            </a:r>
            <a:endParaRPr lang="ko-KR" sz="850" dirty="0"/>
          </a:p>
        </p:txBody>
      </p:sp>
      <p:sp>
        <p:nvSpPr>
          <p:cNvPr id="12" name="Shape 10"/>
          <p:cNvSpPr/>
          <p:nvPr/>
        </p:nvSpPr>
        <p:spPr>
          <a:xfrm>
            <a:off x="420624" y="1622193"/>
            <a:ext cx="384048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" y="1663341"/>
            <a:ext cx="37581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입력필드 오류</a:t>
            </a:r>
            <a:endParaRPr lang="ko-KR" sz="850" dirty="0"/>
          </a:p>
        </p:txBody>
      </p:sp>
      <p:sp>
        <p:nvSpPr>
          <p:cNvPr id="14" name="Shape 12"/>
          <p:cNvSpPr/>
          <p:nvPr/>
        </p:nvSpPr>
        <p:spPr>
          <a:xfrm>
            <a:off x="4261104" y="1622193"/>
            <a:ext cx="750722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02252" y="1663341"/>
            <a:ext cx="742492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Inline 오류</a:t>
            </a:r>
            <a:endParaRPr lang="ko-KR" sz="850" dirty="0"/>
          </a:p>
        </p:txBody>
      </p:sp>
      <p:sp>
        <p:nvSpPr>
          <p:cNvPr id="16" name="Shape 14"/>
          <p:cNvSpPr/>
          <p:nvPr/>
        </p:nvSpPr>
        <p:spPr>
          <a:xfrm>
            <a:off x="420624" y="1848073"/>
            <a:ext cx="384048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" y="1889221"/>
            <a:ext cx="37581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/ 상태전이 최종차단</a:t>
            </a:r>
            <a:endParaRPr lang="ko-KR" sz="850" dirty="0"/>
          </a:p>
        </p:txBody>
      </p:sp>
      <p:sp>
        <p:nvSpPr>
          <p:cNvPr id="18" name="Shape 16"/>
          <p:cNvSpPr/>
          <p:nvPr/>
        </p:nvSpPr>
        <p:spPr>
          <a:xfrm>
            <a:off x="4261104" y="1848073"/>
            <a:ext cx="750722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02252" y="1889221"/>
            <a:ext cx="742492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Blocking Message + 중단</a:t>
            </a:r>
            <a:endParaRPr lang="ko-KR" sz="850" dirty="0"/>
          </a:p>
        </p:txBody>
      </p:sp>
      <p:sp>
        <p:nvSpPr>
          <p:cNvPr id="20" name="Shape 18"/>
          <p:cNvSpPr/>
          <p:nvPr/>
        </p:nvSpPr>
        <p:spPr>
          <a:xfrm>
            <a:off x="420624" y="2073953"/>
            <a:ext cx="384048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" y="2115101"/>
            <a:ext cx="37581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동시성 충돌</a:t>
            </a:r>
            <a:endParaRPr lang="ko-KR" sz="850" dirty="0"/>
          </a:p>
        </p:txBody>
      </p:sp>
      <p:sp>
        <p:nvSpPr>
          <p:cNvPr id="22" name="Shape 20"/>
          <p:cNvSpPr/>
          <p:nvPr/>
        </p:nvSpPr>
        <p:spPr>
          <a:xfrm>
            <a:off x="4261104" y="2073953"/>
            <a:ext cx="750722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02252" y="2115101"/>
            <a:ext cx="742492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Blocking Message + 최신값 Refresh</a:t>
            </a:r>
            <a:endParaRPr lang="ko-KR" sz="850" dirty="0"/>
          </a:p>
        </p:txBody>
      </p:sp>
      <p:sp>
        <p:nvSpPr>
          <p:cNvPr id="24" name="Text 22"/>
          <p:cNvSpPr/>
          <p:nvPr/>
        </p:nvSpPr>
        <p:spPr>
          <a:xfrm>
            <a:off x="420624" y="2409561"/>
            <a:ext cx="1134770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A-2.  화면별 NEX / AEX 편집 가부</a:t>
            </a:r>
            <a:endParaRPr lang="ko-KR" sz="1000" dirty="0"/>
          </a:p>
        </p:txBody>
      </p:sp>
      <p:sp>
        <p:nvSpPr>
          <p:cNvPr id="25" name="Shape 23"/>
          <p:cNvSpPr/>
          <p:nvPr/>
        </p:nvSpPr>
        <p:spPr>
          <a:xfrm>
            <a:off x="420624" y="2629017"/>
            <a:ext cx="3840480" cy="2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" y="2670165"/>
            <a:ext cx="37581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</a:t>
            </a:r>
            <a:endParaRPr lang="ko-KR" sz="850" dirty="0"/>
          </a:p>
        </p:txBody>
      </p:sp>
      <p:sp>
        <p:nvSpPr>
          <p:cNvPr id="27" name="Shape 25"/>
          <p:cNvSpPr/>
          <p:nvPr/>
        </p:nvSpPr>
        <p:spPr>
          <a:xfrm>
            <a:off x="4261104" y="2629017"/>
            <a:ext cx="3753612" cy="2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02252" y="2670165"/>
            <a:ext cx="367131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</a:t>
            </a:r>
            <a:endParaRPr lang="ko-KR" sz="850" dirty="0"/>
          </a:p>
        </p:txBody>
      </p:sp>
      <p:sp>
        <p:nvSpPr>
          <p:cNvPr id="29" name="Shape 27"/>
          <p:cNvSpPr/>
          <p:nvPr/>
        </p:nvSpPr>
        <p:spPr>
          <a:xfrm>
            <a:off x="8014716" y="2629017"/>
            <a:ext cx="3753612" cy="2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55864" y="2670165"/>
            <a:ext cx="367131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AEX</a:t>
            </a:r>
            <a:endParaRPr lang="ko-KR" sz="850" dirty="0"/>
          </a:p>
        </p:txBody>
      </p:sp>
      <p:sp>
        <p:nvSpPr>
          <p:cNvPr id="31" name="Shape 29"/>
          <p:cNvSpPr/>
          <p:nvPr/>
        </p:nvSpPr>
        <p:spPr>
          <a:xfrm>
            <a:off x="420624" y="2854898"/>
            <a:ext cx="384048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" y="2896046"/>
            <a:ext cx="37581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Workbench 상세 (WF-WRK-01)</a:t>
            </a:r>
            <a:endParaRPr lang="ko-KR" sz="850" dirty="0"/>
          </a:p>
        </p:txBody>
      </p:sp>
      <p:sp>
        <p:nvSpPr>
          <p:cNvPr id="33" name="Shape 31"/>
          <p:cNvSpPr/>
          <p:nvPr/>
        </p:nvSpPr>
        <p:spPr>
          <a:xfrm>
            <a:off x="4261104" y="2854898"/>
            <a:ext cx="3753612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02252" y="2896046"/>
            <a:ext cx="367131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ReadOnly</a:t>
            </a:r>
            <a:endParaRPr lang="ko-KR" sz="850" dirty="0"/>
          </a:p>
        </p:txBody>
      </p:sp>
      <p:sp>
        <p:nvSpPr>
          <p:cNvPr id="35" name="Shape 33"/>
          <p:cNvSpPr/>
          <p:nvPr/>
        </p:nvSpPr>
        <p:spPr>
          <a:xfrm>
            <a:off x="8014716" y="2854898"/>
            <a:ext cx="3753612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55864" y="2896046"/>
            <a:ext cx="367131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ReadOnly</a:t>
            </a:r>
            <a:endParaRPr lang="ko-KR" sz="850" dirty="0"/>
          </a:p>
        </p:txBody>
      </p:sp>
      <p:sp>
        <p:nvSpPr>
          <p:cNvPr id="37" name="Shape 35"/>
          <p:cNvSpPr/>
          <p:nvPr/>
        </p:nvSpPr>
        <p:spPr>
          <a:xfrm>
            <a:off x="420624" y="3080778"/>
            <a:ext cx="384048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1772" y="3121926"/>
            <a:ext cx="37581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신규예약 (WF-RSV-01)</a:t>
            </a:r>
            <a:endParaRPr lang="ko-KR" sz="850" dirty="0"/>
          </a:p>
        </p:txBody>
      </p:sp>
      <p:sp>
        <p:nvSpPr>
          <p:cNvPr id="39" name="Shape 37"/>
          <p:cNvSpPr/>
          <p:nvPr/>
        </p:nvSpPr>
        <p:spPr>
          <a:xfrm>
            <a:off x="4261104" y="3080778"/>
            <a:ext cx="3753612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02252" y="3121926"/>
            <a:ext cx="367131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ReadOnly</a:t>
            </a:r>
            <a:endParaRPr lang="ko-KR" sz="850" dirty="0"/>
          </a:p>
        </p:txBody>
      </p:sp>
      <p:sp>
        <p:nvSpPr>
          <p:cNvPr id="41" name="Shape 39"/>
          <p:cNvSpPr/>
          <p:nvPr/>
        </p:nvSpPr>
        <p:spPr>
          <a:xfrm>
            <a:off x="8014716" y="3080778"/>
            <a:ext cx="3753612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55864" y="3121926"/>
            <a:ext cx="367131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Editable</a:t>
            </a:r>
            <a:endParaRPr lang="ko-KR" sz="850" dirty="0"/>
          </a:p>
        </p:txBody>
      </p:sp>
      <p:sp>
        <p:nvSpPr>
          <p:cNvPr id="43" name="Shape 41"/>
          <p:cNvSpPr/>
          <p:nvPr/>
        </p:nvSpPr>
        <p:spPr>
          <a:xfrm>
            <a:off x="420624" y="3306658"/>
            <a:ext cx="384048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1772" y="3347806"/>
            <a:ext cx="37581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예약변경 (DLG-RSV-01)</a:t>
            </a:r>
            <a:endParaRPr lang="ko-KR" sz="850" dirty="0"/>
          </a:p>
        </p:txBody>
      </p:sp>
      <p:sp>
        <p:nvSpPr>
          <p:cNvPr id="45" name="Shape 43"/>
          <p:cNvSpPr/>
          <p:nvPr/>
        </p:nvSpPr>
        <p:spPr>
          <a:xfrm>
            <a:off x="4261104" y="3306658"/>
            <a:ext cx="3753612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02252" y="3347806"/>
            <a:ext cx="367131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ReadOnly</a:t>
            </a:r>
            <a:endParaRPr lang="ko-KR" sz="850" dirty="0"/>
          </a:p>
        </p:txBody>
      </p:sp>
      <p:sp>
        <p:nvSpPr>
          <p:cNvPr id="47" name="Shape 45"/>
          <p:cNvSpPr/>
          <p:nvPr/>
        </p:nvSpPr>
        <p:spPr>
          <a:xfrm>
            <a:off x="8014716" y="3306658"/>
            <a:ext cx="3753612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55864" y="3347806"/>
            <a:ext cx="367131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Editable</a:t>
            </a:r>
            <a:endParaRPr lang="ko-KR" sz="850" dirty="0"/>
          </a:p>
        </p:txBody>
      </p:sp>
      <p:sp>
        <p:nvSpPr>
          <p:cNvPr id="49" name="Shape 47"/>
          <p:cNvSpPr/>
          <p:nvPr/>
        </p:nvSpPr>
        <p:spPr>
          <a:xfrm>
            <a:off x="420624" y="3532539"/>
            <a:ext cx="384048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1772" y="3573687"/>
            <a:ext cx="37581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접수처리 (DLG-RCP-01)</a:t>
            </a:r>
            <a:endParaRPr lang="ko-KR" sz="850" dirty="0"/>
          </a:p>
        </p:txBody>
      </p:sp>
      <p:sp>
        <p:nvSpPr>
          <p:cNvPr id="51" name="Shape 49"/>
          <p:cNvSpPr/>
          <p:nvPr/>
        </p:nvSpPr>
        <p:spPr>
          <a:xfrm>
            <a:off x="4261104" y="3532539"/>
            <a:ext cx="3753612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02252" y="3573687"/>
            <a:ext cx="367131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ReadOnly</a:t>
            </a:r>
            <a:endParaRPr lang="ko-KR" sz="850" dirty="0"/>
          </a:p>
        </p:txBody>
      </p:sp>
      <p:sp>
        <p:nvSpPr>
          <p:cNvPr id="53" name="Shape 51"/>
          <p:cNvSpPr/>
          <p:nvPr/>
        </p:nvSpPr>
        <p:spPr>
          <a:xfrm>
            <a:off x="8014716" y="3532539"/>
            <a:ext cx="3753612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055864" y="3573687"/>
            <a:ext cx="367131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ReadOnly</a:t>
            </a:r>
            <a:endParaRPr lang="ko-KR" sz="850" dirty="0"/>
          </a:p>
        </p:txBody>
      </p:sp>
      <p:sp>
        <p:nvSpPr>
          <p:cNvPr id="55" name="Shape 53"/>
          <p:cNvSpPr/>
          <p:nvPr/>
        </p:nvSpPr>
        <p:spPr>
          <a:xfrm>
            <a:off x="420624" y="3758419"/>
            <a:ext cx="384048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1772" y="3799567"/>
            <a:ext cx="37581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접수완료 추가검사변경 (DLG-RCP-02)</a:t>
            </a:r>
            <a:endParaRPr lang="ko-KR" sz="850" dirty="0"/>
          </a:p>
        </p:txBody>
      </p:sp>
      <p:sp>
        <p:nvSpPr>
          <p:cNvPr id="57" name="Shape 55"/>
          <p:cNvSpPr/>
          <p:nvPr/>
        </p:nvSpPr>
        <p:spPr>
          <a:xfrm>
            <a:off x="4261104" y="3758419"/>
            <a:ext cx="3753612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02252" y="3799567"/>
            <a:ext cx="367131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ReadOnly</a:t>
            </a:r>
            <a:endParaRPr lang="ko-KR" sz="850" dirty="0"/>
          </a:p>
        </p:txBody>
      </p:sp>
      <p:sp>
        <p:nvSpPr>
          <p:cNvPr id="59" name="Shape 57"/>
          <p:cNvSpPr/>
          <p:nvPr/>
        </p:nvSpPr>
        <p:spPr>
          <a:xfrm>
            <a:off x="8014716" y="3758419"/>
            <a:ext cx="3753612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055864" y="3799567"/>
            <a:ext cx="367131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Editable</a:t>
            </a:r>
            <a:endParaRPr lang="ko-KR" sz="850" dirty="0"/>
          </a:p>
        </p:txBody>
      </p:sp>
      <p:sp>
        <p:nvSpPr>
          <p:cNvPr id="61" name="Shape 59"/>
          <p:cNvSpPr/>
          <p:nvPr/>
        </p:nvSpPr>
        <p:spPr>
          <a:xfrm>
            <a:off x="420624" y="3984299"/>
            <a:ext cx="384048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1772" y="4025447"/>
            <a:ext cx="37581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상태(CNR·CNC)</a:t>
            </a:r>
            <a:endParaRPr lang="ko-KR" sz="850" dirty="0"/>
          </a:p>
        </p:txBody>
      </p:sp>
      <p:sp>
        <p:nvSpPr>
          <p:cNvPr id="63" name="Shape 61"/>
          <p:cNvSpPr/>
          <p:nvPr/>
        </p:nvSpPr>
        <p:spPr>
          <a:xfrm>
            <a:off x="4261104" y="3984299"/>
            <a:ext cx="3753612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302252" y="4025447"/>
            <a:ext cx="367131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ReadOnly</a:t>
            </a:r>
            <a:endParaRPr lang="ko-KR" sz="850" dirty="0"/>
          </a:p>
        </p:txBody>
      </p:sp>
      <p:sp>
        <p:nvSpPr>
          <p:cNvPr id="65" name="Shape 63"/>
          <p:cNvSpPr/>
          <p:nvPr/>
        </p:nvSpPr>
        <p:spPr>
          <a:xfrm>
            <a:off x="8014716" y="3984299"/>
            <a:ext cx="3753612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055864" y="4025447"/>
            <a:ext cx="367131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ReadOnly</a:t>
            </a:r>
            <a:endParaRPr lang="ko-KR" sz="850" dirty="0"/>
          </a:p>
        </p:txBody>
      </p:sp>
      <p:sp>
        <p:nvSpPr>
          <p:cNvPr id="67" name="Text 65"/>
          <p:cNvSpPr/>
          <p:nvPr/>
        </p:nvSpPr>
        <p:spPr>
          <a:xfrm>
            <a:off x="420624" y="4319908"/>
            <a:ext cx="1134770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A-3.  업무 상태별 Action 가부</a:t>
            </a:r>
            <a:endParaRPr lang="ko-KR" sz="1000" dirty="0"/>
          </a:p>
        </p:txBody>
      </p:sp>
      <p:sp>
        <p:nvSpPr>
          <p:cNvPr id="68" name="Shape 66"/>
          <p:cNvSpPr/>
          <p:nvPr/>
        </p:nvSpPr>
        <p:spPr>
          <a:xfrm>
            <a:off x="420624" y="4539364"/>
            <a:ext cx="2011680" cy="2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61772" y="4580512"/>
            <a:ext cx="19293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ko-KR" sz="850" dirty="0"/>
          </a:p>
        </p:txBody>
      </p:sp>
      <p:sp>
        <p:nvSpPr>
          <p:cNvPr id="70" name="Shape 68"/>
          <p:cNvSpPr/>
          <p:nvPr/>
        </p:nvSpPr>
        <p:spPr>
          <a:xfrm>
            <a:off x="2432304" y="4539364"/>
            <a:ext cx="1867205" cy="2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473452" y="4580512"/>
            <a:ext cx="1784909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예약변경</a:t>
            </a:r>
            <a:endParaRPr lang="ko-KR" sz="850" dirty="0"/>
          </a:p>
        </p:txBody>
      </p:sp>
      <p:sp>
        <p:nvSpPr>
          <p:cNvPr id="72" name="Shape 70"/>
          <p:cNvSpPr/>
          <p:nvPr/>
        </p:nvSpPr>
        <p:spPr>
          <a:xfrm>
            <a:off x="4299509" y="4539364"/>
            <a:ext cx="1867205" cy="2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340657" y="4580512"/>
            <a:ext cx="1784909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예약취소</a:t>
            </a:r>
            <a:endParaRPr lang="ko-KR" sz="850" dirty="0"/>
          </a:p>
        </p:txBody>
      </p:sp>
      <p:sp>
        <p:nvSpPr>
          <p:cNvPr id="74" name="Shape 72"/>
          <p:cNvSpPr/>
          <p:nvPr/>
        </p:nvSpPr>
        <p:spPr>
          <a:xfrm>
            <a:off x="6166714" y="4539364"/>
            <a:ext cx="1867205" cy="2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207862" y="4580512"/>
            <a:ext cx="1784909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</a:t>
            </a:r>
            <a:endParaRPr lang="ko-KR" sz="850" dirty="0"/>
          </a:p>
        </p:txBody>
      </p:sp>
      <p:sp>
        <p:nvSpPr>
          <p:cNvPr id="76" name="Shape 74"/>
          <p:cNvSpPr/>
          <p:nvPr/>
        </p:nvSpPr>
        <p:spPr>
          <a:xfrm>
            <a:off x="8033918" y="4539364"/>
            <a:ext cx="1867205" cy="2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075066" y="4580512"/>
            <a:ext cx="1784909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접수완료 AEX 변경</a:t>
            </a:r>
            <a:endParaRPr lang="ko-KR" sz="850" dirty="0"/>
          </a:p>
        </p:txBody>
      </p:sp>
      <p:sp>
        <p:nvSpPr>
          <p:cNvPr id="78" name="Shape 76"/>
          <p:cNvSpPr/>
          <p:nvPr/>
        </p:nvSpPr>
        <p:spPr>
          <a:xfrm>
            <a:off x="9901123" y="4539364"/>
            <a:ext cx="1867205" cy="2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942271" y="4580512"/>
            <a:ext cx="1784909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접수취소</a:t>
            </a:r>
            <a:endParaRPr lang="ko-KR" sz="850" dirty="0"/>
          </a:p>
        </p:txBody>
      </p:sp>
      <p:sp>
        <p:nvSpPr>
          <p:cNvPr id="80" name="Shape 78"/>
          <p:cNvSpPr/>
          <p:nvPr/>
        </p:nvSpPr>
        <p:spPr>
          <a:xfrm>
            <a:off x="420624" y="4765244"/>
            <a:ext cx="201168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61772" y="4806392"/>
            <a:ext cx="19293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(RSV)</a:t>
            </a:r>
            <a:endParaRPr lang="ko-KR" sz="850" dirty="0"/>
          </a:p>
        </p:txBody>
      </p:sp>
      <p:sp>
        <p:nvSpPr>
          <p:cNvPr id="82" name="Shape 80"/>
          <p:cNvSpPr/>
          <p:nvPr/>
        </p:nvSpPr>
        <p:spPr>
          <a:xfrm>
            <a:off x="2432304" y="4765244"/>
            <a:ext cx="1867205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473452" y="4806392"/>
            <a:ext cx="1784909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ko-KR" sz="850" dirty="0"/>
          </a:p>
        </p:txBody>
      </p:sp>
      <p:sp>
        <p:nvSpPr>
          <p:cNvPr id="84" name="Shape 82"/>
          <p:cNvSpPr/>
          <p:nvPr/>
        </p:nvSpPr>
        <p:spPr>
          <a:xfrm>
            <a:off x="4299509" y="4765244"/>
            <a:ext cx="1867205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340657" y="4806392"/>
            <a:ext cx="1784909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ko-KR" sz="850" dirty="0"/>
          </a:p>
        </p:txBody>
      </p:sp>
      <p:sp>
        <p:nvSpPr>
          <p:cNvPr id="86" name="Shape 84"/>
          <p:cNvSpPr/>
          <p:nvPr/>
        </p:nvSpPr>
        <p:spPr>
          <a:xfrm>
            <a:off x="6166714" y="4765244"/>
            <a:ext cx="1867205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207862" y="4806392"/>
            <a:ext cx="1784909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조건부 O</a:t>
            </a:r>
            <a:endParaRPr lang="ko-KR" sz="850" dirty="0"/>
          </a:p>
        </p:txBody>
      </p:sp>
      <p:sp>
        <p:nvSpPr>
          <p:cNvPr id="88" name="Shape 86"/>
          <p:cNvSpPr/>
          <p:nvPr/>
        </p:nvSpPr>
        <p:spPr>
          <a:xfrm>
            <a:off x="8033918" y="4765244"/>
            <a:ext cx="1867205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075066" y="4806392"/>
            <a:ext cx="1784909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850" dirty="0"/>
          </a:p>
        </p:txBody>
      </p:sp>
      <p:sp>
        <p:nvSpPr>
          <p:cNvPr id="90" name="Shape 88"/>
          <p:cNvSpPr/>
          <p:nvPr/>
        </p:nvSpPr>
        <p:spPr>
          <a:xfrm>
            <a:off x="9901123" y="4765244"/>
            <a:ext cx="1867205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942271" y="4806392"/>
            <a:ext cx="1784909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850" dirty="0"/>
          </a:p>
        </p:txBody>
      </p:sp>
      <p:sp>
        <p:nvSpPr>
          <p:cNvPr id="92" name="Shape 90"/>
          <p:cNvSpPr/>
          <p:nvPr/>
        </p:nvSpPr>
        <p:spPr>
          <a:xfrm>
            <a:off x="420624" y="4991124"/>
            <a:ext cx="201168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61772" y="5032272"/>
            <a:ext cx="19293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접수완료 (RCP)</a:t>
            </a:r>
            <a:endParaRPr lang="ko-KR" sz="850" dirty="0"/>
          </a:p>
        </p:txBody>
      </p:sp>
      <p:sp>
        <p:nvSpPr>
          <p:cNvPr id="94" name="Shape 92"/>
          <p:cNvSpPr/>
          <p:nvPr/>
        </p:nvSpPr>
        <p:spPr>
          <a:xfrm>
            <a:off x="2432304" y="4991124"/>
            <a:ext cx="1867205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473452" y="5032272"/>
            <a:ext cx="1784909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850" dirty="0"/>
          </a:p>
        </p:txBody>
      </p:sp>
      <p:sp>
        <p:nvSpPr>
          <p:cNvPr id="96" name="Shape 94"/>
          <p:cNvSpPr/>
          <p:nvPr/>
        </p:nvSpPr>
        <p:spPr>
          <a:xfrm>
            <a:off x="4299509" y="4991124"/>
            <a:ext cx="1867205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340657" y="5032272"/>
            <a:ext cx="1784909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850" dirty="0"/>
          </a:p>
        </p:txBody>
      </p:sp>
      <p:sp>
        <p:nvSpPr>
          <p:cNvPr id="98" name="Shape 96"/>
          <p:cNvSpPr/>
          <p:nvPr/>
        </p:nvSpPr>
        <p:spPr>
          <a:xfrm>
            <a:off x="6166714" y="4991124"/>
            <a:ext cx="1867205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207862" y="5032272"/>
            <a:ext cx="1784909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850" dirty="0"/>
          </a:p>
        </p:txBody>
      </p:sp>
      <p:sp>
        <p:nvSpPr>
          <p:cNvPr id="100" name="Shape 98"/>
          <p:cNvSpPr/>
          <p:nvPr/>
        </p:nvSpPr>
        <p:spPr>
          <a:xfrm>
            <a:off x="8033918" y="4991124"/>
            <a:ext cx="1867205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8075066" y="5032272"/>
            <a:ext cx="1784909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ko-KR" sz="850" dirty="0"/>
          </a:p>
        </p:txBody>
      </p:sp>
      <p:sp>
        <p:nvSpPr>
          <p:cNvPr id="102" name="Shape 100"/>
          <p:cNvSpPr/>
          <p:nvPr/>
        </p:nvSpPr>
        <p:spPr>
          <a:xfrm>
            <a:off x="9901123" y="4991124"/>
            <a:ext cx="1867205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9942271" y="5032272"/>
            <a:ext cx="1784909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ko-KR" sz="850" dirty="0"/>
          </a:p>
        </p:txBody>
      </p:sp>
      <p:sp>
        <p:nvSpPr>
          <p:cNvPr id="104" name="Shape 102"/>
          <p:cNvSpPr/>
          <p:nvPr/>
        </p:nvSpPr>
        <p:spPr>
          <a:xfrm>
            <a:off x="420624" y="5217004"/>
            <a:ext cx="201168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61772" y="5258152"/>
            <a:ext cx="19293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예약취소 (CNR)</a:t>
            </a:r>
            <a:endParaRPr lang="ko-KR" sz="850" dirty="0"/>
          </a:p>
        </p:txBody>
      </p:sp>
      <p:sp>
        <p:nvSpPr>
          <p:cNvPr id="106" name="Shape 104"/>
          <p:cNvSpPr/>
          <p:nvPr/>
        </p:nvSpPr>
        <p:spPr>
          <a:xfrm>
            <a:off x="2432304" y="5217004"/>
            <a:ext cx="1867205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2473452" y="5258152"/>
            <a:ext cx="1784909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850" dirty="0"/>
          </a:p>
        </p:txBody>
      </p:sp>
      <p:sp>
        <p:nvSpPr>
          <p:cNvPr id="108" name="Shape 106"/>
          <p:cNvSpPr/>
          <p:nvPr/>
        </p:nvSpPr>
        <p:spPr>
          <a:xfrm>
            <a:off x="4299509" y="5217004"/>
            <a:ext cx="1867205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340657" y="5258152"/>
            <a:ext cx="1784909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850" dirty="0"/>
          </a:p>
        </p:txBody>
      </p:sp>
      <p:sp>
        <p:nvSpPr>
          <p:cNvPr id="110" name="Shape 108"/>
          <p:cNvSpPr/>
          <p:nvPr/>
        </p:nvSpPr>
        <p:spPr>
          <a:xfrm>
            <a:off x="6166714" y="5217004"/>
            <a:ext cx="1867205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207862" y="5258152"/>
            <a:ext cx="1784909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850" dirty="0"/>
          </a:p>
        </p:txBody>
      </p:sp>
      <p:sp>
        <p:nvSpPr>
          <p:cNvPr id="112" name="Shape 110"/>
          <p:cNvSpPr/>
          <p:nvPr/>
        </p:nvSpPr>
        <p:spPr>
          <a:xfrm>
            <a:off x="8033918" y="5217004"/>
            <a:ext cx="1867205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8075066" y="5258152"/>
            <a:ext cx="1784909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850" dirty="0"/>
          </a:p>
        </p:txBody>
      </p:sp>
      <p:sp>
        <p:nvSpPr>
          <p:cNvPr id="114" name="Shape 112"/>
          <p:cNvSpPr/>
          <p:nvPr/>
        </p:nvSpPr>
        <p:spPr>
          <a:xfrm>
            <a:off x="9901123" y="5217004"/>
            <a:ext cx="1867205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9942271" y="5258152"/>
            <a:ext cx="1784909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850" dirty="0"/>
          </a:p>
        </p:txBody>
      </p:sp>
      <p:sp>
        <p:nvSpPr>
          <p:cNvPr id="116" name="Shape 114"/>
          <p:cNvSpPr/>
          <p:nvPr/>
        </p:nvSpPr>
        <p:spPr>
          <a:xfrm>
            <a:off x="420624" y="5442885"/>
            <a:ext cx="201168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461772" y="5484033"/>
            <a:ext cx="19293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접수취소 (CNC)</a:t>
            </a:r>
            <a:endParaRPr lang="ko-KR" sz="850" dirty="0"/>
          </a:p>
        </p:txBody>
      </p:sp>
      <p:sp>
        <p:nvSpPr>
          <p:cNvPr id="118" name="Shape 116"/>
          <p:cNvSpPr/>
          <p:nvPr/>
        </p:nvSpPr>
        <p:spPr>
          <a:xfrm>
            <a:off x="2432304" y="5442885"/>
            <a:ext cx="1867205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2473452" y="5484033"/>
            <a:ext cx="1784909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850" dirty="0"/>
          </a:p>
        </p:txBody>
      </p:sp>
      <p:sp>
        <p:nvSpPr>
          <p:cNvPr id="120" name="Shape 118"/>
          <p:cNvSpPr/>
          <p:nvPr/>
        </p:nvSpPr>
        <p:spPr>
          <a:xfrm>
            <a:off x="4299509" y="5442885"/>
            <a:ext cx="1867205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340657" y="5484033"/>
            <a:ext cx="1784909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850" dirty="0"/>
          </a:p>
        </p:txBody>
      </p:sp>
      <p:sp>
        <p:nvSpPr>
          <p:cNvPr id="122" name="Shape 120"/>
          <p:cNvSpPr/>
          <p:nvPr/>
        </p:nvSpPr>
        <p:spPr>
          <a:xfrm>
            <a:off x="6166714" y="5442885"/>
            <a:ext cx="1867205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6207862" y="5484033"/>
            <a:ext cx="1784909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850" dirty="0"/>
          </a:p>
        </p:txBody>
      </p:sp>
      <p:sp>
        <p:nvSpPr>
          <p:cNvPr id="124" name="Shape 122"/>
          <p:cNvSpPr/>
          <p:nvPr/>
        </p:nvSpPr>
        <p:spPr>
          <a:xfrm>
            <a:off x="8033918" y="5442885"/>
            <a:ext cx="1867205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8075066" y="5484033"/>
            <a:ext cx="1784909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850" dirty="0"/>
          </a:p>
        </p:txBody>
      </p:sp>
      <p:sp>
        <p:nvSpPr>
          <p:cNvPr id="126" name="Shape 124"/>
          <p:cNvSpPr/>
          <p:nvPr/>
        </p:nvSpPr>
        <p:spPr>
          <a:xfrm>
            <a:off x="9901123" y="5442885"/>
            <a:ext cx="1867205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9942271" y="5484033"/>
            <a:ext cx="1784909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64592"/>
            <a:ext cx="1133856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A.  화면 동작 규칙  (계속)</a:t>
            </a:r>
            <a:endParaRPr lang="ko-KR" sz="3000" dirty="0"/>
          </a:p>
        </p:txBody>
      </p:sp>
      <p:sp>
        <p:nvSpPr>
          <p:cNvPr id="3" name="Text 1"/>
          <p:cNvSpPr/>
          <p:nvPr/>
        </p:nvSpPr>
        <p:spPr>
          <a:xfrm>
            <a:off x="420624" y="950976"/>
            <a:ext cx="1134770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A-4.  Refresh · 동시성 · No-op 계약</a:t>
            </a:r>
            <a:endParaRPr lang="ko-KR" sz="1000" dirty="0"/>
          </a:p>
        </p:txBody>
      </p:sp>
      <p:sp>
        <p:nvSpPr>
          <p:cNvPr id="4" name="Shape 2"/>
          <p:cNvSpPr/>
          <p:nvPr/>
        </p:nvSpPr>
        <p:spPr>
          <a:xfrm>
            <a:off x="420624" y="1170432"/>
            <a:ext cx="2926080" cy="2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61772" y="1211580"/>
            <a:ext cx="28437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ko-KR" sz="850" dirty="0"/>
          </a:p>
        </p:txBody>
      </p:sp>
      <p:sp>
        <p:nvSpPr>
          <p:cNvPr id="6" name="Shape 4"/>
          <p:cNvSpPr/>
          <p:nvPr/>
        </p:nvSpPr>
        <p:spPr>
          <a:xfrm>
            <a:off x="3346704" y="1170432"/>
            <a:ext cx="8421624" cy="2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7852" y="1211580"/>
            <a:ext cx="833932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</a:t>
            </a:r>
            <a:endParaRPr lang="ko-KR" sz="850" dirty="0"/>
          </a:p>
        </p:txBody>
      </p:sp>
      <p:sp>
        <p:nvSpPr>
          <p:cNvPr id="8" name="Shape 6"/>
          <p:cNvSpPr/>
          <p:nvPr/>
        </p:nvSpPr>
        <p:spPr>
          <a:xfrm>
            <a:off x="420624" y="1396312"/>
            <a:ext cx="292608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" y="1437460"/>
            <a:ext cx="28437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 Edit Modal</a:t>
            </a:r>
            <a:endParaRPr lang="ko-KR" sz="850" dirty="0"/>
          </a:p>
        </p:txBody>
      </p:sp>
      <p:sp>
        <p:nvSpPr>
          <p:cNvPr id="10" name="Shape 8"/>
          <p:cNvSpPr/>
          <p:nvPr/>
        </p:nvSpPr>
        <p:spPr>
          <a:xfrm>
            <a:off x="3346704" y="1396312"/>
            <a:ext cx="842162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7852" y="1437460"/>
            <a:ext cx="833932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RowVersion을 숨은 값으로 유지한다.</a:t>
            </a:r>
            <a:endParaRPr lang="ko-KR" sz="850" dirty="0"/>
          </a:p>
        </p:txBody>
      </p:sp>
      <p:sp>
        <p:nvSpPr>
          <p:cNvPr id="12" name="Shape 10"/>
          <p:cNvSpPr/>
          <p:nvPr/>
        </p:nvSpPr>
        <p:spPr>
          <a:xfrm>
            <a:off x="420624" y="1622193"/>
            <a:ext cx="292608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" y="1663341"/>
            <a:ext cx="28437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 관련 Modal</a:t>
            </a:r>
            <a:endParaRPr lang="ko-KR" sz="850" dirty="0"/>
          </a:p>
        </p:txBody>
      </p:sp>
      <p:sp>
        <p:nvSpPr>
          <p:cNvPr id="14" name="Shape 12"/>
          <p:cNvSpPr/>
          <p:nvPr/>
        </p:nvSpPr>
        <p:spPr>
          <a:xfrm>
            <a:off x="3346704" y="1622193"/>
            <a:ext cx="842162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7852" y="1663341"/>
            <a:ext cx="833932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RowVersion을 숨은 값으로 유지한다.</a:t>
            </a:r>
            <a:endParaRPr lang="ko-KR" sz="850" dirty="0"/>
          </a:p>
        </p:txBody>
      </p:sp>
      <p:sp>
        <p:nvSpPr>
          <p:cNvPr id="16" name="Shape 14"/>
          <p:cNvSpPr/>
          <p:nvPr/>
        </p:nvSpPr>
        <p:spPr>
          <a:xfrm>
            <a:off x="420624" y="1848073"/>
            <a:ext cx="292608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" y="1889221"/>
            <a:ext cx="28437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성공</a:t>
            </a:r>
            <a:endParaRPr lang="ko-KR" sz="850" dirty="0"/>
          </a:p>
        </p:txBody>
      </p:sp>
      <p:sp>
        <p:nvSpPr>
          <p:cNvPr id="18" name="Shape 16"/>
          <p:cNvSpPr/>
          <p:nvPr/>
        </p:nvSpPr>
        <p:spPr>
          <a:xfrm>
            <a:off x="3346704" y="1848073"/>
            <a:ext cx="842162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7852" y="1889221"/>
            <a:ext cx="833932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응답의 새 동시성값으로 화면 모델을 교체한다.</a:t>
            </a:r>
            <a:endParaRPr lang="ko-KR" sz="850" dirty="0"/>
          </a:p>
        </p:txBody>
      </p:sp>
      <p:sp>
        <p:nvSpPr>
          <p:cNvPr id="20" name="Shape 18"/>
          <p:cNvSpPr/>
          <p:nvPr/>
        </p:nvSpPr>
        <p:spPr>
          <a:xfrm>
            <a:off x="420624" y="2073953"/>
            <a:ext cx="292608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" y="2115101"/>
            <a:ext cx="28437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실패</a:t>
            </a:r>
            <a:endParaRPr lang="ko-KR" sz="850" dirty="0"/>
          </a:p>
        </p:txBody>
      </p:sp>
      <p:sp>
        <p:nvSpPr>
          <p:cNvPr id="22" name="Shape 20"/>
          <p:cNvSpPr/>
          <p:nvPr/>
        </p:nvSpPr>
        <p:spPr>
          <a:xfrm>
            <a:off x="3346704" y="2073953"/>
            <a:ext cx="842162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7852" y="2115101"/>
            <a:ext cx="833932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RowVersion으로 재시도하지 않는다.</a:t>
            </a:r>
            <a:endParaRPr lang="ko-KR" sz="850" dirty="0"/>
          </a:p>
        </p:txBody>
      </p:sp>
      <p:sp>
        <p:nvSpPr>
          <p:cNvPr id="24" name="Shape 22"/>
          <p:cNvSpPr/>
          <p:nvPr/>
        </p:nvSpPr>
        <p:spPr>
          <a:xfrm>
            <a:off x="420624" y="2299833"/>
            <a:ext cx="292608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" y="2340981"/>
            <a:ext cx="28437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AEX 실제 변경</a:t>
            </a:r>
            <a:endParaRPr lang="ko-KR" sz="850" dirty="0"/>
          </a:p>
        </p:txBody>
      </p:sp>
      <p:sp>
        <p:nvSpPr>
          <p:cNvPr id="26" name="Shape 24"/>
          <p:cNvSpPr/>
          <p:nvPr/>
        </p:nvSpPr>
        <p:spPr>
          <a:xfrm>
            <a:off x="3346704" y="2299833"/>
            <a:ext cx="842162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7852" y="2340981"/>
            <a:ext cx="833932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 RowVersion이 변경된 것으로 처리한다.</a:t>
            </a:r>
            <a:endParaRPr lang="ko-KR" sz="850" dirty="0"/>
          </a:p>
        </p:txBody>
      </p:sp>
      <p:sp>
        <p:nvSpPr>
          <p:cNvPr id="28" name="Shape 26"/>
          <p:cNvSpPr/>
          <p:nvPr/>
        </p:nvSpPr>
        <p:spPr>
          <a:xfrm>
            <a:off x="420624" y="2525714"/>
            <a:ext cx="292608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" y="2566862"/>
            <a:ext cx="28437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변경 없음</a:t>
            </a:r>
            <a:endParaRPr lang="ko-KR" sz="850" dirty="0"/>
          </a:p>
        </p:txBody>
      </p:sp>
      <p:sp>
        <p:nvSpPr>
          <p:cNvPr id="30" name="Shape 28"/>
          <p:cNvSpPr/>
          <p:nvPr/>
        </p:nvSpPr>
        <p:spPr>
          <a:xfrm>
            <a:off x="3346704" y="2525714"/>
            <a:ext cx="842162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7852" y="2566862"/>
            <a:ext cx="833932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성공적인 No-op 안내 후 불필요한 Refresh를 최소화한다.</a:t>
            </a:r>
            <a:endParaRPr lang="ko-KR" sz="850" dirty="0"/>
          </a:p>
        </p:txBody>
      </p:sp>
      <p:sp>
        <p:nvSpPr>
          <p:cNvPr id="32" name="Shape 30"/>
          <p:cNvSpPr/>
          <p:nvPr/>
        </p:nvSpPr>
        <p:spPr>
          <a:xfrm>
            <a:off x="420624" y="2751594"/>
            <a:ext cx="292608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" y="2792742"/>
            <a:ext cx="28437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Targeted Navigation</a:t>
            </a:r>
            <a:endParaRPr lang="ko-KR" sz="850" dirty="0"/>
          </a:p>
        </p:txBody>
      </p:sp>
      <p:sp>
        <p:nvSpPr>
          <p:cNvPr id="34" name="Shape 32"/>
          <p:cNvSpPr/>
          <p:nvPr/>
        </p:nvSpPr>
        <p:spPr>
          <a:xfrm>
            <a:off x="3346704" y="2751594"/>
            <a:ext cx="842162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7852" y="2792742"/>
            <a:ext cx="833932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항상 최신 DB 데이터를 조회한다.</a:t>
            </a:r>
            <a:endParaRPr lang="ko-KR" sz="850" dirty="0"/>
          </a:p>
        </p:txBody>
      </p:sp>
      <p:sp>
        <p:nvSpPr>
          <p:cNvPr id="36" name="Text 34"/>
          <p:cNvSpPr/>
          <p:nvPr/>
        </p:nvSpPr>
        <p:spPr>
          <a:xfrm>
            <a:off x="420624" y="3087202"/>
            <a:ext cx="1134770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A-5.  DB 실패 후 UI 처리</a:t>
            </a:r>
            <a:endParaRPr lang="ko-KR" sz="1000" dirty="0"/>
          </a:p>
        </p:txBody>
      </p:sp>
      <p:sp>
        <p:nvSpPr>
          <p:cNvPr id="37" name="Shape 35"/>
          <p:cNvSpPr/>
          <p:nvPr/>
        </p:nvSpPr>
        <p:spPr>
          <a:xfrm>
            <a:off x="420624" y="3306658"/>
            <a:ext cx="11347704" cy="2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1772" y="3347806"/>
            <a:ext cx="1126540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</a:t>
            </a:r>
            <a:endParaRPr lang="ko-KR" sz="850" dirty="0"/>
          </a:p>
        </p:txBody>
      </p:sp>
      <p:sp>
        <p:nvSpPr>
          <p:cNvPr id="39" name="Shape 37"/>
          <p:cNvSpPr/>
          <p:nvPr/>
        </p:nvSpPr>
        <p:spPr>
          <a:xfrm>
            <a:off x="420624" y="3532539"/>
            <a:ext cx="1134770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1772" y="3573687"/>
            <a:ext cx="1126540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오류 ResultCode를 화면 업무문구로 매핑한다.</a:t>
            </a:r>
            <a:endParaRPr lang="ko-KR" sz="850" dirty="0"/>
          </a:p>
        </p:txBody>
      </p:sp>
      <p:sp>
        <p:nvSpPr>
          <p:cNvPr id="41" name="Shape 39"/>
          <p:cNvSpPr/>
          <p:nvPr/>
        </p:nvSpPr>
        <p:spPr>
          <a:xfrm>
            <a:off x="420624" y="3758419"/>
            <a:ext cx="1134770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1772" y="3799567"/>
            <a:ext cx="1126540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실패한 입력을 무조건 폐기하지 않는다.</a:t>
            </a:r>
            <a:endParaRPr lang="ko-KR" sz="850" dirty="0"/>
          </a:p>
        </p:txBody>
      </p:sp>
      <p:sp>
        <p:nvSpPr>
          <p:cNvPr id="43" name="Shape 41"/>
          <p:cNvSpPr/>
          <p:nvPr/>
        </p:nvSpPr>
        <p:spPr>
          <a:xfrm>
            <a:off x="420624" y="3984299"/>
            <a:ext cx="1134770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1772" y="4025447"/>
            <a:ext cx="1126540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정원 · 마감 · 상태 · 동시성처럼 최신값이 필요한 실패는 관련 영역을 Refresh한다.</a:t>
            </a:r>
            <a:endParaRPr lang="ko-KR" sz="850" dirty="0"/>
          </a:p>
        </p:txBody>
      </p:sp>
      <p:sp>
        <p:nvSpPr>
          <p:cNvPr id="45" name="Shape 43"/>
          <p:cNvSpPr/>
          <p:nvPr/>
        </p:nvSpPr>
        <p:spPr>
          <a:xfrm>
            <a:off x="420624" y="4210180"/>
            <a:ext cx="1134770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1772" y="4251328"/>
            <a:ext cx="1126540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Transaction이 실패하면 성공 메시지나 로컬 상태전이를 적용하지 않는다.</a:t>
            </a:r>
            <a:endParaRPr lang="ko-KR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64592"/>
            <a:ext cx="1133856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B.  조회 · 검색 계약</a:t>
            </a:r>
            <a:endParaRPr lang="ko-KR" sz="3000" dirty="0"/>
          </a:p>
        </p:txBody>
      </p:sp>
      <p:sp>
        <p:nvSpPr>
          <p:cNvPr id="3" name="Text 1"/>
          <p:cNvSpPr/>
          <p:nvPr/>
        </p:nvSpPr>
        <p:spPr>
          <a:xfrm>
            <a:off x="420624" y="950976"/>
            <a:ext cx="1134770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B-1.  수검자 조회 (WF-PAT-01 · DLG-PAT-02)</a:t>
            </a:r>
            <a:endParaRPr lang="ko-KR" sz="1000" dirty="0"/>
          </a:p>
        </p:txBody>
      </p:sp>
      <p:sp>
        <p:nvSpPr>
          <p:cNvPr id="4" name="Shape 2"/>
          <p:cNvSpPr/>
          <p:nvPr/>
        </p:nvSpPr>
        <p:spPr>
          <a:xfrm>
            <a:off x="420624" y="1170432"/>
            <a:ext cx="2926080" cy="2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61772" y="1211580"/>
            <a:ext cx="28437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ko-KR" sz="850" dirty="0"/>
          </a:p>
        </p:txBody>
      </p:sp>
      <p:sp>
        <p:nvSpPr>
          <p:cNvPr id="6" name="Shape 4"/>
          <p:cNvSpPr/>
          <p:nvPr/>
        </p:nvSpPr>
        <p:spPr>
          <a:xfrm>
            <a:off x="3346704" y="1170432"/>
            <a:ext cx="8421624" cy="2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7852" y="1211580"/>
            <a:ext cx="833932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</a:t>
            </a:r>
            <a:endParaRPr lang="ko-KR" sz="850" dirty="0"/>
          </a:p>
        </p:txBody>
      </p:sp>
      <p:sp>
        <p:nvSpPr>
          <p:cNvPr id="8" name="Shape 6"/>
          <p:cNvSpPr/>
          <p:nvPr/>
        </p:nvSpPr>
        <p:spPr>
          <a:xfrm>
            <a:off x="420624" y="1396312"/>
            <a:ext cx="292608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" y="1437460"/>
            <a:ext cx="28437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조회조건</a:t>
            </a:r>
            <a:endParaRPr lang="ko-KR" sz="850" dirty="0"/>
          </a:p>
        </p:txBody>
      </p:sp>
      <p:sp>
        <p:nvSpPr>
          <p:cNvPr id="10" name="Shape 8"/>
          <p:cNvSpPr/>
          <p:nvPr/>
        </p:nvSpPr>
        <p:spPr>
          <a:xfrm>
            <a:off x="3346704" y="1396312"/>
            <a:ext cx="842162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7852" y="1437460"/>
            <a:ext cx="833932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차트번호 / 이름 / 주민번호 / 생년월일 / 휴대전화</a:t>
            </a:r>
            <a:endParaRPr lang="ko-KR" sz="850" dirty="0"/>
          </a:p>
        </p:txBody>
      </p:sp>
      <p:sp>
        <p:nvSpPr>
          <p:cNvPr id="12" name="Shape 10"/>
          <p:cNvSpPr/>
          <p:nvPr/>
        </p:nvSpPr>
        <p:spPr>
          <a:xfrm>
            <a:off x="420624" y="1622193"/>
            <a:ext cx="292608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" y="1663341"/>
            <a:ext cx="28437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조건</a:t>
            </a:r>
            <a:endParaRPr lang="ko-KR" sz="850" dirty="0"/>
          </a:p>
        </p:txBody>
      </p:sp>
      <p:sp>
        <p:nvSpPr>
          <p:cNvPr id="14" name="Shape 12"/>
          <p:cNvSpPr/>
          <p:nvPr/>
        </p:nvSpPr>
        <p:spPr>
          <a:xfrm>
            <a:off x="3346704" y="1622193"/>
            <a:ext cx="842162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7852" y="1663341"/>
            <a:ext cx="833932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없다. 조건이 하나도 없으면 전체 목록을 조회한다.</a:t>
            </a:r>
            <a:endParaRPr lang="ko-KR" sz="850" dirty="0"/>
          </a:p>
        </p:txBody>
      </p:sp>
      <p:sp>
        <p:nvSpPr>
          <p:cNvPr id="16" name="Shape 14"/>
          <p:cNvSpPr/>
          <p:nvPr/>
        </p:nvSpPr>
        <p:spPr>
          <a:xfrm>
            <a:off x="420624" y="1848073"/>
            <a:ext cx="292608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" y="1889221"/>
            <a:ext cx="28437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결합</a:t>
            </a:r>
            <a:endParaRPr lang="ko-KR" sz="850" dirty="0"/>
          </a:p>
        </p:txBody>
      </p:sp>
      <p:sp>
        <p:nvSpPr>
          <p:cNvPr id="18" name="Shape 16"/>
          <p:cNvSpPr/>
          <p:nvPr/>
        </p:nvSpPr>
        <p:spPr>
          <a:xfrm>
            <a:off x="3346704" y="1848073"/>
            <a:ext cx="842162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7852" y="1889221"/>
            <a:ext cx="833932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입력된 조건은 AND로 결합한다.</a:t>
            </a:r>
            <a:endParaRPr lang="ko-KR" sz="850" dirty="0"/>
          </a:p>
        </p:txBody>
      </p:sp>
      <p:sp>
        <p:nvSpPr>
          <p:cNvPr id="20" name="Shape 18"/>
          <p:cNvSpPr/>
          <p:nvPr/>
        </p:nvSpPr>
        <p:spPr>
          <a:xfrm>
            <a:off x="420624" y="2073953"/>
            <a:ext cx="292608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" y="2115101"/>
            <a:ext cx="28437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포함검색</a:t>
            </a:r>
            <a:endParaRPr lang="ko-KR" sz="850" dirty="0"/>
          </a:p>
        </p:txBody>
      </p:sp>
      <p:sp>
        <p:nvSpPr>
          <p:cNvPr id="22" name="Shape 20"/>
          <p:cNvSpPr/>
          <p:nvPr/>
        </p:nvSpPr>
        <p:spPr>
          <a:xfrm>
            <a:off x="3346704" y="2073953"/>
            <a:ext cx="842162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7852" y="2115101"/>
            <a:ext cx="833932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차트번호와 이름은 친 값이 어디에 들어 있든 찾는다.</a:t>
            </a:r>
            <a:endParaRPr lang="ko-KR" sz="850" dirty="0"/>
          </a:p>
        </p:txBody>
      </p:sp>
      <p:sp>
        <p:nvSpPr>
          <p:cNvPr id="24" name="Shape 22"/>
          <p:cNvSpPr/>
          <p:nvPr/>
        </p:nvSpPr>
        <p:spPr>
          <a:xfrm>
            <a:off x="420624" y="2299833"/>
            <a:ext cx="292608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" y="2340981"/>
            <a:ext cx="28437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정확검색</a:t>
            </a:r>
            <a:endParaRPr lang="ko-KR" sz="850" dirty="0"/>
          </a:p>
        </p:txBody>
      </p:sp>
      <p:sp>
        <p:nvSpPr>
          <p:cNvPr id="26" name="Shape 24"/>
          <p:cNvSpPr/>
          <p:nvPr/>
        </p:nvSpPr>
        <p:spPr>
          <a:xfrm>
            <a:off x="3346704" y="2299833"/>
            <a:ext cx="842162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7852" y="2340981"/>
            <a:ext cx="833932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주민번호 · 생년월일 · 휴대전화는 정규화 후 정확검색한다.</a:t>
            </a:r>
            <a:endParaRPr lang="ko-KR" sz="850" dirty="0"/>
          </a:p>
        </p:txBody>
      </p:sp>
      <p:sp>
        <p:nvSpPr>
          <p:cNvPr id="28" name="Shape 26"/>
          <p:cNvSpPr/>
          <p:nvPr/>
        </p:nvSpPr>
        <p:spPr>
          <a:xfrm>
            <a:off x="420624" y="2525714"/>
            <a:ext cx="292608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" y="2566862"/>
            <a:ext cx="28437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메타문자</a:t>
            </a:r>
            <a:endParaRPr lang="ko-KR" sz="850" dirty="0"/>
          </a:p>
        </p:txBody>
      </p:sp>
      <p:sp>
        <p:nvSpPr>
          <p:cNvPr id="30" name="Shape 28"/>
          <p:cNvSpPr/>
          <p:nvPr/>
        </p:nvSpPr>
        <p:spPr>
          <a:xfrm>
            <a:off x="3346704" y="2525714"/>
            <a:ext cx="842162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7852" y="2566862"/>
            <a:ext cx="833932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친 % _ [ 는 글자 그대로 찾는다.</a:t>
            </a:r>
            <a:endParaRPr lang="ko-KR" sz="850" dirty="0"/>
          </a:p>
        </p:txBody>
      </p:sp>
      <p:sp>
        <p:nvSpPr>
          <p:cNvPr id="32" name="Shape 30"/>
          <p:cNvSpPr/>
          <p:nvPr/>
        </p:nvSpPr>
        <p:spPr>
          <a:xfrm>
            <a:off x="420624" y="2751594"/>
            <a:ext cx="292608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" y="2792742"/>
            <a:ext cx="28437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값</a:t>
            </a:r>
            <a:endParaRPr lang="ko-KR" sz="850" dirty="0"/>
          </a:p>
        </p:txBody>
      </p:sp>
      <p:sp>
        <p:nvSpPr>
          <p:cNvPr id="34" name="Shape 32"/>
          <p:cNvSpPr/>
          <p:nvPr/>
        </p:nvSpPr>
        <p:spPr>
          <a:xfrm>
            <a:off x="3346704" y="2751594"/>
            <a:ext cx="842162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7852" y="2792742"/>
            <a:ext cx="833932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문자열은 미입력으로 처리한다.</a:t>
            </a:r>
            <a:endParaRPr lang="ko-KR" sz="850" dirty="0"/>
          </a:p>
        </p:txBody>
      </p:sp>
      <p:sp>
        <p:nvSpPr>
          <p:cNvPr id="36" name="Shape 34"/>
          <p:cNvSpPr/>
          <p:nvPr/>
        </p:nvSpPr>
        <p:spPr>
          <a:xfrm>
            <a:off x="420624" y="2977474"/>
            <a:ext cx="292608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1772" y="3018622"/>
            <a:ext cx="28437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정규화</a:t>
            </a:r>
            <a:endParaRPr lang="ko-KR" sz="850" dirty="0"/>
          </a:p>
        </p:txBody>
      </p:sp>
      <p:sp>
        <p:nvSpPr>
          <p:cNvPr id="38" name="Shape 36"/>
          <p:cNvSpPr/>
          <p:nvPr/>
        </p:nvSpPr>
        <p:spPr>
          <a:xfrm>
            <a:off x="3346704" y="2977474"/>
            <a:ext cx="842162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87852" y="3018622"/>
            <a:ext cx="833932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주민번호와 전화번호는 `-`를 제거하여 조회한다.</a:t>
            </a:r>
            <a:endParaRPr lang="ko-KR" sz="850" dirty="0"/>
          </a:p>
        </p:txBody>
      </p:sp>
      <p:sp>
        <p:nvSpPr>
          <p:cNvPr id="40" name="Shape 38"/>
          <p:cNvSpPr/>
          <p:nvPr/>
        </p:nvSpPr>
        <p:spPr>
          <a:xfrm>
            <a:off x="420624" y="3203355"/>
            <a:ext cx="292608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772" y="3244503"/>
            <a:ext cx="28437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재조회</a:t>
            </a:r>
            <a:endParaRPr lang="ko-KR" sz="850" dirty="0"/>
          </a:p>
        </p:txBody>
      </p:sp>
      <p:sp>
        <p:nvSpPr>
          <p:cNvPr id="42" name="Shape 40"/>
          <p:cNvSpPr/>
          <p:nvPr/>
        </p:nvSpPr>
        <p:spPr>
          <a:xfrm>
            <a:off x="3346704" y="3203355"/>
            <a:ext cx="842162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87852" y="3244503"/>
            <a:ext cx="833932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재조회 시 선택행과 우측 상세를 초기화한다.</a:t>
            </a:r>
            <a:endParaRPr lang="ko-KR" sz="850" dirty="0"/>
          </a:p>
        </p:txBody>
      </p:sp>
      <p:sp>
        <p:nvSpPr>
          <p:cNvPr id="44" name="Text 42"/>
          <p:cNvSpPr/>
          <p:nvPr/>
        </p:nvSpPr>
        <p:spPr>
          <a:xfrm>
            <a:off x="420624" y="3538963"/>
            <a:ext cx="1134770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B-2.  예약·접수 업무내역 조회 (WF-WRK-01)</a:t>
            </a:r>
            <a:endParaRPr lang="ko-KR" sz="1000" dirty="0"/>
          </a:p>
        </p:txBody>
      </p:sp>
      <p:sp>
        <p:nvSpPr>
          <p:cNvPr id="45" name="Shape 43"/>
          <p:cNvSpPr/>
          <p:nvPr/>
        </p:nvSpPr>
        <p:spPr>
          <a:xfrm>
            <a:off x="420624" y="3758419"/>
            <a:ext cx="2926080" cy="2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1772" y="3799567"/>
            <a:ext cx="28437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ko-KR" sz="850" dirty="0"/>
          </a:p>
        </p:txBody>
      </p:sp>
      <p:sp>
        <p:nvSpPr>
          <p:cNvPr id="47" name="Shape 45"/>
          <p:cNvSpPr/>
          <p:nvPr/>
        </p:nvSpPr>
        <p:spPr>
          <a:xfrm>
            <a:off x="3346704" y="3758419"/>
            <a:ext cx="8421624" cy="2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87852" y="3799567"/>
            <a:ext cx="833932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</a:t>
            </a:r>
            <a:endParaRPr lang="ko-KR" sz="850" dirty="0"/>
          </a:p>
        </p:txBody>
      </p:sp>
      <p:sp>
        <p:nvSpPr>
          <p:cNvPr id="49" name="Shape 47"/>
          <p:cNvSpPr/>
          <p:nvPr/>
        </p:nvSpPr>
        <p:spPr>
          <a:xfrm>
            <a:off x="420624" y="3984299"/>
            <a:ext cx="292608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1772" y="4025447"/>
            <a:ext cx="28437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조회조건</a:t>
            </a:r>
            <a:endParaRPr lang="ko-KR" sz="850" dirty="0"/>
          </a:p>
        </p:txBody>
      </p:sp>
      <p:sp>
        <p:nvSpPr>
          <p:cNvPr id="51" name="Shape 49"/>
          <p:cNvSpPr/>
          <p:nvPr/>
        </p:nvSpPr>
        <p:spPr>
          <a:xfrm>
            <a:off x="3346704" y="3984299"/>
            <a:ext cx="842162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87852" y="4025447"/>
            <a:ext cx="833932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예약/접수일 From ~ To  ·  상태(전체 / 예약 / 접수완료 / 예약취소 / 접수취소)  ·  차트번호  ·  이름</a:t>
            </a:r>
            <a:endParaRPr lang="ko-KR" sz="850" dirty="0"/>
          </a:p>
        </p:txBody>
      </p:sp>
      <p:sp>
        <p:nvSpPr>
          <p:cNvPr id="53" name="Shape 51"/>
          <p:cNvSpPr/>
          <p:nvPr/>
        </p:nvSpPr>
        <p:spPr>
          <a:xfrm>
            <a:off x="420624" y="4210180"/>
            <a:ext cx="292608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1772" y="4251328"/>
            <a:ext cx="28437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조건</a:t>
            </a:r>
            <a:endParaRPr lang="ko-KR" sz="850" dirty="0"/>
          </a:p>
        </p:txBody>
      </p:sp>
      <p:sp>
        <p:nvSpPr>
          <p:cNvPr id="55" name="Shape 53"/>
          <p:cNvSpPr/>
          <p:nvPr/>
        </p:nvSpPr>
        <p:spPr>
          <a:xfrm>
            <a:off x="3346704" y="4210180"/>
            <a:ext cx="842162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87852" y="4251328"/>
            <a:ext cx="833932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하나의 실질 조건이 필요하다. 상태 `전체`만 선택한 경우는 조건으로 보지 않는다.</a:t>
            </a:r>
            <a:endParaRPr lang="ko-KR" sz="850" dirty="0"/>
          </a:p>
        </p:txBody>
      </p:sp>
      <p:sp>
        <p:nvSpPr>
          <p:cNvPr id="57" name="Shape 55"/>
          <p:cNvSpPr/>
          <p:nvPr/>
        </p:nvSpPr>
        <p:spPr>
          <a:xfrm>
            <a:off x="420624" y="4436060"/>
            <a:ext cx="292608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1772" y="4477208"/>
            <a:ext cx="28437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결합</a:t>
            </a:r>
            <a:endParaRPr lang="ko-KR" sz="850" dirty="0"/>
          </a:p>
        </p:txBody>
      </p:sp>
      <p:sp>
        <p:nvSpPr>
          <p:cNvPr id="59" name="Shape 57"/>
          <p:cNvSpPr/>
          <p:nvPr/>
        </p:nvSpPr>
        <p:spPr>
          <a:xfrm>
            <a:off x="3346704" y="4436060"/>
            <a:ext cx="842162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87852" y="4477208"/>
            <a:ext cx="833932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입력조건은 AND로 결합한다.</a:t>
            </a:r>
            <a:endParaRPr lang="ko-KR" sz="850" dirty="0"/>
          </a:p>
        </p:txBody>
      </p:sp>
      <p:sp>
        <p:nvSpPr>
          <p:cNvPr id="61" name="Shape 59"/>
          <p:cNvSpPr/>
          <p:nvPr/>
        </p:nvSpPr>
        <p:spPr>
          <a:xfrm>
            <a:off x="420624" y="4661940"/>
            <a:ext cx="292608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1772" y="4703088"/>
            <a:ext cx="28437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 범위</a:t>
            </a:r>
            <a:endParaRPr lang="ko-KR" sz="850" dirty="0"/>
          </a:p>
        </p:txBody>
      </p:sp>
      <p:sp>
        <p:nvSpPr>
          <p:cNvPr id="63" name="Shape 61"/>
          <p:cNvSpPr/>
          <p:nvPr/>
        </p:nvSpPr>
        <p:spPr>
          <a:xfrm>
            <a:off x="3346704" y="4661940"/>
            <a:ext cx="842162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387852" y="4703088"/>
            <a:ext cx="833932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양끝을 포함한다. From만 있으면 이후, To만 있으면 이전. From &gt; To는 Inline 오류.</a:t>
            </a:r>
            <a:endParaRPr lang="ko-KR" sz="850" dirty="0"/>
          </a:p>
        </p:txBody>
      </p:sp>
      <p:sp>
        <p:nvSpPr>
          <p:cNvPr id="65" name="Shape 63"/>
          <p:cNvSpPr/>
          <p:nvPr/>
        </p:nvSpPr>
        <p:spPr>
          <a:xfrm>
            <a:off x="420624" y="4887820"/>
            <a:ext cx="292608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61772" y="4928968"/>
            <a:ext cx="28437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방식</a:t>
            </a:r>
            <a:endParaRPr lang="ko-KR" sz="850" dirty="0"/>
          </a:p>
        </p:txBody>
      </p:sp>
      <p:sp>
        <p:nvSpPr>
          <p:cNvPr id="67" name="Shape 65"/>
          <p:cNvSpPr/>
          <p:nvPr/>
        </p:nvSpPr>
        <p:spPr>
          <a:xfrm>
            <a:off x="3346704" y="4887820"/>
            <a:ext cx="842162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387852" y="4928968"/>
            <a:ext cx="833932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차트번호는 정확검색, 이름은 접두검색.</a:t>
            </a:r>
            <a:endParaRPr lang="ko-KR" sz="850" dirty="0"/>
          </a:p>
        </p:txBody>
      </p:sp>
      <p:sp>
        <p:nvSpPr>
          <p:cNvPr id="69" name="Shape 67"/>
          <p:cNvSpPr/>
          <p:nvPr/>
        </p:nvSpPr>
        <p:spPr>
          <a:xfrm>
            <a:off x="420624" y="5113701"/>
            <a:ext cx="292608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61772" y="5154849"/>
            <a:ext cx="28437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제외</a:t>
            </a:r>
            <a:endParaRPr lang="ko-KR" sz="850" dirty="0"/>
          </a:p>
        </p:txBody>
      </p:sp>
      <p:sp>
        <p:nvSpPr>
          <p:cNvPr id="71" name="Shape 69"/>
          <p:cNvSpPr/>
          <p:nvPr/>
        </p:nvSpPr>
        <p:spPr>
          <a:xfrm>
            <a:off x="3346704" y="5113701"/>
            <a:ext cx="842162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387852" y="5154849"/>
            <a:ext cx="833932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시간대는 조회조건에서 제외한다.</a:t>
            </a:r>
            <a:endParaRPr lang="ko-KR" sz="850" dirty="0"/>
          </a:p>
        </p:txBody>
      </p:sp>
      <p:sp>
        <p:nvSpPr>
          <p:cNvPr id="73" name="Shape 71"/>
          <p:cNvSpPr/>
          <p:nvPr/>
        </p:nvSpPr>
        <p:spPr>
          <a:xfrm>
            <a:off x="420624" y="5339581"/>
            <a:ext cx="292608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61772" y="5380729"/>
            <a:ext cx="28437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</a:t>
            </a:r>
            <a:endParaRPr lang="ko-KR" sz="850" dirty="0"/>
          </a:p>
        </p:txBody>
      </p:sp>
      <p:sp>
        <p:nvSpPr>
          <p:cNvPr id="75" name="Shape 73"/>
          <p:cNvSpPr/>
          <p:nvPr/>
        </p:nvSpPr>
        <p:spPr>
          <a:xfrm>
            <a:off x="3346704" y="5339581"/>
            <a:ext cx="842162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387852" y="5380729"/>
            <a:ext cx="833932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· 현재 · 미래를 모두 조회할 수 있다.</a:t>
            </a:r>
            <a:endParaRPr lang="ko-KR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64592"/>
            <a:ext cx="1133856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B.  조회 · 검색 계약  (계속)</a:t>
            </a:r>
            <a:endParaRPr lang="ko-KR" sz="3000" dirty="0"/>
          </a:p>
        </p:txBody>
      </p:sp>
      <p:sp>
        <p:nvSpPr>
          <p:cNvPr id="3" name="Text 1"/>
          <p:cNvSpPr/>
          <p:nvPr/>
        </p:nvSpPr>
        <p:spPr>
          <a:xfrm>
            <a:off x="420624" y="950976"/>
            <a:ext cx="1134770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B-3.  Grid 컬럼</a:t>
            </a:r>
            <a:endParaRPr lang="ko-KR" sz="1000" dirty="0"/>
          </a:p>
        </p:txBody>
      </p:sp>
      <p:sp>
        <p:nvSpPr>
          <p:cNvPr id="4" name="Shape 2"/>
          <p:cNvSpPr/>
          <p:nvPr/>
        </p:nvSpPr>
        <p:spPr>
          <a:xfrm>
            <a:off x="420624" y="1170432"/>
            <a:ext cx="2377440" cy="2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61772" y="1211580"/>
            <a:ext cx="22951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</a:t>
            </a:r>
            <a:endParaRPr lang="ko-KR" sz="850" dirty="0"/>
          </a:p>
        </p:txBody>
      </p:sp>
      <p:sp>
        <p:nvSpPr>
          <p:cNvPr id="6" name="Shape 4"/>
          <p:cNvSpPr/>
          <p:nvPr/>
        </p:nvSpPr>
        <p:spPr>
          <a:xfrm>
            <a:off x="2798064" y="1170432"/>
            <a:ext cx="3840480" cy="2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9212" y="1211580"/>
            <a:ext cx="37581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컬럼</a:t>
            </a:r>
            <a:endParaRPr lang="ko-KR" sz="850" dirty="0"/>
          </a:p>
        </p:txBody>
      </p:sp>
      <p:sp>
        <p:nvSpPr>
          <p:cNvPr id="8" name="Shape 6"/>
          <p:cNvSpPr/>
          <p:nvPr/>
        </p:nvSpPr>
        <p:spPr>
          <a:xfrm>
            <a:off x="6638544" y="1170432"/>
            <a:ext cx="2194560" cy="2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9692" y="1211580"/>
            <a:ext cx="211226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컬럼</a:t>
            </a:r>
            <a:endParaRPr lang="ko-KR" sz="850" dirty="0"/>
          </a:p>
        </p:txBody>
      </p:sp>
      <p:sp>
        <p:nvSpPr>
          <p:cNvPr id="10" name="Shape 8"/>
          <p:cNvSpPr/>
          <p:nvPr/>
        </p:nvSpPr>
        <p:spPr>
          <a:xfrm>
            <a:off x="8833104" y="1170432"/>
            <a:ext cx="2935224" cy="2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74252" y="1211580"/>
            <a:ext cx="285292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Grid 제외</a:t>
            </a:r>
            <a:endParaRPr lang="ko-KR" sz="850" dirty="0"/>
          </a:p>
        </p:txBody>
      </p:sp>
      <p:sp>
        <p:nvSpPr>
          <p:cNvPr id="12" name="Shape 10"/>
          <p:cNvSpPr/>
          <p:nvPr/>
        </p:nvSpPr>
        <p:spPr>
          <a:xfrm>
            <a:off x="420624" y="1396312"/>
            <a:ext cx="2377440" cy="369465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" y="1437460"/>
            <a:ext cx="2295144" cy="28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 관리</a:t>
            </a:r>
            <a:endParaRPr lang="ko-KR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(WF-PAT-01)</a:t>
            </a:r>
            <a:endParaRPr lang="ko-KR" sz="850" dirty="0"/>
          </a:p>
        </p:txBody>
      </p:sp>
      <p:sp>
        <p:nvSpPr>
          <p:cNvPr id="14" name="Shape 12"/>
          <p:cNvSpPr/>
          <p:nvPr/>
        </p:nvSpPr>
        <p:spPr>
          <a:xfrm>
            <a:off x="2798064" y="1396312"/>
            <a:ext cx="3840480" cy="369465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9212" y="1437460"/>
            <a:ext cx="3758184" cy="28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차트번호 → 이름 → 생년월일 → 성별 → 휴대전화번호</a:t>
            </a:r>
            <a:endParaRPr lang="ko-KR" sz="850" dirty="0"/>
          </a:p>
        </p:txBody>
      </p:sp>
      <p:sp>
        <p:nvSpPr>
          <p:cNvPr id="16" name="Shape 14"/>
          <p:cNvSpPr/>
          <p:nvPr/>
        </p:nvSpPr>
        <p:spPr>
          <a:xfrm>
            <a:off x="6638544" y="1396312"/>
            <a:ext cx="2194560" cy="369465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9692" y="1437460"/>
            <a:ext cx="2112264" cy="28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주민등록번호 / 전화번호 / E-mail / 우편번</a:t>
            </a:r>
            <a:endParaRPr lang="ko-KR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 / 주소</a:t>
            </a:r>
            <a:endParaRPr lang="ko-KR" sz="850" dirty="0"/>
          </a:p>
        </p:txBody>
      </p:sp>
      <p:sp>
        <p:nvSpPr>
          <p:cNvPr id="18" name="Shape 16"/>
          <p:cNvSpPr/>
          <p:nvPr/>
        </p:nvSpPr>
        <p:spPr>
          <a:xfrm>
            <a:off x="8833104" y="1396312"/>
            <a:ext cx="2935224" cy="369465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74252" y="1437460"/>
            <a:ext cx="2852928" cy="28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내부키(PatientId · WorkId), 정규화 컬럼, 동시성값</a:t>
            </a:r>
            <a:endParaRPr lang="ko-KR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(RowVersion), 생성·수정시각, 업무 미사용 컬럼</a:t>
            </a:r>
            <a:endParaRPr lang="ko-KR" sz="850" dirty="0"/>
          </a:p>
        </p:txBody>
      </p:sp>
      <p:sp>
        <p:nvSpPr>
          <p:cNvPr id="20" name="Shape 18"/>
          <p:cNvSpPr/>
          <p:nvPr/>
        </p:nvSpPr>
        <p:spPr>
          <a:xfrm>
            <a:off x="420624" y="1765777"/>
            <a:ext cx="2377440" cy="513049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" y="1806925"/>
            <a:ext cx="2295144" cy="43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예약·접수 Workbench</a:t>
            </a:r>
            <a:endParaRPr lang="ko-KR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(WF-WRK-01)</a:t>
            </a:r>
            <a:endParaRPr lang="ko-KR" sz="850" dirty="0"/>
          </a:p>
        </p:txBody>
      </p:sp>
      <p:sp>
        <p:nvSpPr>
          <p:cNvPr id="22" name="Shape 20"/>
          <p:cNvSpPr/>
          <p:nvPr/>
        </p:nvSpPr>
        <p:spPr>
          <a:xfrm>
            <a:off x="2798064" y="1765777"/>
            <a:ext cx="3840480" cy="513049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39212" y="1806925"/>
            <a:ext cx="3758184" cy="43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예약/접수일 → 시간대 → 상태 → 이름 → 차트번호</a:t>
            </a:r>
            <a:endParaRPr lang="ko-KR" sz="850" dirty="0"/>
          </a:p>
        </p:txBody>
      </p:sp>
      <p:sp>
        <p:nvSpPr>
          <p:cNvPr id="24" name="Shape 22"/>
          <p:cNvSpPr/>
          <p:nvPr/>
        </p:nvSpPr>
        <p:spPr>
          <a:xfrm>
            <a:off x="6638544" y="1765777"/>
            <a:ext cx="2194560" cy="513049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9692" y="1806925"/>
            <a:ext cx="2112264" cy="43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성별 / 생년월일 / 휴대전화번호</a:t>
            </a:r>
            <a:endParaRPr lang="ko-KR" sz="850" dirty="0"/>
          </a:p>
        </p:txBody>
      </p:sp>
      <p:sp>
        <p:nvSpPr>
          <p:cNvPr id="26" name="Shape 24"/>
          <p:cNvSpPr/>
          <p:nvPr/>
        </p:nvSpPr>
        <p:spPr>
          <a:xfrm>
            <a:off x="8833104" y="1765777"/>
            <a:ext cx="2935224" cy="513049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74252" y="1806925"/>
            <a:ext cx="2852928" cy="43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위와 동일. Workbench에는 주민등록번호를 표시하지 않으</a:t>
            </a:r>
            <a:endParaRPr lang="ko-KR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며 선택 컬럼 후보로도 제공하지 않는다. 정원현황</a:t>
            </a:r>
            <a:endParaRPr lang="ko-KR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·NEX/AEX 상세·주소·E-mail·메모도 제외.</a:t>
            </a:r>
            <a:endParaRPr lang="ko-KR" sz="850" dirty="0"/>
          </a:p>
        </p:txBody>
      </p:sp>
      <p:sp>
        <p:nvSpPr>
          <p:cNvPr id="28" name="Text 26"/>
          <p:cNvSpPr/>
          <p:nvPr/>
        </p:nvSpPr>
        <p:spPr>
          <a:xfrm>
            <a:off x="420624" y="2388554"/>
            <a:ext cx="1134770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B-4.  Column Chooser 정책</a:t>
            </a:r>
            <a:endParaRPr lang="ko-KR" sz="1000" dirty="0"/>
          </a:p>
        </p:txBody>
      </p:sp>
      <p:sp>
        <p:nvSpPr>
          <p:cNvPr id="29" name="Shape 27"/>
          <p:cNvSpPr/>
          <p:nvPr/>
        </p:nvSpPr>
        <p:spPr>
          <a:xfrm>
            <a:off x="420624" y="2608010"/>
            <a:ext cx="1463040" cy="2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" y="2649158"/>
            <a:ext cx="13807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ko-KR" sz="850" dirty="0"/>
          </a:p>
        </p:txBody>
      </p:sp>
      <p:sp>
        <p:nvSpPr>
          <p:cNvPr id="31" name="Shape 29"/>
          <p:cNvSpPr/>
          <p:nvPr/>
        </p:nvSpPr>
        <p:spPr>
          <a:xfrm>
            <a:off x="1883664" y="2608010"/>
            <a:ext cx="9884664" cy="2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24812" y="2649158"/>
            <a:ext cx="980236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</a:t>
            </a:r>
            <a:endParaRPr lang="ko-KR" sz="850" dirty="0"/>
          </a:p>
        </p:txBody>
      </p:sp>
      <p:sp>
        <p:nvSpPr>
          <p:cNvPr id="33" name="Shape 31"/>
          <p:cNvSpPr/>
          <p:nvPr/>
        </p:nvSpPr>
        <p:spPr>
          <a:xfrm>
            <a:off x="420624" y="2833890"/>
            <a:ext cx="146304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" y="2875038"/>
            <a:ext cx="13807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</a:t>
            </a:r>
            <a:endParaRPr lang="ko-KR" sz="850" dirty="0"/>
          </a:p>
        </p:txBody>
      </p:sp>
      <p:sp>
        <p:nvSpPr>
          <p:cNvPr id="35" name="Shape 33"/>
          <p:cNvSpPr/>
          <p:nvPr/>
        </p:nvSpPr>
        <p:spPr>
          <a:xfrm>
            <a:off x="1883664" y="2833890"/>
            <a:ext cx="988466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24812" y="2875038"/>
            <a:ext cx="980236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 / 숨김,  기본값 복원</a:t>
            </a:r>
            <a:endParaRPr lang="ko-KR" sz="850" dirty="0"/>
          </a:p>
        </p:txBody>
      </p:sp>
      <p:sp>
        <p:nvSpPr>
          <p:cNvPr id="37" name="Shape 35"/>
          <p:cNvSpPr/>
          <p:nvPr/>
        </p:nvSpPr>
        <p:spPr>
          <a:xfrm>
            <a:off x="420624" y="3059770"/>
            <a:ext cx="146304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1772" y="3100918"/>
            <a:ext cx="13807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제외</a:t>
            </a:r>
            <a:endParaRPr lang="ko-KR" sz="850" dirty="0"/>
          </a:p>
        </p:txBody>
      </p:sp>
      <p:sp>
        <p:nvSpPr>
          <p:cNvPr id="39" name="Shape 37"/>
          <p:cNvSpPr/>
          <p:nvPr/>
        </p:nvSpPr>
        <p:spPr>
          <a:xfrm>
            <a:off x="1883664" y="3059770"/>
            <a:ext cx="988466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24812" y="3100918"/>
            <a:ext cx="980236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사용자별 Layout DB 저장,  로그인별 개인화,  복잡한 Column Profile 관리자</a:t>
            </a:r>
            <a:endParaRPr lang="ko-KR" sz="850" dirty="0"/>
          </a:p>
        </p:txBody>
      </p:sp>
      <p:sp>
        <p:nvSpPr>
          <p:cNvPr id="41" name="Shape 39"/>
          <p:cNvSpPr/>
          <p:nvPr/>
        </p:nvSpPr>
        <p:spPr>
          <a:xfrm>
            <a:off x="420624" y="3285651"/>
            <a:ext cx="146304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1772" y="3326799"/>
            <a:ext cx="13807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</a:t>
            </a:r>
            <a:endParaRPr lang="ko-KR" sz="850" dirty="0"/>
          </a:p>
        </p:txBody>
      </p:sp>
      <p:sp>
        <p:nvSpPr>
          <p:cNvPr id="43" name="Shape 41"/>
          <p:cNvSpPr/>
          <p:nvPr/>
        </p:nvSpPr>
        <p:spPr>
          <a:xfrm>
            <a:off x="1883664" y="3285651"/>
            <a:ext cx="988466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924812" y="3326799"/>
            <a:ext cx="980236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 컬럼 후보만 제공한다. 수검자 관리에서는 SocialNumber를 선택 컬럼으로 허용하고, Workbench에서는 후보로 제공하지 않는다.</a:t>
            </a:r>
            <a:endParaRPr lang="ko-KR" sz="850" dirty="0"/>
          </a:p>
        </p:txBody>
      </p:sp>
      <p:sp>
        <p:nvSpPr>
          <p:cNvPr id="45" name="Text 43"/>
          <p:cNvSpPr/>
          <p:nvPr/>
        </p:nvSpPr>
        <p:spPr>
          <a:xfrm>
            <a:off x="420624" y="3621259"/>
            <a:ext cx="1134770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B-5.  Grid 공통 동작</a:t>
            </a:r>
            <a:endParaRPr lang="ko-KR" sz="1000" dirty="0"/>
          </a:p>
        </p:txBody>
      </p:sp>
      <p:sp>
        <p:nvSpPr>
          <p:cNvPr id="46" name="Shape 44"/>
          <p:cNvSpPr/>
          <p:nvPr/>
        </p:nvSpPr>
        <p:spPr>
          <a:xfrm>
            <a:off x="420624" y="3840715"/>
            <a:ext cx="2926080" cy="2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1772" y="3881863"/>
            <a:ext cx="28437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ko-KR" sz="850" dirty="0"/>
          </a:p>
        </p:txBody>
      </p:sp>
      <p:sp>
        <p:nvSpPr>
          <p:cNvPr id="48" name="Shape 46"/>
          <p:cNvSpPr/>
          <p:nvPr/>
        </p:nvSpPr>
        <p:spPr>
          <a:xfrm>
            <a:off x="3346704" y="3840715"/>
            <a:ext cx="8421624" cy="2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87852" y="3881863"/>
            <a:ext cx="833932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</a:t>
            </a:r>
            <a:endParaRPr lang="ko-KR" sz="850" dirty="0"/>
          </a:p>
        </p:txBody>
      </p:sp>
      <p:sp>
        <p:nvSpPr>
          <p:cNvPr id="50" name="Shape 48"/>
          <p:cNvSpPr/>
          <p:nvPr/>
        </p:nvSpPr>
        <p:spPr>
          <a:xfrm>
            <a:off x="420624" y="4066595"/>
            <a:ext cx="292608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1772" y="4107743"/>
            <a:ext cx="28437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</a:t>
            </a:r>
            <a:endParaRPr lang="ko-KR" sz="850" dirty="0"/>
          </a:p>
        </p:txBody>
      </p:sp>
      <p:sp>
        <p:nvSpPr>
          <p:cNvPr id="52" name="Shape 50"/>
          <p:cNvSpPr/>
          <p:nvPr/>
        </p:nvSpPr>
        <p:spPr>
          <a:xfrm>
            <a:off x="3346704" y="4066595"/>
            <a:ext cx="842162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87852" y="4107743"/>
            <a:ext cx="833932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Single Row Selection. Multi-Select는 사용하지 않는다.</a:t>
            </a:r>
            <a:endParaRPr lang="ko-KR" sz="850" dirty="0"/>
          </a:p>
        </p:txBody>
      </p:sp>
      <p:sp>
        <p:nvSpPr>
          <p:cNvPr id="54" name="Shape 52"/>
          <p:cNvSpPr/>
          <p:nvPr/>
        </p:nvSpPr>
        <p:spPr>
          <a:xfrm>
            <a:off x="420624" y="4292476"/>
            <a:ext cx="292608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1772" y="4333624"/>
            <a:ext cx="28437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 선택</a:t>
            </a:r>
            <a:endParaRPr lang="ko-KR" sz="850" dirty="0"/>
          </a:p>
        </p:txBody>
      </p:sp>
      <p:sp>
        <p:nvSpPr>
          <p:cNvPr id="56" name="Shape 54"/>
          <p:cNvSpPr/>
          <p:nvPr/>
        </p:nvSpPr>
        <p:spPr>
          <a:xfrm>
            <a:off x="3346704" y="4292476"/>
            <a:ext cx="842162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387852" y="4333624"/>
            <a:ext cx="833932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행을 선택하면 즉시 우측 상세를 갱신한다.</a:t>
            </a:r>
            <a:endParaRPr lang="ko-KR" sz="850" dirty="0"/>
          </a:p>
        </p:txBody>
      </p:sp>
      <p:sp>
        <p:nvSpPr>
          <p:cNvPr id="58" name="Shape 56"/>
          <p:cNvSpPr/>
          <p:nvPr/>
        </p:nvSpPr>
        <p:spPr>
          <a:xfrm>
            <a:off x="420624" y="4518356"/>
            <a:ext cx="292608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1772" y="4559504"/>
            <a:ext cx="28437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Double Click</a:t>
            </a:r>
            <a:endParaRPr lang="ko-KR" sz="850" dirty="0"/>
          </a:p>
        </p:txBody>
      </p:sp>
      <p:sp>
        <p:nvSpPr>
          <p:cNvPr id="60" name="Shape 58"/>
          <p:cNvSpPr/>
          <p:nvPr/>
        </p:nvSpPr>
        <p:spPr>
          <a:xfrm>
            <a:off x="3346704" y="4518356"/>
            <a:ext cx="842162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387852" y="4559504"/>
            <a:ext cx="833932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Action을 실행하지 않는다.</a:t>
            </a:r>
            <a:endParaRPr lang="ko-KR" sz="850" dirty="0"/>
          </a:p>
        </p:txBody>
      </p:sp>
      <p:sp>
        <p:nvSpPr>
          <p:cNvPr id="62" name="Shape 60"/>
          <p:cNvSpPr/>
          <p:nvPr/>
        </p:nvSpPr>
        <p:spPr>
          <a:xfrm>
            <a:off x="420624" y="4744236"/>
            <a:ext cx="292608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61772" y="4785384"/>
            <a:ext cx="28437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재조회</a:t>
            </a:r>
            <a:endParaRPr lang="ko-KR" sz="850" dirty="0"/>
          </a:p>
        </p:txBody>
      </p:sp>
      <p:sp>
        <p:nvSpPr>
          <p:cNvPr id="64" name="Shape 62"/>
          <p:cNvSpPr/>
          <p:nvPr/>
        </p:nvSpPr>
        <p:spPr>
          <a:xfrm>
            <a:off x="3346704" y="4744236"/>
            <a:ext cx="842162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387852" y="4785384"/>
            <a:ext cx="833932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SelectedRow를 해제하고 상세와 Transaction Action을 모두 Clear한다.</a:t>
            </a:r>
            <a:endParaRPr lang="ko-KR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64592"/>
            <a:ext cx="1133856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C.  Validation Matrix</a:t>
            </a:r>
            <a:endParaRPr lang="ko-KR" sz="3000" dirty="0"/>
          </a:p>
        </p:txBody>
      </p:sp>
      <p:sp>
        <p:nvSpPr>
          <p:cNvPr id="3" name="Shape 1"/>
          <p:cNvSpPr/>
          <p:nvPr/>
        </p:nvSpPr>
        <p:spPr>
          <a:xfrm>
            <a:off x="420624" y="932688"/>
            <a:ext cx="3749040" cy="19844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48056" y="960120"/>
            <a:ext cx="369417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Validation</a:t>
            </a:r>
            <a:endParaRPr lang="ko-KR" sz="850" dirty="0"/>
          </a:p>
        </p:txBody>
      </p:sp>
      <p:sp>
        <p:nvSpPr>
          <p:cNvPr id="5" name="Shape 3"/>
          <p:cNvSpPr/>
          <p:nvPr/>
        </p:nvSpPr>
        <p:spPr>
          <a:xfrm>
            <a:off x="4169664" y="932688"/>
            <a:ext cx="3749040" cy="19844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97096" y="960120"/>
            <a:ext cx="369417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표현</a:t>
            </a:r>
            <a:endParaRPr lang="ko-KR" sz="850" dirty="0"/>
          </a:p>
        </p:txBody>
      </p:sp>
      <p:sp>
        <p:nvSpPr>
          <p:cNvPr id="7" name="Shape 5"/>
          <p:cNvSpPr/>
          <p:nvPr/>
        </p:nvSpPr>
        <p:spPr>
          <a:xfrm>
            <a:off x="7918704" y="932688"/>
            <a:ext cx="3849624" cy="19844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46136" y="960120"/>
            <a:ext cx="3794760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ko-KR" sz="850" dirty="0"/>
          </a:p>
        </p:txBody>
      </p:sp>
      <p:sp>
        <p:nvSpPr>
          <p:cNvPr id="9" name="Shape 7"/>
          <p:cNvSpPr/>
          <p:nvPr/>
        </p:nvSpPr>
        <p:spPr>
          <a:xfrm>
            <a:off x="420624" y="1131136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" y="1158568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필수정보 누락</a:t>
            </a:r>
            <a:endParaRPr lang="ko-KR" sz="800" dirty="0"/>
          </a:p>
        </p:txBody>
      </p:sp>
      <p:sp>
        <p:nvSpPr>
          <p:cNvPr id="11" name="Shape 9"/>
          <p:cNvSpPr/>
          <p:nvPr/>
        </p:nvSpPr>
        <p:spPr>
          <a:xfrm>
            <a:off x="4169664" y="1131136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97096" y="1158568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 인접 Inline</a:t>
            </a:r>
            <a:endParaRPr lang="ko-KR" sz="800" dirty="0"/>
          </a:p>
        </p:txBody>
      </p:sp>
      <p:sp>
        <p:nvSpPr>
          <p:cNvPr id="13" name="Shape 11"/>
          <p:cNvSpPr/>
          <p:nvPr/>
        </p:nvSpPr>
        <p:spPr>
          <a:xfrm>
            <a:off x="7918704" y="1131136"/>
            <a:ext cx="3849624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46136" y="1158568"/>
            <a:ext cx="3794760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불가</a:t>
            </a:r>
            <a:endParaRPr lang="ko-KR" sz="800" dirty="0"/>
          </a:p>
        </p:txBody>
      </p:sp>
      <p:sp>
        <p:nvSpPr>
          <p:cNvPr id="15" name="Shape 13"/>
          <p:cNvSpPr/>
          <p:nvPr/>
        </p:nvSpPr>
        <p:spPr>
          <a:xfrm>
            <a:off x="420624" y="1321138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" y="1348570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주민번호 13자리/날짜/파생 오류</a:t>
            </a:r>
            <a:endParaRPr lang="ko-KR" sz="800" dirty="0"/>
          </a:p>
        </p:txBody>
      </p:sp>
      <p:sp>
        <p:nvSpPr>
          <p:cNvPr id="17" name="Shape 15"/>
          <p:cNvSpPr/>
          <p:nvPr/>
        </p:nvSpPr>
        <p:spPr>
          <a:xfrm>
            <a:off x="4169664" y="1321138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97096" y="1348570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Inline, Birthday/Gender Clear</a:t>
            </a:r>
            <a:endParaRPr lang="ko-KR" sz="800" dirty="0"/>
          </a:p>
        </p:txBody>
      </p:sp>
      <p:sp>
        <p:nvSpPr>
          <p:cNvPr id="19" name="Shape 17"/>
          <p:cNvSpPr/>
          <p:nvPr/>
        </p:nvSpPr>
        <p:spPr>
          <a:xfrm>
            <a:off x="7918704" y="1321138"/>
            <a:ext cx="3849624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46136" y="1348570"/>
            <a:ext cx="3794760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불가</a:t>
            </a:r>
            <a:endParaRPr lang="ko-KR" sz="800" dirty="0"/>
          </a:p>
        </p:txBody>
      </p:sp>
      <p:sp>
        <p:nvSpPr>
          <p:cNvPr id="21" name="Shape 19"/>
          <p:cNvSpPr/>
          <p:nvPr/>
        </p:nvSpPr>
        <p:spPr>
          <a:xfrm>
            <a:off x="420624" y="1511141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" y="1538573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주민번호 중복</a:t>
            </a:r>
            <a:endParaRPr lang="ko-KR" sz="800" dirty="0"/>
          </a:p>
        </p:txBody>
      </p:sp>
      <p:sp>
        <p:nvSpPr>
          <p:cNvPr id="23" name="Shape 21"/>
          <p:cNvSpPr/>
          <p:nvPr/>
        </p:nvSpPr>
        <p:spPr>
          <a:xfrm>
            <a:off x="4169664" y="1511141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97096" y="1538573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Blocking + 기존 수검자 확인</a:t>
            </a:r>
            <a:endParaRPr lang="ko-KR" sz="800" dirty="0"/>
          </a:p>
        </p:txBody>
      </p:sp>
      <p:sp>
        <p:nvSpPr>
          <p:cNvPr id="25" name="Shape 23"/>
          <p:cNvSpPr/>
          <p:nvPr/>
        </p:nvSpPr>
        <p:spPr>
          <a:xfrm>
            <a:off x="7918704" y="1511141"/>
            <a:ext cx="3849624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46136" y="1538573"/>
            <a:ext cx="3794760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신규등록/수정 중단</a:t>
            </a:r>
            <a:endParaRPr lang="ko-KR" sz="800" dirty="0"/>
          </a:p>
        </p:txBody>
      </p:sp>
      <p:sp>
        <p:nvSpPr>
          <p:cNvPr id="27" name="Shape 25"/>
          <p:cNvSpPr/>
          <p:nvPr/>
        </p:nvSpPr>
        <p:spPr>
          <a:xfrm>
            <a:off x="420624" y="1701143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" y="1728575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차트번호 중복</a:t>
            </a:r>
            <a:endParaRPr lang="ko-KR" sz="800" dirty="0"/>
          </a:p>
        </p:txBody>
      </p:sp>
      <p:sp>
        <p:nvSpPr>
          <p:cNvPr id="29" name="Shape 27"/>
          <p:cNvSpPr/>
          <p:nvPr/>
        </p:nvSpPr>
        <p:spPr>
          <a:xfrm>
            <a:off x="4169664" y="1701143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97096" y="1728575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Blocking</a:t>
            </a:r>
            <a:endParaRPr lang="ko-KR" sz="800" dirty="0"/>
          </a:p>
        </p:txBody>
      </p:sp>
      <p:sp>
        <p:nvSpPr>
          <p:cNvPr id="31" name="Shape 29"/>
          <p:cNvSpPr/>
          <p:nvPr/>
        </p:nvSpPr>
        <p:spPr>
          <a:xfrm>
            <a:off x="7918704" y="1701143"/>
            <a:ext cx="3849624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46136" y="1728575"/>
            <a:ext cx="3794760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중단</a:t>
            </a:r>
            <a:endParaRPr lang="ko-KR" sz="800" dirty="0"/>
          </a:p>
        </p:txBody>
      </p:sp>
      <p:sp>
        <p:nvSpPr>
          <p:cNvPr id="33" name="Shape 31"/>
          <p:cNvSpPr/>
          <p:nvPr/>
        </p:nvSpPr>
        <p:spPr>
          <a:xfrm>
            <a:off x="420624" y="1891145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8056" y="1918577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주민번호+이름 불일치</a:t>
            </a:r>
            <a:endParaRPr lang="ko-KR" sz="800" dirty="0"/>
          </a:p>
        </p:txBody>
      </p:sp>
      <p:sp>
        <p:nvSpPr>
          <p:cNvPr id="35" name="Shape 33"/>
          <p:cNvSpPr/>
          <p:nvPr/>
        </p:nvSpPr>
        <p:spPr>
          <a:xfrm>
            <a:off x="4169664" y="1891145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97096" y="1918577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전체값 확인</a:t>
            </a:r>
            <a:endParaRPr lang="ko-KR" sz="800" dirty="0"/>
          </a:p>
        </p:txBody>
      </p:sp>
      <p:sp>
        <p:nvSpPr>
          <p:cNvPr id="37" name="Shape 35"/>
          <p:cNvSpPr/>
          <p:nvPr/>
        </p:nvSpPr>
        <p:spPr>
          <a:xfrm>
            <a:off x="7918704" y="1891145"/>
            <a:ext cx="3849624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46136" y="1918577"/>
            <a:ext cx="3794760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신규등록 없이 기존 PatientId</a:t>
            </a:r>
            <a:endParaRPr lang="ko-KR" sz="800" dirty="0"/>
          </a:p>
        </p:txBody>
      </p:sp>
      <p:sp>
        <p:nvSpPr>
          <p:cNvPr id="39" name="Shape 37"/>
          <p:cNvSpPr/>
          <p:nvPr/>
        </p:nvSpPr>
        <p:spPr>
          <a:xfrm>
            <a:off x="420624" y="2081147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8056" y="2108579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이름+생년월일 후보</a:t>
            </a:r>
            <a:endParaRPr lang="ko-KR" sz="800" dirty="0"/>
          </a:p>
        </p:txBody>
      </p:sp>
      <p:sp>
        <p:nvSpPr>
          <p:cNvPr id="41" name="Shape 39"/>
          <p:cNvSpPr/>
          <p:nvPr/>
        </p:nvSpPr>
        <p:spPr>
          <a:xfrm>
            <a:off x="4169664" y="2081147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97096" y="2108579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DLG-PAT-03</a:t>
            </a:r>
            <a:endParaRPr lang="ko-KR" sz="800" dirty="0"/>
          </a:p>
        </p:txBody>
      </p:sp>
      <p:sp>
        <p:nvSpPr>
          <p:cNvPr id="43" name="Shape 41"/>
          <p:cNvSpPr/>
          <p:nvPr/>
        </p:nvSpPr>
        <p:spPr>
          <a:xfrm>
            <a:off x="7918704" y="2081147"/>
            <a:ext cx="3849624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46136" y="2108579"/>
            <a:ext cx="3794760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수정/별도등록/중단</a:t>
            </a:r>
            <a:endParaRPr lang="ko-KR" sz="800" dirty="0"/>
          </a:p>
        </p:txBody>
      </p:sp>
      <p:sp>
        <p:nvSpPr>
          <p:cNvPr id="45" name="Shape 43"/>
          <p:cNvSpPr/>
          <p:nvPr/>
        </p:nvSpPr>
        <p:spPr>
          <a:xfrm>
            <a:off x="420624" y="2271149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8056" y="2298581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주민번호 변경+RSV/RCP 존재</a:t>
            </a:r>
            <a:endParaRPr lang="ko-KR" sz="800" dirty="0"/>
          </a:p>
        </p:txBody>
      </p:sp>
      <p:sp>
        <p:nvSpPr>
          <p:cNvPr id="47" name="Shape 45"/>
          <p:cNvSpPr/>
          <p:nvPr/>
        </p:nvSpPr>
        <p:spPr>
          <a:xfrm>
            <a:off x="4169664" y="2271149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97096" y="2298581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Blocking</a:t>
            </a:r>
            <a:endParaRPr lang="ko-KR" sz="800" dirty="0"/>
          </a:p>
        </p:txBody>
      </p:sp>
      <p:sp>
        <p:nvSpPr>
          <p:cNvPr id="49" name="Shape 47"/>
          <p:cNvSpPr/>
          <p:nvPr/>
        </p:nvSpPr>
        <p:spPr>
          <a:xfrm>
            <a:off x="7918704" y="2271149"/>
            <a:ext cx="3849624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46136" y="2298581"/>
            <a:ext cx="3794760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주민번호 변경 불가</a:t>
            </a:r>
            <a:endParaRPr lang="ko-KR" sz="800" dirty="0"/>
          </a:p>
        </p:txBody>
      </p:sp>
      <p:sp>
        <p:nvSpPr>
          <p:cNvPr id="51" name="Shape 49"/>
          <p:cNvSpPr/>
          <p:nvPr/>
        </p:nvSpPr>
        <p:spPr>
          <a:xfrm>
            <a:off x="420624" y="2461151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8056" y="2488583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수검자 RowVersion 불일치</a:t>
            </a:r>
            <a:endParaRPr lang="ko-KR" sz="800" dirty="0"/>
          </a:p>
        </p:txBody>
      </p:sp>
      <p:sp>
        <p:nvSpPr>
          <p:cNvPr id="53" name="Shape 51"/>
          <p:cNvSpPr/>
          <p:nvPr/>
        </p:nvSpPr>
        <p:spPr>
          <a:xfrm>
            <a:off x="4169664" y="2461151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97096" y="2488583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Blocking+최신 수검자 Refresh</a:t>
            </a:r>
            <a:endParaRPr lang="ko-KR" sz="800" dirty="0"/>
          </a:p>
        </p:txBody>
      </p:sp>
      <p:sp>
        <p:nvSpPr>
          <p:cNvPr id="55" name="Shape 53"/>
          <p:cNvSpPr/>
          <p:nvPr/>
        </p:nvSpPr>
        <p:spPr>
          <a:xfrm>
            <a:off x="7918704" y="2461151"/>
            <a:ext cx="3849624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946136" y="2488583"/>
            <a:ext cx="3794760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Rollback</a:t>
            </a:r>
            <a:endParaRPr lang="ko-KR" sz="800" dirty="0"/>
          </a:p>
        </p:txBody>
      </p:sp>
      <p:sp>
        <p:nvSpPr>
          <p:cNvPr id="57" name="Shape 55"/>
          <p:cNvSpPr/>
          <p:nvPr/>
        </p:nvSpPr>
        <p:spPr>
          <a:xfrm>
            <a:off x="420624" y="2651154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48056" y="2678586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유효예약 존재</a:t>
            </a:r>
            <a:endParaRPr lang="ko-KR" sz="800" dirty="0"/>
          </a:p>
        </p:txBody>
      </p:sp>
      <p:sp>
        <p:nvSpPr>
          <p:cNvPr id="59" name="Shape 57"/>
          <p:cNvSpPr/>
          <p:nvPr/>
        </p:nvSpPr>
        <p:spPr>
          <a:xfrm>
            <a:off x="4169664" y="2651154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97096" y="2678586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안내+WorkId 연결</a:t>
            </a:r>
            <a:endParaRPr lang="ko-KR" sz="800" dirty="0"/>
          </a:p>
        </p:txBody>
      </p:sp>
      <p:sp>
        <p:nvSpPr>
          <p:cNvPr id="61" name="Shape 59"/>
          <p:cNvSpPr/>
          <p:nvPr/>
        </p:nvSpPr>
        <p:spPr>
          <a:xfrm>
            <a:off x="7918704" y="2651154"/>
            <a:ext cx="3849624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946136" y="2678586"/>
            <a:ext cx="3794760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신규예약 중단</a:t>
            </a:r>
            <a:endParaRPr lang="ko-KR" sz="800" dirty="0"/>
          </a:p>
        </p:txBody>
      </p:sp>
      <p:sp>
        <p:nvSpPr>
          <p:cNvPr id="63" name="Shape 61"/>
          <p:cNvSpPr/>
          <p:nvPr/>
        </p:nvSpPr>
        <p:spPr>
          <a:xfrm>
            <a:off x="420624" y="2841156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48056" y="2868588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예약변경 다른 유효업무</a:t>
            </a:r>
            <a:endParaRPr lang="ko-KR" sz="800" dirty="0"/>
          </a:p>
        </p:txBody>
      </p:sp>
      <p:sp>
        <p:nvSpPr>
          <p:cNvPr id="65" name="Shape 63"/>
          <p:cNvSpPr/>
          <p:nvPr/>
        </p:nvSpPr>
        <p:spPr>
          <a:xfrm>
            <a:off x="4169664" y="2841156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197096" y="2868588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WorkId 제외 후 DB 재검증</a:t>
            </a:r>
            <a:endParaRPr lang="ko-KR" sz="800" dirty="0"/>
          </a:p>
        </p:txBody>
      </p:sp>
      <p:sp>
        <p:nvSpPr>
          <p:cNvPr id="67" name="Shape 65"/>
          <p:cNvSpPr/>
          <p:nvPr/>
        </p:nvSpPr>
        <p:spPr>
          <a:xfrm>
            <a:off x="7918704" y="2841156"/>
            <a:ext cx="3849624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946136" y="2868588"/>
            <a:ext cx="3794760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자신은 충돌로 판단하지 않음</a:t>
            </a:r>
            <a:endParaRPr lang="ko-KR" sz="800" dirty="0"/>
          </a:p>
        </p:txBody>
      </p:sp>
      <p:sp>
        <p:nvSpPr>
          <p:cNvPr id="69" name="Shape 67"/>
          <p:cNvSpPr/>
          <p:nvPr/>
        </p:nvSpPr>
        <p:spPr>
          <a:xfrm>
            <a:off x="420624" y="3031158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48056" y="3058590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예약일</a:t>
            </a:r>
            <a:endParaRPr lang="ko-KR" sz="800" dirty="0"/>
          </a:p>
        </p:txBody>
      </p:sp>
      <p:sp>
        <p:nvSpPr>
          <p:cNvPr id="71" name="Shape 69"/>
          <p:cNvSpPr/>
          <p:nvPr/>
        </p:nvSpPr>
        <p:spPr>
          <a:xfrm>
            <a:off x="4169664" y="3031158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197096" y="3058590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Inline</a:t>
            </a:r>
            <a:endParaRPr lang="ko-KR" sz="800" dirty="0"/>
          </a:p>
        </p:txBody>
      </p:sp>
      <p:sp>
        <p:nvSpPr>
          <p:cNvPr id="73" name="Shape 71"/>
          <p:cNvSpPr/>
          <p:nvPr/>
        </p:nvSpPr>
        <p:spPr>
          <a:xfrm>
            <a:off x="7918704" y="3031158"/>
            <a:ext cx="3849624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946136" y="3058590"/>
            <a:ext cx="3794760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불가</a:t>
            </a:r>
            <a:endParaRPr lang="ko-KR" sz="800" dirty="0"/>
          </a:p>
        </p:txBody>
      </p:sp>
      <p:sp>
        <p:nvSpPr>
          <p:cNvPr id="75" name="Shape 73"/>
          <p:cNvSpPr/>
          <p:nvPr/>
        </p:nvSpPr>
        <p:spPr>
          <a:xfrm>
            <a:off x="420624" y="3221160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48056" y="3248592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일요일/HOL</a:t>
            </a:r>
            <a:endParaRPr lang="ko-KR" sz="800" dirty="0"/>
          </a:p>
        </p:txBody>
      </p:sp>
      <p:sp>
        <p:nvSpPr>
          <p:cNvPr id="77" name="Shape 75"/>
          <p:cNvSpPr/>
          <p:nvPr/>
        </p:nvSpPr>
        <p:spPr>
          <a:xfrm>
            <a:off x="4169664" y="3221160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197096" y="3248592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날짜/일정 Disabled+사유</a:t>
            </a:r>
            <a:endParaRPr lang="ko-KR" sz="800" dirty="0"/>
          </a:p>
        </p:txBody>
      </p:sp>
      <p:sp>
        <p:nvSpPr>
          <p:cNvPr id="79" name="Shape 77"/>
          <p:cNvSpPr/>
          <p:nvPr/>
        </p:nvSpPr>
        <p:spPr>
          <a:xfrm>
            <a:off x="7918704" y="3221160"/>
            <a:ext cx="3849624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946136" y="3248592"/>
            <a:ext cx="3794760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불가</a:t>
            </a:r>
            <a:endParaRPr lang="ko-KR" sz="800" dirty="0"/>
          </a:p>
        </p:txBody>
      </p:sp>
      <p:sp>
        <p:nvSpPr>
          <p:cNvPr id="81" name="Shape 79"/>
          <p:cNvSpPr/>
          <p:nvPr/>
        </p:nvSpPr>
        <p:spPr>
          <a:xfrm>
            <a:off x="420624" y="3411162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48056" y="3438594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토요일 PM</a:t>
            </a:r>
            <a:endParaRPr lang="ko-KR" sz="800" dirty="0"/>
          </a:p>
        </p:txBody>
      </p:sp>
      <p:sp>
        <p:nvSpPr>
          <p:cNvPr id="83" name="Shape 81"/>
          <p:cNvSpPr/>
          <p:nvPr/>
        </p:nvSpPr>
        <p:spPr>
          <a:xfrm>
            <a:off x="4169664" y="3411162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197096" y="3438594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시간대 Disabled</a:t>
            </a:r>
            <a:endParaRPr lang="ko-KR" sz="800" dirty="0"/>
          </a:p>
        </p:txBody>
      </p:sp>
      <p:sp>
        <p:nvSpPr>
          <p:cNvPr id="85" name="Shape 83"/>
          <p:cNvSpPr/>
          <p:nvPr/>
        </p:nvSpPr>
        <p:spPr>
          <a:xfrm>
            <a:off x="7918704" y="3411162"/>
            <a:ext cx="3849624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946136" y="3438594"/>
            <a:ext cx="3794760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불가</a:t>
            </a:r>
            <a:endParaRPr lang="ko-KR" sz="800" dirty="0"/>
          </a:p>
        </p:txBody>
      </p:sp>
      <p:sp>
        <p:nvSpPr>
          <p:cNvPr id="87" name="Shape 85"/>
          <p:cNvSpPr/>
          <p:nvPr/>
        </p:nvSpPr>
        <p:spPr>
          <a:xfrm>
            <a:off x="420624" y="3601164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48056" y="3628596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정원 20/20</a:t>
            </a:r>
            <a:endParaRPr lang="ko-KR" sz="800" dirty="0"/>
          </a:p>
        </p:txBody>
      </p:sp>
      <p:sp>
        <p:nvSpPr>
          <p:cNvPr id="89" name="Shape 87"/>
          <p:cNvSpPr/>
          <p:nvPr/>
        </p:nvSpPr>
        <p:spPr>
          <a:xfrm>
            <a:off x="4169664" y="3601164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197096" y="3628596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시간대 Disabled+정원 마감</a:t>
            </a:r>
            <a:endParaRPr lang="ko-KR" sz="800" dirty="0"/>
          </a:p>
        </p:txBody>
      </p:sp>
      <p:sp>
        <p:nvSpPr>
          <p:cNvPr id="91" name="Shape 89"/>
          <p:cNvSpPr/>
          <p:nvPr/>
        </p:nvSpPr>
        <p:spPr>
          <a:xfrm>
            <a:off x="7918704" y="3601164"/>
            <a:ext cx="3849624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946136" y="3628596"/>
            <a:ext cx="3794760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불가</a:t>
            </a:r>
            <a:endParaRPr lang="ko-KR" sz="800" dirty="0"/>
          </a:p>
        </p:txBody>
      </p:sp>
      <p:sp>
        <p:nvSpPr>
          <p:cNvPr id="93" name="Shape 91"/>
          <p:cNvSpPr/>
          <p:nvPr/>
        </p:nvSpPr>
        <p:spPr>
          <a:xfrm>
            <a:off x="420624" y="3791167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48056" y="3818599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Normal 당일예약 마감</a:t>
            </a:r>
            <a:endParaRPr lang="ko-KR" sz="800" dirty="0"/>
          </a:p>
        </p:txBody>
      </p:sp>
      <p:sp>
        <p:nvSpPr>
          <p:cNvPr id="95" name="Shape 93"/>
          <p:cNvSpPr/>
          <p:nvPr/>
        </p:nvSpPr>
        <p:spPr>
          <a:xfrm>
            <a:off x="4169664" y="3791167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197096" y="3818599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시간대 Disabled+사유</a:t>
            </a:r>
            <a:endParaRPr lang="ko-KR" sz="800" dirty="0"/>
          </a:p>
        </p:txBody>
      </p:sp>
      <p:sp>
        <p:nvSpPr>
          <p:cNvPr id="97" name="Shape 95"/>
          <p:cNvSpPr/>
          <p:nvPr/>
        </p:nvSpPr>
        <p:spPr>
          <a:xfrm>
            <a:off x="7918704" y="3791167"/>
            <a:ext cx="3849624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946136" y="3818599"/>
            <a:ext cx="3794760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불가</a:t>
            </a:r>
            <a:endParaRPr lang="ko-KR" sz="800" dirty="0"/>
          </a:p>
        </p:txBody>
      </p:sp>
      <p:sp>
        <p:nvSpPr>
          <p:cNvPr id="99" name="Shape 97"/>
          <p:cNvSpPr/>
          <p:nvPr/>
        </p:nvSpPr>
        <p:spPr>
          <a:xfrm>
            <a:off x="420624" y="3981169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48056" y="4008601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WalkIn 접수마감</a:t>
            </a:r>
            <a:endParaRPr lang="ko-KR" sz="800" dirty="0"/>
          </a:p>
        </p:txBody>
      </p:sp>
      <p:sp>
        <p:nvSpPr>
          <p:cNvPr id="101" name="Shape 99"/>
          <p:cNvSpPr/>
          <p:nvPr/>
        </p:nvSpPr>
        <p:spPr>
          <a:xfrm>
            <a:off x="4169664" y="3981169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197096" y="4008601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Inline/Blocking</a:t>
            </a:r>
            <a:endParaRPr lang="ko-KR" sz="800" dirty="0"/>
          </a:p>
        </p:txBody>
      </p:sp>
      <p:sp>
        <p:nvSpPr>
          <p:cNvPr id="103" name="Shape 101"/>
          <p:cNvSpPr/>
          <p:nvPr/>
        </p:nvSpPr>
        <p:spPr>
          <a:xfrm>
            <a:off x="7918704" y="3981169"/>
            <a:ext cx="3849624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946136" y="4008601"/>
            <a:ext cx="3794760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현장예약 불가</a:t>
            </a:r>
            <a:endParaRPr lang="ko-KR" sz="800" dirty="0"/>
          </a:p>
        </p:txBody>
      </p:sp>
      <p:sp>
        <p:nvSpPr>
          <p:cNvPr id="105" name="Shape 103"/>
          <p:cNvSpPr/>
          <p:nvPr/>
        </p:nvSpPr>
        <p:spPr>
          <a:xfrm>
            <a:off x="420624" y="4171171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48056" y="4198603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TGT 비대상</a:t>
            </a:r>
            <a:endParaRPr lang="ko-KR" sz="800" dirty="0"/>
          </a:p>
        </p:txBody>
      </p:sp>
      <p:sp>
        <p:nvSpPr>
          <p:cNvPr id="107" name="Shape 105"/>
          <p:cNvSpPr/>
          <p:nvPr/>
        </p:nvSpPr>
        <p:spPr>
          <a:xfrm>
            <a:off x="4169664" y="4171171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197096" y="4198603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판정결과+저장 Disabled</a:t>
            </a:r>
            <a:endParaRPr lang="ko-KR" sz="800" dirty="0"/>
          </a:p>
        </p:txBody>
      </p:sp>
      <p:sp>
        <p:nvSpPr>
          <p:cNvPr id="109" name="Shape 107"/>
          <p:cNvSpPr/>
          <p:nvPr/>
        </p:nvSpPr>
        <p:spPr>
          <a:xfrm>
            <a:off x="7918704" y="4171171"/>
            <a:ext cx="3849624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946136" y="4198603"/>
            <a:ext cx="3794760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불가</a:t>
            </a:r>
            <a:endParaRPr lang="ko-KR" sz="800" dirty="0"/>
          </a:p>
        </p:txBody>
      </p:sp>
      <p:sp>
        <p:nvSpPr>
          <p:cNvPr id="111" name="Shape 109"/>
          <p:cNvSpPr/>
          <p:nvPr/>
        </p:nvSpPr>
        <p:spPr>
          <a:xfrm>
            <a:off x="420624" y="4361173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48056" y="4388605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AEX 성별 제한</a:t>
            </a:r>
            <a:endParaRPr lang="ko-KR" sz="800" dirty="0"/>
          </a:p>
        </p:txBody>
      </p:sp>
      <p:sp>
        <p:nvSpPr>
          <p:cNvPr id="113" name="Shape 111"/>
          <p:cNvSpPr/>
          <p:nvPr/>
        </p:nvSpPr>
        <p:spPr>
          <a:xfrm>
            <a:off x="4169664" y="4361173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4197096" y="4388605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Checkbox Disabled+사유</a:t>
            </a:r>
            <a:endParaRPr lang="ko-KR" sz="800" dirty="0"/>
          </a:p>
        </p:txBody>
      </p:sp>
      <p:sp>
        <p:nvSpPr>
          <p:cNvPr id="115" name="Shape 113"/>
          <p:cNvSpPr/>
          <p:nvPr/>
        </p:nvSpPr>
        <p:spPr>
          <a:xfrm>
            <a:off x="7918704" y="4361173"/>
            <a:ext cx="3849624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946136" y="4388605"/>
            <a:ext cx="3794760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불가</a:t>
            </a:r>
            <a:endParaRPr lang="ko-KR" sz="800" dirty="0"/>
          </a:p>
        </p:txBody>
      </p:sp>
      <p:sp>
        <p:nvSpPr>
          <p:cNvPr id="117" name="Shape 115"/>
          <p:cNvSpPr/>
          <p:nvPr/>
        </p:nvSpPr>
        <p:spPr>
          <a:xfrm>
            <a:off x="420624" y="4551175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448056" y="4578607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AEX NEX 중복</a:t>
            </a:r>
            <a:endParaRPr lang="ko-KR" sz="800" dirty="0"/>
          </a:p>
        </p:txBody>
      </p:sp>
      <p:sp>
        <p:nvSpPr>
          <p:cNvPr id="119" name="Shape 117"/>
          <p:cNvSpPr/>
          <p:nvPr/>
        </p:nvSpPr>
        <p:spPr>
          <a:xfrm>
            <a:off x="4169664" y="4551175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4197096" y="4578607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Disabled+국가검진 포함 사유</a:t>
            </a:r>
            <a:endParaRPr lang="ko-KR" sz="800" dirty="0"/>
          </a:p>
        </p:txBody>
      </p:sp>
      <p:sp>
        <p:nvSpPr>
          <p:cNvPr id="121" name="Shape 119"/>
          <p:cNvSpPr/>
          <p:nvPr/>
        </p:nvSpPr>
        <p:spPr>
          <a:xfrm>
            <a:off x="7918704" y="4551175"/>
            <a:ext cx="3849624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7946136" y="4578607"/>
            <a:ext cx="3794760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불가</a:t>
            </a:r>
            <a:endParaRPr lang="ko-KR" sz="800" dirty="0"/>
          </a:p>
        </p:txBody>
      </p:sp>
      <p:sp>
        <p:nvSpPr>
          <p:cNvPr id="123" name="Shape 121"/>
          <p:cNvSpPr/>
          <p:nvPr/>
        </p:nvSpPr>
        <p:spPr>
          <a:xfrm>
            <a:off x="420624" y="4741177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448056" y="4768609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접수일 불일치</a:t>
            </a:r>
            <a:endParaRPr lang="ko-KR" sz="800" dirty="0"/>
          </a:p>
        </p:txBody>
      </p:sp>
      <p:sp>
        <p:nvSpPr>
          <p:cNvPr id="125" name="Shape 123"/>
          <p:cNvSpPr/>
          <p:nvPr/>
        </p:nvSpPr>
        <p:spPr>
          <a:xfrm>
            <a:off x="4169664" y="4741177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4197096" y="4768609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Modal 사유+버튼 Disabled</a:t>
            </a:r>
            <a:endParaRPr lang="ko-KR" sz="800" dirty="0"/>
          </a:p>
        </p:txBody>
      </p:sp>
      <p:sp>
        <p:nvSpPr>
          <p:cNvPr id="127" name="Shape 125"/>
          <p:cNvSpPr/>
          <p:nvPr/>
        </p:nvSpPr>
        <p:spPr>
          <a:xfrm>
            <a:off x="7918704" y="4741177"/>
            <a:ext cx="3849624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7946136" y="4768609"/>
            <a:ext cx="3794760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불가</a:t>
            </a:r>
            <a:endParaRPr lang="ko-KR" sz="800" dirty="0"/>
          </a:p>
        </p:txBody>
      </p:sp>
      <p:sp>
        <p:nvSpPr>
          <p:cNvPr id="129" name="Shape 127"/>
          <p:cNvSpPr/>
          <p:nvPr/>
        </p:nvSpPr>
        <p:spPr>
          <a:xfrm>
            <a:off x="420624" y="4931179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448056" y="4958611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접수마감</a:t>
            </a:r>
            <a:endParaRPr lang="ko-KR" sz="800" dirty="0"/>
          </a:p>
        </p:txBody>
      </p:sp>
      <p:sp>
        <p:nvSpPr>
          <p:cNvPr id="131" name="Shape 129"/>
          <p:cNvSpPr/>
          <p:nvPr/>
        </p:nvSpPr>
        <p:spPr>
          <a:xfrm>
            <a:off x="4169664" y="4931179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4197096" y="4958611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Modal 사유+버튼 Disabled</a:t>
            </a:r>
            <a:endParaRPr lang="ko-KR" sz="800" dirty="0"/>
          </a:p>
        </p:txBody>
      </p:sp>
      <p:sp>
        <p:nvSpPr>
          <p:cNvPr id="133" name="Shape 131"/>
          <p:cNvSpPr/>
          <p:nvPr/>
        </p:nvSpPr>
        <p:spPr>
          <a:xfrm>
            <a:off x="7918704" y="4931179"/>
            <a:ext cx="3849624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7946136" y="4958611"/>
            <a:ext cx="3794760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불가</a:t>
            </a:r>
            <a:endParaRPr lang="ko-KR" sz="800" dirty="0"/>
          </a:p>
        </p:txBody>
      </p:sp>
      <p:sp>
        <p:nvSpPr>
          <p:cNvPr id="135" name="Shape 133"/>
          <p:cNvSpPr/>
          <p:nvPr/>
        </p:nvSpPr>
        <p:spPr>
          <a:xfrm>
            <a:off x="420624" y="5121182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448056" y="5148614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RCP/CNR/CNC 재접수</a:t>
            </a:r>
            <a:endParaRPr lang="ko-KR" sz="800" dirty="0"/>
          </a:p>
        </p:txBody>
      </p:sp>
      <p:sp>
        <p:nvSpPr>
          <p:cNvPr id="137" name="Shape 135"/>
          <p:cNvSpPr/>
          <p:nvPr/>
        </p:nvSpPr>
        <p:spPr>
          <a:xfrm>
            <a:off x="4169664" y="5121182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4197096" y="5148614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Action/Modal 차단</a:t>
            </a:r>
            <a:endParaRPr lang="ko-KR" sz="800" dirty="0"/>
          </a:p>
        </p:txBody>
      </p:sp>
      <p:sp>
        <p:nvSpPr>
          <p:cNvPr id="139" name="Shape 137"/>
          <p:cNvSpPr/>
          <p:nvPr/>
        </p:nvSpPr>
        <p:spPr>
          <a:xfrm>
            <a:off x="7918704" y="5121182"/>
            <a:ext cx="3849624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7946136" y="5148614"/>
            <a:ext cx="3794760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불가</a:t>
            </a:r>
            <a:endParaRPr lang="ko-KR" sz="800" dirty="0"/>
          </a:p>
        </p:txBody>
      </p:sp>
      <p:sp>
        <p:nvSpPr>
          <p:cNvPr id="141" name="Shape 139"/>
          <p:cNvSpPr/>
          <p:nvPr/>
        </p:nvSpPr>
        <p:spPr>
          <a:xfrm>
            <a:off x="420624" y="5311184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448056" y="5338616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 RowVersion 불일치</a:t>
            </a:r>
            <a:endParaRPr lang="ko-KR" sz="800" dirty="0"/>
          </a:p>
        </p:txBody>
      </p:sp>
      <p:sp>
        <p:nvSpPr>
          <p:cNvPr id="143" name="Shape 141"/>
          <p:cNvSpPr/>
          <p:nvPr/>
        </p:nvSpPr>
        <p:spPr>
          <a:xfrm>
            <a:off x="4169664" y="5311184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4197096" y="5338616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Blocking+최신 Work Refresh</a:t>
            </a:r>
            <a:endParaRPr lang="ko-KR" sz="800" dirty="0"/>
          </a:p>
        </p:txBody>
      </p:sp>
      <p:sp>
        <p:nvSpPr>
          <p:cNvPr id="145" name="Shape 143"/>
          <p:cNvSpPr/>
          <p:nvPr/>
        </p:nvSpPr>
        <p:spPr>
          <a:xfrm>
            <a:off x="7918704" y="5311184"/>
            <a:ext cx="3849624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7946136" y="5338616"/>
            <a:ext cx="3794760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Rollback</a:t>
            </a:r>
            <a:endParaRPr lang="ko-KR" sz="800" dirty="0"/>
          </a:p>
        </p:txBody>
      </p:sp>
      <p:sp>
        <p:nvSpPr>
          <p:cNvPr id="147" name="Shape 145"/>
          <p:cNvSpPr/>
          <p:nvPr/>
        </p:nvSpPr>
        <p:spPr>
          <a:xfrm>
            <a:off x="420624" y="5501186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448056" y="5528618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Single Instance 재호출+Dirty</a:t>
            </a:r>
            <a:endParaRPr lang="ko-KR" sz="800" dirty="0"/>
          </a:p>
        </p:txBody>
      </p:sp>
      <p:sp>
        <p:nvSpPr>
          <p:cNvPr id="149" name="Shape 147"/>
          <p:cNvSpPr/>
          <p:nvPr/>
        </p:nvSpPr>
        <p:spPr>
          <a:xfrm>
            <a:off x="4169664" y="5501186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4197096" y="5528618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폐기 Confirm</a:t>
            </a:r>
            <a:endParaRPr lang="ko-KR" sz="800" dirty="0"/>
          </a:p>
        </p:txBody>
      </p:sp>
      <p:sp>
        <p:nvSpPr>
          <p:cNvPr id="151" name="Shape 149"/>
          <p:cNvSpPr/>
          <p:nvPr/>
        </p:nvSpPr>
        <p:spPr>
          <a:xfrm>
            <a:off x="7918704" y="5501186"/>
            <a:ext cx="3849624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7946136" y="5528618"/>
            <a:ext cx="3794760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Reset / 취소 유지</a:t>
            </a:r>
            <a:endParaRPr lang="ko-KR" sz="800" dirty="0"/>
          </a:p>
        </p:txBody>
      </p:sp>
      <p:sp>
        <p:nvSpPr>
          <p:cNvPr id="153" name="Shape 151"/>
          <p:cNvSpPr/>
          <p:nvPr/>
        </p:nvSpPr>
        <p:spPr>
          <a:xfrm>
            <a:off x="420624" y="5691188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448056" y="5718620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직전 정원·중복·상태 변경</a:t>
            </a:r>
            <a:endParaRPr lang="ko-KR" sz="800" dirty="0"/>
          </a:p>
        </p:txBody>
      </p:sp>
      <p:sp>
        <p:nvSpPr>
          <p:cNvPr id="155" name="Shape 153"/>
          <p:cNvSpPr/>
          <p:nvPr/>
        </p:nvSpPr>
        <p:spPr>
          <a:xfrm>
            <a:off x="4169664" y="5691188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4197096" y="5718620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Blocking+Refresh</a:t>
            </a:r>
            <a:endParaRPr lang="ko-KR" sz="800" dirty="0"/>
          </a:p>
        </p:txBody>
      </p:sp>
      <p:sp>
        <p:nvSpPr>
          <p:cNvPr id="157" name="Shape 155"/>
          <p:cNvSpPr/>
          <p:nvPr/>
        </p:nvSpPr>
        <p:spPr>
          <a:xfrm>
            <a:off x="7918704" y="5691188"/>
            <a:ext cx="3849624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7946136" y="5718620"/>
            <a:ext cx="3794760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Transaction Rollback</a:t>
            </a:r>
            <a:endParaRPr lang="ko-KR" sz="800" dirty="0"/>
          </a:p>
        </p:txBody>
      </p:sp>
      <p:sp>
        <p:nvSpPr>
          <p:cNvPr id="159" name="Shape 157"/>
          <p:cNvSpPr/>
          <p:nvPr/>
        </p:nvSpPr>
        <p:spPr>
          <a:xfrm>
            <a:off x="420624" y="5881190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448056" y="5908622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</a:t>
            </a:r>
            <a:endParaRPr lang="ko-KR" sz="800" dirty="0"/>
          </a:p>
        </p:txBody>
      </p:sp>
      <p:sp>
        <p:nvSpPr>
          <p:cNvPr id="161" name="Shape 159"/>
          <p:cNvSpPr/>
          <p:nvPr/>
        </p:nvSpPr>
        <p:spPr>
          <a:xfrm>
            <a:off x="4169664" y="5881190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4197096" y="5908622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Confirm 후 DB 재검증</a:t>
            </a:r>
            <a:endParaRPr lang="ko-KR" sz="800" dirty="0"/>
          </a:p>
        </p:txBody>
      </p:sp>
      <p:sp>
        <p:nvSpPr>
          <p:cNvPr id="163" name="Shape 161"/>
          <p:cNvSpPr/>
          <p:nvPr/>
        </p:nvSpPr>
        <p:spPr>
          <a:xfrm>
            <a:off x="7918704" y="5881190"/>
            <a:ext cx="3849624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7946136" y="5908622"/>
            <a:ext cx="3794760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CNR/CNC 상태전이</a:t>
            </a:r>
            <a:endParaRPr lang="ko-KR" sz="800" dirty="0"/>
          </a:p>
        </p:txBody>
      </p:sp>
      <p:sp>
        <p:nvSpPr>
          <p:cNvPr id="165" name="Shape 163"/>
          <p:cNvSpPr/>
          <p:nvPr/>
        </p:nvSpPr>
        <p:spPr>
          <a:xfrm>
            <a:off x="420624" y="6071192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448056" y="6098624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휴무일 날짜 중복</a:t>
            </a:r>
            <a:endParaRPr lang="ko-KR" sz="800" dirty="0"/>
          </a:p>
        </p:txBody>
      </p:sp>
      <p:sp>
        <p:nvSpPr>
          <p:cNvPr id="167" name="Shape 165"/>
          <p:cNvSpPr/>
          <p:nvPr/>
        </p:nvSpPr>
        <p:spPr>
          <a:xfrm>
            <a:off x="4169664" y="6071192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4197096" y="6098624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DLG-HOL-01 Blocking</a:t>
            </a:r>
            <a:endParaRPr lang="ko-KR" sz="800" dirty="0"/>
          </a:p>
        </p:txBody>
      </p:sp>
      <p:sp>
        <p:nvSpPr>
          <p:cNvPr id="169" name="Shape 167"/>
          <p:cNvSpPr/>
          <p:nvPr/>
        </p:nvSpPr>
        <p:spPr>
          <a:xfrm>
            <a:off x="7918704" y="6071192"/>
            <a:ext cx="3849624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7946136" y="6098624"/>
            <a:ext cx="3794760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불가</a:t>
            </a:r>
            <a:endParaRPr lang="ko-KR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64592"/>
            <a:ext cx="1133856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C.  Validation Matrix  (계속)</a:t>
            </a:r>
            <a:endParaRPr lang="ko-KR" sz="3000" dirty="0"/>
          </a:p>
        </p:txBody>
      </p:sp>
      <p:sp>
        <p:nvSpPr>
          <p:cNvPr id="3" name="Shape 1"/>
          <p:cNvSpPr/>
          <p:nvPr/>
        </p:nvSpPr>
        <p:spPr>
          <a:xfrm>
            <a:off x="420624" y="932688"/>
            <a:ext cx="3749040" cy="19844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48056" y="960120"/>
            <a:ext cx="369417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Validation</a:t>
            </a:r>
            <a:endParaRPr lang="ko-KR" sz="850" dirty="0"/>
          </a:p>
        </p:txBody>
      </p:sp>
      <p:sp>
        <p:nvSpPr>
          <p:cNvPr id="5" name="Shape 3"/>
          <p:cNvSpPr/>
          <p:nvPr/>
        </p:nvSpPr>
        <p:spPr>
          <a:xfrm>
            <a:off x="4169664" y="932688"/>
            <a:ext cx="3749040" cy="19844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97096" y="960120"/>
            <a:ext cx="369417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표현</a:t>
            </a:r>
            <a:endParaRPr lang="ko-KR" sz="850" dirty="0"/>
          </a:p>
        </p:txBody>
      </p:sp>
      <p:sp>
        <p:nvSpPr>
          <p:cNvPr id="7" name="Shape 5"/>
          <p:cNvSpPr/>
          <p:nvPr/>
        </p:nvSpPr>
        <p:spPr>
          <a:xfrm>
            <a:off x="7918704" y="932688"/>
            <a:ext cx="3849624" cy="19844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46136" y="960120"/>
            <a:ext cx="3794760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ko-KR" sz="850" dirty="0"/>
          </a:p>
        </p:txBody>
      </p:sp>
      <p:sp>
        <p:nvSpPr>
          <p:cNvPr id="9" name="Shape 7"/>
          <p:cNvSpPr/>
          <p:nvPr/>
        </p:nvSpPr>
        <p:spPr>
          <a:xfrm>
            <a:off x="420624" y="1131136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" y="1158568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법정·대체 공휴일 행 선택</a:t>
            </a:r>
            <a:endParaRPr lang="ko-KR" sz="800" dirty="0"/>
          </a:p>
        </p:txBody>
      </p:sp>
      <p:sp>
        <p:nvSpPr>
          <p:cNvPr id="11" name="Shape 9"/>
          <p:cNvSpPr/>
          <p:nvPr/>
        </p:nvSpPr>
        <p:spPr>
          <a:xfrm>
            <a:off x="4169664" y="1131136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97096" y="1158568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입력행·[수정][삭제] Disabled</a:t>
            </a:r>
            <a:endParaRPr lang="ko-KR" sz="800" dirty="0"/>
          </a:p>
        </p:txBody>
      </p:sp>
      <p:sp>
        <p:nvSpPr>
          <p:cNvPr id="13" name="Shape 11"/>
          <p:cNvSpPr/>
          <p:nvPr/>
        </p:nvSpPr>
        <p:spPr>
          <a:xfrm>
            <a:off x="7918704" y="1131136"/>
            <a:ext cx="3849624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46136" y="1158568"/>
            <a:ext cx="3794760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불가 (HOL-05)</a:t>
            </a:r>
            <a:endParaRPr lang="ko-KR" sz="800" dirty="0"/>
          </a:p>
        </p:txBody>
      </p:sp>
      <p:sp>
        <p:nvSpPr>
          <p:cNvPr id="15" name="Shape 13"/>
          <p:cNvSpPr/>
          <p:nvPr/>
        </p:nvSpPr>
        <p:spPr>
          <a:xfrm>
            <a:off x="420624" y="1321138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" y="1348570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휴무일명 공백</a:t>
            </a:r>
            <a:endParaRPr lang="ko-KR" sz="800" dirty="0"/>
          </a:p>
        </p:txBody>
      </p:sp>
      <p:sp>
        <p:nvSpPr>
          <p:cNvPr id="17" name="Shape 15"/>
          <p:cNvSpPr/>
          <p:nvPr/>
        </p:nvSpPr>
        <p:spPr>
          <a:xfrm>
            <a:off x="4169664" y="1321138"/>
            <a:ext cx="37490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97096" y="1348570"/>
            <a:ext cx="36941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Inline</a:t>
            </a:r>
            <a:endParaRPr lang="ko-KR" sz="800" dirty="0"/>
          </a:p>
        </p:txBody>
      </p:sp>
      <p:sp>
        <p:nvSpPr>
          <p:cNvPr id="19" name="Shape 17"/>
          <p:cNvSpPr/>
          <p:nvPr/>
        </p:nvSpPr>
        <p:spPr>
          <a:xfrm>
            <a:off x="7918704" y="1321138"/>
            <a:ext cx="3849624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46136" y="1348570"/>
            <a:ext cx="3794760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불가</a:t>
            </a:r>
            <a:endParaRPr lang="ko-KR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64592"/>
            <a:ext cx="1133856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D.  Ribbon Action · 마감 Matrix</a:t>
            </a:r>
            <a:endParaRPr lang="ko-KR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987552"/>
            <a:ext cx="1123797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관리와 접수 관리는 같은 Workbench 화면을 Context만 바꿔 공유한다. 두 Context의 Ribbon 구성이 다르므로 아래 두 표를 함께 읽어야 한다. Reception이 Reservation의 상위집합이 아니다 — [예약취소]는 예약 Context 전용</a:t>
            </a:r>
            <a:endParaRPr lang="ko-KR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1131136"/>
            <a:ext cx="1123797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</a:t>
            </a:r>
            <a:endParaRPr lang="ko-KR" sz="850" dirty="0"/>
          </a:p>
        </p:txBody>
      </p:sp>
      <p:sp>
        <p:nvSpPr>
          <p:cNvPr id="5" name="Text 3"/>
          <p:cNvSpPr/>
          <p:nvPr/>
        </p:nvSpPr>
        <p:spPr>
          <a:xfrm>
            <a:off x="420624" y="1329585"/>
            <a:ext cx="1134770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D-1.  예약 Context Ribbon  ·  [조회] [예약변경] [예약취소] [접수] [변경이력] [컬럼설정]</a:t>
            </a:r>
            <a:endParaRPr lang="ko-KR" sz="1000" dirty="0"/>
          </a:p>
        </p:txBody>
      </p:sp>
      <p:sp>
        <p:nvSpPr>
          <p:cNvPr id="6" name="Shape 4"/>
          <p:cNvSpPr/>
          <p:nvPr/>
        </p:nvSpPr>
        <p:spPr>
          <a:xfrm>
            <a:off x="420624" y="1549041"/>
            <a:ext cx="2377440" cy="207592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2628" y="1581045"/>
            <a:ext cx="2313432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상태</a:t>
            </a:r>
            <a:endParaRPr lang="ko-KR" sz="850" dirty="0"/>
          </a:p>
        </p:txBody>
      </p:sp>
      <p:sp>
        <p:nvSpPr>
          <p:cNvPr id="8" name="Shape 6"/>
          <p:cNvSpPr/>
          <p:nvPr/>
        </p:nvSpPr>
        <p:spPr>
          <a:xfrm>
            <a:off x="2798064" y="1549041"/>
            <a:ext cx="2242566" cy="207592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0068" y="1581045"/>
            <a:ext cx="217855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예약변경</a:t>
            </a:r>
            <a:endParaRPr lang="ko-KR" sz="850" dirty="0"/>
          </a:p>
        </p:txBody>
      </p:sp>
      <p:sp>
        <p:nvSpPr>
          <p:cNvPr id="10" name="Shape 8"/>
          <p:cNvSpPr/>
          <p:nvPr/>
        </p:nvSpPr>
        <p:spPr>
          <a:xfrm>
            <a:off x="5040630" y="1549041"/>
            <a:ext cx="2242566" cy="207592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2634" y="1581045"/>
            <a:ext cx="217855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예약취소</a:t>
            </a:r>
            <a:endParaRPr lang="ko-KR" sz="850" dirty="0"/>
          </a:p>
        </p:txBody>
      </p:sp>
      <p:sp>
        <p:nvSpPr>
          <p:cNvPr id="12" name="Shape 10"/>
          <p:cNvSpPr/>
          <p:nvPr/>
        </p:nvSpPr>
        <p:spPr>
          <a:xfrm>
            <a:off x="7283196" y="1549041"/>
            <a:ext cx="2242566" cy="207592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0" y="1581045"/>
            <a:ext cx="217855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</a:t>
            </a:r>
            <a:endParaRPr lang="ko-KR" sz="850" dirty="0"/>
          </a:p>
        </p:txBody>
      </p:sp>
      <p:sp>
        <p:nvSpPr>
          <p:cNvPr id="14" name="Shape 12"/>
          <p:cNvSpPr/>
          <p:nvPr/>
        </p:nvSpPr>
        <p:spPr>
          <a:xfrm>
            <a:off x="9525762" y="1549041"/>
            <a:ext cx="2242566" cy="207592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57766" y="1581045"/>
            <a:ext cx="217855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변경이력</a:t>
            </a:r>
            <a:endParaRPr lang="ko-KR" sz="850" dirty="0"/>
          </a:p>
        </p:txBody>
      </p:sp>
      <p:sp>
        <p:nvSpPr>
          <p:cNvPr id="16" name="Shape 14"/>
          <p:cNvSpPr/>
          <p:nvPr/>
        </p:nvSpPr>
        <p:spPr>
          <a:xfrm>
            <a:off x="420624" y="1756633"/>
            <a:ext cx="2377440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" y="1788637"/>
            <a:ext cx="2313432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미선택</a:t>
            </a:r>
            <a:endParaRPr lang="ko-KR" sz="850" dirty="0"/>
          </a:p>
        </p:txBody>
      </p:sp>
      <p:sp>
        <p:nvSpPr>
          <p:cNvPr id="18" name="Shape 16"/>
          <p:cNvSpPr/>
          <p:nvPr/>
        </p:nvSpPr>
        <p:spPr>
          <a:xfrm>
            <a:off x="2798064" y="1756633"/>
            <a:ext cx="2242566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0068" y="1788637"/>
            <a:ext cx="217855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850" dirty="0"/>
          </a:p>
        </p:txBody>
      </p:sp>
      <p:sp>
        <p:nvSpPr>
          <p:cNvPr id="20" name="Shape 18"/>
          <p:cNvSpPr/>
          <p:nvPr/>
        </p:nvSpPr>
        <p:spPr>
          <a:xfrm>
            <a:off x="5040630" y="1756633"/>
            <a:ext cx="2242566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2634" y="1788637"/>
            <a:ext cx="217855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850" dirty="0"/>
          </a:p>
        </p:txBody>
      </p:sp>
      <p:sp>
        <p:nvSpPr>
          <p:cNvPr id="22" name="Shape 20"/>
          <p:cNvSpPr/>
          <p:nvPr/>
        </p:nvSpPr>
        <p:spPr>
          <a:xfrm>
            <a:off x="7283196" y="1756633"/>
            <a:ext cx="2242566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0" y="1788637"/>
            <a:ext cx="217855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850" dirty="0"/>
          </a:p>
        </p:txBody>
      </p:sp>
      <p:sp>
        <p:nvSpPr>
          <p:cNvPr id="24" name="Shape 22"/>
          <p:cNvSpPr/>
          <p:nvPr/>
        </p:nvSpPr>
        <p:spPr>
          <a:xfrm>
            <a:off x="9525762" y="1756633"/>
            <a:ext cx="2242566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57766" y="1788637"/>
            <a:ext cx="217855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850" dirty="0"/>
          </a:p>
        </p:txBody>
      </p:sp>
      <p:sp>
        <p:nvSpPr>
          <p:cNvPr id="26" name="Shape 24"/>
          <p:cNvSpPr/>
          <p:nvPr/>
        </p:nvSpPr>
        <p:spPr>
          <a:xfrm>
            <a:off x="420624" y="1964225"/>
            <a:ext cx="2377440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" y="1996229"/>
            <a:ext cx="2313432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(RSV)</a:t>
            </a:r>
            <a:endParaRPr lang="ko-KR" sz="850" dirty="0"/>
          </a:p>
        </p:txBody>
      </p:sp>
      <p:sp>
        <p:nvSpPr>
          <p:cNvPr id="28" name="Shape 26"/>
          <p:cNvSpPr/>
          <p:nvPr/>
        </p:nvSpPr>
        <p:spPr>
          <a:xfrm>
            <a:off x="2798064" y="1964225"/>
            <a:ext cx="2242566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30068" y="1996229"/>
            <a:ext cx="217855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ko-KR" sz="850" dirty="0"/>
          </a:p>
        </p:txBody>
      </p:sp>
      <p:sp>
        <p:nvSpPr>
          <p:cNvPr id="30" name="Shape 28"/>
          <p:cNvSpPr/>
          <p:nvPr/>
        </p:nvSpPr>
        <p:spPr>
          <a:xfrm>
            <a:off x="5040630" y="1964225"/>
            <a:ext cx="2242566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2634" y="1996229"/>
            <a:ext cx="217855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ko-KR" sz="850" dirty="0"/>
          </a:p>
        </p:txBody>
      </p:sp>
      <p:sp>
        <p:nvSpPr>
          <p:cNvPr id="32" name="Shape 30"/>
          <p:cNvSpPr/>
          <p:nvPr/>
        </p:nvSpPr>
        <p:spPr>
          <a:xfrm>
            <a:off x="7283196" y="1964225"/>
            <a:ext cx="2242566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0" y="1996229"/>
            <a:ext cx="217855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조건부 O</a:t>
            </a:r>
            <a:endParaRPr lang="ko-KR" sz="850" dirty="0"/>
          </a:p>
        </p:txBody>
      </p:sp>
      <p:sp>
        <p:nvSpPr>
          <p:cNvPr id="34" name="Shape 32"/>
          <p:cNvSpPr/>
          <p:nvPr/>
        </p:nvSpPr>
        <p:spPr>
          <a:xfrm>
            <a:off x="9525762" y="1964225"/>
            <a:ext cx="2242566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57766" y="1996229"/>
            <a:ext cx="217855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ko-KR" sz="850" dirty="0"/>
          </a:p>
        </p:txBody>
      </p:sp>
      <p:sp>
        <p:nvSpPr>
          <p:cNvPr id="36" name="Shape 34"/>
          <p:cNvSpPr/>
          <p:nvPr/>
        </p:nvSpPr>
        <p:spPr>
          <a:xfrm>
            <a:off x="420624" y="2171817"/>
            <a:ext cx="2377440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2628" y="2203821"/>
            <a:ext cx="2313432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접수완료 (RCP)</a:t>
            </a:r>
            <a:endParaRPr lang="ko-KR" sz="850" dirty="0"/>
          </a:p>
        </p:txBody>
      </p:sp>
      <p:sp>
        <p:nvSpPr>
          <p:cNvPr id="38" name="Shape 36"/>
          <p:cNvSpPr/>
          <p:nvPr/>
        </p:nvSpPr>
        <p:spPr>
          <a:xfrm>
            <a:off x="2798064" y="2171817"/>
            <a:ext cx="2242566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0068" y="2203821"/>
            <a:ext cx="217855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850" dirty="0"/>
          </a:p>
        </p:txBody>
      </p:sp>
      <p:sp>
        <p:nvSpPr>
          <p:cNvPr id="40" name="Shape 38"/>
          <p:cNvSpPr/>
          <p:nvPr/>
        </p:nvSpPr>
        <p:spPr>
          <a:xfrm>
            <a:off x="5040630" y="2171817"/>
            <a:ext cx="2242566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72634" y="2203821"/>
            <a:ext cx="217855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850" dirty="0"/>
          </a:p>
        </p:txBody>
      </p:sp>
      <p:sp>
        <p:nvSpPr>
          <p:cNvPr id="42" name="Shape 40"/>
          <p:cNvSpPr/>
          <p:nvPr/>
        </p:nvSpPr>
        <p:spPr>
          <a:xfrm>
            <a:off x="7283196" y="2171817"/>
            <a:ext cx="2242566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0" y="2203821"/>
            <a:ext cx="217855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850" dirty="0"/>
          </a:p>
        </p:txBody>
      </p:sp>
      <p:sp>
        <p:nvSpPr>
          <p:cNvPr id="44" name="Shape 42"/>
          <p:cNvSpPr/>
          <p:nvPr/>
        </p:nvSpPr>
        <p:spPr>
          <a:xfrm>
            <a:off x="9525762" y="2171817"/>
            <a:ext cx="2242566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557766" y="2203821"/>
            <a:ext cx="217855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ko-KR" sz="850" dirty="0"/>
          </a:p>
        </p:txBody>
      </p:sp>
      <p:sp>
        <p:nvSpPr>
          <p:cNvPr id="46" name="Shape 44"/>
          <p:cNvSpPr/>
          <p:nvPr/>
        </p:nvSpPr>
        <p:spPr>
          <a:xfrm>
            <a:off x="420624" y="2379410"/>
            <a:ext cx="2377440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2628" y="2411414"/>
            <a:ext cx="2313432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예약취소 (CNR)</a:t>
            </a:r>
            <a:endParaRPr lang="ko-KR" sz="850" dirty="0"/>
          </a:p>
        </p:txBody>
      </p:sp>
      <p:sp>
        <p:nvSpPr>
          <p:cNvPr id="48" name="Shape 46"/>
          <p:cNvSpPr/>
          <p:nvPr/>
        </p:nvSpPr>
        <p:spPr>
          <a:xfrm>
            <a:off x="2798064" y="2379410"/>
            <a:ext cx="2242566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830068" y="2411414"/>
            <a:ext cx="217855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850" dirty="0"/>
          </a:p>
        </p:txBody>
      </p:sp>
      <p:sp>
        <p:nvSpPr>
          <p:cNvPr id="50" name="Shape 48"/>
          <p:cNvSpPr/>
          <p:nvPr/>
        </p:nvSpPr>
        <p:spPr>
          <a:xfrm>
            <a:off x="5040630" y="2379410"/>
            <a:ext cx="2242566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72634" y="2411414"/>
            <a:ext cx="217855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850" dirty="0"/>
          </a:p>
        </p:txBody>
      </p:sp>
      <p:sp>
        <p:nvSpPr>
          <p:cNvPr id="52" name="Shape 50"/>
          <p:cNvSpPr/>
          <p:nvPr/>
        </p:nvSpPr>
        <p:spPr>
          <a:xfrm>
            <a:off x="7283196" y="2379410"/>
            <a:ext cx="2242566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15200" y="2411414"/>
            <a:ext cx="217855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850" dirty="0"/>
          </a:p>
        </p:txBody>
      </p:sp>
      <p:sp>
        <p:nvSpPr>
          <p:cNvPr id="54" name="Shape 52"/>
          <p:cNvSpPr/>
          <p:nvPr/>
        </p:nvSpPr>
        <p:spPr>
          <a:xfrm>
            <a:off x="9525762" y="2379410"/>
            <a:ext cx="2242566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557766" y="2411414"/>
            <a:ext cx="217855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ko-KR" sz="850" dirty="0"/>
          </a:p>
        </p:txBody>
      </p:sp>
      <p:sp>
        <p:nvSpPr>
          <p:cNvPr id="56" name="Shape 54"/>
          <p:cNvSpPr/>
          <p:nvPr/>
        </p:nvSpPr>
        <p:spPr>
          <a:xfrm>
            <a:off x="420624" y="2587002"/>
            <a:ext cx="2377440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2628" y="2619006"/>
            <a:ext cx="2313432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접수취소 (CNC)</a:t>
            </a:r>
            <a:endParaRPr lang="ko-KR" sz="850" dirty="0"/>
          </a:p>
        </p:txBody>
      </p:sp>
      <p:sp>
        <p:nvSpPr>
          <p:cNvPr id="58" name="Shape 56"/>
          <p:cNvSpPr/>
          <p:nvPr/>
        </p:nvSpPr>
        <p:spPr>
          <a:xfrm>
            <a:off x="2798064" y="2587002"/>
            <a:ext cx="2242566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830068" y="2619006"/>
            <a:ext cx="217855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850" dirty="0"/>
          </a:p>
        </p:txBody>
      </p:sp>
      <p:sp>
        <p:nvSpPr>
          <p:cNvPr id="60" name="Shape 58"/>
          <p:cNvSpPr/>
          <p:nvPr/>
        </p:nvSpPr>
        <p:spPr>
          <a:xfrm>
            <a:off x="5040630" y="2587002"/>
            <a:ext cx="2242566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72634" y="2619006"/>
            <a:ext cx="217855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850" dirty="0"/>
          </a:p>
        </p:txBody>
      </p:sp>
      <p:sp>
        <p:nvSpPr>
          <p:cNvPr id="62" name="Shape 60"/>
          <p:cNvSpPr/>
          <p:nvPr/>
        </p:nvSpPr>
        <p:spPr>
          <a:xfrm>
            <a:off x="7283196" y="2587002"/>
            <a:ext cx="2242566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315200" y="2619006"/>
            <a:ext cx="217855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850" dirty="0"/>
          </a:p>
        </p:txBody>
      </p:sp>
      <p:sp>
        <p:nvSpPr>
          <p:cNvPr id="64" name="Shape 62"/>
          <p:cNvSpPr/>
          <p:nvPr/>
        </p:nvSpPr>
        <p:spPr>
          <a:xfrm>
            <a:off x="9525762" y="2587002"/>
            <a:ext cx="2242566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557766" y="2619006"/>
            <a:ext cx="217855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ko-KR" sz="850" dirty="0"/>
          </a:p>
        </p:txBody>
      </p:sp>
      <p:sp>
        <p:nvSpPr>
          <p:cNvPr id="66" name="Text 64"/>
          <p:cNvSpPr/>
          <p:nvPr/>
        </p:nvSpPr>
        <p:spPr>
          <a:xfrm>
            <a:off x="475488" y="2940898"/>
            <a:ext cx="1123797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[접수]는 상태변경 버튼이 아니라 접수 Context / P03으로 연결하는 Shortcut이다.</a:t>
            </a:r>
            <a:endParaRPr lang="ko-KR" sz="850" dirty="0"/>
          </a:p>
        </p:txBody>
      </p:sp>
      <p:sp>
        <p:nvSpPr>
          <p:cNvPr id="67" name="Text 65"/>
          <p:cNvSpPr/>
          <p:nvPr/>
        </p:nvSpPr>
        <p:spPr>
          <a:xfrm>
            <a:off x="475488" y="3084483"/>
            <a:ext cx="1123797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[변경이력]은 상태와 무관하게 행이 선택되면 열린다 — 취소된 업무의 변경 내역도 남아 있고 그것을 보는 것이 열람의 목적이다.</a:t>
            </a:r>
            <a:endParaRPr lang="ko-KR" sz="850" dirty="0"/>
          </a:p>
        </p:txBody>
      </p:sp>
      <p:sp>
        <p:nvSpPr>
          <p:cNvPr id="68" name="Text 66"/>
          <p:cNvSpPr/>
          <p:nvPr/>
        </p:nvSpPr>
        <p:spPr>
          <a:xfrm>
            <a:off x="475488" y="3228067"/>
            <a:ext cx="1123797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업무불가는 이 표에 행이 없다 — Action을 닫지 않고 상태영역에만 나타난다. 예약 Write는 저장 시점에 DB가 308/309로 막고 화면은 그 결과를 Blocking으로 보인다.</a:t>
            </a:r>
            <a:endParaRPr lang="ko-KR" sz="850" dirty="0"/>
          </a:p>
        </p:txBody>
      </p:sp>
      <p:sp>
        <p:nvSpPr>
          <p:cNvPr id="69" name="Text 67"/>
          <p:cNvSpPr/>
          <p:nvPr/>
        </p:nvSpPr>
        <p:spPr>
          <a:xfrm>
            <a:off x="420624" y="3426515"/>
            <a:ext cx="1134770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D-2.  접수 Context Ribbon  ·  [조회] [현장 당일예약] [예약변경] [접수] [추가검사변경] [접수취소] [변경이력] [컬럼설정]</a:t>
            </a:r>
            <a:endParaRPr lang="ko-KR" sz="1000" dirty="0"/>
          </a:p>
        </p:txBody>
      </p:sp>
      <p:sp>
        <p:nvSpPr>
          <p:cNvPr id="70" name="Shape 68"/>
          <p:cNvSpPr/>
          <p:nvPr/>
        </p:nvSpPr>
        <p:spPr>
          <a:xfrm>
            <a:off x="420624" y="3645971"/>
            <a:ext cx="2377440" cy="207592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2628" y="3677975"/>
            <a:ext cx="2313432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상태</a:t>
            </a:r>
            <a:endParaRPr lang="ko-KR" sz="850" dirty="0"/>
          </a:p>
        </p:txBody>
      </p:sp>
      <p:sp>
        <p:nvSpPr>
          <p:cNvPr id="72" name="Shape 70"/>
          <p:cNvSpPr/>
          <p:nvPr/>
        </p:nvSpPr>
        <p:spPr>
          <a:xfrm>
            <a:off x="2798064" y="3645971"/>
            <a:ext cx="1495044" cy="207592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830068" y="3677975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당일예약</a:t>
            </a:r>
            <a:endParaRPr lang="ko-KR" sz="850" dirty="0"/>
          </a:p>
        </p:txBody>
      </p:sp>
      <p:sp>
        <p:nvSpPr>
          <p:cNvPr id="74" name="Shape 72"/>
          <p:cNvSpPr/>
          <p:nvPr/>
        </p:nvSpPr>
        <p:spPr>
          <a:xfrm>
            <a:off x="4293108" y="3645971"/>
            <a:ext cx="1495044" cy="207592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325112" y="3677975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예약변경</a:t>
            </a:r>
            <a:endParaRPr lang="ko-KR" sz="850" dirty="0"/>
          </a:p>
        </p:txBody>
      </p:sp>
      <p:sp>
        <p:nvSpPr>
          <p:cNvPr id="76" name="Shape 74"/>
          <p:cNvSpPr/>
          <p:nvPr/>
        </p:nvSpPr>
        <p:spPr>
          <a:xfrm>
            <a:off x="5788152" y="3645971"/>
            <a:ext cx="1495044" cy="207592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820156" y="3677975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</a:t>
            </a:r>
            <a:endParaRPr lang="ko-KR" sz="850" dirty="0"/>
          </a:p>
        </p:txBody>
      </p:sp>
      <p:sp>
        <p:nvSpPr>
          <p:cNvPr id="78" name="Shape 76"/>
          <p:cNvSpPr/>
          <p:nvPr/>
        </p:nvSpPr>
        <p:spPr>
          <a:xfrm>
            <a:off x="7283196" y="3645971"/>
            <a:ext cx="1495044" cy="207592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315200" y="3677975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추가검사변경</a:t>
            </a:r>
            <a:endParaRPr lang="ko-KR" sz="850" dirty="0"/>
          </a:p>
        </p:txBody>
      </p:sp>
      <p:sp>
        <p:nvSpPr>
          <p:cNvPr id="80" name="Shape 78"/>
          <p:cNvSpPr/>
          <p:nvPr/>
        </p:nvSpPr>
        <p:spPr>
          <a:xfrm>
            <a:off x="8778240" y="3645971"/>
            <a:ext cx="1495044" cy="207592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810244" y="3677975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접수취소</a:t>
            </a:r>
            <a:endParaRPr lang="ko-KR" sz="850" dirty="0"/>
          </a:p>
        </p:txBody>
      </p:sp>
      <p:sp>
        <p:nvSpPr>
          <p:cNvPr id="82" name="Shape 80"/>
          <p:cNvSpPr/>
          <p:nvPr/>
        </p:nvSpPr>
        <p:spPr>
          <a:xfrm>
            <a:off x="10273284" y="3645971"/>
            <a:ext cx="1495044" cy="207592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0305288" y="3677975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변경이력</a:t>
            </a:r>
            <a:endParaRPr lang="ko-KR" sz="850" dirty="0"/>
          </a:p>
        </p:txBody>
      </p:sp>
      <p:sp>
        <p:nvSpPr>
          <p:cNvPr id="84" name="Shape 82"/>
          <p:cNvSpPr/>
          <p:nvPr/>
        </p:nvSpPr>
        <p:spPr>
          <a:xfrm>
            <a:off x="420624" y="3853564"/>
            <a:ext cx="2377440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52628" y="3885568"/>
            <a:ext cx="2313432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미선택</a:t>
            </a:r>
            <a:endParaRPr lang="ko-KR" sz="850" dirty="0"/>
          </a:p>
        </p:txBody>
      </p:sp>
      <p:sp>
        <p:nvSpPr>
          <p:cNvPr id="86" name="Shape 84"/>
          <p:cNvSpPr/>
          <p:nvPr/>
        </p:nvSpPr>
        <p:spPr>
          <a:xfrm>
            <a:off x="2798064" y="3853564"/>
            <a:ext cx="1495044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830068" y="3885568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ko-KR" sz="850" dirty="0"/>
          </a:p>
        </p:txBody>
      </p:sp>
      <p:sp>
        <p:nvSpPr>
          <p:cNvPr id="88" name="Shape 86"/>
          <p:cNvSpPr/>
          <p:nvPr/>
        </p:nvSpPr>
        <p:spPr>
          <a:xfrm>
            <a:off x="4293108" y="3853564"/>
            <a:ext cx="1495044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325112" y="3885568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850" dirty="0"/>
          </a:p>
        </p:txBody>
      </p:sp>
      <p:sp>
        <p:nvSpPr>
          <p:cNvPr id="90" name="Shape 88"/>
          <p:cNvSpPr/>
          <p:nvPr/>
        </p:nvSpPr>
        <p:spPr>
          <a:xfrm>
            <a:off x="5788152" y="3853564"/>
            <a:ext cx="1495044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820156" y="3885568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850" dirty="0"/>
          </a:p>
        </p:txBody>
      </p:sp>
      <p:sp>
        <p:nvSpPr>
          <p:cNvPr id="92" name="Shape 90"/>
          <p:cNvSpPr/>
          <p:nvPr/>
        </p:nvSpPr>
        <p:spPr>
          <a:xfrm>
            <a:off x="7283196" y="3853564"/>
            <a:ext cx="1495044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315200" y="3885568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850" dirty="0"/>
          </a:p>
        </p:txBody>
      </p:sp>
      <p:sp>
        <p:nvSpPr>
          <p:cNvPr id="94" name="Shape 92"/>
          <p:cNvSpPr/>
          <p:nvPr/>
        </p:nvSpPr>
        <p:spPr>
          <a:xfrm>
            <a:off x="8778240" y="3853564"/>
            <a:ext cx="1495044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810244" y="3885568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850" dirty="0"/>
          </a:p>
        </p:txBody>
      </p:sp>
      <p:sp>
        <p:nvSpPr>
          <p:cNvPr id="96" name="Shape 94"/>
          <p:cNvSpPr/>
          <p:nvPr/>
        </p:nvSpPr>
        <p:spPr>
          <a:xfrm>
            <a:off x="10273284" y="3853564"/>
            <a:ext cx="1495044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0305288" y="3885568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850" dirty="0"/>
          </a:p>
        </p:txBody>
      </p:sp>
      <p:sp>
        <p:nvSpPr>
          <p:cNvPr id="98" name="Shape 96"/>
          <p:cNvSpPr/>
          <p:nvPr/>
        </p:nvSpPr>
        <p:spPr>
          <a:xfrm>
            <a:off x="420624" y="4061156"/>
            <a:ext cx="2377440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52628" y="4093160"/>
            <a:ext cx="2313432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(RSV)</a:t>
            </a:r>
            <a:endParaRPr lang="ko-KR" sz="850" dirty="0"/>
          </a:p>
        </p:txBody>
      </p:sp>
      <p:sp>
        <p:nvSpPr>
          <p:cNvPr id="100" name="Shape 98"/>
          <p:cNvSpPr/>
          <p:nvPr/>
        </p:nvSpPr>
        <p:spPr>
          <a:xfrm>
            <a:off x="2798064" y="4061156"/>
            <a:ext cx="1495044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830068" y="4093160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ko-KR" sz="850" dirty="0"/>
          </a:p>
        </p:txBody>
      </p:sp>
      <p:sp>
        <p:nvSpPr>
          <p:cNvPr id="102" name="Shape 100"/>
          <p:cNvSpPr/>
          <p:nvPr/>
        </p:nvSpPr>
        <p:spPr>
          <a:xfrm>
            <a:off x="4293108" y="4061156"/>
            <a:ext cx="1495044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325112" y="4093160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ko-KR" sz="850" dirty="0"/>
          </a:p>
        </p:txBody>
      </p:sp>
      <p:sp>
        <p:nvSpPr>
          <p:cNvPr id="104" name="Shape 102"/>
          <p:cNvSpPr/>
          <p:nvPr/>
        </p:nvSpPr>
        <p:spPr>
          <a:xfrm>
            <a:off x="5788152" y="4061156"/>
            <a:ext cx="1495044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820156" y="4093160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조건부 O</a:t>
            </a:r>
            <a:endParaRPr lang="ko-KR" sz="850" dirty="0"/>
          </a:p>
        </p:txBody>
      </p:sp>
      <p:sp>
        <p:nvSpPr>
          <p:cNvPr id="106" name="Shape 104"/>
          <p:cNvSpPr/>
          <p:nvPr/>
        </p:nvSpPr>
        <p:spPr>
          <a:xfrm>
            <a:off x="7283196" y="4061156"/>
            <a:ext cx="1495044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315200" y="4093160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850" dirty="0"/>
          </a:p>
        </p:txBody>
      </p:sp>
      <p:sp>
        <p:nvSpPr>
          <p:cNvPr id="108" name="Shape 106"/>
          <p:cNvSpPr/>
          <p:nvPr/>
        </p:nvSpPr>
        <p:spPr>
          <a:xfrm>
            <a:off x="8778240" y="4061156"/>
            <a:ext cx="1495044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8810244" y="4093160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850" dirty="0"/>
          </a:p>
        </p:txBody>
      </p:sp>
      <p:sp>
        <p:nvSpPr>
          <p:cNvPr id="110" name="Shape 108"/>
          <p:cNvSpPr/>
          <p:nvPr/>
        </p:nvSpPr>
        <p:spPr>
          <a:xfrm>
            <a:off x="10273284" y="4061156"/>
            <a:ext cx="1495044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0305288" y="4093160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ko-KR" sz="850" dirty="0"/>
          </a:p>
        </p:txBody>
      </p:sp>
      <p:sp>
        <p:nvSpPr>
          <p:cNvPr id="112" name="Shape 110"/>
          <p:cNvSpPr/>
          <p:nvPr/>
        </p:nvSpPr>
        <p:spPr>
          <a:xfrm>
            <a:off x="420624" y="4268748"/>
            <a:ext cx="2377440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52628" y="4300752"/>
            <a:ext cx="2313432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접수완료 (RCP)</a:t>
            </a:r>
            <a:endParaRPr lang="ko-KR" sz="850" dirty="0"/>
          </a:p>
        </p:txBody>
      </p:sp>
      <p:sp>
        <p:nvSpPr>
          <p:cNvPr id="114" name="Shape 112"/>
          <p:cNvSpPr/>
          <p:nvPr/>
        </p:nvSpPr>
        <p:spPr>
          <a:xfrm>
            <a:off x="2798064" y="4268748"/>
            <a:ext cx="1495044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2830068" y="4300752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ko-KR" sz="850" dirty="0"/>
          </a:p>
        </p:txBody>
      </p:sp>
      <p:sp>
        <p:nvSpPr>
          <p:cNvPr id="116" name="Shape 114"/>
          <p:cNvSpPr/>
          <p:nvPr/>
        </p:nvSpPr>
        <p:spPr>
          <a:xfrm>
            <a:off x="4293108" y="4268748"/>
            <a:ext cx="1495044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4325112" y="4300752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850" dirty="0"/>
          </a:p>
        </p:txBody>
      </p:sp>
      <p:sp>
        <p:nvSpPr>
          <p:cNvPr id="118" name="Shape 116"/>
          <p:cNvSpPr/>
          <p:nvPr/>
        </p:nvSpPr>
        <p:spPr>
          <a:xfrm>
            <a:off x="5788152" y="4268748"/>
            <a:ext cx="1495044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820156" y="4300752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850" dirty="0"/>
          </a:p>
        </p:txBody>
      </p:sp>
      <p:sp>
        <p:nvSpPr>
          <p:cNvPr id="120" name="Shape 118"/>
          <p:cNvSpPr/>
          <p:nvPr/>
        </p:nvSpPr>
        <p:spPr>
          <a:xfrm>
            <a:off x="7283196" y="4268748"/>
            <a:ext cx="1495044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7315200" y="4300752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ko-KR" sz="850" dirty="0"/>
          </a:p>
        </p:txBody>
      </p:sp>
      <p:sp>
        <p:nvSpPr>
          <p:cNvPr id="122" name="Shape 120"/>
          <p:cNvSpPr/>
          <p:nvPr/>
        </p:nvSpPr>
        <p:spPr>
          <a:xfrm>
            <a:off x="8778240" y="4268748"/>
            <a:ext cx="1495044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810244" y="4300752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ko-KR" sz="850" dirty="0"/>
          </a:p>
        </p:txBody>
      </p:sp>
      <p:sp>
        <p:nvSpPr>
          <p:cNvPr id="124" name="Shape 122"/>
          <p:cNvSpPr/>
          <p:nvPr/>
        </p:nvSpPr>
        <p:spPr>
          <a:xfrm>
            <a:off x="10273284" y="4268748"/>
            <a:ext cx="1495044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10305288" y="4300752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ko-KR" sz="850" dirty="0"/>
          </a:p>
        </p:txBody>
      </p:sp>
      <p:sp>
        <p:nvSpPr>
          <p:cNvPr id="126" name="Shape 124"/>
          <p:cNvSpPr/>
          <p:nvPr/>
        </p:nvSpPr>
        <p:spPr>
          <a:xfrm>
            <a:off x="420624" y="4476340"/>
            <a:ext cx="2377440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452628" y="4508344"/>
            <a:ext cx="2313432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예약취소 (CNR)</a:t>
            </a:r>
            <a:endParaRPr lang="ko-KR" sz="850" dirty="0"/>
          </a:p>
        </p:txBody>
      </p:sp>
      <p:sp>
        <p:nvSpPr>
          <p:cNvPr id="128" name="Shape 126"/>
          <p:cNvSpPr/>
          <p:nvPr/>
        </p:nvSpPr>
        <p:spPr>
          <a:xfrm>
            <a:off x="2798064" y="4476340"/>
            <a:ext cx="1495044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2830068" y="4508344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ko-KR" sz="850" dirty="0"/>
          </a:p>
        </p:txBody>
      </p:sp>
      <p:sp>
        <p:nvSpPr>
          <p:cNvPr id="130" name="Shape 128"/>
          <p:cNvSpPr/>
          <p:nvPr/>
        </p:nvSpPr>
        <p:spPr>
          <a:xfrm>
            <a:off x="4293108" y="4476340"/>
            <a:ext cx="1495044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4325112" y="4508344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850" dirty="0"/>
          </a:p>
        </p:txBody>
      </p:sp>
      <p:sp>
        <p:nvSpPr>
          <p:cNvPr id="132" name="Shape 130"/>
          <p:cNvSpPr/>
          <p:nvPr/>
        </p:nvSpPr>
        <p:spPr>
          <a:xfrm>
            <a:off x="5788152" y="4476340"/>
            <a:ext cx="1495044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5820156" y="4508344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850" dirty="0"/>
          </a:p>
        </p:txBody>
      </p:sp>
      <p:sp>
        <p:nvSpPr>
          <p:cNvPr id="134" name="Shape 132"/>
          <p:cNvSpPr/>
          <p:nvPr/>
        </p:nvSpPr>
        <p:spPr>
          <a:xfrm>
            <a:off x="7283196" y="4476340"/>
            <a:ext cx="1495044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7315200" y="4508344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850" dirty="0"/>
          </a:p>
        </p:txBody>
      </p:sp>
      <p:sp>
        <p:nvSpPr>
          <p:cNvPr id="136" name="Shape 134"/>
          <p:cNvSpPr/>
          <p:nvPr/>
        </p:nvSpPr>
        <p:spPr>
          <a:xfrm>
            <a:off x="8778240" y="4476340"/>
            <a:ext cx="1495044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8810244" y="4508344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850" dirty="0"/>
          </a:p>
        </p:txBody>
      </p:sp>
      <p:sp>
        <p:nvSpPr>
          <p:cNvPr id="138" name="Shape 136"/>
          <p:cNvSpPr/>
          <p:nvPr/>
        </p:nvSpPr>
        <p:spPr>
          <a:xfrm>
            <a:off x="10273284" y="4476340"/>
            <a:ext cx="1495044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10305288" y="4508344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ko-KR" sz="850" dirty="0"/>
          </a:p>
        </p:txBody>
      </p:sp>
      <p:sp>
        <p:nvSpPr>
          <p:cNvPr id="140" name="Shape 138"/>
          <p:cNvSpPr/>
          <p:nvPr/>
        </p:nvSpPr>
        <p:spPr>
          <a:xfrm>
            <a:off x="420624" y="4683933"/>
            <a:ext cx="2377440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452628" y="4715937"/>
            <a:ext cx="2313432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접수취소 (CNC)</a:t>
            </a:r>
            <a:endParaRPr lang="ko-KR" sz="850" dirty="0"/>
          </a:p>
        </p:txBody>
      </p:sp>
      <p:sp>
        <p:nvSpPr>
          <p:cNvPr id="142" name="Shape 140"/>
          <p:cNvSpPr/>
          <p:nvPr/>
        </p:nvSpPr>
        <p:spPr>
          <a:xfrm>
            <a:off x="2798064" y="4683933"/>
            <a:ext cx="1495044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2830068" y="4715937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ko-KR" sz="850" dirty="0"/>
          </a:p>
        </p:txBody>
      </p:sp>
      <p:sp>
        <p:nvSpPr>
          <p:cNvPr id="144" name="Shape 142"/>
          <p:cNvSpPr/>
          <p:nvPr/>
        </p:nvSpPr>
        <p:spPr>
          <a:xfrm>
            <a:off x="4293108" y="4683933"/>
            <a:ext cx="1495044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4325112" y="4715937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850" dirty="0"/>
          </a:p>
        </p:txBody>
      </p:sp>
      <p:sp>
        <p:nvSpPr>
          <p:cNvPr id="146" name="Shape 144"/>
          <p:cNvSpPr/>
          <p:nvPr/>
        </p:nvSpPr>
        <p:spPr>
          <a:xfrm>
            <a:off x="5788152" y="4683933"/>
            <a:ext cx="1495044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5820156" y="4715937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850" dirty="0"/>
          </a:p>
        </p:txBody>
      </p:sp>
      <p:sp>
        <p:nvSpPr>
          <p:cNvPr id="148" name="Shape 146"/>
          <p:cNvSpPr/>
          <p:nvPr/>
        </p:nvSpPr>
        <p:spPr>
          <a:xfrm>
            <a:off x="7283196" y="4683933"/>
            <a:ext cx="1495044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7315200" y="4715937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850" dirty="0"/>
          </a:p>
        </p:txBody>
      </p:sp>
      <p:sp>
        <p:nvSpPr>
          <p:cNvPr id="150" name="Shape 148"/>
          <p:cNvSpPr/>
          <p:nvPr/>
        </p:nvSpPr>
        <p:spPr>
          <a:xfrm>
            <a:off x="8778240" y="4683933"/>
            <a:ext cx="1495044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8810244" y="4715937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850" dirty="0"/>
          </a:p>
        </p:txBody>
      </p:sp>
      <p:sp>
        <p:nvSpPr>
          <p:cNvPr id="152" name="Shape 150"/>
          <p:cNvSpPr/>
          <p:nvPr/>
        </p:nvSpPr>
        <p:spPr>
          <a:xfrm>
            <a:off x="10273284" y="4683933"/>
            <a:ext cx="1495044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10305288" y="4715937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ko-KR" sz="850" dirty="0"/>
          </a:p>
        </p:txBody>
      </p:sp>
      <p:sp>
        <p:nvSpPr>
          <p:cNvPr id="154" name="Text 152"/>
          <p:cNvSpPr/>
          <p:nvPr/>
        </p:nvSpPr>
        <p:spPr>
          <a:xfrm>
            <a:off x="475488" y="5037829"/>
            <a:ext cx="1123797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[현장 당일예약]은 선택행과 무관한 독립 Action이다. 이 버튼 하나가 「수검자 확정 → 당일 업무 확인 → 신규예약 WalkIn(예약일 = 오늘 ReadOnly) → Workbench 자동선택 → 접수 처리」 흐름의 유일한 진입점이다.</a:t>
            </a:r>
            <a:endParaRPr lang="ko-KR" sz="850" dirty="0"/>
          </a:p>
        </p:txBody>
      </p:sp>
      <p:sp>
        <p:nvSpPr>
          <p:cNvPr id="155" name="Text 153"/>
          <p:cNvSpPr/>
          <p:nvPr/>
        </p:nvSpPr>
        <p:spPr>
          <a:xfrm>
            <a:off x="475488" y="5181413"/>
            <a:ext cx="1123797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[변경이력]은 예약 Context Ribbon과 같다 — 상태와 무관하게 행이 선택되면 열린다. 공통 업무불가가 이 표에 행을 갖지 않는 것도 같다.</a:t>
            </a:r>
            <a:endParaRPr lang="ko-KR" sz="850" dirty="0"/>
          </a:p>
        </p:txBody>
      </p:sp>
      <p:sp>
        <p:nvSpPr>
          <p:cNvPr id="156" name="Text 154"/>
          <p:cNvSpPr/>
          <p:nvPr/>
        </p:nvSpPr>
        <p:spPr>
          <a:xfrm>
            <a:off x="420624" y="5379862"/>
            <a:ext cx="1134770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D-3.  수검자 관리 Ribbon</a:t>
            </a:r>
            <a:endParaRPr lang="ko-KR" sz="1000" dirty="0"/>
          </a:p>
        </p:txBody>
      </p:sp>
      <p:sp>
        <p:nvSpPr>
          <p:cNvPr id="157" name="Shape 155"/>
          <p:cNvSpPr/>
          <p:nvPr/>
        </p:nvSpPr>
        <p:spPr>
          <a:xfrm>
            <a:off x="420624" y="5599318"/>
            <a:ext cx="2377440" cy="207592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452628" y="5631322"/>
            <a:ext cx="2313432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상태</a:t>
            </a:r>
            <a:endParaRPr lang="ko-KR" sz="850" dirty="0"/>
          </a:p>
        </p:txBody>
      </p:sp>
      <p:sp>
        <p:nvSpPr>
          <p:cNvPr id="159" name="Shape 157"/>
          <p:cNvSpPr/>
          <p:nvPr/>
        </p:nvSpPr>
        <p:spPr>
          <a:xfrm>
            <a:off x="2798064" y="5599318"/>
            <a:ext cx="1495044" cy="207592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2830068" y="5631322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</a:t>
            </a:r>
            <a:endParaRPr lang="ko-KR" sz="850" dirty="0"/>
          </a:p>
        </p:txBody>
      </p:sp>
      <p:sp>
        <p:nvSpPr>
          <p:cNvPr id="161" name="Shape 159"/>
          <p:cNvSpPr/>
          <p:nvPr/>
        </p:nvSpPr>
        <p:spPr>
          <a:xfrm>
            <a:off x="4293108" y="5599318"/>
            <a:ext cx="1495044" cy="207592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4325112" y="5631322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신규등록</a:t>
            </a:r>
            <a:endParaRPr lang="ko-KR" sz="850" dirty="0"/>
          </a:p>
        </p:txBody>
      </p:sp>
      <p:sp>
        <p:nvSpPr>
          <p:cNvPr id="163" name="Shape 161"/>
          <p:cNvSpPr/>
          <p:nvPr/>
        </p:nvSpPr>
        <p:spPr>
          <a:xfrm>
            <a:off x="5788152" y="5599318"/>
            <a:ext cx="1495044" cy="207592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5820156" y="5631322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정보수정</a:t>
            </a:r>
            <a:endParaRPr lang="ko-KR" sz="850" dirty="0"/>
          </a:p>
        </p:txBody>
      </p:sp>
      <p:sp>
        <p:nvSpPr>
          <p:cNvPr id="165" name="Shape 163"/>
          <p:cNvSpPr/>
          <p:nvPr/>
        </p:nvSpPr>
        <p:spPr>
          <a:xfrm>
            <a:off x="7283196" y="5599318"/>
            <a:ext cx="1495044" cy="207592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7315200" y="5631322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신규예약</a:t>
            </a:r>
            <a:endParaRPr lang="ko-KR" sz="850" dirty="0"/>
          </a:p>
        </p:txBody>
      </p:sp>
      <p:sp>
        <p:nvSpPr>
          <p:cNvPr id="167" name="Shape 165"/>
          <p:cNvSpPr/>
          <p:nvPr/>
        </p:nvSpPr>
        <p:spPr>
          <a:xfrm>
            <a:off x="8778240" y="5599318"/>
            <a:ext cx="1495044" cy="207592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8810244" y="5631322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변경이력</a:t>
            </a:r>
            <a:endParaRPr lang="ko-KR" sz="850" dirty="0"/>
          </a:p>
        </p:txBody>
      </p:sp>
      <p:sp>
        <p:nvSpPr>
          <p:cNvPr id="169" name="Shape 167"/>
          <p:cNvSpPr/>
          <p:nvPr/>
        </p:nvSpPr>
        <p:spPr>
          <a:xfrm>
            <a:off x="10273284" y="5599318"/>
            <a:ext cx="1495044" cy="207592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10305288" y="5631322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컬럼설정</a:t>
            </a:r>
            <a:endParaRPr lang="ko-KR" sz="850" dirty="0"/>
          </a:p>
        </p:txBody>
      </p:sp>
      <p:sp>
        <p:nvSpPr>
          <p:cNvPr id="171" name="Shape 169"/>
          <p:cNvSpPr/>
          <p:nvPr/>
        </p:nvSpPr>
        <p:spPr>
          <a:xfrm>
            <a:off x="420624" y="5806910"/>
            <a:ext cx="2377440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452628" y="5838914"/>
            <a:ext cx="2313432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 미선택</a:t>
            </a:r>
            <a:endParaRPr lang="ko-KR" sz="850" dirty="0"/>
          </a:p>
        </p:txBody>
      </p:sp>
      <p:sp>
        <p:nvSpPr>
          <p:cNvPr id="173" name="Shape 171"/>
          <p:cNvSpPr/>
          <p:nvPr/>
        </p:nvSpPr>
        <p:spPr>
          <a:xfrm>
            <a:off x="2798064" y="5806910"/>
            <a:ext cx="1495044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2830068" y="5838914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ko-KR" sz="850" dirty="0"/>
          </a:p>
        </p:txBody>
      </p:sp>
      <p:sp>
        <p:nvSpPr>
          <p:cNvPr id="175" name="Shape 173"/>
          <p:cNvSpPr/>
          <p:nvPr/>
        </p:nvSpPr>
        <p:spPr>
          <a:xfrm>
            <a:off x="4293108" y="5806910"/>
            <a:ext cx="1495044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4325112" y="5838914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ko-KR" sz="850" dirty="0"/>
          </a:p>
        </p:txBody>
      </p:sp>
      <p:sp>
        <p:nvSpPr>
          <p:cNvPr id="177" name="Shape 175"/>
          <p:cNvSpPr/>
          <p:nvPr/>
        </p:nvSpPr>
        <p:spPr>
          <a:xfrm>
            <a:off x="5788152" y="5806910"/>
            <a:ext cx="1495044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5820156" y="5838914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850" dirty="0"/>
          </a:p>
        </p:txBody>
      </p:sp>
      <p:sp>
        <p:nvSpPr>
          <p:cNvPr id="179" name="Shape 177"/>
          <p:cNvSpPr/>
          <p:nvPr/>
        </p:nvSpPr>
        <p:spPr>
          <a:xfrm>
            <a:off x="7283196" y="5806910"/>
            <a:ext cx="1495044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7315200" y="5838914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850" dirty="0"/>
          </a:p>
        </p:txBody>
      </p:sp>
      <p:sp>
        <p:nvSpPr>
          <p:cNvPr id="181" name="Shape 179"/>
          <p:cNvSpPr/>
          <p:nvPr/>
        </p:nvSpPr>
        <p:spPr>
          <a:xfrm>
            <a:off x="8778240" y="5806910"/>
            <a:ext cx="1495044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8810244" y="5838914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ko-KR" sz="850" dirty="0"/>
          </a:p>
        </p:txBody>
      </p:sp>
      <p:sp>
        <p:nvSpPr>
          <p:cNvPr id="183" name="Shape 181"/>
          <p:cNvSpPr/>
          <p:nvPr/>
        </p:nvSpPr>
        <p:spPr>
          <a:xfrm>
            <a:off x="10273284" y="5806910"/>
            <a:ext cx="1495044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10305288" y="5838914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ko-KR" sz="850" dirty="0"/>
          </a:p>
        </p:txBody>
      </p:sp>
      <p:sp>
        <p:nvSpPr>
          <p:cNvPr id="185" name="Shape 183"/>
          <p:cNvSpPr/>
          <p:nvPr/>
        </p:nvSpPr>
        <p:spPr>
          <a:xfrm>
            <a:off x="420624" y="6014502"/>
            <a:ext cx="2377440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452628" y="6046506"/>
            <a:ext cx="2313432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 선택</a:t>
            </a:r>
            <a:endParaRPr lang="ko-KR" sz="850" dirty="0"/>
          </a:p>
        </p:txBody>
      </p:sp>
      <p:sp>
        <p:nvSpPr>
          <p:cNvPr id="187" name="Shape 185"/>
          <p:cNvSpPr/>
          <p:nvPr/>
        </p:nvSpPr>
        <p:spPr>
          <a:xfrm>
            <a:off x="2798064" y="6014502"/>
            <a:ext cx="1495044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2830068" y="6046506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ko-KR" sz="850" dirty="0"/>
          </a:p>
        </p:txBody>
      </p:sp>
      <p:sp>
        <p:nvSpPr>
          <p:cNvPr id="189" name="Shape 187"/>
          <p:cNvSpPr/>
          <p:nvPr/>
        </p:nvSpPr>
        <p:spPr>
          <a:xfrm>
            <a:off x="4293108" y="6014502"/>
            <a:ext cx="1495044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4325112" y="6046506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ko-KR" sz="850" dirty="0"/>
          </a:p>
        </p:txBody>
      </p:sp>
      <p:sp>
        <p:nvSpPr>
          <p:cNvPr id="191" name="Shape 189"/>
          <p:cNvSpPr/>
          <p:nvPr/>
        </p:nvSpPr>
        <p:spPr>
          <a:xfrm>
            <a:off x="5788152" y="6014502"/>
            <a:ext cx="1495044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5820156" y="6046506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ko-KR" sz="850" dirty="0"/>
          </a:p>
        </p:txBody>
      </p:sp>
      <p:sp>
        <p:nvSpPr>
          <p:cNvPr id="193" name="Shape 191"/>
          <p:cNvSpPr/>
          <p:nvPr/>
        </p:nvSpPr>
        <p:spPr>
          <a:xfrm>
            <a:off x="7283196" y="6014502"/>
            <a:ext cx="1495044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7315200" y="6046506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ko-KR" sz="850" dirty="0"/>
          </a:p>
        </p:txBody>
      </p:sp>
      <p:sp>
        <p:nvSpPr>
          <p:cNvPr id="195" name="Shape 193"/>
          <p:cNvSpPr/>
          <p:nvPr/>
        </p:nvSpPr>
        <p:spPr>
          <a:xfrm>
            <a:off x="8778240" y="6014502"/>
            <a:ext cx="1495044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8810244" y="6046506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ko-KR" sz="850" dirty="0"/>
          </a:p>
        </p:txBody>
      </p:sp>
      <p:sp>
        <p:nvSpPr>
          <p:cNvPr id="197" name="Shape 195"/>
          <p:cNvSpPr/>
          <p:nvPr/>
        </p:nvSpPr>
        <p:spPr>
          <a:xfrm>
            <a:off x="10273284" y="6014502"/>
            <a:ext cx="1495044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10305288" y="6046506"/>
            <a:ext cx="14310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ko-KR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64592"/>
            <a:ext cx="1133856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D.  Ribbon Action · 마감 Matrix  (계속)</a:t>
            </a:r>
            <a:endParaRPr lang="ko-KR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987552"/>
            <a:ext cx="1123797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 미선택에서는 대상 행이 없으므로 [정보수정]·[신규예약]·[변경이력]이 닫힌다.</a:t>
            </a:r>
            <a:endParaRPr lang="ko-KR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1131136"/>
            <a:ext cx="1123797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업무불가는 이 표에 행이 없다 — 수검자 등록·수정은 기준정보 정비라 애초에 308/309의 대상이 아니고, 화면도 그 상태에서 Action을 닫지 않는다.</a:t>
            </a:r>
            <a:endParaRPr lang="ko-KR" sz="850" dirty="0"/>
          </a:p>
        </p:txBody>
      </p:sp>
      <p:sp>
        <p:nvSpPr>
          <p:cNvPr id="5" name="Text 3"/>
          <p:cNvSpPr/>
          <p:nvPr/>
        </p:nvSpPr>
        <p:spPr>
          <a:xfrm>
            <a:off x="420624" y="1329585"/>
            <a:ext cx="1134770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D-4.  당일 예약 · 접수 마감</a:t>
            </a:r>
            <a:endParaRPr lang="ko-KR" sz="1000" dirty="0"/>
          </a:p>
        </p:txBody>
      </p:sp>
      <p:sp>
        <p:nvSpPr>
          <p:cNvPr id="6" name="Shape 4"/>
          <p:cNvSpPr/>
          <p:nvPr/>
        </p:nvSpPr>
        <p:spPr>
          <a:xfrm>
            <a:off x="420624" y="1549041"/>
            <a:ext cx="2743200" cy="207592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2628" y="1581045"/>
            <a:ext cx="2679192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ko-KR" sz="850" dirty="0"/>
          </a:p>
        </p:txBody>
      </p:sp>
      <p:sp>
        <p:nvSpPr>
          <p:cNvPr id="8" name="Shape 6"/>
          <p:cNvSpPr/>
          <p:nvPr/>
        </p:nvSpPr>
        <p:spPr>
          <a:xfrm>
            <a:off x="3163824" y="1549041"/>
            <a:ext cx="4302252" cy="207592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95828" y="1581045"/>
            <a:ext cx="42382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 (AM)</a:t>
            </a:r>
            <a:endParaRPr lang="ko-KR" sz="850" dirty="0"/>
          </a:p>
        </p:txBody>
      </p:sp>
      <p:sp>
        <p:nvSpPr>
          <p:cNvPr id="10" name="Shape 8"/>
          <p:cNvSpPr/>
          <p:nvPr/>
        </p:nvSpPr>
        <p:spPr>
          <a:xfrm>
            <a:off x="7466076" y="1549041"/>
            <a:ext cx="4302252" cy="207592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0" y="1581045"/>
            <a:ext cx="42382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오후 (PM)</a:t>
            </a:r>
            <a:endParaRPr lang="ko-KR" sz="850" dirty="0"/>
          </a:p>
        </p:txBody>
      </p:sp>
      <p:sp>
        <p:nvSpPr>
          <p:cNvPr id="12" name="Shape 10"/>
          <p:cNvSpPr/>
          <p:nvPr/>
        </p:nvSpPr>
        <p:spPr>
          <a:xfrm>
            <a:off x="420624" y="1756633"/>
            <a:ext cx="2743200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" y="1788637"/>
            <a:ext cx="2679192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당일예약  ·  평일</a:t>
            </a:r>
            <a:endParaRPr lang="ko-KR" sz="850" dirty="0"/>
          </a:p>
        </p:txBody>
      </p:sp>
      <p:sp>
        <p:nvSpPr>
          <p:cNvPr id="14" name="Shape 12"/>
          <p:cNvSpPr/>
          <p:nvPr/>
        </p:nvSpPr>
        <p:spPr>
          <a:xfrm>
            <a:off x="3163824" y="1756633"/>
            <a:ext cx="4302252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95828" y="1788637"/>
            <a:ext cx="42382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10:00 전</a:t>
            </a:r>
            <a:endParaRPr lang="ko-KR" sz="850" dirty="0"/>
          </a:p>
        </p:txBody>
      </p:sp>
      <p:sp>
        <p:nvSpPr>
          <p:cNvPr id="16" name="Shape 14"/>
          <p:cNvSpPr/>
          <p:nvPr/>
        </p:nvSpPr>
        <p:spPr>
          <a:xfrm>
            <a:off x="7466076" y="1756633"/>
            <a:ext cx="4302252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1788637"/>
            <a:ext cx="42382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15:00 전</a:t>
            </a:r>
            <a:endParaRPr lang="ko-KR" sz="850" dirty="0"/>
          </a:p>
        </p:txBody>
      </p:sp>
      <p:sp>
        <p:nvSpPr>
          <p:cNvPr id="18" name="Shape 16"/>
          <p:cNvSpPr/>
          <p:nvPr/>
        </p:nvSpPr>
        <p:spPr>
          <a:xfrm>
            <a:off x="420624" y="1964225"/>
            <a:ext cx="2743200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" y="1996229"/>
            <a:ext cx="2679192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당일예약(WalkIn)  ·  평일</a:t>
            </a:r>
            <a:endParaRPr lang="ko-KR" sz="850" dirty="0"/>
          </a:p>
        </p:txBody>
      </p:sp>
      <p:sp>
        <p:nvSpPr>
          <p:cNvPr id="20" name="Shape 18"/>
          <p:cNvSpPr/>
          <p:nvPr/>
        </p:nvSpPr>
        <p:spPr>
          <a:xfrm>
            <a:off x="3163824" y="1964225"/>
            <a:ext cx="4302252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95828" y="1996229"/>
            <a:ext cx="42382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11:00 전</a:t>
            </a:r>
            <a:endParaRPr lang="ko-KR" sz="850" dirty="0"/>
          </a:p>
        </p:txBody>
      </p:sp>
      <p:sp>
        <p:nvSpPr>
          <p:cNvPr id="22" name="Shape 20"/>
          <p:cNvSpPr/>
          <p:nvPr/>
        </p:nvSpPr>
        <p:spPr>
          <a:xfrm>
            <a:off x="7466076" y="1964225"/>
            <a:ext cx="4302252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0" y="1996229"/>
            <a:ext cx="42382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16:00 전</a:t>
            </a:r>
            <a:endParaRPr lang="ko-KR" sz="850" dirty="0"/>
          </a:p>
        </p:txBody>
      </p:sp>
      <p:sp>
        <p:nvSpPr>
          <p:cNvPr id="24" name="Shape 22"/>
          <p:cNvSpPr/>
          <p:nvPr/>
        </p:nvSpPr>
        <p:spPr>
          <a:xfrm>
            <a:off x="420624" y="2171817"/>
            <a:ext cx="2743200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2628" y="2203821"/>
            <a:ext cx="2679192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당일예약  ·  토요일</a:t>
            </a:r>
            <a:endParaRPr lang="ko-KR" sz="850" dirty="0"/>
          </a:p>
        </p:txBody>
      </p:sp>
      <p:sp>
        <p:nvSpPr>
          <p:cNvPr id="26" name="Shape 24"/>
          <p:cNvSpPr/>
          <p:nvPr/>
        </p:nvSpPr>
        <p:spPr>
          <a:xfrm>
            <a:off x="3163824" y="2171817"/>
            <a:ext cx="4302252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95828" y="2203821"/>
            <a:ext cx="42382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10:00 전</a:t>
            </a:r>
            <a:endParaRPr lang="ko-KR" sz="850" dirty="0"/>
          </a:p>
        </p:txBody>
      </p:sp>
      <p:sp>
        <p:nvSpPr>
          <p:cNvPr id="28" name="Shape 26"/>
          <p:cNvSpPr/>
          <p:nvPr/>
        </p:nvSpPr>
        <p:spPr>
          <a:xfrm>
            <a:off x="7466076" y="2171817"/>
            <a:ext cx="4302252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2203821"/>
            <a:ext cx="42382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불가</a:t>
            </a:r>
            <a:endParaRPr lang="ko-KR" sz="850" dirty="0"/>
          </a:p>
        </p:txBody>
      </p:sp>
      <p:sp>
        <p:nvSpPr>
          <p:cNvPr id="30" name="Shape 28"/>
          <p:cNvSpPr/>
          <p:nvPr/>
        </p:nvSpPr>
        <p:spPr>
          <a:xfrm>
            <a:off x="420624" y="2379410"/>
            <a:ext cx="2743200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2628" y="2411414"/>
            <a:ext cx="2679192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당일예약(WalkIn)  ·  토요일</a:t>
            </a:r>
            <a:endParaRPr lang="ko-KR" sz="850" dirty="0"/>
          </a:p>
        </p:txBody>
      </p:sp>
      <p:sp>
        <p:nvSpPr>
          <p:cNvPr id="32" name="Shape 30"/>
          <p:cNvSpPr/>
          <p:nvPr/>
        </p:nvSpPr>
        <p:spPr>
          <a:xfrm>
            <a:off x="3163824" y="2379410"/>
            <a:ext cx="4302252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95828" y="2411414"/>
            <a:ext cx="42382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11:00 전</a:t>
            </a:r>
            <a:endParaRPr lang="ko-KR" sz="850" dirty="0"/>
          </a:p>
        </p:txBody>
      </p:sp>
      <p:sp>
        <p:nvSpPr>
          <p:cNvPr id="34" name="Shape 32"/>
          <p:cNvSpPr/>
          <p:nvPr/>
        </p:nvSpPr>
        <p:spPr>
          <a:xfrm>
            <a:off x="7466076" y="2379410"/>
            <a:ext cx="4302252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0" y="2411414"/>
            <a:ext cx="42382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불가</a:t>
            </a:r>
            <a:endParaRPr lang="ko-KR" sz="850" dirty="0"/>
          </a:p>
        </p:txBody>
      </p:sp>
      <p:sp>
        <p:nvSpPr>
          <p:cNvPr id="36" name="Text 34"/>
          <p:cNvSpPr/>
          <p:nvPr/>
        </p:nvSpPr>
        <p:spPr>
          <a:xfrm>
            <a:off x="475488" y="2733306"/>
            <a:ext cx="1123797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마감시각 이전(&lt;)만 허용하며 마감시각과 같은 시각부터 불가하다. 모든 마감은 운영시간(09:00 ≤ 현재시각 &lt; 18:00) 안에서만 적용한다.</a:t>
            </a:r>
            <a:endParaRPr lang="ko-KR" sz="850" dirty="0"/>
          </a:p>
        </p:txBody>
      </p:sp>
      <p:sp>
        <p:nvSpPr>
          <p:cNvPr id="37" name="Text 35"/>
          <p:cNvSpPr/>
          <p:nvPr/>
        </p:nvSpPr>
        <p:spPr>
          <a:xfrm>
            <a:off x="420624" y="2931754"/>
            <a:ext cx="1134770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D-5.  신규 예약 Single Instance · Reset</a:t>
            </a:r>
            <a:endParaRPr lang="ko-KR" sz="1000" dirty="0"/>
          </a:p>
        </p:txBody>
      </p:sp>
      <p:sp>
        <p:nvSpPr>
          <p:cNvPr id="38" name="Shape 36"/>
          <p:cNvSpPr/>
          <p:nvPr/>
        </p:nvSpPr>
        <p:spPr>
          <a:xfrm>
            <a:off x="420624" y="3151210"/>
            <a:ext cx="2011680" cy="207592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2628" y="3183214"/>
            <a:ext cx="1947672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</a:t>
            </a:r>
            <a:endParaRPr lang="ko-KR" sz="850" dirty="0"/>
          </a:p>
        </p:txBody>
      </p:sp>
      <p:sp>
        <p:nvSpPr>
          <p:cNvPr id="40" name="Shape 38"/>
          <p:cNvSpPr/>
          <p:nvPr/>
        </p:nvSpPr>
        <p:spPr>
          <a:xfrm>
            <a:off x="2432304" y="3151210"/>
            <a:ext cx="1867205" cy="207592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64308" y="3183214"/>
            <a:ext cx="1803197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예약일/시간대</a:t>
            </a:r>
            <a:endParaRPr lang="ko-KR" sz="850" dirty="0"/>
          </a:p>
        </p:txBody>
      </p:sp>
      <p:sp>
        <p:nvSpPr>
          <p:cNvPr id="42" name="Shape 40"/>
          <p:cNvSpPr/>
          <p:nvPr/>
        </p:nvSpPr>
        <p:spPr>
          <a:xfrm>
            <a:off x="4299509" y="3151210"/>
            <a:ext cx="1867205" cy="207592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31513" y="3183214"/>
            <a:ext cx="1803197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TGT</a:t>
            </a:r>
            <a:endParaRPr lang="ko-KR" sz="850" dirty="0"/>
          </a:p>
        </p:txBody>
      </p:sp>
      <p:sp>
        <p:nvSpPr>
          <p:cNvPr id="44" name="Shape 42"/>
          <p:cNvSpPr/>
          <p:nvPr/>
        </p:nvSpPr>
        <p:spPr>
          <a:xfrm>
            <a:off x="6166714" y="3151210"/>
            <a:ext cx="1867205" cy="207592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98718" y="3183214"/>
            <a:ext cx="1803197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</a:t>
            </a:r>
            <a:endParaRPr lang="ko-KR" sz="850" dirty="0"/>
          </a:p>
        </p:txBody>
      </p:sp>
      <p:sp>
        <p:nvSpPr>
          <p:cNvPr id="46" name="Shape 44"/>
          <p:cNvSpPr/>
          <p:nvPr/>
        </p:nvSpPr>
        <p:spPr>
          <a:xfrm>
            <a:off x="8033918" y="3151210"/>
            <a:ext cx="1867205" cy="207592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065922" y="3183214"/>
            <a:ext cx="1803197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AEX</a:t>
            </a:r>
            <a:endParaRPr lang="ko-KR" sz="850" dirty="0"/>
          </a:p>
        </p:txBody>
      </p:sp>
      <p:sp>
        <p:nvSpPr>
          <p:cNvPr id="48" name="Shape 46"/>
          <p:cNvSpPr/>
          <p:nvPr/>
        </p:nvSpPr>
        <p:spPr>
          <a:xfrm>
            <a:off x="9901123" y="3151210"/>
            <a:ext cx="1867205" cy="207592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933127" y="3183214"/>
            <a:ext cx="1803197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저장상태</a:t>
            </a:r>
            <a:endParaRPr lang="ko-KR" sz="850" dirty="0"/>
          </a:p>
        </p:txBody>
      </p:sp>
      <p:sp>
        <p:nvSpPr>
          <p:cNvPr id="50" name="Shape 48"/>
          <p:cNvSpPr/>
          <p:nvPr/>
        </p:nvSpPr>
        <p:spPr>
          <a:xfrm>
            <a:off x="420624" y="3358803"/>
            <a:ext cx="2011680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2628" y="3390807"/>
            <a:ext cx="1947672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PatientId 변경</a:t>
            </a:r>
            <a:endParaRPr lang="ko-KR" sz="850" dirty="0"/>
          </a:p>
        </p:txBody>
      </p:sp>
      <p:sp>
        <p:nvSpPr>
          <p:cNvPr id="52" name="Shape 50"/>
          <p:cNvSpPr/>
          <p:nvPr/>
        </p:nvSpPr>
        <p:spPr>
          <a:xfrm>
            <a:off x="2432304" y="3358803"/>
            <a:ext cx="1867205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464308" y="3390807"/>
            <a:ext cx="1803197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Clear</a:t>
            </a:r>
            <a:endParaRPr lang="ko-KR" sz="850" dirty="0"/>
          </a:p>
        </p:txBody>
      </p:sp>
      <p:sp>
        <p:nvSpPr>
          <p:cNvPr id="54" name="Shape 52"/>
          <p:cNvSpPr/>
          <p:nvPr/>
        </p:nvSpPr>
        <p:spPr>
          <a:xfrm>
            <a:off x="4299509" y="3358803"/>
            <a:ext cx="1867205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331513" y="3390807"/>
            <a:ext cx="1803197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미판정</a:t>
            </a:r>
            <a:endParaRPr lang="ko-KR" sz="850" dirty="0"/>
          </a:p>
        </p:txBody>
      </p:sp>
      <p:sp>
        <p:nvSpPr>
          <p:cNvPr id="56" name="Shape 54"/>
          <p:cNvSpPr/>
          <p:nvPr/>
        </p:nvSpPr>
        <p:spPr>
          <a:xfrm>
            <a:off x="6166714" y="3358803"/>
            <a:ext cx="1867205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98718" y="3390807"/>
            <a:ext cx="1803197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Clear</a:t>
            </a:r>
            <a:endParaRPr lang="ko-KR" sz="850" dirty="0"/>
          </a:p>
        </p:txBody>
      </p:sp>
      <p:sp>
        <p:nvSpPr>
          <p:cNvPr id="58" name="Shape 56"/>
          <p:cNvSpPr/>
          <p:nvPr/>
        </p:nvSpPr>
        <p:spPr>
          <a:xfrm>
            <a:off x="8033918" y="3358803"/>
            <a:ext cx="1867205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065922" y="3390807"/>
            <a:ext cx="1803197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Clear / Disabled</a:t>
            </a:r>
            <a:endParaRPr lang="ko-KR" sz="850" dirty="0"/>
          </a:p>
        </p:txBody>
      </p:sp>
      <p:sp>
        <p:nvSpPr>
          <p:cNvPr id="60" name="Shape 58"/>
          <p:cNvSpPr/>
          <p:nvPr/>
        </p:nvSpPr>
        <p:spPr>
          <a:xfrm>
            <a:off x="9901123" y="3358803"/>
            <a:ext cx="1867205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933127" y="3390807"/>
            <a:ext cx="1803197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Disabled</a:t>
            </a:r>
            <a:endParaRPr lang="ko-KR" sz="850" dirty="0"/>
          </a:p>
        </p:txBody>
      </p:sp>
      <p:sp>
        <p:nvSpPr>
          <p:cNvPr id="62" name="Shape 60"/>
          <p:cNvSpPr/>
          <p:nvPr/>
        </p:nvSpPr>
        <p:spPr>
          <a:xfrm>
            <a:off x="420624" y="3566395"/>
            <a:ext cx="2011680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2628" y="3598399"/>
            <a:ext cx="1947672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 전환</a:t>
            </a:r>
            <a:endParaRPr lang="ko-KR" sz="850" dirty="0"/>
          </a:p>
        </p:txBody>
      </p:sp>
      <p:sp>
        <p:nvSpPr>
          <p:cNvPr id="64" name="Shape 62"/>
          <p:cNvSpPr/>
          <p:nvPr/>
        </p:nvSpPr>
        <p:spPr>
          <a:xfrm>
            <a:off x="2432304" y="3566395"/>
            <a:ext cx="1867205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464308" y="3598399"/>
            <a:ext cx="1803197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기본값 Reset</a:t>
            </a:r>
            <a:endParaRPr lang="ko-KR" sz="850" dirty="0"/>
          </a:p>
        </p:txBody>
      </p:sp>
      <p:sp>
        <p:nvSpPr>
          <p:cNvPr id="66" name="Shape 64"/>
          <p:cNvSpPr/>
          <p:nvPr/>
        </p:nvSpPr>
        <p:spPr>
          <a:xfrm>
            <a:off x="4299509" y="3566395"/>
            <a:ext cx="1867205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331513" y="3598399"/>
            <a:ext cx="1803197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미판정</a:t>
            </a:r>
            <a:endParaRPr lang="ko-KR" sz="850" dirty="0"/>
          </a:p>
        </p:txBody>
      </p:sp>
      <p:sp>
        <p:nvSpPr>
          <p:cNvPr id="68" name="Shape 66"/>
          <p:cNvSpPr/>
          <p:nvPr/>
        </p:nvSpPr>
        <p:spPr>
          <a:xfrm>
            <a:off x="6166714" y="3566395"/>
            <a:ext cx="1867205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198718" y="3598399"/>
            <a:ext cx="1803197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Clear</a:t>
            </a:r>
            <a:endParaRPr lang="ko-KR" sz="850" dirty="0"/>
          </a:p>
        </p:txBody>
      </p:sp>
      <p:sp>
        <p:nvSpPr>
          <p:cNvPr id="70" name="Shape 68"/>
          <p:cNvSpPr/>
          <p:nvPr/>
        </p:nvSpPr>
        <p:spPr>
          <a:xfrm>
            <a:off x="8033918" y="3566395"/>
            <a:ext cx="1867205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065922" y="3598399"/>
            <a:ext cx="1803197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Clear / Disabled</a:t>
            </a:r>
            <a:endParaRPr lang="ko-KR" sz="850" dirty="0"/>
          </a:p>
        </p:txBody>
      </p:sp>
      <p:sp>
        <p:nvSpPr>
          <p:cNvPr id="72" name="Shape 70"/>
          <p:cNvSpPr/>
          <p:nvPr/>
        </p:nvSpPr>
        <p:spPr>
          <a:xfrm>
            <a:off x="9901123" y="3566395"/>
            <a:ext cx="1867205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933127" y="3598399"/>
            <a:ext cx="1803197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Disabled</a:t>
            </a:r>
            <a:endParaRPr lang="ko-KR" sz="850" dirty="0"/>
          </a:p>
        </p:txBody>
      </p:sp>
      <p:sp>
        <p:nvSpPr>
          <p:cNvPr id="74" name="Shape 72"/>
          <p:cNvSpPr/>
          <p:nvPr/>
        </p:nvSpPr>
        <p:spPr>
          <a:xfrm>
            <a:off x="420624" y="3773987"/>
            <a:ext cx="2011680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52628" y="3805991"/>
            <a:ext cx="1947672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예약일 변경</a:t>
            </a:r>
            <a:endParaRPr lang="ko-KR" sz="850" dirty="0"/>
          </a:p>
        </p:txBody>
      </p:sp>
      <p:sp>
        <p:nvSpPr>
          <p:cNvPr id="76" name="Shape 74"/>
          <p:cNvSpPr/>
          <p:nvPr/>
        </p:nvSpPr>
        <p:spPr>
          <a:xfrm>
            <a:off x="2432304" y="3773987"/>
            <a:ext cx="1867205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464308" y="3805991"/>
            <a:ext cx="1803197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날짜, 시간대 재선택</a:t>
            </a:r>
            <a:endParaRPr lang="ko-KR" sz="850" dirty="0"/>
          </a:p>
        </p:txBody>
      </p:sp>
      <p:sp>
        <p:nvSpPr>
          <p:cNvPr id="78" name="Shape 76"/>
          <p:cNvSpPr/>
          <p:nvPr/>
        </p:nvSpPr>
        <p:spPr>
          <a:xfrm>
            <a:off x="4299509" y="3773987"/>
            <a:ext cx="1867205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331513" y="3805991"/>
            <a:ext cx="1803197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재판정</a:t>
            </a:r>
            <a:endParaRPr lang="ko-KR" sz="850" dirty="0"/>
          </a:p>
        </p:txBody>
      </p:sp>
      <p:sp>
        <p:nvSpPr>
          <p:cNvPr id="80" name="Shape 78"/>
          <p:cNvSpPr/>
          <p:nvPr/>
        </p:nvSpPr>
        <p:spPr>
          <a:xfrm>
            <a:off x="6166714" y="3773987"/>
            <a:ext cx="1867205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198718" y="3805991"/>
            <a:ext cx="1803197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재구성</a:t>
            </a:r>
            <a:endParaRPr lang="ko-KR" sz="850" dirty="0"/>
          </a:p>
        </p:txBody>
      </p:sp>
      <p:sp>
        <p:nvSpPr>
          <p:cNvPr id="82" name="Shape 80"/>
          <p:cNvSpPr/>
          <p:nvPr/>
        </p:nvSpPr>
        <p:spPr>
          <a:xfrm>
            <a:off x="8033918" y="3773987"/>
            <a:ext cx="1867205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065922" y="3805991"/>
            <a:ext cx="1803197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유효 선택만 유지</a:t>
            </a:r>
            <a:endParaRPr lang="ko-KR" sz="850" dirty="0"/>
          </a:p>
        </p:txBody>
      </p:sp>
      <p:sp>
        <p:nvSpPr>
          <p:cNvPr id="84" name="Shape 82"/>
          <p:cNvSpPr/>
          <p:nvPr/>
        </p:nvSpPr>
        <p:spPr>
          <a:xfrm>
            <a:off x="9901123" y="3773987"/>
            <a:ext cx="1867205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933127" y="3805991"/>
            <a:ext cx="1803197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재평가</a:t>
            </a:r>
            <a:endParaRPr lang="ko-KR" sz="850" dirty="0"/>
          </a:p>
        </p:txBody>
      </p:sp>
      <p:sp>
        <p:nvSpPr>
          <p:cNvPr id="86" name="Shape 84"/>
          <p:cNvSpPr/>
          <p:nvPr/>
        </p:nvSpPr>
        <p:spPr>
          <a:xfrm>
            <a:off x="420624" y="3981580"/>
            <a:ext cx="2011680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52628" y="4013584"/>
            <a:ext cx="1947672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시간대만 변경</a:t>
            </a:r>
            <a:endParaRPr lang="ko-KR" sz="850" dirty="0"/>
          </a:p>
        </p:txBody>
      </p:sp>
      <p:sp>
        <p:nvSpPr>
          <p:cNvPr id="88" name="Shape 86"/>
          <p:cNvSpPr/>
          <p:nvPr/>
        </p:nvSpPr>
        <p:spPr>
          <a:xfrm>
            <a:off x="2432304" y="3981580"/>
            <a:ext cx="1867205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464308" y="4013584"/>
            <a:ext cx="1803197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시간대</a:t>
            </a:r>
            <a:endParaRPr lang="ko-KR" sz="850" dirty="0"/>
          </a:p>
        </p:txBody>
      </p:sp>
      <p:sp>
        <p:nvSpPr>
          <p:cNvPr id="90" name="Shape 88"/>
          <p:cNvSpPr/>
          <p:nvPr/>
        </p:nvSpPr>
        <p:spPr>
          <a:xfrm>
            <a:off x="4299509" y="3981580"/>
            <a:ext cx="1867205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331513" y="4013584"/>
            <a:ext cx="1803197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</a:t>
            </a:r>
            <a:endParaRPr lang="ko-KR" sz="850" dirty="0"/>
          </a:p>
        </p:txBody>
      </p:sp>
      <p:sp>
        <p:nvSpPr>
          <p:cNvPr id="92" name="Shape 90"/>
          <p:cNvSpPr/>
          <p:nvPr/>
        </p:nvSpPr>
        <p:spPr>
          <a:xfrm>
            <a:off x="6166714" y="3981580"/>
            <a:ext cx="1867205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198718" y="4013584"/>
            <a:ext cx="1803197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</a:t>
            </a:r>
            <a:endParaRPr lang="ko-KR" sz="850" dirty="0"/>
          </a:p>
        </p:txBody>
      </p:sp>
      <p:sp>
        <p:nvSpPr>
          <p:cNvPr id="94" name="Shape 92"/>
          <p:cNvSpPr/>
          <p:nvPr/>
        </p:nvSpPr>
        <p:spPr>
          <a:xfrm>
            <a:off x="8033918" y="3981580"/>
            <a:ext cx="1867205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065922" y="4013584"/>
            <a:ext cx="1803197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</a:t>
            </a:r>
            <a:endParaRPr lang="ko-KR" sz="850" dirty="0"/>
          </a:p>
        </p:txBody>
      </p:sp>
      <p:sp>
        <p:nvSpPr>
          <p:cNvPr id="96" name="Shape 94"/>
          <p:cNvSpPr/>
          <p:nvPr/>
        </p:nvSpPr>
        <p:spPr>
          <a:xfrm>
            <a:off x="9901123" y="3981580"/>
            <a:ext cx="1867205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933127" y="4013584"/>
            <a:ext cx="1803197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일정검증 후 재평가</a:t>
            </a:r>
            <a:endParaRPr lang="ko-KR" sz="850" dirty="0"/>
          </a:p>
        </p:txBody>
      </p:sp>
      <p:sp>
        <p:nvSpPr>
          <p:cNvPr id="98" name="Shape 96"/>
          <p:cNvSpPr/>
          <p:nvPr/>
        </p:nvSpPr>
        <p:spPr>
          <a:xfrm>
            <a:off x="420624" y="4189172"/>
            <a:ext cx="2011680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52628" y="4221176"/>
            <a:ext cx="1947672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성공</a:t>
            </a:r>
            <a:endParaRPr lang="ko-KR" sz="850" dirty="0"/>
          </a:p>
        </p:txBody>
      </p:sp>
      <p:sp>
        <p:nvSpPr>
          <p:cNvPr id="100" name="Shape 98"/>
          <p:cNvSpPr/>
          <p:nvPr/>
        </p:nvSpPr>
        <p:spPr>
          <a:xfrm>
            <a:off x="2432304" y="4189172"/>
            <a:ext cx="1867205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464308" y="4221176"/>
            <a:ext cx="1803197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Clear</a:t>
            </a:r>
            <a:endParaRPr lang="ko-KR" sz="850" dirty="0"/>
          </a:p>
        </p:txBody>
      </p:sp>
      <p:sp>
        <p:nvSpPr>
          <p:cNvPr id="102" name="Shape 100"/>
          <p:cNvSpPr/>
          <p:nvPr/>
        </p:nvSpPr>
        <p:spPr>
          <a:xfrm>
            <a:off x="4299509" y="4189172"/>
            <a:ext cx="1867205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331513" y="4221176"/>
            <a:ext cx="1803197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미판정</a:t>
            </a:r>
            <a:endParaRPr lang="ko-KR" sz="850" dirty="0"/>
          </a:p>
        </p:txBody>
      </p:sp>
      <p:sp>
        <p:nvSpPr>
          <p:cNvPr id="104" name="Shape 102"/>
          <p:cNvSpPr/>
          <p:nvPr/>
        </p:nvSpPr>
        <p:spPr>
          <a:xfrm>
            <a:off x="6166714" y="4189172"/>
            <a:ext cx="1867205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198718" y="4221176"/>
            <a:ext cx="1803197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Clear</a:t>
            </a:r>
            <a:endParaRPr lang="ko-KR" sz="850" dirty="0"/>
          </a:p>
        </p:txBody>
      </p:sp>
      <p:sp>
        <p:nvSpPr>
          <p:cNvPr id="106" name="Shape 104"/>
          <p:cNvSpPr/>
          <p:nvPr/>
        </p:nvSpPr>
        <p:spPr>
          <a:xfrm>
            <a:off x="8033918" y="4189172"/>
            <a:ext cx="1867205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8065922" y="4221176"/>
            <a:ext cx="1803197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Clear / Disabled</a:t>
            </a:r>
            <a:endParaRPr lang="ko-KR" sz="850" dirty="0"/>
          </a:p>
        </p:txBody>
      </p:sp>
      <p:sp>
        <p:nvSpPr>
          <p:cNvPr id="108" name="Shape 106"/>
          <p:cNvSpPr/>
          <p:nvPr/>
        </p:nvSpPr>
        <p:spPr>
          <a:xfrm>
            <a:off x="9901123" y="4189172"/>
            <a:ext cx="1867205" cy="20759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9933127" y="4221176"/>
            <a:ext cx="1803197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Disabled</a:t>
            </a:r>
            <a:endParaRPr lang="ko-KR" sz="850" dirty="0"/>
          </a:p>
        </p:txBody>
      </p:sp>
      <p:sp>
        <p:nvSpPr>
          <p:cNvPr id="110" name="Text 108"/>
          <p:cNvSpPr/>
          <p:nvPr/>
        </p:nvSpPr>
        <p:spPr>
          <a:xfrm>
            <a:off x="475488" y="4543068"/>
            <a:ext cx="1123797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미저장 내용이 있는 상태에서 다른 PatientId·Context로 재호출하거나 Tab을 닫으면 폐기 확인창을 띄운다 — 「미저장 예약 내용이 있습니다. 현재 입력을 폐기하고 새 업무를 시작하시겠습니까?  [확인] [취소]」</a:t>
            </a:r>
            <a:endParaRPr lang="ko-KR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64592"/>
            <a:ext cx="1133856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E.  수검자 17개 컬럼 UI·저장 계약</a:t>
            </a:r>
            <a:endParaRPr lang="ko-KR" sz="3000" dirty="0"/>
          </a:p>
        </p:txBody>
      </p:sp>
      <p:sp>
        <p:nvSpPr>
          <p:cNvPr id="3" name="Shape 1"/>
          <p:cNvSpPr/>
          <p:nvPr/>
        </p:nvSpPr>
        <p:spPr>
          <a:xfrm>
            <a:off x="420624" y="932688"/>
            <a:ext cx="457200" cy="19844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48056" y="960120"/>
            <a:ext cx="40233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</a:t>
            </a:r>
            <a:endParaRPr lang="ko-KR" sz="850" dirty="0"/>
          </a:p>
        </p:txBody>
      </p:sp>
      <p:sp>
        <p:nvSpPr>
          <p:cNvPr id="5" name="Shape 3"/>
          <p:cNvSpPr/>
          <p:nvPr/>
        </p:nvSpPr>
        <p:spPr>
          <a:xfrm>
            <a:off x="877824" y="932688"/>
            <a:ext cx="1920240" cy="19844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960120"/>
            <a:ext cx="186537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컬럼</a:t>
            </a:r>
            <a:endParaRPr lang="ko-KR" sz="850" dirty="0"/>
          </a:p>
        </p:txBody>
      </p:sp>
      <p:sp>
        <p:nvSpPr>
          <p:cNvPr id="7" name="Shape 5"/>
          <p:cNvSpPr/>
          <p:nvPr/>
        </p:nvSpPr>
        <p:spPr>
          <a:xfrm>
            <a:off x="2798064" y="932688"/>
            <a:ext cx="3108960" cy="19844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25496" y="960120"/>
            <a:ext cx="305409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노출 / 편집</a:t>
            </a:r>
            <a:endParaRPr lang="ko-KR" sz="850" dirty="0"/>
          </a:p>
        </p:txBody>
      </p:sp>
      <p:sp>
        <p:nvSpPr>
          <p:cNvPr id="9" name="Shape 7"/>
          <p:cNvSpPr/>
          <p:nvPr/>
        </p:nvSpPr>
        <p:spPr>
          <a:xfrm>
            <a:off x="5907024" y="932688"/>
            <a:ext cx="5861304" cy="198448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34456" y="960120"/>
            <a:ext cx="5806440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 생성 · 저장 기준</a:t>
            </a:r>
            <a:endParaRPr lang="ko-KR" sz="850" dirty="0"/>
          </a:p>
        </p:txBody>
      </p:sp>
      <p:sp>
        <p:nvSpPr>
          <p:cNvPr id="11" name="Shape 9"/>
          <p:cNvSpPr/>
          <p:nvPr/>
        </p:nvSpPr>
        <p:spPr>
          <a:xfrm>
            <a:off x="420624" y="1131136"/>
            <a:ext cx="45720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" y="1158568"/>
            <a:ext cx="40233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800" dirty="0"/>
          </a:p>
        </p:txBody>
      </p:sp>
      <p:sp>
        <p:nvSpPr>
          <p:cNvPr id="13" name="Shape 11"/>
          <p:cNvSpPr/>
          <p:nvPr/>
        </p:nvSpPr>
        <p:spPr>
          <a:xfrm>
            <a:off x="877824" y="1131136"/>
            <a:ext cx="19202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" y="1158568"/>
            <a:ext cx="18653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PatientId</a:t>
            </a:r>
            <a:endParaRPr lang="ko-KR" sz="800" dirty="0"/>
          </a:p>
        </p:txBody>
      </p:sp>
      <p:sp>
        <p:nvSpPr>
          <p:cNvPr id="15" name="Shape 13"/>
          <p:cNvSpPr/>
          <p:nvPr/>
        </p:nvSpPr>
        <p:spPr>
          <a:xfrm>
            <a:off x="2798064" y="1131136"/>
            <a:ext cx="310896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25496" y="1158568"/>
            <a:ext cx="305409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미표시</a:t>
            </a:r>
            <a:endParaRPr lang="ko-KR" sz="800" dirty="0"/>
          </a:p>
        </p:txBody>
      </p:sp>
      <p:sp>
        <p:nvSpPr>
          <p:cNvPr id="17" name="Shape 15"/>
          <p:cNvSpPr/>
          <p:nvPr/>
        </p:nvSpPr>
        <p:spPr>
          <a:xfrm>
            <a:off x="5907024" y="1131136"/>
            <a:ext cx="5861304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34456" y="1158568"/>
            <a:ext cx="5806440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자동생성, 저장 성공 시 호출 화면 반환, 불변</a:t>
            </a:r>
            <a:endParaRPr lang="ko-KR" sz="800" dirty="0"/>
          </a:p>
        </p:txBody>
      </p:sp>
      <p:sp>
        <p:nvSpPr>
          <p:cNvPr id="19" name="Shape 17"/>
          <p:cNvSpPr/>
          <p:nvPr/>
        </p:nvSpPr>
        <p:spPr>
          <a:xfrm>
            <a:off x="420624" y="1321138"/>
            <a:ext cx="45720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" y="1348570"/>
            <a:ext cx="40233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sz="800" dirty="0"/>
          </a:p>
        </p:txBody>
      </p:sp>
      <p:sp>
        <p:nvSpPr>
          <p:cNvPr id="21" name="Shape 19"/>
          <p:cNvSpPr/>
          <p:nvPr/>
        </p:nvSpPr>
        <p:spPr>
          <a:xfrm>
            <a:off x="877824" y="1321138"/>
            <a:ext cx="19202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" y="1348570"/>
            <a:ext cx="18653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CreationDate</a:t>
            </a:r>
            <a:endParaRPr lang="ko-KR" sz="800" dirty="0"/>
          </a:p>
        </p:txBody>
      </p:sp>
      <p:sp>
        <p:nvSpPr>
          <p:cNvPr id="23" name="Shape 21"/>
          <p:cNvSpPr/>
          <p:nvPr/>
        </p:nvSpPr>
        <p:spPr>
          <a:xfrm>
            <a:off x="2798064" y="1321138"/>
            <a:ext cx="310896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25496" y="1348570"/>
            <a:ext cx="305409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미표시</a:t>
            </a:r>
            <a:endParaRPr lang="ko-KR" sz="800" dirty="0"/>
          </a:p>
        </p:txBody>
      </p:sp>
      <p:sp>
        <p:nvSpPr>
          <p:cNvPr id="25" name="Shape 23"/>
          <p:cNvSpPr/>
          <p:nvPr/>
        </p:nvSpPr>
        <p:spPr>
          <a:xfrm>
            <a:off x="5907024" y="1321138"/>
            <a:ext cx="5861304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34456" y="1348570"/>
            <a:ext cx="5806440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INSERT 시 DB 서버시각</a:t>
            </a:r>
            <a:endParaRPr lang="ko-KR" sz="800" dirty="0"/>
          </a:p>
        </p:txBody>
      </p:sp>
      <p:sp>
        <p:nvSpPr>
          <p:cNvPr id="27" name="Shape 25"/>
          <p:cNvSpPr/>
          <p:nvPr/>
        </p:nvSpPr>
        <p:spPr>
          <a:xfrm>
            <a:off x="420624" y="1511141"/>
            <a:ext cx="45720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" y="1538573"/>
            <a:ext cx="40233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sz="800" dirty="0"/>
          </a:p>
        </p:txBody>
      </p:sp>
      <p:sp>
        <p:nvSpPr>
          <p:cNvPr id="29" name="Shape 27"/>
          <p:cNvSpPr/>
          <p:nvPr/>
        </p:nvSpPr>
        <p:spPr>
          <a:xfrm>
            <a:off x="877824" y="1511141"/>
            <a:ext cx="19202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5256" y="1538573"/>
            <a:ext cx="18653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LastEditDate</a:t>
            </a:r>
            <a:endParaRPr lang="ko-KR" sz="800" dirty="0"/>
          </a:p>
        </p:txBody>
      </p:sp>
      <p:sp>
        <p:nvSpPr>
          <p:cNvPr id="31" name="Shape 29"/>
          <p:cNvSpPr/>
          <p:nvPr/>
        </p:nvSpPr>
        <p:spPr>
          <a:xfrm>
            <a:off x="2798064" y="1511141"/>
            <a:ext cx="310896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25496" y="1538573"/>
            <a:ext cx="305409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미표시</a:t>
            </a:r>
            <a:endParaRPr lang="ko-KR" sz="800" dirty="0"/>
          </a:p>
        </p:txBody>
      </p:sp>
      <p:sp>
        <p:nvSpPr>
          <p:cNvPr id="33" name="Shape 31"/>
          <p:cNvSpPr/>
          <p:nvPr/>
        </p:nvSpPr>
        <p:spPr>
          <a:xfrm>
            <a:off x="5907024" y="1511141"/>
            <a:ext cx="5861304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34456" y="1538573"/>
            <a:ext cx="5806440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INSERT 시 생성시각, UPDATE 성공 시 DB 서버시각. 감사 정보이며 동시성 기준이 아니다</a:t>
            </a:r>
            <a:endParaRPr lang="ko-KR" sz="800" dirty="0"/>
          </a:p>
        </p:txBody>
      </p:sp>
      <p:sp>
        <p:nvSpPr>
          <p:cNvPr id="35" name="Shape 33"/>
          <p:cNvSpPr/>
          <p:nvPr/>
        </p:nvSpPr>
        <p:spPr>
          <a:xfrm>
            <a:off x="420624" y="1701143"/>
            <a:ext cx="45720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8056" y="1728575"/>
            <a:ext cx="40233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sz="800" dirty="0"/>
          </a:p>
        </p:txBody>
      </p:sp>
      <p:sp>
        <p:nvSpPr>
          <p:cNvPr id="37" name="Shape 35"/>
          <p:cNvSpPr/>
          <p:nvPr/>
        </p:nvSpPr>
        <p:spPr>
          <a:xfrm>
            <a:off x="877824" y="1701143"/>
            <a:ext cx="19202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5256" y="1728575"/>
            <a:ext cx="18653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RowVersion</a:t>
            </a:r>
            <a:endParaRPr lang="ko-KR" sz="800" dirty="0"/>
          </a:p>
        </p:txBody>
      </p:sp>
      <p:sp>
        <p:nvSpPr>
          <p:cNvPr id="39" name="Shape 37"/>
          <p:cNvSpPr/>
          <p:nvPr/>
        </p:nvSpPr>
        <p:spPr>
          <a:xfrm>
            <a:off x="2798064" y="1701143"/>
            <a:ext cx="310896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25496" y="1728575"/>
            <a:ext cx="305409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미표시</a:t>
            </a:r>
            <a:endParaRPr lang="ko-KR" sz="800" dirty="0"/>
          </a:p>
        </p:txBody>
      </p:sp>
      <p:sp>
        <p:nvSpPr>
          <p:cNvPr id="41" name="Shape 39"/>
          <p:cNvSpPr/>
          <p:nvPr/>
        </p:nvSpPr>
        <p:spPr>
          <a:xfrm>
            <a:off x="5907024" y="1701143"/>
            <a:ext cx="5861304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34456" y="1728575"/>
            <a:ext cx="5806440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자동생성. 수정·삭제 요청에 함께 실어 보내는 동시성값</a:t>
            </a:r>
            <a:endParaRPr lang="ko-KR" sz="800" dirty="0"/>
          </a:p>
        </p:txBody>
      </p:sp>
      <p:sp>
        <p:nvSpPr>
          <p:cNvPr id="43" name="Shape 41"/>
          <p:cNvSpPr/>
          <p:nvPr/>
        </p:nvSpPr>
        <p:spPr>
          <a:xfrm>
            <a:off x="420624" y="1891145"/>
            <a:ext cx="45720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8056" y="1918577"/>
            <a:ext cx="40233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ko-KR" sz="800" dirty="0"/>
          </a:p>
        </p:txBody>
      </p:sp>
      <p:sp>
        <p:nvSpPr>
          <p:cNvPr id="45" name="Shape 43"/>
          <p:cNvSpPr/>
          <p:nvPr/>
        </p:nvSpPr>
        <p:spPr>
          <a:xfrm>
            <a:off x="877824" y="1891145"/>
            <a:ext cx="19202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05256" y="1918577"/>
            <a:ext cx="18653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ChartNo</a:t>
            </a:r>
            <a:endParaRPr lang="ko-KR" sz="800" dirty="0"/>
          </a:p>
        </p:txBody>
      </p:sp>
      <p:sp>
        <p:nvSpPr>
          <p:cNvPr id="47" name="Shape 45"/>
          <p:cNvSpPr/>
          <p:nvPr/>
        </p:nvSpPr>
        <p:spPr>
          <a:xfrm>
            <a:off x="2798064" y="1891145"/>
            <a:ext cx="310896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25496" y="1918577"/>
            <a:ext cx="305409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등록/수정 Editor</a:t>
            </a:r>
            <a:endParaRPr lang="ko-KR" sz="800" dirty="0"/>
          </a:p>
        </p:txBody>
      </p:sp>
      <p:sp>
        <p:nvSpPr>
          <p:cNvPr id="49" name="Shape 47"/>
          <p:cNvSpPr/>
          <p:nvPr/>
        </p:nvSpPr>
        <p:spPr>
          <a:xfrm>
            <a:off x="5907024" y="1891145"/>
            <a:ext cx="5861304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34456" y="1918577"/>
            <a:ext cx="5806440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New 자동발급 또는 수동입력, Edit 수동수정, DB 최종 고유성 검증</a:t>
            </a:r>
            <a:endParaRPr lang="ko-KR" sz="800" dirty="0"/>
          </a:p>
        </p:txBody>
      </p:sp>
      <p:sp>
        <p:nvSpPr>
          <p:cNvPr id="51" name="Shape 49"/>
          <p:cNvSpPr/>
          <p:nvPr/>
        </p:nvSpPr>
        <p:spPr>
          <a:xfrm>
            <a:off x="420624" y="2081147"/>
            <a:ext cx="45720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8056" y="2108579"/>
            <a:ext cx="40233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ko-KR" sz="800" dirty="0"/>
          </a:p>
        </p:txBody>
      </p:sp>
      <p:sp>
        <p:nvSpPr>
          <p:cNvPr id="53" name="Shape 51"/>
          <p:cNvSpPr/>
          <p:nvPr/>
        </p:nvSpPr>
        <p:spPr>
          <a:xfrm>
            <a:off x="877824" y="2081147"/>
            <a:ext cx="19202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05256" y="2108579"/>
            <a:ext cx="18653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Name</a:t>
            </a:r>
            <a:endParaRPr lang="ko-KR" sz="800" dirty="0"/>
          </a:p>
        </p:txBody>
      </p:sp>
      <p:sp>
        <p:nvSpPr>
          <p:cNvPr id="55" name="Shape 53"/>
          <p:cNvSpPr/>
          <p:nvPr/>
        </p:nvSpPr>
        <p:spPr>
          <a:xfrm>
            <a:off x="2798064" y="2081147"/>
            <a:ext cx="310896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825496" y="2108579"/>
            <a:ext cx="305409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등록/수정, 조회/Grid/상세</a:t>
            </a:r>
            <a:endParaRPr lang="ko-KR" sz="800" dirty="0"/>
          </a:p>
        </p:txBody>
      </p:sp>
      <p:sp>
        <p:nvSpPr>
          <p:cNvPr id="57" name="Shape 55"/>
          <p:cNvSpPr/>
          <p:nvPr/>
        </p:nvSpPr>
        <p:spPr>
          <a:xfrm>
            <a:off x="5907024" y="2081147"/>
            <a:ext cx="5861304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34456" y="2108579"/>
            <a:ext cx="5806440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</a:t>
            </a:r>
            <a:endParaRPr lang="ko-KR" sz="800" dirty="0"/>
          </a:p>
        </p:txBody>
      </p:sp>
      <p:sp>
        <p:nvSpPr>
          <p:cNvPr id="59" name="Shape 57"/>
          <p:cNvSpPr/>
          <p:nvPr/>
        </p:nvSpPr>
        <p:spPr>
          <a:xfrm>
            <a:off x="420624" y="2271149"/>
            <a:ext cx="45720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48056" y="2298581"/>
            <a:ext cx="40233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ko-KR" sz="800" dirty="0"/>
          </a:p>
        </p:txBody>
      </p:sp>
      <p:sp>
        <p:nvSpPr>
          <p:cNvPr id="61" name="Shape 59"/>
          <p:cNvSpPr/>
          <p:nvPr/>
        </p:nvSpPr>
        <p:spPr>
          <a:xfrm>
            <a:off x="877824" y="2271149"/>
            <a:ext cx="19202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05256" y="2298581"/>
            <a:ext cx="18653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SocialNumber</a:t>
            </a:r>
            <a:endParaRPr lang="ko-KR" sz="800" dirty="0"/>
          </a:p>
        </p:txBody>
      </p:sp>
      <p:sp>
        <p:nvSpPr>
          <p:cNvPr id="63" name="Shape 61"/>
          <p:cNvSpPr/>
          <p:nvPr/>
        </p:nvSpPr>
        <p:spPr>
          <a:xfrm>
            <a:off x="2798064" y="2271149"/>
            <a:ext cx="310896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825496" y="2298581"/>
            <a:ext cx="305409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등록/수정, 조회, 상세, 선택 컬럼</a:t>
            </a:r>
            <a:endParaRPr lang="ko-KR" sz="800" dirty="0"/>
          </a:p>
        </p:txBody>
      </p:sp>
      <p:sp>
        <p:nvSpPr>
          <p:cNvPr id="65" name="Shape 63"/>
          <p:cNvSpPr/>
          <p:nvPr/>
        </p:nvSpPr>
        <p:spPr>
          <a:xfrm>
            <a:off x="5907024" y="2271149"/>
            <a:ext cx="5861304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34456" y="2298581"/>
            <a:ext cx="5806440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검증용 전체값 표시; '-' 제거 후 숫자 13자리 저장; DB 최종 고유성 검증</a:t>
            </a:r>
            <a:endParaRPr lang="ko-KR" sz="800" dirty="0"/>
          </a:p>
        </p:txBody>
      </p:sp>
      <p:sp>
        <p:nvSpPr>
          <p:cNvPr id="67" name="Shape 65"/>
          <p:cNvSpPr/>
          <p:nvPr/>
        </p:nvSpPr>
        <p:spPr>
          <a:xfrm>
            <a:off x="420624" y="2461151"/>
            <a:ext cx="45720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48056" y="2488583"/>
            <a:ext cx="40233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ko-KR" sz="800" dirty="0"/>
          </a:p>
        </p:txBody>
      </p:sp>
      <p:sp>
        <p:nvSpPr>
          <p:cNvPr id="69" name="Shape 67"/>
          <p:cNvSpPr/>
          <p:nvPr/>
        </p:nvSpPr>
        <p:spPr>
          <a:xfrm>
            <a:off x="877824" y="2461151"/>
            <a:ext cx="19202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05256" y="2488583"/>
            <a:ext cx="18653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Birthday</a:t>
            </a:r>
            <a:endParaRPr lang="ko-KR" sz="800" dirty="0"/>
          </a:p>
        </p:txBody>
      </p:sp>
      <p:sp>
        <p:nvSpPr>
          <p:cNvPr id="71" name="Shape 69"/>
          <p:cNvSpPr/>
          <p:nvPr/>
        </p:nvSpPr>
        <p:spPr>
          <a:xfrm>
            <a:off x="2798064" y="2461151"/>
            <a:ext cx="310896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825496" y="2488583"/>
            <a:ext cx="305409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ReadOnly</a:t>
            </a:r>
            <a:endParaRPr lang="ko-KR" sz="800" dirty="0"/>
          </a:p>
        </p:txBody>
      </p:sp>
      <p:sp>
        <p:nvSpPr>
          <p:cNvPr id="73" name="Shape 71"/>
          <p:cNvSpPr/>
          <p:nvPr/>
        </p:nvSpPr>
        <p:spPr>
          <a:xfrm>
            <a:off x="5907024" y="2461151"/>
            <a:ext cx="5861304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934456" y="2488583"/>
            <a:ext cx="5806440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SocialNumber에서 yyyyMMdd 자동산출</a:t>
            </a:r>
            <a:endParaRPr lang="ko-KR" sz="800" dirty="0"/>
          </a:p>
        </p:txBody>
      </p:sp>
      <p:sp>
        <p:nvSpPr>
          <p:cNvPr id="75" name="Shape 73"/>
          <p:cNvSpPr/>
          <p:nvPr/>
        </p:nvSpPr>
        <p:spPr>
          <a:xfrm>
            <a:off x="420624" y="2651154"/>
            <a:ext cx="45720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48056" y="2678586"/>
            <a:ext cx="40233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ko-KR" sz="800" dirty="0"/>
          </a:p>
        </p:txBody>
      </p:sp>
      <p:sp>
        <p:nvSpPr>
          <p:cNvPr id="77" name="Shape 75"/>
          <p:cNvSpPr/>
          <p:nvPr/>
        </p:nvSpPr>
        <p:spPr>
          <a:xfrm>
            <a:off x="877824" y="2651154"/>
            <a:ext cx="19202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05256" y="2678586"/>
            <a:ext cx="18653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Gender</a:t>
            </a:r>
            <a:endParaRPr lang="ko-KR" sz="800" dirty="0"/>
          </a:p>
        </p:txBody>
      </p:sp>
      <p:sp>
        <p:nvSpPr>
          <p:cNvPr id="79" name="Shape 77"/>
          <p:cNvSpPr/>
          <p:nvPr/>
        </p:nvSpPr>
        <p:spPr>
          <a:xfrm>
            <a:off x="2798064" y="2651154"/>
            <a:ext cx="310896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825496" y="2678586"/>
            <a:ext cx="305409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ReadOnly</a:t>
            </a:r>
            <a:endParaRPr lang="ko-KR" sz="800" dirty="0"/>
          </a:p>
        </p:txBody>
      </p:sp>
      <p:sp>
        <p:nvSpPr>
          <p:cNvPr id="81" name="Shape 79"/>
          <p:cNvSpPr/>
          <p:nvPr/>
        </p:nvSpPr>
        <p:spPr>
          <a:xfrm>
            <a:off x="5907024" y="2651154"/>
            <a:ext cx="5861304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934456" y="2678586"/>
            <a:ext cx="5806440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SocialNumber에서 M/F 자동산출; UI 남/여</a:t>
            </a:r>
            <a:endParaRPr lang="ko-KR" sz="800" dirty="0"/>
          </a:p>
        </p:txBody>
      </p:sp>
      <p:sp>
        <p:nvSpPr>
          <p:cNvPr id="83" name="Shape 81"/>
          <p:cNvSpPr/>
          <p:nvPr/>
        </p:nvSpPr>
        <p:spPr>
          <a:xfrm>
            <a:off x="420624" y="2841156"/>
            <a:ext cx="45720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48056" y="2868588"/>
            <a:ext cx="40233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ko-KR" sz="800" dirty="0"/>
          </a:p>
        </p:txBody>
      </p:sp>
      <p:sp>
        <p:nvSpPr>
          <p:cNvPr id="85" name="Shape 83"/>
          <p:cNvSpPr/>
          <p:nvPr/>
        </p:nvSpPr>
        <p:spPr>
          <a:xfrm>
            <a:off x="877824" y="2841156"/>
            <a:ext cx="19202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05256" y="2868588"/>
            <a:ext cx="18653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Email</a:t>
            </a:r>
            <a:endParaRPr lang="ko-KR" sz="800" dirty="0"/>
          </a:p>
        </p:txBody>
      </p:sp>
      <p:sp>
        <p:nvSpPr>
          <p:cNvPr id="87" name="Shape 85"/>
          <p:cNvSpPr/>
          <p:nvPr/>
        </p:nvSpPr>
        <p:spPr>
          <a:xfrm>
            <a:off x="2798064" y="2841156"/>
            <a:ext cx="310896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825496" y="2868588"/>
            <a:ext cx="305409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등록/수정, 상세/선택 컬럼</a:t>
            </a:r>
            <a:endParaRPr lang="ko-KR" sz="800" dirty="0"/>
          </a:p>
        </p:txBody>
      </p:sp>
      <p:sp>
        <p:nvSpPr>
          <p:cNvPr id="89" name="Shape 87"/>
          <p:cNvSpPr/>
          <p:nvPr/>
        </p:nvSpPr>
        <p:spPr>
          <a:xfrm>
            <a:off x="5907024" y="2841156"/>
            <a:ext cx="5861304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934456" y="2868588"/>
            <a:ext cx="5806440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선택, 미입력 NULL</a:t>
            </a:r>
            <a:endParaRPr lang="ko-KR" sz="800" dirty="0"/>
          </a:p>
        </p:txBody>
      </p:sp>
      <p:sp>
        <p:nvSpPr>
          <p:cNvPr id="91" name="Shape 89"/>
          <p:cNvSpPr/>
          <p:nvPr/>
        </p:nvSpPr>
        <p:spPr>
          <a:xfrm>
            <a:off x="420624" y="3031158"/>
            <a:ext cx="45720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48056" y="3058590"/>
            <a:ext cx="40233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ko-KR" sz="800" dirty="0"/>
          </a:p>
        </p:txBody>
      </p:sp>
      <p:sp>
        <p:nvSpPr>
          <p:cNvPr id="93" name="Shape 91"/>
          <p:cNvSpPr/>
          <p:nvPr/>
        </p:nvSpPr>
        <p:spPr>
          <a:xfrm>
            <a:off x="877824" y="3031158"/>
            <a:ext cx="19202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905256" y="3058590"/>
            <a:ext cx="18653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MobilePhone</a:t>
            </a:r>
            <a:endParaRPr lang="ko-KR" sz="800" dirty="0"/>
          </a:p>
        </p:txBody>
      </p:sp>
      <p:sp>
        <p:nvSpPr>
          <p:cNvPr id="95" name="Shape 93"/>
          <p:cNvSpPr/>
          <p:nvPr/>
        </p:nvSpPr>
        <p:spPr>
          <a:xfrm>
            <a:off x="2798064" y="3031158"/>
            <a:ext cx="310896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825496" y="3058590"/>
            <a:ext cx="305409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등록/수정, 조회/Grid/상세</a:t>
            </a:r>
            <a:endParaRPr lang="ko-KR" sz="800" dirty="0"/>
          </a:p>
        </p:txBody>
      </p:sp>
      <p:sp>
        <p:nvSpPr>
          <p:cNvPr id="97" name="Shape 95"/>
          <p:cNvSpPr/>
          <p:nvPr/>
        </p:nvSpPr>
        <p:spPr>
          <a:xfrm>
            <a:off x="5907024" y="3031158"/>
            <a:ext cx="5861304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934456" y="3058590"/>
            <a:ext cx="5806440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선택, 미입력 NULL</a:t>
            </a:r>
            <a:endParaRPr lang="ko-KR" sz="800" dirty="0"/>
          </a:p>
        </p:txBody>
      </p:sp>
      <p:sp>
        <p:nvSpPr>
          <p:cNvPr id="99" name="Shape 97"/>
          <p:cNvSpPr/>
          <p:nvPr/>
        </p:nvSpPr>
        <p:spPr>
          <a:xfrm>
            <a:off x="420624" y="3221160"/>
            <a:ext cx="45720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48056" y="3248592"/>
            <a:ext cx="40233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ko-KR" sz="800" dirty="0"/>
          </a:p>
        </p:txBody>
      </p:sp>
      <p:sp>
        <p:nvSpPr>
          <p:cNvPr id="101" name="Shape 99"/>
          <p:cNvSpPr/>
          <p:nvPr/>
        </p:nvSpPr>
        <p:spPr>
          <a:xfrm>
            <a:off x="877824" y="3221160"/>
            <a:ext cx="19202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05256" y="3248592"/>
            <a:ext cx="18653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Phone</a:t>
            </a:r>
            <a:endParaRPr lang="ko-KR" sz="800" dirty="0"/>
          </a:p>
        </p:txBody>
      </p:sp>
      <p:sp>
        <p:nvSpPr>
          <p:cNvPr id="103" name="Shape 101"/>
          <p:cNvSpPr/>
          <p:nvPr/>
        </p:nvSpPr>
        <p:spPr>
          <a:xfrm>
            <a:off x="2798064" y="3221160"/>
            <a:ext cx="310896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825496" y="3248592"/>
            <a:ext cx="305409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등록/수정, 상세/선택 컬럼</a:t>
            </a:r>
            <a:endParaRPr lang="ko-KR" sz="800" dirty="0"/>
          </a:p>
        </p:txBody>
      </p:sp>
      <p:sp>
        <p:nvSpPr>
          <p:cNvPr id="105" name="Shape 103"/>
          <p:cNvSpPr/>
          <p:nvPr/>
        </p:nvSpPr>
        <p:spPr>
          <a:xfrm>
            <a:off x="5907024" y="3221160"/>
            <a:ext cx="5861304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934456" y="3248592"/>
            <a:ext cx="5806440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선택, 미입력 NULL</a:t>
            </a:r>
            <a:endParaRPr lang="ko-KR" sz="800" dirty="0"/>
          </a:p>
        </p:txBody>
      </p:sp>
      <p:sp>
        <p:nvSpPr>
          <p:cNvPr id="107" name="Shape 105"/>
          <p:cNvSpPr/>
          <p:nvPr/>
        </p:nvSpPr>
        <p:spPr>
          <a:xfrm>
            <a:off x="420624" y="3411162"/>
            <a:ext cx="45720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48056" y="3438594"/>
            <a:ext cx="40233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ko-KR" sz="800" dirty="0"/>
          </a:p>
        </p:txBody>
      </p:sp>
      <p:sp>
        <p:nvSpPr>
          <p:cNvPr id="109" name="Shape 107"/>
          <p:cNvSpPr/>
          <p:nvPr/>
        </p:nvSpPr>
        <p:spPr>
          <a:xfrm>
            <a:off x="877824" y="3411162"/>
            <a:ext cx="19202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905256" y="3438594"/>
            <a:ext cx="18653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Zipcode</a:t>
            </a:r>
            <a:endParaRPr lang="ko-KR" sz="800" dirty="0"/>
          </a:p>
        </p:txBody>
      </p:sp>
      <p:sp>
        <p:nvSpPr>
          <p:cNvPr id="111" name="Shape 109"/>
          <p:cNvSpPr/>
          <p:nvPr/>
        </p:nvSpPr>
        <p:spPr>
          <a:xfrm>
            <a:off x="2798064" y="3411162"/>
            <a:ext cx="310896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2825496" y="3438594"/>
            <a:ext cx="305409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등록/수정, 상세/선택 컬럼</a:t>
            </a:r>
            <a:endParaRPr lang="ko-KR" sz="800" dirty="0"/>
          </a:p>
        </p:txBody>
      </p:sp>
      <p:sp>
        <p:nvSpPr>
          <p:cNvPr id="113" name="Shape 111"/>
          <p:cNvSpPr/>
          <p:nvPr/>
        </p:nvSpPr>
        <p:spPr>
          <a:xfrm>
            <a:off x="5907024" y="3411162"/>
            <a:ext cx="5861304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934456" y="3438594"/>
            <a:ext cx="5806440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선택, 미입력 NULL</a:t>
            </a:r>
            <a:endParaRPr lang="ko-KR" sz="800" dirty="0"/>
          </a:p>
        </p:txBody>
      </p:sp>
      <p:sp>
        <p:nvSpPr>
          <p:cNvPr id="115" name="Shape 113"/>
          <p:cNvSpPr/>
          <p:nvPr/>
        </p:nvSpPr>
        <p:spPr>
          <a:xfrm>
            <a:off x="420624" y="3601164"/>
            <a:ext cx="45720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48056" y="3628596"/>
            <a:ext cx="40233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ko-KR" sz="800" dirty="0"/>
          </a:p>
        </p:txBody>
      </p:sp>
      <p:sp>
        <p:nvSpPr>
          <p:cNvPr id="117" name="Shape 115"/>
          <p:cNvSpPr/>
          <p:nvPr/>
        </p:nvSpPr>
        <p:spPr>
          <a:xfrm>
            <a:off x="877824" y="3601164"/>
            <a:ext cx="19202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905256" y="3628596"/>
            <a:ext cx="18653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Address</a:t>
            </a:r>
            <a:endParaRPr lang="ko-KR" sz="800" dirty="0"/>
          </a:p>
        </p:txBody>
      </p:sp>
      <p:sp>
        <p:nvSpPr>
          <p:cNvPr id="119" name="Shape 117"/>
          <p:cNvSpPr/>
          <p:nvPr/>
        </p:nvSpPr>
        <p:spPr>
          <a:xfrm>
            <a:off x="2798064" y="3601164"/>
            <a:ext cx="310896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2825496" y="3628596"/>
            <a:ext cx="305409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등록/수정, 상세/선택 컬럼</a:t>
            </a:r>
            <a:endParaRPr lang="ko-KR" sz="800" dirty="0"/>
          </a:p>
        </p:txBody>
      </p:sp>
      <p:sp>
        <p:nvSpPr>
          <p:cNvPr id="121" name="Shape 119"/>
          <p:cNvSpPr/>
          <p:nvPr/>
        </p:nvSpPr>
        <p:spPr>
          <a:xfrm>
            <a:off x="5907024" y="3601164"/>
            <a:ext cx="5861304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5934456" y="3628596"/>
            <a:ext cx="5806440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선택, 미입력 NULL</a:t>
            </a:r>
            <a:endParaRPr lang="ko-KR" sz="800" dirty="0"/>
          </a:p>
        </p:txBody>
      </p:sp>
      <p:sp>
        <p:nvSpPr>
          <p:cNvPr id="123" name="Shape 121"/>
          <p:cNvSpPr/>
          <p:nvPr/>
        </p:nvSpPr>
        <p:spPr>
          <a:xfrm>
            <a:off x="420624" y="3791167"/>
            <a:ext cx="45720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448056" y="3818599"/>
            <a:ext cx="40233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ko-KR" sz="800" dirty="0"/>
          </a:p>
        </p:txBody>
      </p:sp>
      <p:sp>
        <p:nvSpPr>
          <p:cNvPr id="125" name="Shape 123"/>
          <p:cNvSpPr/>
          <p:nvPr/>
        </p:nvSpPr>
        <p:spPr>
          <a:xfrm>
            <a:off x="877824" y="3791167"/>
            <a:ext cx="19202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905256" y="3818599"/>
            <a:ext cx="18653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AddressDetail</a:t>
            </a:r>
            <a:endParaRPr lang="ko-KR" sz="800" dirty="0"/>
          </a:p>
        </p:txBody>
      </p:sp>
      <p:sp>
        <p:nvSpPr>
          <p:cNvPr id="127" name="Shape 125"/>
          <p:cNvSpPr/>
          <p:nvPr/>
        </p:nvSpPr>
        <p:spPr>
          <a:xfrm>
            <a:off x="2798064" y="3791167"/>
            <a:ext cx="310896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2825496" y="3818599"/>
            <a:ext cx="305409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등록/수정, 상세</a:t>
            </a:r>
            <a:endParaRPr lang="ko-KR" sz="800" dirty="0"/>
          </a:p>
        </p:txBody>
      </p:sp>
      <p:sp>
        <p:nvSpPr>
          <p:cNvPr id="129" name="Shape 127"/>
          <p:cNvSpPr/>
          <p:nvPr/>
        </p:nvSpPr>
        <p:spPr>
          <a:xfrm>
            <a:off x="5907024" y="3791167"/>
            <a:ext cx="5861304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5934456" y="3818599"/>
            <a:ext cx="5806440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선택, 미입력 NULL</a:t>
            </a:r>
            <a:endParaRPr lang="ko-KR" sz="800" dirty="0"/>
          </a:p>
        </p:txBody>
      </p:sp>
      <p:sp>
        <p:nvSpPr>
          <p:cNvPr id="131" name="Shape 129"/>
          <p:cNvSpPr/>
          <p:nvPr/>
        </p:nvSpPr>
        <p:spPr>
          <a:xfrm>
            <a:off x="420624" y="3981169"/>
            <a:ext cx="45720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448056" y="4008601"/>
            <a:ext cx="40233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ko-KR" sz="800" dirty="0"/>
          </a:p>
        </p:txBody>
      </p:sp>
      <p:sp>
        <p:nvSpPr>
          <p:cNvPr id="133" name="Shape 131"/>
          <p:cNvSpPr/>
          <p:nvPr/>
        </p:nvSpPr>
        <p:spPr>
          <a:xfrm>
            <a:off x="877824" y="3981169"/>
            <a:ext cx="19202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905256" y="4008601"/>
            <a:ext cx="18653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HepatitisBExcluded</a:t>
            </a:r>
            <a:endParaRPr lang="ko-KR" sz="800" dirty="0"/>
          </a:p>
        </p:txBody>
      </p:sp>
      <p:sp>
        <p:nvSpPr>
          <p:cNvPr id="135" name="Shape 133"/>
          <p:cNvSpPr/>
          <p:nvPr/>
        </p:nvSpPr>
        <p:spPr>
          <a:xfrm>
            <a:off x="2798064" y="3981169"/>
            <a:ext cx="310896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2825496" y="4008601"/>
            <a:ext cx="305409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등록/수정 Editor</a:t>
            </a:r>
            <a:endParaRPr lang="ko-KR" sz="800" dirty="0"/>
          </a:p>
        </p:txBody>
      </p:sp>
      <p:sp>
        <p:nvSpPr>
          <p:cNvPr id="137" name="Shape 135"/>
          <p:cNvSpPr/>
          <p:nvPr/>
        </p:nvSpPr>
        <p:spPr>
          <a:xfrm>
            <a:off x="5907024" y="3981169"/>
            <a:ext cx="5861304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5934456" y="4008601"/>
            <a:ext cx="5806440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기본값 0; NEX-03 제외 판정 입력이며 1이 제외다. Grid·조회조건에는 제공하지 않는다</a:t>
            </a:r>
            <a:endParaRPr lang="ko-KR" sz="800" dirty="0"/>
          </a:p>
        </p:txBody>
      </p:sp>
      <p:sp>
        <p:nvSpPr>
          <p:cNvPr id="139" name="Shape 137"/>
          <p:cNvSpPr/>
          <p:nvPr/>
        </p:nvSpPr>
        <p:spPr>
          <a:xfrm>
            <a:off x="420624" y="4171171"/>
            <a:ext cx="45720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448056" y="4198603"/>
            <a:ext cx="40233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ko-KR" sz="800" dirty="0"/>
          </a:p>
        </p:txBody>
      </p:sp>
      <p:sp>
        <p:nvSpPr>
          <p:cNvPr id="141" name="Shape 139"/>
          <p:cNvSpPr/>
          <p:nvPr/>
        </p:nvSpPr>
        <p:spPr>
          <a:xfrm>
            <a:off x="877824" y="4171171"/>
            <a:ext cx="192024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905256" y="4198603"/>
            <a:ext cx="18653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</a:t>
            </a:r>
            <a:endParaRPr lang="ko-KR" sz="800" dirty="0"/>
          </a:p>
        </p:txBody>
      </p:sp>
      <p:sp>
        <p:nvSpPr>
          <p:cNvPr id="143" name="Shape 141"/>
          <p:cNvSpPr/>
          <p:nvPr/>
        </p:nvSpPr>
        <p:spPr>
          <a:xfrm>
            <a:off x="2798064" y="4171171"/>
            <a:ext cx="3108960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2825496" y="4198603"/>
            <a:ext cx="305409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등록/수정, 상세</a:t>
            </a:r>
            <a:endParaRPr lang="ko-KR" sz="800" dirty="0"/>
          </a:p>
        </p:txBody>
      </p:sp>
      <p:sp>
        <p:nvSpPr>
          <p:cNvPr id="145" name="Shape 143"/>
          <p:cNvSpPr/>
          <p:nvPr/>
        </p:nvSpPr>
        <p:spPr>
          <a:xfrm>
            <a:off x="5907024" y="4171171"/>
            <a:ext cx="5861304" cy="190002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5934456" y="4198603"/>
            <a:ext cx="5806440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선택, 미입력 NULL</a:t>
            </a:r>
            <a:endParaRPr lang="ko-KR" sz="800" dirty="0"/>
          </a:p>
        </p:txBody>
      </p:sp>
      <p:sp>
        <p:nvSpPr>
          <p:cNvPr id="147" name="Text 145"/>
          <p:cNvSpPr/>
          <p:nvPr/>
        </p:nvSpPr>
        <p:spPr>
          <a:xfrm>
            <a:off x="475488" y="4507477"/>
            <a:ext cx="112379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미사용 NOT NULL 컬럼은 DB Default 또는 저장 Stored Procedure가 값을 보장한다.</a:t>
            </a:r>
            <a:endParaRPr lang="ko-KR" sz="800" dirty="0"/>
          </a:p>
        </p:txBody>
      </p:sp>
      <p:sp>
        <p:nvSpPr>
          <p:cNvPr id="148" name="Text 146"/>
          <p:cNvSpPr/>
          <p:nvPr/>
        </p:nvSpPr>
        <p:spPr>
          <a:xfrm>
            <a:off x="475488" y="4642615"/>
            <a:ext cx="112379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PatientId는 내부 연결키이며 화면에 표시하지 않는다.</a:t>
            </a:r>
            <a:endParaRPr lang="ko-KR" sz="800" dirty="0"/>
          </a:p>
        </p:txBody>
      </p:sp>
      <p:sp>
        <p:nvSpPr>
          <p:cNvPr id="149" name="Text 147"/>
          <p:cNvSpPr/>
          <p:nvPr/>
        </p:nvSpPr>
        <p:spPr>
          <a:xfrm>
            <a:off x="475488" y="4777753"/>
            <a:ext cx="11237976" cy="135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주민등록번호(SocialNumber)는 실제 값이 아닌 검증용 값으로 운용한다.</a:t>
            </a:r>
            <a:endParaRPr lang="ko-KR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64592"/>
            <a:ext cx="1133856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F.  구현 기준</a:t>
            </a:r>
            <a:endParaRPr lang="ko-KR" sz="3000" dirty="0"/>
          </a:p>
        </p:txBody>
      </p:sp>
      <p:sp>
        <p:nvSpPr>
          <p:cNvPr id="3" name="Text 1"/>
          <p:cNvSpPr/>
          <p:nvPr/>
        </p:nvSpPr>
        <p:spPr>
          <a:xfrm>
            <a:off x="420624" y="950976"/>
            <a:ext cx="1134770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F-1.  주민등록번호 입력 · 파생값</a:t>
            </a:r>
            <a:endParaRPr lang="ko-KR" sz="1000" dirty="0"/>
          </a:p>
        </p:txBody>
      </p:sp>
      <p:sp>
        <p:nvSpPr>
          <p:cNvPr id="4" name="Shape 2"/>
          <p:cNvSpPr/>
          <p:nvPr/>
        </p:nvSpPr>
        <p:spPr>
          <a:xfrm>
            <a:off x="420624" y="1170432"/>
            <a:ext cx="1463040" cy="2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61772" y="1211580"/>
            <a:ext cx="13807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7번째 자리</a:t>
            </a:r>
            <a:endParaRPr lang="ko-KR" sz="850" dirty="0"/>
          </a:p>
        </p:txBody>
      </p:sp>
      <p:sp>
        <p:nvSpPr>
          <p:cNvPr id="6" name="Shape 4"/>
          <p:cNvSpPr/>
          <p:nvPr/>
        </p:nvSpPr>
        <p:spPr>
          <a:xfrm>
            <a:off x="1883664" y="1170432"/>
            <a:ext cx="1463040" cy="2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4812" y="1211580"/>
            <a:ext cx="13807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세기</a:t>
            </a:r>
            <a:endParaRPr lang="ko-KR" sz="850" dirty="0"/>
          </a:p>
        </p:txBody>
      </p:sp>
      <p:sp>
        <p:nvSpPr>
          <p:cNvPr id="8" name="Shape 6"/>
          <p:cNvSpPr/>
          <p:nvPr/>
        </p:nvSpPr>
        <p:spPr>
          <a:xfrm>
            <a:off x="3346704" y="1170432"/>
            <a:ext cx="1097280" cy="2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7852" y="1211580"/>
            <a:ext cx="10149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성별</a:t>
            </a:r>
            <a:endParaRPr lang="ko-KR" sz="850" dirty="0"/>
          </a:p>
        </p:txBody>
      </p:sp>
      <p:sp>
        <p:nvSpPr>
          <p:cNvPr id="10" name="Shape 8"/>
          <p:cNvSpPr/>
          <p:nvPr/>
        </p:nvSpPr>
        <p:spPr>
          <a:xfrm>
            <a:off x="4443984" y="1170432"/>
            <a:ext cx="7324344" cy="2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5132" y="1211580"/>
            <a:ext cx="724204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(입력 → 파생)</a:t>
            </a:r>
            <a:endParaRPr lang="ko-KR" sz="850" dirty="0"/>
          </a:p>
        </p:txBody>
      </p:sp>
      <p:sp>
        <p:nvSpPr>
          <p:cNvPr id="12" name="Shape 10"/>
          <p:cNvSpPr/>
          <p:nvPr/>
        </p:nvSpPr>
        <p:spPr>
          <a:xfrm>
            <a:off x="420624" y="1396312"/>
            <a:ext cx="146304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" y="1437460"/>
            <a:ext cx="13807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ko-KR" sz="850" dirty="0"/>
          </a:p>
        </p:txBody>
      </p:sp>
      <p:sp>
        <p:nvSpPr>
          <p:cNvPr id="14" name="Shape 12"/>
          <p:cNvSpPr/>
          <p:nvPr/>
        </p:nvSpPr>
        <p:spPr>
          <a:xfrm>
            <a:off x="1883664" y="1396312"/>
            <a:ext cx="146304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24812" y="1437460"/>
            <a:ext cx="13807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1800년대</a:t>
            </a:r>
            <a:endParaRPr lang="ko-KR" sz="850" dirty="0"/>
          </a:p>
        </p:txBody>
      </p:sp>
      <p:sp>
        <p:nvSpPr>
          <p:cNvPr id="16" name="Shape 14"/>
          <p:cNvSpPr/>
          <p:nvPr/>
        </p:nvSpPr>
        <p:spPr>
          <a:xfrm>
            <a:off x="3346704" y="1396312"/>
            <a:ext cx="109728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7852" y="1437460"/>
            <a:ext cx="10149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</a:t>
            </a:r>
            <a:endParaRPr lang="ko-KR" sz="850" dirty="0"/>
          </a:p>
        </p:txBody>
      </p:sp>
      <p:sp>
        <p:nvSpPr>
          <p:cNvPr id="18" name="Shape 16"/>
          <p:cNvSpPr/>
          <p:nvPr/>
        </p:nvSpPr>
        <p:spPr>
          <a:xfrm>
            <a:off x="4443984" y="1396312"/>
            <a:ext cx="732434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5132" y="1437460"/>
            <a:ext cx="724204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890704-9000012   →   1889-07-04  /  남</a:t>
            </a:r>
            <a:endParaRPr lang="ko-KR" sz="850" dirty="0"/>
          </a:p>
        </p:txBody>
      </p:sp>
      <p:sp>
        <p:nvSpPr>
          <p:cNvPr id="20" name="Shape 18"/>
          <p:cNvSpPr/>
          <p:nvPr/>
        </p:nvSpPr>
        <p:spPr>
          <a:xfrm>
            <a:off x="420624" y="1622193"/>
            <a:ext cx="146304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" y="1663341"/>
            <a:ext cx="13807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ko-KR" sz="850" dirty="0"/>
          </a:p>
        </p:txBody>
      </p:sp>
      <p:sp>
        <p:nvSpPr>
          <p:cNvPr id="22" name="Shape 20"/>
          <p:cNvSpPr/>
          <p:nvPr/>
        </p:nvSpPr>
        <p:spPr>
          <a:xfrm>
            <a:off x="1883664" y="1622193"/>
            <a:ext cx="146304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24812" y="1663341"/>
            <a:ext cx="13807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1800년대</a:t>
            </a:r>
            <a:endParaRPr lang="ko-KR" sz="850" dirty="0"/>
          </a:p>
        </p:txBody>
      </p:sp>
      <p:sp>
        <p:nvSpPr>
          <p:cNvPr id="24" name="Shape 22"/>
          <p:cNvSpPr/>
          <p:nvPr/>
        </p:nvSpPr>
        <p:spPr>
          <a:xfrm>
            <a:off x="3346704" y="1622193"/>
            <a:ext cx="109728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7852" y="1663341"/>
            <a:ext cx="10149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</a:t>
            </a:r>
            <a:endParaRPr lang="ko-KR" sz="850" dirty="0"/>
          </a:p>
        </p:txBody>
      </p:sp>
      <p:sp>
        <p:nvSpPr>
          <p:cNvPr id="26" name="Shape 24"/>
          <p:cNvSpPr/>
          <p:nvPr/>
        </p:nvSpPr>
        <p:spPr>
          <a:xfrm>
            <a:off x="4443984" y="1622193"/>
            <a:ext cx="732434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5132" y="1663341"/>
            <a:ext cx="724204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890704-0000011   →   1889-07-04  /  여</a:t>
            </a:r>
            <a:endParaRPr lang="ko-KR" sz="850" dirty="0"/>
          </a:p>
        </p:txBody>
      </p:sp>
      <p:sp>
        <p:nvSpPr>
          <p:cNvPr id="28" name="Shape 26"/>
          <p:cNvSpPr/>
          <p:nvPr/>
        </p:nvSpPr>
        <p:spPr>
          <a:xfrm>
            <a:off x="420624" y="1848073"/>
            <a:ext cx="146304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" y="1889221"/>
            <a:ext cx="13807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1, 5</a:t>
            </a:r>
            <a:endParaRPr lang="ko-KR" sz="850" dirty="0"/>
          </a:p>
        </p:txBody>
      </p:sp>
      <p:sp>
        <p:nvSpPr>
          <p:cNvPr id="30" name="Shape 28"/>
          <p:cNvSpPr/>
          <p:nvPr/>
        </p:nvSpPr>
        <p:spPr>
          <a:xfrm>
            <a:off x="1883664" y="1848073"/>
            <a:ext cx="146304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24812" y="1889221"/>
            <a:ext cx="13807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1900년대</a:t>
            </a:r>
            <a:endParaRPr lang="ko-KR" sz="850" dirty="0"/>
          </a:p>
        </p:txBody>
      </p:sp>
      <p:sp>
        <p:nvSpPr>
          <p:cNvPr id="32" name="Shape 30"/>
          <p:cNvSpPr/>
          <p:nvPr/>
        </p:nvSpPr>
        <p:spPr>
          <a:xfrm>
            <a:off x="3346704" y="1848073"/>
            <a:ext cx="109728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7852" y="1889221"/>
            <a:ext cx="10149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</a:t>
            </a:r>
            <a:endParaRPr lang="ko-KR" sz="850" dirty="0"/>
          </a:p>
        </p:txBody>
      </p:sp>
      <p:sp>
        <p:nvSpPr>
          <p:cNvPr id="34" name="Shape 32"/>
          <p:cNvSpPr/>
          <p:nvPr/>
        </p:nvSpPr>
        <p:spPr>
          <a:xfrm>
            <a:off x="4443984" y="1848073"/>
            <a:ext cx="732434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85132" y="1889221"/>
            <a:ext cx="724204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800511-1000015   →   1980-05-11  /  남</a:t>
            </a:r>
            <a:endParaRPr lang="ko-KR" sz="850" dirty="0"/>
          </a:p>
        </p:txBody>
      </p:sp>
      <p:sp>
        <p:nvSpPr>
          <p:cNvPr id="36" name="Shape 34"/>
          <p:cNvSpPr/>
          <p:nvPr/>
        </p:nvSpPr>
        <p:spPr>
          <a:xfrm>
            <a:off x="420624" y="2073953"/>
            <a:ext cx="146304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1772" y="2115101"/>
            <a:ext cx="13807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2, 6</a:t>
            </a:r>
            <a:endParaRPr lang="ko-KR" sz="850" dirty="0"/>
          </a:p>
        </p:txBody>
      </p:sp>
      <p:sp>
        <p:nvSpPr>
          <p:cNvPr id="38" name="Shape 36"/>
          <p:cNvSpPr/>
          <p:nvPr/>
        </p:nvSpPr>
        <p:spPr>
          <a:xfrm>
            <a:off x="1883664" y="2073953"/>
            <a:ext cx="146304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24812" y="2115101"/>
            <a:ext cx="13807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1900년대</a:t>
            </a:r>
            <a:endParaRPr lang="ko-KR" sz="850" dirty="0"/>
          </a:p>
        </p:txBody>
      </p:sp>
      <p:sp>
        <p:nvSpPr>
          <p:cNvPr id="40" name="Shape 38"/>
          <p:cNvSpPr/>
          <p:nvPr/>
        </p:nvSpPr>
        <p:spPr>
          <a:xfrm>
            <a:off x="3346704" y="2073953"/>
            <a:ext cx="109728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87852" y="2115101"/>
            <a:ext cx="10149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</a:t>
            </a:r>
            <a:endParaRPr lang="ko-KR" sz="850" dirty="0"/>
          </a:p>
        </p:txBody>
      </p:sp>
      <p:sp>
        <p:nvSpPr>
          <p:cNvPr id="42" name="Shape 40"/>
          <p:cNvSpPr/>
          <p:nvPr/>
        </p:nvSpPr>
        <p:spPr>
          <a:xfrm>
            <a:off x="4443984" y="2073953"/>
            <a:ext cx="732434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85132" y="2115101"/>
            <a:ext cx="724204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660312-2000019   →   1966-03-12  /  여</a:t>
            </a:r>
            <a:endParaRPr lang="ko-KR" sz="850" dirty="0"/>
          </a:p>
        </p:txBody>
      </p:sp>
      <p:sp>
        <p:nvSpPr>
          <p:cNvPr id="44" name="Shape 42"/>
          <p:cNvSpPr/>
          <p:nvPr/>
        </p:nvSpPr>
        <p:spPr>
          <a:xfrm>
            <a:off x="420624" y="2299833"/>
            <a:ext cx="146304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1772" y="2340981"/>
            <a:ext cx="13807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3, 7</a:t>
            </a:r>
            <a:endParaRPr lang="ko-KR" sz="850" dirty="0"/>
          </a:p>
        </p:txBody>
      </p:sp>
      <p:sp>
        <p:nvSpPr>
          <p:cNvPr id="46" name="Shape 44"/>
          <p:cNvSpPr/>
          <p:nvPr/>
        </p:nvSpPr>
        <p:spPr>
          <a:xfrm>
            <a:off x="1883664" y="2299833"/>
            <a:ext cx="146304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924812" y="2340981"/>
            <a:ext cx="13807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2000년대</a:t>
            </a:r>
            <a:endParaRPr lang="ko-KR" sz="850" dirty="0"/>
          </a:p>
        </p:txBody>
      </p:sp>
      <p:sp>
        <p:nvSpPr>
          <p:cNvPr id="48" name="Shape 46"/>
          <p:cNvSpPr/>
          <p:nvPr/>
        </p:nvSpPr>
        <p:spPr>
          <a:xfrm>
            <a:off x="3346704" y="2299833"/>
            <a:ext cx="109728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87852" y="2340981"/>
            <a:ext cx="10149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</a:t>
            </a:r>
            <a:endParaRPr lang="ko-KR" sz="850" dirty="0"/>
          </a:p>
        </p:txBody>
      </p:sp>
      <p:sp>
        <p:nvSpPr>
          <p:cNvPr id="50" name="Shape 48"/>
          <p:cNvSpPr/>
          <p:nvPr/>
        </p:nvSpPr>
        <p:spPr>
          <a:xfrm>
            <a:off x="4443984" y="2299833"/>
            <a:ext cx="732434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85132" y="2340981"/>
            <a:ext cx="724204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070704-3000013   →   2007-07-04  /  남</a:t>
            </a:r>
            <a:endParaRPr lang="ko-KR" sz="850" dirty="0"/>
          </a:p>
        </p:txBody>
      </p:sp>
      <p:sp>
        <p:nvSpPr>
          <p:cNvPr id="52" name="Shape 50"/>
          <p:cNvSpPr/>
          <p:nvPr/>
        </p:nvSpPr>
        <p:spPr>
          <a:xfrm>
            <a:off x="420624" y="2525714"/>
            <a:ext cx="146304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1772" y="2566862"/>
            <a:ext cx="13807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4, 8</a:t>
            </a:r>
            <a:endParaRPr lang="ko-KR" sz="850" dirty="0"/>
          </a:p>
        </p:txBody>
      </p:sp>
      <p:sp>
        <p:nvSpPr>
          <p:cNvPr id="54" name="Shape 52"/>
          <p:cNvSpPr/>
          <p:nvPr/>
        </p:nvSpPr>
        <p:spPr>
          <a:xfrm>
            <a:off x="1883664" y="2525714"/>
            <a:ext cx="146304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924812" y="2566862"/>
            <a:ext cx="138074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2000년대</a:t>
            </a:r>
            <a:endParaRPr lang="ko-KR" sz="850" dirty="0"/>
          </a:p>
        </p:txBody>
      </p:sp>
      <p:sp>
        <p:nvSpPr>
          <p:cNvPr id="56" name="Shape 54"/>
          <p:cNvSpPr/>
          <p:nvPr/>
        </p:nvSpPr>
        <p:spPr>
          <a:xfrm>
            <a:off x="3346704" y="2525714"/>
            <a:ext cx="109728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387852" y="2566862"/>
            <a:ext cx="101498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</a:t>
            </a:r>
            <a:endParaRPr lang="ko-KR" sz="850" dirty="0"/>
          </a:p>
        </p:txBody>
      </p:sp>
      <p:sp>
        <p:nvSpPr>
          <p:cNvPr id="58" name="Shape 56"/>
          <p:cNvSpPr/>
          <p:nvPr/>
        </p:nvSpPr>
        <p:spPr>
          <a:xfrm>
            <a:off x="4443984" y="2525714"/>
            <a:ext cx="732434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85132" y="2566862"/>
            <a:ext cx="724204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070704-4000012   →   2007-07-04  /  여</a:t>
            </a:r>
            <a:endParaRPr lang="ko-KR" sz="850" dirty="0"/>
          </a:p>
        </p:txBody>
      </p:sp>
      <p:sp>
        <p:nvSpPr>
          <p:cNvPr id="60" name="Text 58"/>
          <p:cNvSpPr/>
          <p:nvPr/>
        </p:nvSpPr>
        <p:spPr>
          <a:xfrm>
            <a:off x="475488" y="2897898"/>
            <a:ext cx="1123797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순서 :   입력 / 변경  →  '-' 제거, 숫자 13자리  →  생년월일 실제 날짜 검증  →  7번째 자리 세기 · 성별 해석  →  Birthday / Gender 자동산출  →  중복 · 변경조건 검증</a:t>
            </a:r>
            <a:endParaRPr lang="ko-KR" sz="850" dirty="0"/>
          </a:p>
        </p:txBody>
      </p:sp>
      <p:sp>
        <p:nvSpPr>
          <p:cNvPr id="61" name="Text 59"/>
          <p:cNvSpPr/>
          <p:nvPr/>
        </p:nvSpPr>
        <p:spPr>
          <a:xfrm>
            <a:off x="475488" y="3041482"/>
            <a:ext cx="1123797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실제 행정번호 존재 여부와 체크디지트 검증은 하지 않는다.</a:t>
            </a:r>
            <a:endParaRPr lang="ko-KR" sz="850" dirty="0"/>
          </a:p>
        </p:txBody>
      </p:sp>
      <p:sp>
        <p:nvSpPr>
          <p:cNvPr id="62" name="Text 60"/>
          <p:cNvSpPr/>
          <p:nvPr/>
        </p:nvSpPr>
        <p:spPr>
          <a:xfrm>
            <a:off x="475488" y="3185067"/>
            <a:ext cx="1123797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형식 · 날짜 · 파생 실패 시 Birthday / Gender를 Clear하고 저장을 비활성화한다.</a:t>
            </a:r>
            <a:endParaRPr lang="ko-KR" sz="850" dirty="0"/>
          </a:p>
        </p:txBody>
      </p:sp>
      <p:sp>
        <p:nvSpPr>
          <p:cNvPr id="63" name="Text 61"/>
          <p:cNvSpPr/>
          <p:nvPr/>
        </p:nvSpPr>
        <p:spPr>
          <a:xfrm>
            <a:off x="475488" y="3328651"/>
            <a:ext cx="11237976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화면에는 전체값을 표시하고 DB에는 - 를 제거한 숫자 13자리를 저장한다 (SocialNumber).</a:t>
            </a:r>
            <a:endParaRPr lang="ko-KR" sz="850" dirty="0"/>
          </a:p>
        </p:txBody>
      </p:sp>
      <p:sp>
        <p:nvSpPr>
          <p:cNvPr id="64" name="Text 62"/>
          <p:cNvSpPr/>
          <p:nvPr/>
        </p:nvSpPr>
        <p:spPr>
          <a:xfrm>
            <a:off x="420624" y="3527099"/>
            <a:ext cx="1134770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F-2.  DevExpress 20.2 구현 기준</a:t>
            </a:r>
            <a:endParaRPr lang="ko-KR" sz="1000" dirty="0"/>
          </a:p>
        </p:txBody>
      </p:sp>
      <p:sp>
        <p:nvSpPr>
          <p:cNvPr id="65" name="Shape 63"/>
          <p:cNvSpPr/>
          <p:nvPr/>
        </p:nvSpPr>
        <p:spPr>
          <a:xfrm>
            <a:off x="420624" y="3746555"/>
            <a:ext cx="3108960" cy="2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61772" y="3787703"/>
            <a:ext cx="302666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</a:t>
            </a:r>
            <a:endParaRPr lang="ko-KR" sz="850" dirty="0"/>
          </a:p>
        </p:txBody>
      </p:sp>
      <p:sp>
        <p:nvSpPr>
          <p:cNvPr id="67" name="Shape 65"/>
          <p:cNvSpPr/>
          <p:nvPr/>
        </p:nvSpPr>
        <p:spPr>
          <a:xfrm>
            <a:off x="3529584" y="3746555"/>
            <a:ext cx="8238744" cy="2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570732" y="3787703"/>
            <a:ext cx="815644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Control / 구현 방식</a:t>
            </a:r>
            <a:endParaRPr lang="ko-KR" sz="850" dirty="0"/>
          </a:p>
        </p:txBody>
      </p:sp>
      <p:sp>
        <p:nvSpPr>
          <p:cNvPr id="69" name="Shape 67"/>
          <p:cNvSpPr/>
          <p:nvPr/>
        </p:nvSpPr>
        <p:spPr>
          <a:xfrm>
            <a:off x="420624" y="3972436"/>
            <a:ext cx="310896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61772" y="4013584"/>
            <a:ext cx="302666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MainForm</a:t>
            </a:r>
            <a:endParaRPr lang="ko-KR" sz="850" dirty="0"/>
          </a:p>
        </p:txBody>
      </p:sp>
      <p:sp>
        <p:nvSpPr>
          <p:cNvPr id="71" name="Shape 69"/>
          <p:cNvSpPr/>
          <p:nvPr/>
        </p:nvSpPr>
        <p:spPr>
          <a:xfrm>
            <a:off x="3529584" y="3972436"/>
            <a:ext cx="823874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570732" y="4013584"/>
            <a:ext cx="815644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RibbonForm + RibbonControl 1개</a:t>
            </a:r>
            <a:endParaRPr lang="ko-KR" sz="850" dirty="0"/>
          </a:p>
        </p:txBody>
      </p:sp>
      <p:sp>
        <p:nvSpPr>
          <p:cNvPr id="73" name="Shape 71"/>
          <p:cNvSpPr/>
          <p:nvPr/>
        </p:nvSpPr>
        <p:spPr>
          <a:xfrm>
            <a:off x="420624" y="4198316"/>
            <a:ext cx="310896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61772" y="4239464"/>
            <a:ext cx="302666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Navigation / Context Action</a:t>
            </a:r>
            <a:endParaRPr lang="ko-KR" sz="850" dirty="0"/>
          </a:p>
        </p:txBody>
      </p:sp>
      <p:sp>
        <p:nvSpPr>
          <p:cNvPr id="75" name="Shape 73"/>
          <p:cNvSpPr/>
          <p:nvPr/>
        </p:nvSpPr>
        <p:spPr>
          <a:xfrm>
            <a:off x="3529584" y="4198316"/>
            <a:ext cx="823874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570732" y="4239464"/>
            <a:ext cx="815644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RibbonPage, RibbonPageGroup, BarButtonItem</a:t>
            </a:r>
            <a:endParaRPr lang="ko-KR" sz="850" dirty="0"/>
          </a:p>
        </p:txBody>
      </p:sp>
      <p:sp>
        <p:nvSpPr>
          <p:cNvPr id="77" name="Shape 75"/>
          <p:cNvSpPr/>
          <p:nvPr/>
        </p:nvSpPr>
        <p:spPr>
          <a:xfrm>
            <a:off x="420624" y="4424196"/>
            <a:ext cx="310896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61772" y="4465344"/>
            <a:ext cx="302666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업무 Tab</a:t>
            </a:r>
            <a:endParaRPr lang="ko-KR" sz="850" dirty="0"/>
          </a:p>
        </p:txBody>
      </p:sp>
      <p:sp>
        <p:nvSpPr>
          <p:cNvPr id="79" name="Shape 77"/>
          <p:cNvSpPr/>
          <p:nvPr/>
        </p:nvSpPr>
        <p:spPr>
          <a:xfrm>
            <a:off x="3529584" y="4424196"/>
            <a:ext cx="823874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570732" y="4465344"/>
            <a:ext cx="815644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XtraTabControl + 업무별 XtraUserControl</a:t>
            </a:r>
            <a:endParaRPr lang="ko-KR" sz="850" dirty="0"/>
          </a:p>
        </p:txBody>
      </p:sp>
      <p:sp>
        <p:nvSpPr>
          <p:cNvPr id="81" name="Shape 79"/>
          <p:cNvSpPr/>
          <p:nvPr/>
        </p:nvSpPr>
        <p:spPr>
          <a:xfrm>
            <a:off x="420624" y="4650076"/>
            <a:ext cx="310896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61772" y="4691224"/>
            <a:ext cx="302666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배치</a:t>
            </a:r>
            <a:endParaRPr lang="ko-KR" sz="850" dirty="0"/>
          </a:p>
        </p:txBody>
      </p:sp>
      <p:sp>
        <p:nvSpPr>
          <p:cNvPr id="83" name="Shape 81"/>
          <p:cNvSpPr/>
          <p:nvPr/>
        </p:nvSpPr>
        <p:spPr>
          <a:xfrm>
            <a:off x="3529584" y="4650076"/>
            <a:ext cx="823874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570732" y="4691224"/>
            <a:ext cx="815644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LayoutControl, SplitContainerControl, Dock</a:t>
            </a:r>
            <a:endParaRPr lang="ko-KR" sz="850" dirty="0"/>
          </a:p>
        </p:txBody>
      </p:sp>
      <p:sp>
        <p:nvSpPr>
          <p:cNvPr id="85" name="Shape 83"/>
          <p:cNvSpPr/>
          <p:nvPr/>
        </p:nvSpPr>
        <p:spPr>
          <a:xfrm>
            <a:off x="420624" y="4875957"/>
            <a:ext cx="310896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61772" y="4917105"/>
            <a:ext cx="302666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</a:t>
            </a:r>
            <a:endParaRPr lang="ko-KR" sz="850" dirty="0"/>
          </a:p>
        </p:txBody>
      </p:sp>
      <p:sp>
        <p:nvSpPr>
          <p:cNvPr id="87" name="Shape 85"/>
          <p:cNvSpPr/>
          <p:nvPr/>
        </p:nvSpPr>
        <p:spPr>
          <a:xfrm>
            <a:off x="3529584" y="4875957"/>
            <a:ext cx="823874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570732" y="4917105"/>
            <a:ext cx="815644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GridControl + GridView</a:t>
            </a:r>
            <a:endParaRPr lang="ko-KR" sz="850" dirty="0"/>
          </a:p>
        </p:txBody>
      </p:sp>
      <p:sp>
        <p:nvSpPr>
          <p:cNvPr id="89" name="Shape 87"/>
          <p:cNvSpPr/>
          <p:nvPr/>
        </p:nvSpPr>
        <p:spPr>
          <a:xfrm>
            <a:off x="420624" y="5101837"/>
            <a:ext cx="310896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61772" y="5142985"/>
            <a:ext cx="302666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입력</a:t>
            </a:r>
            <a:endParaRPr lang="ko-KR" sz="850" dirty="0"/>
          </a:p>
        </p:txBody>
      </p:sp>
      <p:sp>
        <p:nvSpPr>
          <p:cNvPr id="91" name="Shape 89"/>
          <p:cNvSpPr/>
          <p:nvPr/>
        </p:nvSpPr>
        <p:spPr>
          <a:xfrm>
            <a:off x="3529584" y="5101837"/>
            <a:ext cx="823874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570732" y="5142985"/>
            <a:ext cx="815644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TextEdit, MemoEdit, DateEdit, RadioGroup, CheckEdit</a:t>
            </a:r>
            <a:endParaRPr lang="ko-KR" sz="850" dirty="0"/>
          </a:p>
        </p:txBody>
      </p:sp>
      <p:sp>
        <p:nvSpPr>
          <p:cNvPr id="93" name="Shape 91"/>
          <p:cNvSpPr/>
          <p:nvPr/>
        </p:nvSpPr>
        <p:spPr>
          <a:xfrm>
            <a:off x="420624" y="5327717"/>
            <a:ext cx="310896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61772" y="5368865"/>
            <a:ext cx="302666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Modal</a:t>
            </a:r>
            <a:endParaRPr lang="ko-KR" sz="850" dirty="0"/>
          </a:p>
        </p:txBody>
      </p:sp>
      <p:sp>
        <p:nvSpPr>
          <p:cNvPr id="95" name="Shape 93"/>
          <p:cNvSpPr/>
          <p:nvPr/>
        </p:nvSpPr>
        <p:spPr>
          <a:xfrm>
            <a:off x="3529584" y="5327717"/>
            <a:ext cx="823874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570732" y="5368865"/>
            <a:ext cx="815644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XtraForm</a:t>
            </a:r>
            <a:endParaRPr lang="ko-KR" sz="850" dirty="0"/>
          </a:p>
        </p:txBody>
      </p:sp>
      <p:sp>
        <p:nvSpPr>
          <p:cNvPr id="97" name="Shape 95"/>
          <p:cNvSpPr/>
          <p:nvPr/>
        </p:nvSpPr>
        <p:spPr>
          <a:xfrm>
            <a:off x="420624" y="5553598"/>
            <a:ext cx="310896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61772" y="5594746"/>
            <a:ext cx="302666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검증</a:t>
            </a:r>
            <a:endParaRPr lang="ko-KR" sz="850" dirty="0"/>
          </a:p>
        </p:txBody>
      </p:sp>
      <p:sp>
        <p:nvSpPr>
          <p:cNvPr id="99" name="Shape 97"/>
          <p:cNvSpPr/>
          <p:nvPr/>
        </p:nvSpPr>
        <p:spPr>
          <a:xfrm>
            <a:off x="3529584" y="5553598"/>
            <a:ext cx="823874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570732" y="5594746"/>
            <a:ext cx="815644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DXValidationProvider, DXErrorProvider, Blocking Message</a:t>
            </a:r>
            <a:endParaRPr lang="ko-KR" sz="850" dirty="0"/>
          </a:p>
        </p:txBody>
      </p:sp>
      <p:sp>
        <p:nvSpPr>
          <p:cNvPr id="101" name="Shape 99"/>
          <p:cNvSpPr/>
          <p:nvPr/>
        </p:nvSpPr>
        <p:spPr>
          <a:xfrm>
            <a:off x="420624" y="5779478"/>
            <a:ext cx="3108960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61772" y="5820626"/>
            <a:ext cx="3026664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상태표시</a:t>
            </a:r>
            <a:endParaRPr lang="ko-KR" sz="850" dirty="0"/>
          </a:p>
        </p:txBody>
      </p:sp>
      <p:sp>
        <p:nvSpPr>
          <p:cNvPr id="103" name="Shape 101"/>
          <p:cNvSpPr/>
          <p:nvPr/>
        </p:nvSpPr>
        <p:spPr>
          <a:xfrm>
            <a:off x="3529584" y="5779478"/>
            <a:ext cx="823874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570732" y="5820626"/>
            <a:ext cx="815644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RibbonStatusBar 또는 MainForm 하단 상태영역</a:t>
            </a:r>
            <a:endParaRPr lang="ko-KR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64592"/>
            <a:ext cx="1133856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F.  구현 기준  (계속)</a:t>
            </a:r>
            <a:endParaRPr lang="ko-KR" sz="3000" dirty="0"/>
          </a:p>
        </p:txBody>
      </p:sp>
      <p:sp>
        <p:nvSpPr>
          <p:cNvPr id="3" name="Text 1"/>
          <p:cNvSpPr/>
          <p:nvPr/>
        </p:nvSpPr>
        <p:spPr>
          <a:xfrm>
            <a:off x="420624" y="950976"/>
            <a:ext cx="1134770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F-3.  구현 원칙</a:t>
            </a:r>
            <a:endParaRPr lang="ko-KR" sz="1000" dirty="0"/>
          </a:p>
        </p:txBody>
      </p:sp>
      <p:sp>
        <p:nvSpPr>
          <p:cNvPr id="4" name="Shape 2"/>
          <p:cNvSpPr/>
          <p:nvPr/>
        </p:nvSpPr>
        <p:spPr>
          <a:xfrm>
            <a:off x="420624" y="1170432"/>
            <a:ext cx="11347704" cy="2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61772" y="1211580"/>
            <a:ext cx="1126540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</a:t>
            </a:r>
            <a:endParaRPr lang="ko-KR" sz="850" dirty="0"/>
          </a:p>
        </p:txBody>
      </p:sp>
      <p:sp>
        <p:nvSpPr>
          <p:cNvPr id="6" name="Shape 4"/>
          <p:cNvSpPr/>
          <p:nvPr/>
        </p:nvSpPr>
        <p:spPr>
          <a:xfrm>
            <a:off x="420624" y="1396312"/>
            <a:ext cx="1134770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1772" y="1437460"/>
            <a:ext cx="1126540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Pixel 중심 배치를 피하고 Layout / Dock / Splitter를 사용한다.</a:t>
            </a:r>
            <a:endParaRPr lang="ko-KR" sz="850" dirty="0"/>
          </a:p>
        </p:txBody>
      </p:sp>
      <p:sp>
        <p:nvSpPr>
          <p:cNvPr id="8" name="Shape 6"/>
          <p:cNvSpPr/>
          <p:nvPr/>
        </p:nvSpPr>
        <p:spPr>
          <a:xfrm>
            <a:off x="420624" y="1622193"/>
            <a:ext cx="1134770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" y="1663341"/>
            <a:ext cx="1126540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MainForm은 기본 크기를 권장 기준으로 열고 최대화를 지원한다. 화면이 그보다 작으면 작업 영역에 맞춘다.</a:t>
            </a:r>
            <a:endParaRPr lang="ko-KR" sz="850" dirty="0"/>
          </a:p>
        </p:txBody>
      </p:sp>
      <p:sp>
        <p:nvSpPr>
          <p:cNvPr id="10" name="Shape 8"/>
          <p:cNvSpPr/>
          <p:nvPr/>
        </p:nvSpPr>
        <p:spPr>
          <a:xfrm>
            <a:off x="420624" y="1848073"/>
            <a:ext cx="1134770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" y="1889221"/>
            <a:ext cx="1126540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검증 해상도는 1366×768, 권장 기준은 1920×1080이다. 창의 최소 크기는 최소 검증 해상도다.</a:t>
            </a:r>
            <a:endParaRPr lang="ko-KR" sz="850" dirty="0"/>
          </a:p>
        </p:txBody>
      </p:sp>
      <p:sp>
        <p:nvSpPr>
          <p:cNvPr id="12" name="Shape 10"/>
          <p:cNvSpPr/>
          <p:nvPr/>
        </p:nvSpPr>
        <p:spPr>
          <a:xfrm>
            <a:off x="420624" y="2073953"/>
            <a:ext cx="1134770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" y="2115101"/>
            <a:ext cx="1126540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 배율 100%와 125%에서 Label · Grid Header · Modal 하단버튼 잘림을 확인한다.</a:t>
            </a:r>
            <a:endParaRPr lang="ko-KR" sz="850" dirty="0"/>
          </a:p>
        </p:txBody>
      </p:sp>
      <p:sp>
        <p:nvSpPr>
          <p:cNvPr id="14" name="Shape 12"/>
          <p:cNvSpPr/>
          <p:nvPr/>
        </p:nvSpPr>
        <p:spPr>
          <a:xfrm>
            <a:off x="420624" y="2299833"/>
            <a:ext cx="1134770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" y="2340981"/>
            <a:ext cx="1126540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Ribbon과 별도 Main Menu Bar를 중복 구성하지 않는다.</a:t>
            </a:r>
            <a:endParaRPr lang="ko-KR" sz="850" dirty="0"/>
          </a:p>
        </p:txBody>
      </p:sp>
      <p:sp>
        <p:nvSpPr>
          <p:cNvPr id="16" name="Shape 14"/>
          <p:cNvSpPr/>
          <p:nvPr/>
        </p:nvSpPr>
        <p:spPr>
          <a:xfrm>
            <a:off x="420624" y="2525714"/>
            <a:ext cx="11347704" cy="225880"/>
          </a:xfrm>
          <a:prstGeom prst="rect">
            <a:avLst/>
          </a:prstGeom>
          <a:ln w="9525">
            <a:solidFill>
              <a:srgbClr val="8C9B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" y="2566862"/>
            <a:ext cx="11265408" cy="14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DevExpress 20.2에서 제공되지 않는 최신 API에 의존하지 않는다.</a:t>
            </a:r>
            <a:endParaRPr lang="ko-KR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검진 예약·접수 화면설계서</dc:title>
  <dc:subject>PptxGenJS Presentation</dc:subject>
  <dc:creator>검진 예약·접수 관리 프로그램</dc:creator>
  <cp:lastModifiedBy>검진 예약·접수 관리 프로그램</cp:lastModifiedBy>
  <cp:revision>1</cp:revision>
  <dcterms:created xsi:type="dcterms:W3CDTF">2026-09-14T12:38:36Z</dcterms:created>
  <dcterms:modified xsi:type="dcterms:W3CDTF">2026-09-14T12:38:36Z</dcterms:modified>
</cp:coreProperties>
</file>